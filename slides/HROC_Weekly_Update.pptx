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week. The headline is that the cortical effect is small in magnitude but extremely consistent — it is above the null in 99 of 101 five-day blocks, in every animal. I will also show you all four controls you asked for, and one number I had to revise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Partition the variance — done, table on the next slide. Re-check the 0.35 to see whether the stimulus was removed properly — done, and the number dropped, which I'll explain. Test for crosstalk using your correlation method — done, no contamination. And whether the effect scales with how much each animal learned — done, and that one is the most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partition you asked for. Stimulus dominates at 47 percent. Background is 1. Cortex alone is 21, but most of that overlaps with stimulus because the stimulus drives both the cortical evoked response and the reflex. Cortex's unique contribution, once the other two are in the model, is 2 percent. And about half the variance is still unexplained. Your intuition in the meeting was right — they don't add up, because of that shared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I want you to take away. Rather than judging the effect by its size alone, ask how often it shows up. For every five-day block we test cortex against a shuffle of that block's own labels. It beats the shuffle in 99 of 101 blocks, in all five animals — a sign test gives p of two times ten to the minus twenty-seven. The effect is small, but it is almost always there, and a small effect that appears every time in every animal is not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me to check whether the stimulus had been removed properly, and it had not. Last week I quoted 0.35. That was the best block, and on top of that I'd removed stimulus and background globally rather than block by block. If the stimulus-reflex relationship shifts between blocks, global removal leaves stimulus variance behind, and cortex tracks stimulus — so the number was inflated. Doing it inside each block gives 0.04. That's the number we'll quote from now on. It's still above the shuffle null in every animal, so the finding holds, it's just a smaller claim than I made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Crosstalk, using exactly the method you suggested — correlate cortical against muscle power and see how much coordination there is. Above 100 hertz, where muscle artefact lives, the correlation is plus 0.06, essentially zero. The low bands are slightly negative. And the lead-lag check has cortex marginally leading muscle, which you said would be the acceptable direction. So we don't think the ECoG is reproducing the EMG.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your internal-control idea, which I think is the most promising thing we have. Animals differ in how much they learned and two of ours failed outright — those become the negative control. The correlation between learning and the change in coupling is plus 0.64. The two animals that succeeded gained coupling; the two that failed didn't. With five animals it isn't significant, but it's the right direction, and it's exactly what more animals would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finding, and it's a constraint. I went back through every animal's log using the reward criterion as a success readout. For up-conditioning, raising the bar means the rat is beating it. Animals 3 and 4 had theirs raised, so they learned. Animals 1 and 6 had theirs lowered, so they struggled. And animal 12's electrode was dead. So the up group is capped at two, permanently — there isn't another good up-conditioned animal in this dataset. The down group can still grow, and 7, 8, 13, 14 and 15 are ready to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from this week. We put everything behind a single page so it stays in sync and is easy to hand to anyone — the repository with the whole pipeline, a six-page write-up formatted as a handout with the real numbers and figures, and the slide decks. Two blanks I deliberately left: Theresa's surname, and what Tarun and I should be listed as on the write-up. I didn't want to guess at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between now and the 21st. Download and process the remaining animals — the five down ones plus the two failed up animals, which are useful as negative controls. That takes us from five to about twelve. Re-run everything at that larger n, which is what powers the scaling correlation. Build the presentation for your group. And preview it with you beforehand. One question for you: given the up group is capped at two, is the scaling analysis the right thing to build the paper around rather than the direction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149840" y="1005840"/>
            <a:ext cx="1280160" cy="1280160"/>
          </a:xfrm>
          <a:prstGeom prst="ellipse">
            <a:avLst/>
          </a:prstGeom>
          <a:solidFill>
            <a:srgbClr val="6D28D9">
              <a:alpha val="45000"/>
            </a:srgbClr>
          </a:solidFill>
          <a:ln/>
        </p:spPr>
      </p:sp>
      <p:sp>
        <p:nvSpPr>
          <p:cNvPr id="3" name="Shape 1"/>
          <p:cNvSpPr/>
          <p:nvPr/>
        </p:nvSpPr>
        <p:spPr>
          <a:xfrm>
            <a:off x="10789920" y="1737360"/>
            <a:ext cx="868680" cy="868680"/>
          </a:xfrm>
          <a:prstGeom prst="ellipse">
            <a:avLst/>
          </a:prstGeom>
          <a:solidFill>
            <a:srgbClr val="0D9488">
              <a:alpha val="55000"/>
            </a:srgbClr>
          </a:solidFill>
          <a:ln/>
        </p:spPr>
      </p:sp>
      <p:sp>
        <p:nvSpPr>
          <p:cNvPr id="4" name="Text 2"/>
          <p:cNvSpPr/>
          <p:nvPr/>
        </p:nvSpPr>
        <p:spPr>
          <a:xfrm>
            <a:off x="731520" y="1554480"/>
            <a:ext cx="91440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WEEKLY UPDATE</a:t>
            </a:r>
            <a:endParaRPr lang="en-US" sz="1400" dirty="0"/>
          </a:p>
        </p:txBody>
      </p:sp>
      <p:sp>
        <p:nvSpPr>
          <p:cNvPr id="5" name="Text 3"/>
          <p:cNvSpPr/>
          <p:nvPr/>
        </p:nvSpPr>
        <p:spPr>
          <a:xfrm>
            <a:off x="731520" y="2011680"/>
            <a:ext cx="10424160" cy="1737360"/>
          </a:xfrm>
          <a:prstGeom prst="rect">
            <a:avLst/>
          </a:prstGeom>
          <a:noFill/>
          <a:ln/>
        </p:spPr>
        <p:txBody>
          <a:bodyPr wrap="square" lIns="0" tIns="0" rIns="0" bIns="0" rtlCol="0" anchor="ctr"/>
          <a:lstStyle/>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The cortical signal is small</a:t>
            </a:r>
            <a:endParaRPr lang="en-US" sz="4000" dirty="0"/>
          </a:p>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 and almost always there.</a:t>
            </a:r>
            <a:endParaRPr lang="en-US" sz="4000" dirty="0"/>
          </a:p>
        </p:txBody>
      </p:sp>
      <p:sp>
        <p:nvSpPr>
          <p:cNvPr id="6" name="Text 4"/>
          <p:cNvSpPr/>
          <p:nvPr/>
        </p:nvSpPr>
        <p:spPr>
          <a:xfrm>
            <a:off x="749808" y="3931920"/>
            <a:ext cx="10058400" cy="548640"/>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99 of 101 blocks above the null, across every animal. Plus all four controls you asked for.</a:t>
            </a:r>
            <a:endParaRPr lang="en-US" sz="1700" dirty="0"/>
          </a:p>
        </p:txBody>
      </p:sp>
      <p:sp>
        <p:nvSpPr>
          <p:cNvPr id="7" name="Text 5"/>
          <p:cNvSpPr/>
          <p:nvPr/>
        </p:nvSpPr>
        <p:spPr>
          <a:xfrm>
            <a:off x="749808" y="5943600"/>
            <a:ext cx="100584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Suchith Rao &amp; Tarun Senthil    •    for Dr. Carp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SINCE LAST WEEK</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Four things you asked for</a:t>
            </a:r>
            <a:endParaRPr lang="en-US" sz="2800" dirty="0"/>
          </a:p>
        </p:txBody>
      </p:sp>
      <p:sp>
        <p:nvSpPr>
          <p:cNvPr id="4" name="Shape 2"/>
          <p:cNvSpPr/>
          <p:nvPr/>
        </p:nvSpPr>
        <p:spPr>
          <a:xfrm>
            <a:off x="640080" y="1828800"/>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30552"/>
            <a:ext cx="438912" cy="438912"/>
          </a:xfrm>
          <a:prstGeom prst="ellipse">
            <a:avLst/>
          </a:prstGeom>
          <a:solidFill>
            <a:srgbClr val="16A34A"/>
          </a:solidFill>
          <a:ln/>
        </p:spPr>
      </p:sp>
      <p:sp>
        <p:nvSpPr>
          <p:cNvPr id="6" name="Text 4"/>
          <p:cNvSpPr/>
          <p:nvPr/>
        </p:nvSpPr>
        <p:spPr>
          <a:xfrm>
            <a:off x="896112" y="213055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1956816"/>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Partition the variance</a:t>
            </a:r>
            <a:endParaRPr lang="en-US" sz="1500" dirty="0"/>
          </a:p>
        </p:txBody>
      </p:sp>
      <p:sp>
        <p:nvSpPr>
          <p:cNvPr id="8" name="Text 6"/>
          <p:cNvSpPr/>
          <p:nvPr/>
        </p:nvSpPr>
        <p:spPr>
          <a:xfrm>
            <a:off x="4663440" y="1956816"/>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How much does each factor explain?</a:t>
            </a:r>
            <a:endParaRPr lang="en-US" sz="1250" dirty="0"/>
          </a:p>
        </p:txBody>
      </p:sp>
      <p:sp>
        <p:nvSpPr>
          <p:cNvPr id="9" name="Text 7"/>
          <p:cNvSpPr/>
          <p:nvPr/>
        </p:nvSpPr>
        <p:spPr>
          <a:xfrm>
            <a:off x="8732520" y="1956816"/>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table next slide</a:t>
            </a:r>
            <a:endParaRPr lang="en-US" sz="1250" dirty="0"/>
          </a:p>
        </p:txBody>
      </p:sp>
      <p:sp>
        <p:nvSpPr>
          <p:cNvPr id="10" name="Shape 8"/>
          <p:cNvSpPr/>
          <p:nvPr/>
        </p:nvSpPr>
        <p:spPr>
          <a:xfrm>
            <a:off x="640080" y="2990088"/>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96112" y="3291840"/>
            <a:ext cx="438912" cy="438912"/>
          </a:xfrm>
          <a:prstGeom prst="ellipse">
            <a:avLst/>
          </a:prstGeom>
          <a:solidFill>
            <a:srgbClr val="D97706"/>
          </a:solidFill>
          <a:ln/>
        </p:spPr>
      </p:sp>
      <p:sp>
        <p:nvSpPr>
          <p:cNvPr id="12" name="Text 10"/>
          <p:cNvSpPr/>
          <p:nvPr/>
        </p:nvSpPr>
        <p:spPr>
          <a:xfrm>
            <a:off x="896112" y="3291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517904" y="3118104"/>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Re-check the 0.35</a:t>
            </a:r>
            <a:endParaRPr lang="en-US" sz="1500" dirty="0"/>
          </a:p>
        </p:txBody>
      </p:sp>
      <p:sp>
        <p:nvSpPr>
          <p:cNvPr id="14" name="Text 12"/>
          <p:cNvSpPr/>
          <p:nvPr/>
        </p:nvSpPr>
        <p:spPr>
          <a:xfrm>
            <a:off x="4663440" y="3118104"/>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Was stimulus removed properly?</a:t>
            </a:r>
            <a:endParaRPr lang="en-US" sz="1250" dirty="0"/>
          </a:p>
        </p:txBody>
      </p:sp>
      <p:sp>
        <p:nvSpPr>
          <p:cNvPr id="15" name="Text 13"/>
          <p:cNvSpPr/>
          <p:nvPr/>
        </p:nvSpPr>
        <p:spPr>
          <a:xfrm>
            <a:off x="8732520" y="3118104"/>
            <a:ext cx="2651760" cy="777240"/>
          </a:xfrm>
          <a:prstGeom prst="rect">
            <a:avLst/>
          </a:prstGeom>
          <a:noFill/>
          <a:ln/>
        </p:spPr>
        <p:txBody>
          <a:bodyPr wrap="square" lIns="0" tIns="0" rIns="0" bIns="0"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Done — the number dropped</a:t>
            </a:r>
            <a:endParaRPr lang="en-US" sz="1250" dirty="0"/>
          </a:p>
        </p:txBody>
      </p:sp>
      <p:sp>
        <p:nvSpPr>
          <p:cNvPr id="16" name="Shape 14"/>
          <p:cNvSpPr/>
          <p:nvPr/>
        </p:nvSpPr>
        <p:spPr>
          <a:xfrm>
            <a:off x="640080" y="4151376"/>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896112" y="4453128"/>
            <a:ext cx="438912" cy="438912"/>
          </a:xfrm>
          <a:prstGeom prst="ellipse">
            <a:avLst/>
          </a:prstGeom>
          <a:solidFill>
            <a:srgbClr val="16A34A"/>
          </a:solidFill>
          <a:ln/>
        </p:spPr>
      </p:sp>
      <p:sp>
        <p:nvSpPr>
          <p:cNvPr id="18" name="Text 16"/>
          <p:cNvSpPr/>
          <p:nvPr/>
        </p:nvSpPr>
        <p:spPr>
          <a:xfrm>
            <a:off x="896112" y="44531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517904" y="4279392"/>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Test for crosstalk</a:t>
            </a:r>
            <a:endParaRPr lang="en-US" sz="1500" dirty="0"/>
          </a:p>
        </p:txBody>
      </p:sp>
      <p:sp>
        <p:nvSpPr>
          <p:cNvPr id="20" name="Text 18"/>
          <p:cNvSpPr/>
          <p:nvPr/>
        </p:nvSpPr>
        <p:spPr>
          <a:xfrm>
            <a:off x="4663440" y="4279392"/>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Correlate cortex against muscle power</a:t>
            </a:r>
            <a:endParaRPr lang="en-US" sz="1250" dirty="0"/>
          </a:p>
        </p:txBody>
      </p:sp>
      <p:sp>
        <p:nvSpPr>
          <p:cNvPr id="21" name="Text 19"/>
          <p:cNvSpPr/>
          <p:nvPr/>
        </p:nvSpPr>
        <p:spPr>
          <a:xfrm>
            <a:off x="8732520" y="4279392"/>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no contamination</a:t>
            </a:r>
            <a:endParaRPr lang="en-US" sz="1250" dirty="0"/>
          </a:p>
        </p:txBody>
      </p:sp>
      <p:sp>
        <p:nvSpPr>
          <p:cNvPr id="22" name="Shape 20"/>
          <p:cNvSpPr/>
          <p:nvPr/>
        </p:nvSpPr>
        <p:spPr>
          <a:xfrm>
            <a:off x="640080" y="5312664"/>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3" name="Shape 21"/>
          <p:cNvSpPr/>
          <p:nvPr/>
        </p:nvSpPr>
        <p:spPr>
          <a:xfrm>
            <a:off x="896112" y="5614416"/>
            <a:ext cx="438912" cy="438912"/>
          </a:xfrm>
          <a:prstGeom prst="ellipse">
            <a:avLst/>
          </a:prstGeom>
          <a:solidFill>
            <a:srgbClr val="16A34A"/>
          </a:solidFill>
          <a:ln/>
        </p:spPr>
      </p:sp>
      <p:sp>
        <p:nvSpPr>
          <p:cNvPr id="24" name="Text 22"/>
          <p:cNvSpPr/>
          <p:nvPr/>
        </p:nvSpPr>
        <p:spPr>
          <a:xfrm>
            <a:off x="896112" y="561441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17904" y="5440680"/>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Does it scale with learning?</a:t>
            </a:r>
            <a:endParaRPr lang="en-US" sz="1500" dirty="0"/>
          </a:p>
        </p:txBody>
      </p:sp>
      <p:sp>
        <p:nvSpPr>
          <p:cNvPr id="26" name="Text 24"/>
          <p:cNvSpPr/>
          <p:nvPr/>
        </p:nvSpPr>
        <p:spPr>
          <a:xfrm>
            <a:off x="4663440" y="5440680"/>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Failed animals as internal control</a:t>
            </a:r>
            <a:endParaRPr lang="en-US" sz="1250" dirty="0"/>
          </a:p>
        </p:txBody>
      </p:sp>
      <p:sp>
        <p:nvSpPr>
          <p:cNvPr id="27" name="Text 25"/>
          <p:cNvSpPr/>
          <p:nvPr/>
        </p:nvSpPr>
        <p:spPr>
          <a:xfrm>
            <a:off x="8732520" y="5440680"/>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r = +0.64</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ASK 1 · THE PARTITION</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What explains reflex size</a:t>
            </a:r>
            <a:endParaRPr lang="en-US" sz="2800" dirty="0"/>
          </a:p>
        </p:txBody>
      </p:sp>
      <p:sp>
        <p:nvSpPr>
          <p:cNvPr id="4" name="Shape 2"/>
          <p:cNvSpPr/>
          <p:nvPr/>
        </p:nvSpPr>
        <p:spPr>
          <a:xfrm>
            <a:off x="640080" y="178308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60120" y="192024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Stimulus (M-wave)</a:t>
            </a:r>
            <a:endParaRPr lang="en-US" sz="1450" dirty="0"/>
          </a:p>
        </p:txBody>
      </p:sp>
      <p:sp>
        <p:nvSpPr>
          <p:cNvPr id="6" name="Text 4"/>
          <p:cNvSpPr/>
          <p:nvPr/>
        </p:nvSpPr>
        <p:spPr>
          <a:xfrm>
            <a:off x="4937760" y="1920240"/>
            <a:ext cx="1371600" cy="594360"/>
          </a:xfrm>
          <a:prstGeom prst="rect">
            <a:avLst/>
          </a:prstGeom>
          <a:noFill/>
          <a:ln/>
        </p:spPr>
        <p:txBody>
          <a:bodyPr wrap="square" lIns="0" tIns="0" rIns="0" bIns="0" rtlCol="0" anchor="ctr"/>
          <a:lstStyle/>
          <a:p>
            <a:pPr algn="r" indent="0" marL="0">
              <a:buNone/>
            </a:pPr>
            <a:r>
              <a:rPr lang="en-US" sz="2300" b="1" dirty="0">
                <a:solidFill>
                  <a:srgbClr val="6D28D9"/>
                </a:solidFill>
                <a:latin typeface="Cambria" pitchFamily="34" charset="0"/>
                <a:ea typeface="Cambria" pitchFamily="34" charset="-122"/>
                <a:cs typeface="Cambria" pitchFamily="34" charset="-120"/>
              </a:rPr>
              <a:t>47%</a:t>
            </a:r>
            <a:endParaRPr lang="en-US" sz="2300" dirty="0"/>
          </a:p>
        </p:txBody>
      </p:sp>
      <p:sp>
        <p:nvSpPr>
          <p:cNvPr id="7" name="Text 5"/>
          <p:cNvSpPr/>
          <p:nvPr/>
        </p:nvSpPr>
        <p:spPr>
          <a:xfrm>
            <a:off x="6583680" y="192024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Dominant — how much stimulus reached the muscle</a:t>
            </a:r>
            <a:endParaRPr lang="en-US" sz="1200" dirty="0"/>
          </a:p>
        </p:txBody>
      </p:sp>
      <p:sp>
        <p:nvSpPr>
          <p:cNvPr id="8" name="Shape 6"/>
          <p:cNvSpPr/>
          <p:nvPr/>
        </p:nvSpPr>
        <p:spPr>
          <a:xfrm>
            <a:off x="640080" y="274320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Text 7"/>
          <p:cNvSpPr/>
          <p:nvPr/>
        </p:nvSpPr>
        <p:spPr>
          <a:xfrm>
            <a:off x="960120" y="288036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Background excitability</a:t>
            </a:r>
            <a:endParaRPr lang="en-US" sz="1450" dirty="0"/>
          </a:p>
        </p:txBody>
      </p:sp>
      <p:sp>
        <p:nvSpPr>
          <p:cNvPr id="10" name="Text 8"/>
          <p:cNvSpPr/>
          <p:nvPr/>
        </p:nvSpPr>
        <p:spPr>
          <a:xfrm>
            <a:off x="4937760" y="2880360"/>
            <a:ext cx="1371600" cy="594360"/>
          </a:xfrm>
          <a:prstGeom prst="rect">
            <a:avLst/>
          </a:prstGeom>
          <a:noFill/>
          <a:ln/>
        </p:spPr>
        <p:txBody>
          <a:bodyPr wrap="square" lIns="0" tIns="0" rIns="0" bIns="0" rtlCol="0" anchor="ctr"/>
          <a:lstStyle/>
          <a:p>
            <a:pPr algn="r" indent="0" marL="0">
              <a:buNone/>
            </a:pPr>
            <a:r>
              <a:rPr lang="en-US" sz="2300" b="1" dirty="0">
                <a:solidFill>
                  <a:srgbClr val="0D9488"/>
                </a:solidFill>
                <a:latin typeface="Cambria" pitchFamily="34" charset="0"/>
                <a:ea typeface="Cambria" pitchFamily="34" charset="-122"/>
                <a:cs typeface="Cambria" pitchFamily="34" charset="-120"/>
              </a:rPr>
              <a:t>1%</a:t>
            </a:r>
            <a:endParaRPr lang="en-US" sz="2300" dirty="0"/>
          </a:p>
        </p:txBody>
      </p:sp>
      <p:sp>
        <p:nvSpPr>
          <p:cNvPr id="11" name="Text 9"/>
          <p:cNvSpPr/>
          <p:nvPr/>
        </p:nvSpPr>
        <p:spPr>
          <a:xfrm>
            <a:off x="6583680" y="288036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Small alone, but a necessary control</a:t>
            </a:r>
            <a:endParaRPr lang="en-US" sz="1200" dirty="0"/>
          </a:p>
        </p:txBody>
      </p:sp>
      <p:sp>
        <p:nvSpPr>
          <p:cNvPr id="12" name="Shape 10"/>
          <p:cNvSpPr/>
          <p:nvPr/>
        </p:nvSpPr>
        <p:spPr>
          <a:xfrm>
            <a:off x="640080" y="370332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3" name="Text 11"/>
          <p:cNvSpPr/>
          <p:nvPr/>
        </p:nvSpPr>
        <p:spPr>
          <a:xfrm>
            <a:off x="960120" y="384048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Cortex, alone</a:t>
            </a:r>
            <a:endParaRPr lang="en-US" sz="1450" dirty="0"/>
          </a:p>
        </p:txBody>
      </p:sp>
      <p:sp>
        <p:nvSpPr>
          <p:cNvPr id="14" name="Text 12"/>
          <p:cNvSpPr/>
          <p:nvPr/>
        </p:nvSpPr>
        <p:spPr>
          <a:xfrm>
            <a:off x="4937760" y="3840480"/>
            <a:ext cx="1371600" cy="594360"/>
          </a:xfrm>
          <a:prstGeom prst="rect">
            <a:avLst/>
          </a:prstGeom>
          <a:noFill/>
          <a:ln/>
        </p:spPr>
        <p:txBody>
          <a:bodyPr wrap="square" lIns="0" tIns="0" rIns="0" bIns="0" rtlCol="0" anchor="ctr"/>
          <a:lstStyle/>
          <a:p>
            <a:pPr algn="r" indent="0" marL="0">
              <a:buNone/>
            </a:pPr>
            <a:r>
              <a:rPr lang="en-US" sz="2300" b="1" dirty="0">
                <a:solidFill>
                  <a:srgbClr val="2563EB"/>
                </a:solidFill>
                <a:latin typeface="Cambria" pitchFamily="34" charset="0"/>
                <a:ea typeface="Cambria" pitchFamily="34" charset="-122"/>
                <a:cs typeface="Cambria" pitchFamily="34" charset="-120"/>
              </a:rPr>
              <a:t>21%</a:t>
            </a:r>
            <a:endParaRPr lang="en-US" sz="2300" dirty="0"/>
          </a:p>
        </p:txBody>
      </p:sp>
      <p:sp>
        <p:nvSpPr>
          <p:cNvPr id="15" name="Text 13"/>
          <p:cNvSpPr/>
          <p:nvPr/>
        </p:nvSpPr>
        <p:spPr>
          <a:xfrm>
            <a:off x="6583680" y="384048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Mostly overlaps stimulus — stimulus drives both</a:t>
            </a:r>
            <a:endParaRPr lang="en-US" sz="1200" dirty="0"/>
          </a:p>
        </p:txBody>
      </p:sp>
      <p:sp>
        <p:nvSpPr>
          <p:cNvPr id="16" name="Shape 14"/>
          <p:cNvSpPr/>
          <p:nvPr/>
        </p:nvSpPr>
        <p:spPr>
          <a:xfrm>
            <a:off x="640080" y="4663440"/>
            <a:ext cx="10881360" cy="868680"/>
          </a:xfrm>
          <a:prstGeom prst="roundRect">
            <a:avLst>
              <a:gd name="adj" fmla="val 9474"/>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960120" y="480060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Cortex, unique</a:t>
            </a:r>
            <a:endParaRPr lang="en-US" sz="1450" dirty="0"/>
          </a:p>
        </p:txBody>
      </p:sp>
      <p:sp>
        <p:nvSpPr>
          <p:cNvPr id="18" name="Text 16"/>
          <p:cNvSpPr/>
          <p:nvPr/>
        </p:nvSpPr>
        <p:spPr>
          <a:xfrm>
            <a:off x="4937760" y="4800600"/>
            <a:ext cx="1371600" cy="594360"/>
          </a:xfrm>
          <a:prstGeom prst="rect">
            <a:avLst/>
          </a:prstGeom>
          <a:noFill/>
          <a:ln/>
        </p:spPr>
        <p:txBody>
          <a:bodyPr wrap="square" lIns="0" tIns="0" rIns="0" bIns="0" rtlCol="0" anchor="ctr"/>
          <a:lstStyle/>
          <a:p>
            <a:pPr algn="r" indent="0" marL="0">
              <a:buNone/>
            </a:pPr>
            <a:r>
              <a:rPr lang="en-US" sz="2300" b="1" dirty="0">
                <a:solidFill>
                  <a:srgbClr val="16A34A"/>
                </a:solidFill>
                <a:latin typeface="Cambria" pitchFamily="34" charset="0"/>
                <a:ea typeface="Cambria" pitchFamily="34" charset="-122"/>
                <a:cs typeface="Cambria" pitchFamily="34" charset="-120"/>
              </a:rPr>
              <a:t>2%</a:t>
            </a:r>
            <a:endParaRPr lang="en-US" sz="2300" dirty="0"/>
          </a:p>
        </p:txBody>
      </p:sp>
      <p:sp>
        <p:nvSpPr>
          <p:cNvPr id="19" name="Text 17"/>
          <p:cNvSpPr/>
          <p:nvPr/>
        </p:nvSpPr>
        <p:spPr>
          <a:xfrm>
            <a:off x="6583680" y="480060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What cortex adds once the others are known</a:t>
            </a:r>
            <a:endParaRPr lang="en-US" sz="1200" dirty="0"/>
          </a:p>
        </p:txBody>
      </p:sp>
      <p:sp>
        <p:nvSpPr>
          <p:cNvPr id="20" name="Shape 18"/>
          <p:cNvSpPr/>
          <p:nvPr/>
        </p:nvSpPr>
        <p:spPr>
          <a:xfrm>
            <a:off x="640080" y="562356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576072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Unexplained</a:t>
            </a:r>
            <a:endParaRPr lang="en-US" sz="1450" dirty="0"/>
          </a:p>
        </p:txBody>
      </p:sp>
      <p:sp>
        <p:nvSpPr>
          <p:cNvPr id="22" name="Text 20"/>
          <p:cNvSpPr/>
          <p:nvPr/>
        </p:nvSpPr>
        <p:spPr>
          <a:xfrm>
            <a:off x="4937760" y="5760720"/>
            <a:ext cx="1371600" cy="594360"/>
          </a:xfrm>
          <a:prstGeom prst="rect">
            <a:avLst/>
          </a:prstGeom>
          <a:noFill/>
          <a:ln/>
        </p:spPr>
        <p:txBody>
          <a:bodyPr wrap="square" lIns="0" tIns="0" rIns="0" bIns="0" rtlCol="0" anchor="ctr"/>
          <a:lstStyle/>
          <a:p>
            <a:pPr algn="r" indent="0" marL="0">
              <a:buNone/>
            </a:pPr>
            <a:r>
              <a:rPr lang="en-US" sz="2300" b="1" dirty="0">
                <a:solidFill>
                  <a:srgbClr val="64748B"/>
                </a:solidFill>
                <a:latin typeface="Cambria" pitchFamily="34" charset="0"/>
                <a:ea typeface="Cambria" pitchFamily="34" charset="-122"/>
                <a:cs typeface="Cambria" pitchFamily="34" charset="-120"/>
              </a:rPr>
              <a:t>51%</a:t>
            </a:r>
            <a:endParaRPr lang="en-US" sz="2300" dirty="0"/>
          </a:p>
        </p:txBody>
      </p:sp>
      <p:sp>
        <p:nvSpPr>
          <p:cNvPr id="23" name="Text 21"/>
          <p:cNvSpPr/>
          <p:nvPr/>
        </p:nvSpPr>
        <p:spPr>
          <a:xfrm>
            <a:off x="6583680" y="576072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Trial-to-trial variability we can't account for</a:t>
            </a:r>
            <a:endParaRPr lang="en-US" sz="1200" dirty="0"/>
          </a:p>
        </p:txBody>
      </p:sp>
      <p:sp>
        <p:nvSpPr>
          <p:cNvPr id="24" name="Text 22"/>
          <p:cNvSpPr/>
          <p:nvPr/>
        </p:nvSpPr>
        <p:spPr>
          <a:xfrm>
            <a:off x="658368" y="6537960"/>
            <a:ext cx="10881360" cy="320040"/>
          </a:xfrm>
          <a:prstGeom prst="rect">
            <a:avLst/>
          </a:prstGeom>
          <a:noFill/>
          <a:ln/>
        </p:spPr>
        <p:txBody>
          <a:bodyPr wrap="square" lIns="0" tIns="0" rIns="0" bIns="0" rtlCol="0" anchor="ctr"/>
          <a:lstStyle/>
          <a:p>
            <a:pPr indent="0" marL="0">
              <a:buNone/>
            </a:pPr>
            <a:r>
              <a:rPr lang="en-US" sz="1250" i="1" dirty="0">
                <a:solidFill>
                  <a:srgbClr val="6D28D9"/>
                </a:solidFill>
                <a:latin typeface="Calibri" pitchFamily="34" charset="0"/>
                <a:ea typeface="Calibri" pitchFamily="34" charset="-122"/>
                <a:cs typeface="Calibri" pitchFamily="34" charset="-120"/>
              </a:rPr>
              <a:t>Your read was right: the three don't add up, because cortex and stimulus share variance.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16A34A"/>
                </a:solidFill>
                <a:latin typeface="Calibri" pitchFamily="34" charset="0"/>
                <a:ea typeface="Calibri" pitchFamily="34" charset="-122"/>
                <a:cs typeface="Calibri" pitchFamily="34" charset="-120"/>
              </a:rPr>
              <a:t>THE HEADLINE</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Small effect, near-perfect reliability</a:t>
            </a:r>
            <a:endParaRPr lang="en-US" sz="2800" dirty="0"/>
          </a:p>
        </p:txBody>
      </p:sp>
      <p:sp>
        <p:nvSpPr>
          <p:cNvPr id="4" name="Text 2"/>
          <p:cNvSpPr/>
          <p:nvPr/>
        </p:nvSpPr>
        <p:spPr>
          <a:xfrm>
            <a:off x="640080" y="1645920"/>
            <a:ext cx="10881360" cy="5029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For each five-day block we ask whether cortex beats a shuffle of that block's own labels. It does, almost every time.</a:t>
            </a:r>
            <a:endParaRPr lang="en-US" sz="1500" dirty="0"/>
          </a:p>
        </p:txBody>
      </p:sp>
      <p:sp>
        <p:nvSpPr>
          <p:cNvPr id="5" name="Shape 3"/>
          <p:cNvSpPr/>
          <p:nvPr/>
        </p:nvSpPr>
        <p:spPr>
          <a:xfrm>
            <a:off x="640080" y="2286000"/>
            <a:ext cx="3538728" cy="1828800"/>
          </a:xfrm>
          <a:prstGeom prst="roundRect">
            <a:avLst>
              <a:gd name="adj" fmla="val 4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640080" y="2487168"/>
            <a:ext cx="3538728" cy="868680"/>
          </a:xfrm>
          <a:prstGeom prst="rect">
            <a:avLst/>
          </a:prstGeom>
          <a:noFill/>
          <a:ln/>
        </p:spPr>
        <p:txBody>
          <a:bodyPr wrap="square" lIns="0" tIns="0" rIns="0" bIns="0" rtlCol="0" anchor="ctr"/>
          <a:lstStyle/>
          <a:p>
            <a:pPr algn="ctr" indent="0" marL="0">
              <a:buNone/>
            </a:pPr>
            <a:r>
              <a:rPr lang="en-US" sz="3600" b="1" dirty="0">
                <a:solidFill>
                  <a:srgbClr val="16A34A"/>
                </a:solidFill>
                <a:latin typeface="Cambria" pitchFamily="34" charset="0"/>
                <a:ea typeface="Cambria" pitchFamily="34" charset="-122"/>
                <a:cs typeface="Cambria" pitchFamily="34" charset="-120"/>
              </a:rPr>
              <a:t>99 / 101</a:t>
            </a:r>
            <a:endParaRPr lang="en-US" sz="3600" dirty="0"/>
          </a:p>
        </p:txBody>
      </p:sp>
      <p:sp>
        <p:nvSpPr>
          <p:cNvPr id="7" name="Text 5"/>
          <p:cNvSpPr/>
          <p:nvPr/>
        </p:nvSpPr>
        <p:spPr>
          <a:xfrm>
            <a:off x="640080" y="3383280"/>
            <a:ext cx="3538728" cy="45720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blocks above the null</a:t>
            </a:r>
            <a:endParaRPr lang="en-US" sz="1300" dirty="0"/>
          </a:p>
        </p:txBody>
      </p:sp>
      <p:sp>
        <p:nvSpPr>
          <p:cNvPr id="8" name="Shape 6"/>
          <p:cNvSpPr/>
          <p:nvPr/>
        </p:nvSpPr>
        <p:spPr>
          <a:xfrm>
            <a:off x="4370832" y="2286000"/>
            <a:ext cx="3538728" cy="1828800"/>
          </a:xfrm>
          <a:prstGeom prst="roundRect">
            <a:avLst>
              <a:gd name="adj" fmla="val 4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Text 7"/>
          <p:cNvSpPr/>
          <p:nvPr/>
        </p:nvSpPr>
        <p:spPr>
          <a:xfrm>
            <a:off x="4370832" y="2487168"/>
            <a:ext cx="3538728" cy="868680"/>
          </a:xfrm>
          <a:prstGeom prst="rect">
            <a:avLst/>
          </a:prstGeom>
          <a:noFill/>
          <a:ln/>
        </p:spPr>
        <p:txBody>
          <a:bodyPr wrap="square" lIns="0" tIns="0" rIns="0" bIns="0" rtlCol="0" anchor="ctr"/>
          <a:lstStyle/>
          <a:p>
            <a:pPr algn="ctr" indent="0" marL="0">
              <a:buNone/>
            </a:pPr>
            <a:r>
              <a:rPr lang="en-US" sz="3600" b="1" dirty="0">
                <a:solidFill>
                  <a:srgbClr val="16A34A"/>
                </a:solidFill>
                <a:latin typeface="Cambria" pitchFamily="34" charset="0"/>
                <a:ea typeface="Cambria" pitchFamily="34" charset="-122"/>
                <a:cs typeface="Cambria" pitchFamily="34" charset="-120"/>
              </a:rPr>
              <a:t>5 / 5</a:t>
            </a:r>
            <a:endParaRPr lang="en-US" sz="3600" dirty="0"/>
          </a:p>
        </p:txBody>
      </p:sp>
      <p:sp>
        <p:nvSpPr>
          <p:cNvPr id="10" name="Text 8"/>
          <p:cNvSpPr/>
          <p:nvPr/>
        </p:nvSpPr>
        <p:spPr>
          <a:xfrm>
            <a:off x="4370832" y="3383280"/>
            <a:ext cx="3538728" cy="45720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animals</a:t>
            </a:r>
            <a:endParaRPr lang="en-US" sz="1300" dirty="0"/>
          </a:p>
        </p:txBody>
      </p:sp>
      <p:sp>
        <p:nvSpPr>
          <p:cNvPr id="11" name="Shape 9"/>
          <p:cNvSpPr/>
          <p:nvPr/>
        </p:nvSpPr>
        <p:spPr>
          <a:xfrm>
            <a:off x="8101584" y="2286000"/>
            <a:ext cx="3538728" cy="1828800"/>
          </a:xfrm>
          <a:prstGeom prst="roundRect">
            <a:avLst>
              <a:gd name="adj" fmla="val 4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2" name="Text 10"/>
          <p:cNvSpPr/>
          <p:nvPr/>
        </p:nvSpPr>
        <p:spPr>
          <a:xfrm>
            <a:off x="8101584" y="2487168"/>
            <a:ext cx="3538728" cy="868680"/>
          </a:xfrm>
          <a:prstGeom prst="rect">
            <a:avLst/>
          </a:prstGeom>
          <a:noFill/>
          <a:ln/>
        </p:spPr>
        <p:txBody>
          <a:bodyPr wrap="square" lIns="0" tIns="0" rIns="0" bIns="0" rtlCol="0" anchor="ctr"/>
          <a:lstStyle/>
          <a:p>
            <a:pPr algn="ctr" indent="0" marL="0">
              <a:buNone/>
            </a:pPr>
            <a:r>
              <a:rPr lang="en-US" sz="3600" b="1" dirty="0">
                <a:solidFill>
                  <a:srgbClr val="6D28D9"/>
                </a:solidFill>
                <a:latin typeface="Cambria" pitchFamily="34" charset="0"/>
                <a:ea typeface="Cambria" pitchFamily="34" charset="-122"/>
                <a:cs typeface="Cambria" pitchFamily="34" charset="-120"/>
              </a:rPr>
              <a:t>p = 2×10⁻²⁷</a:t>
            </a:r>
            <a:endParaRPr lang="en-US" sz="3600" dirty="0"/>
          </a:p>
        </p:txBody>
      </p:sp>
      <p:sp>
        <p:nvSpPr>
          <p:cNvPr id="13" name="Text 11"/>
          <p:cNvSpPr/>
          <p:nvPr/>
        </p:nvSpPr>
        <p:spPr>
          <a:xfrm>
            <a:off x="8101584" y="3383280"/>
            <a:ext cx="3538728" cy="45720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sign test</a:t>
            </a:r>
            <a:endParaRPr lang="en-US" sz="1300" dirty="0"/>
          </a:p>
        </p:txBody>
      </p:sp>
      <p:sp>
        <p:nvSpPr>
          <p:cNvPr id="14" name="Shape 12"/>
          <p:cNvSpPr/>
          <p:nvPr/>
        </p:nvSpPr>
        <p:spPr>
          <a:xfrm>
            <a:off x="640080" y="4434840"/>
            <a:ext cx="2084832"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Text 13"/>
          <p:cNvSpPr/>
          <p:nvPr/>
        </p:nvSpPr>
        <p:spPr>
          <a:xfrm>
            <a:off x="640080" y="4553712"/>
            <a:ext cx="2084832" cy="365760"/>
          </a:xfrm>
          <a:prstGeom prst="rect">
            <a:avLst/>
          </a:prstGeom>
          <a:noFill/>
          <a:ln/>
        </p:spPr>
        <p:txBody>
          <a:bodyPr wrap="square" lIns="0" tIns="0" rIns="0" bIns="0" rtlCol="0" anchor="ctr"/>
          <a:lstStyle/>
          <a:p>
            <a:pPr algn="ctr" indent="0" marL="0">
              <a:buNone/>
            </a:pPr>
            <a:r>
              <a:rPr lang="en-US" sz="1300" b="1" dirty="0">
                <a:solidFill>
                  <a:srgbClr val="64748B"/>
                </a:solidFill>
                <a:latin typeface="Calibri" pitchFamily="34" charset="0"/>
                <a:ea typeface="Calibri" pitchFamily="34" charset="-122"/>
                <a:cs typeface="Calibri" pitchFamily="34" charset="-120"/>
              </a:rPr>
              <a:t>A9</a:t>
            </a:r>
            <a:endParaRPr lang="en-US" sz="1300" dirty="0"/>
          </a:p>
        </p:txBody>
      </p:sp>
      <p:sp>
        <p:nvSpPr>
          <p:cNvPr id="16" name="Text 14"/>
          <p:cNvSpPr/>
          <p:nvPr/>
        </p:nvSpPr>
        <p:spPr>
          <a:xfrm>
            <a:off x="640080" y="4892040"/>
            <a:ext cx="2084832" cy="457200"/>
          </a:xfrm>
          <a:prstGeom prst="rect">
            <a:avLst/>
          </a:prstGeom>
          <a:noFill/>
          <a:ln/>
        </p:spPr>
        <p:txBody>
          <a:bodyPr wrap="square" lIns="0" tIns="0" rIns="0" bIns="0" rtlCol="0" anchor="ctr"/>
          <a:lstStyle/>
          <a:p>
            <a:pPr algn="ctr" indent="0" marL="0">
              <a:buNone/>
            </a:pPr>
            <a:r>
              <a:rPr lang="en-US" sz="1900" b="1" dirty="0">
                <a:solidFill>
                  <a:srgbClr val="1E293B"/>
                </a:solidFill>
                <a:latin typeface="Cambria" pitchFamily="34" charset="0"/>
                <a:ea typeface="Cambria" pitchFamily="34" charset="-122"/>
                <a:cs typeface="Cambria" pitchFamily="34" charset="-120"/>
              </a:rPr>
              <a:t>9 / 9</a:t>
            </a:r>
            <a:endParaRPr lang="en-US" sz="1900" dirty="0"/>
          </a:p>
        </p:txBody>
      </p:sp>
      <p:sp>
        <p:nvSpPr>
          <p:cNvPr id="17" name="Shape 15"/>
          <p:cNvSpPr/>
          <p:nvPr/>
        </p:nvSpPr>
        <p:spPr>
          <a:xfrm>
            <a:off x="2816352" y="4434840"/>
            <a:ext cx="2084832"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8" name="Text 16"/>
          <p:cNvSpPr/>
          <p:nvPr/>
        </p:nvSpPr>
        <p:spPr>
          <a:xfrm>
            <a:off x="2816352" y="4553712"/>
            <a:ext cx="2084832" cy="365760"/>
          </a:xfrm>
          <a:prstGeom prst="rect">
            <a:avLst/>
          </a:prstGeom>
          <a:noFill/>
          <a:ln/>
        </p:spPr>
        <p:txBody>
          <a:bodyPr wrap="square" lIns="0" tIns="0" rIns="0" bIns="0" rtlCol="0" anchor="ctr"/>
          <a:lstStyle/>
          <a:p>
            <a:pPr algn="ctr" indent="0" marL="0">
              <a:buNone/>
            </a:pPr>
            <a:r>
              <a:rPr lang="en-US" sz="1300" b="1" dirty="0">
                <a:solidFill>
                  <a:srgbClr val="64748B"/>
                </a:solidFill>
                <a:latin typeface="Calibri" pitchFamily="34" charset="0"/>
                <a:ea typeface="Calibri" pitchFamily="34" charset="-122"/>
                <a:cs typeface="Calibri" pitchFamily="34" charset="-120"/>
              </a:rPr>
              <a:t>A10</a:t>
            </a:r>
            <a:endParaRPr lang="en-US" sz="1300" dirty="0"/>
          </a:p>
        </p:txBody>
      </p:sp>
      <p:sp>
        <p:nvSpPr>
          <p:cNvPr id="19" name="Text 17"/>
          <p:cNvSpPr/>
          <p:nvPr/>
        </p:nvSpPr>
        <p:spPr>
          <a:xfrm>
            <a:off x="2816352" y="4892040"/>
            <a:ext cx="2084832" cy="457200"/>
          </a:xfrm>
          <a:prstGeom prst="rect">
            <a:avLst/>
          </a:prstGeom>
          <a:noFill/>
          <a:ln/>
        </p:spPr>
        <p:txBody>
          <a:bodyPr wrap="square" lIns="0" tIns="0" rIns="0" bIns="0" rtlCol="0" anchor="ctr"/>
          <a:lstStyle/>
          <a:p>
            <a:pPr algn="ctr" indent="0" marL="0">
              <a:buNone/>
            </a:pPr>
            <a:r>
              <a:rPr lang="en-US" sz="1900" b="1" dirty="0">
                <a:solidFill>
                  <a:srgbClr val="1E293B"/>
                </a:solidFill>
                <a:latin typeface="Cambria" pitchFamily="34" charset="0"/>
                <a:ea typeface="Cambria" pitchFamily="34" charset="-122"/>
                <a:cs typeface="Cambria" pitchFamily="34" charset="-120"/>
              </a:rPr>
              <a:t>35 / 35</a:t>
            </a:r>
            <a:endParaRPr lang="en-US" sz="1900" dirty="0"/>
          </a:p>
        </p:txBody>
      </p:sp>
      <p:sp>
        <p:nvSpPr>
          <p:cNvPr id="20" name="Shape 18"/>
          <p:cNvSpPr/>
          <p:nvPr/>
        </p:nvSpPr>
        <p:spPr>
          <a:xfrm>
            <a:off x="4992624" y="4434840"/>
            <a:ext cx="2084832"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4992624" y="4553712"/>
            <a:ext cx="2084832" cy="365760"/>
          </a:xfrm>
          <a:prstGeom prst="rect">
            <a:avLst/>
          </a:prstGeom>
          <a:noFill/>
          <a:ln/>
        </p:spPr>
        <p:txBody>
          <a:bodyPr wrap="square" lIns="0" tIns="0" rIns="0" bIns="0" rtlCol="0" anchor="ctr"/>
          <a:lstStyle/>
          <a:p>
            <a:pPr algn="ctr" indent="0" marL="0">
              <a:buNone/>
            </a:pPr>
            <a:r>
              <a:rPr lang="en-US" sz="1300" b="1" dirty="0">
                <a:solidFill>
                  <a:srgbClr val="64748B"/>
                </a:solidFill>
                <a:latin typeface="Calibri" pitchFamily="34" charset="0"/>
                <a:ea typeface="Calibri" pitchFamily="34" charset="-122"/>
                <a:cs typeface="Calibri" pitchFamily="34" charset="-120"/>
              </a:rPr>
              <a:t>A11</a:t>
            </a:r>
            <a:endParaRPr lang="en-US" sz="1300" dirty="0"/>
          </a:p>
        </p:txBody>
      </p:sp>
      <p:sp>
        <p:nvSpPr>
          <p:cNvPr id="22" name="Text 20"/>
          <p:cNvSpPr/>
          <p:nvPr/>
        </p:nvSpPr>
        <p:spPr>
          <a:xfrm>
            <a:off x="4992624" y="4892040"/>
            <a:ext cx="2084832" cy="457200"/>
          </a:xfrm>
          <a:prstGeom prst="rect">
            <a:avLst/>
          </a:prstGeom>
          <a:noFill/>
          <a:ln/>
        </p:spPr>
        <p:txBody>
          <a:bodyPr wrap="square" lIns="0" tIns="0" rIns="0" bIns="0" rtlCol="0" anchor="ctr"/>
          <a:lstStyle/>
          <a:p>
            <a:pPr algn="ctr" indent="0" marL="0">
              <a:buNone/>
            </a:pPr>
            <a:r>
              <a:rPr lang="en-US" sz="1900" b="1" dirty="0">
                <a:solidFill>
                  <a:srgbClr val="1E293B"/>
                </a:solidFill>
                <a:latin typeface="Cambria" pitchFamily="34" charset="0"/>
                <a:ea typeface="Cambria" pitchFamily="34" charset="-122"/>
                <a:cs typeface="Cambria" pitchFamily="34" charset="-120"/>
              </a:rPr>
              <a:t>15 / 17</a:t>
            </a:r>
            <a:endParaRPr lang="en-US" sz="1900" dirty="0"/>
          </a:p>
        </p:txBody>
      </p:sp>
      <p:sp>
        <p:nvSpPr>
          <p:cNvPr id="23" name="Shape 21"/>
          <p:cNvSpPr/>
          <p:nvPr/>
        </p:nvSpPr>
        <p:spPr>
          <a:xfrm>
            <a:off x="7168896" y="4434840"/>
            <a:ext cx="2084832"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4" name="Text 22"/>
          <p:cNvSpPr/>
          <p:nvPr/>
        </p:nvSpPr>
        <p:spPr>
          <a:xfrm>
            <a:off x="7168896" y="4553712"/>
            <a:ext cx="2084832" cy="365760"/>
          </a:xfrm>
          <a:prstGeom prst="rect">
            <a:avLst/>
          </a:prstGeom>
          <a:noFill/>
          <a:ln/>
        </p:spPr>
        <p:txBody>
          <a:bodyPr wrap="square" lIns="0" tIns="0" rIns="0" bIns="0" rtlCol="0" anchor="ctr"/>
          <a:lstStyle/>
          <a:p>
            <a:pPr algn="ctr" indent="0" marL="0">
              <a:buNone/>
            </a:pPr>
            <a:r>
              <a:rPr lang="en-US" sz="1300" b="1" dirty="0">
                <a:solidFill>
                  <a:srgbClr val="64748B"/>
                </a:solidFill>
                <a:latin typeface="Calibri" pitchFamily="34" charset="0"/>
                <a:ea typeface="Calibri" pitchFamily="34" charset="-122"/>
                <a:cs typeface="Calibri" pitchFamily="34" charset="-120"/>
              </a:rPr>
              <a:t>A3</a:t>
            </a:r>
            <a:endParaRPr lang="en-US" sz="1300" dirty="0"/>
          </a:p>
        </p:txBody>
      </p:sp>
      <p:sp>
        <p:nvSpPr>
          <p:cNvPr id="25" name="Text 23"/>
          <p:cNvSpPr/>
          <p:nvPr/>
        </p:nvSpPr>
        <p:spPr>
          <a:xfrm>
            <a:off x="7168896" y="4892040"/>
            <a:ext cx="2084832" cy="457200"/>
          </a:xfrm>
          <a:prstGeom prst="rect">
            <a:avLst/>
          </a:prstGeom>
          <a:noFill/>
          <a:ln/>
        </p:spPr>
        <p:txBody>
          <a:bodyPr wrap="square" lIns="0" tIns="0" rIns="0" bIns="0" rtlCol="0" anchor="ctr"/>
          <a:lstStyle/>
          <a:p>
            <a:pPr algn="ctr" indent="0" marL="0">
              <a:buNone/>
            </a:pPr>
            <a:r>
              <a:rPr lang="en-US" sz="1900" b="1" dirty="0">
                <a:solidFill>
                  <a:srgbClr val="1E293B"/>
                </a:solidFill>
                <a:latin typeface="Cambria" pitchFamily="34" charset="0"/>
                <a:ea typeface="Cambria" pitchFamily="34" charset="-122"/>
                <a:cs typeface="Cambria" pitchFamily="34" charset="-120"/>
              </a:rPr>
              <a:t>20 / 20</a:t>
            </a:r>
            <a:endParaRPr lang="en-US" sz="1900" dirty="0"/>
          </a:p>
        </p:txBody>
      </p:sp>
      <p:sp>
        <p:nvSpPr>
          <p:cNvPr id="26" name="Shape 24"/>
          <p:cNvSpPr/>
          <p:nvPr/>
        </p:nvSpPr>
        <p:spPr>
          <a:xfrm>
            <a:off x="9345168" y="4434840"/>
            <a:ext cx="2084832"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7" name="Text 25"/>
          <p:cNvSpPr/>
          <p:nvPr/>
        </p:nvSpPr>
        <p:spPr>
          <a:xfrm>
            <a:off x="9345168" y="4553712"/>
            <a:ext cx="2084832" cy="365760"/>
          </a:xfrm>
          <a:prstGeom prst="rect">
            <a:avLst/>
          </a:prstGeom>
          <a:noFill/>
          <a:ln/>
        </p:spPr>
        <p:txBody>
          <a:bodyPr wrap="square" lIns="0" tIns="0" rIns="0" bIns="0" rtlCol="0" anchor="ctr"/>
          <a:lstStyle/>
          <a:p>
            <a:pPr algn="ctr" indent="0" marL="0">
              <a:buNone/>
            </a:pPr>
            <a:r>
              <a:rPr lang="en-US" sz="1300" b="1" dirty="0">
                <a:solidFill>
                  <a:srgbClr val="64748B"/>
                </a:solidFill>
                <a:latin typeface="Calibri" pitchFamily="34" charset="0"/>
                <a:ea typeface="Calibri" pitchFamily="34" charset="-122"/>
                <a:cs typeface="Calibri" pitchFamily="34" charset="-120"/>
              </a:rPr>
              <a:t>A4</a:t>
            </a:r>
            <a:endParaRPr lang="en-US" sz="1300" dirty="0"/>
          </a:p>
        </p:txBody>
      </p:sp>
      <p:sp>
        <p:nvSpPr>
          <p:cNvPr id="28" name="Text 26"/>
          <p:cNvSpPr/>
          <p:nvPr/>
        </p:nvSpPr>
        <p:spPr>
          <a:xfrm>
            <a:off x="9345168" y="4892040"/>
            <a:ext cx="2084832" cy="457200"/>
          </a:xfrm>
          <a:prstGeom prst="rect">
            <a:avLst/>
          </a:prstGeom>
          <a:noFill/>
          <a:ln/>
        </p:spPr>
        <p:txBody>
          <a:bodyPr wrap="square" lIns="0" tIns="0" rIns="0" bIns="0" rtlCol="0" anchor="ctr"/>
          <a:lstStyle/>
          <a:p>
            <a:pPr algn="ctr" indent="0" marL="0">
              <a:buNone/>
            </a:pPr>
            <a:r>
              <a:rPr lang="en-US" sz="1900" b="1" dirty="0">
                <a:solidFill>
                  <a:srgbClr val="1E293B"/>
                </a:solidFill>
                <a:latin typeface="Cambria" pitchFamily="34" charset="0"/>
                <a:ea typeface="Cambria" pitchFamily="34" charset="-122"/>
                <a:cs typeface="Cambria" pitchFamily="34" charset="-120"/>
              </a:rPr>
              <a:t>20 / 20</a:t>
            </a:r>
            <a:endParaRPr lang="en-US" sz="1900" dirty="0"/>
          </a:p>
        </p:txBody>
      </p:sp>
      <p:sp>
        <p:nvSpPr>
          <p:cNvPr id="29" name="Shape 27"/>
          <p:cNvSpPr/>
          <p:nvPr/>
        </p:nvSpPr>
        <p:spPr>
          <a:xfrm>
            <a:off x="640080" y="5715000"/>
            <a:ext cx="10881360" cy="777240"/>
          </a:xfrm>
          <a:prstGeom prst="roundRect">
            <a:avLst>
              <a:gd name="adj" fmla="val 10588"/>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30" name="Text 28"/>
          <p:cNvSpPr/>
          <p:nvPr/>
        </p:nvSpPr>
        <p:spPr>
          <a:xfrm>
            <a:off x="960120" y="5852160"/>
            <a:ext cx="10241280" cy="502920"/>
          </a:xfrm>
          <a:prstGeom prst="rect">
            <a:avLst/>
          </a:prstGeom>
          <a:noFill/>
          <a:ln/>
        </p:spPr>
        <p:txBody>
          <a:bodyPr wrap="square" lIns="0" tIns="0" rIns="0" bIns="0" rtlCol="0" anchor="ctr"/>
          <a:lstStyle/>
          <a:p>
            <a:pPr indent="0" marL="0">
              <a:buNone/>
            </a:pPr>
            <a:r>
              <a:rPr lang="en-US" sz="1350" b="1" dirty="0">
                <a:solidFill>
                  <a:srgbClr val="16A34A"/>
                </a:solidFill>
                <a:latin typeface="Calibri" pitchFamily="34" charset="0"/>
                <a:ea typeface="Calibri" pitchFamily="34" charset="-122"/>
                <a:cs typeface="Calibri" pitchFamily="34" charset="-120"/>
              </a:rPr>
              <a:t>Why this matters more than the effect size:  </a:t>
            </a:r>
            <a:pPr indent="0" marL="0">
              <a:buNone/>
            </a:pPr>
            <a:r>
              <a:rPr lang="en-US" sz="1350" dirty="0">
                <a:solidFill>
                  <a:srgbClr val="1E293B"/>
                </a:solidFill>
                <a:latin typeface="Calibri" pitchFamily="34" charset="0"/>
                <a:ea typeface="Calibri" pitchFamily="34" charset="-122"/>
                <a:cs typeface="Calibri" pitchFamily="34" charset="-120"/>
              </a:rPr>
              <a:t>a small effect that appears essentially every time, in every animal, is not noise.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ASK 2 · THE CORRECTION</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We stress-tested our own headline number</a:t>
            </a:r>
            <a:endParaRPr lang="en-US" sz="2800" dirty="0"/>
          </a:p>
        </p:txBody>
      </p:sp>
      <p:sp>
        <p:nvSpPr>
          <p:cNvPr id="4" name="Shape 2"/>
          <p:cNvSpPr/>
          <p:nvPr/>
        </p:nvSpPr>
        <p:spPr>
          <a:xfrm>
            <a:off x="640080" y="1783080"/>
            <a:ext cx="534924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11680"/>
            <a:ext cx="457200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What we checked</a:t>
            </a:r>
            <a:endParaRPr lang="en-US" sz="1500" dirty="0"/>
          </a:p>
        </p:txBody>
      </p:sp>
      <p:sp>
        <p:nvSpPr>
          <p:cNvPr id="6" name="Text 4"/>
          <p:cNvSpPr/>
          <p:nvPr/>
        </p:nvSpPr>
        <p:spPr>
          <a:xfrm>
            <a:off x="914400" y="2423160"/>
            <a:ext cx="4846320" cy="146304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I removed stimulus and background across ALL trials at once, then measured cortex within each 5-day block. If the stimulus–reflex relationship shifts between blocks, that leaves stimulus variance behind — and cortex tracks stimulus.</a:t>
            </a:r>
            <a:endParaRPr lang="en-US" sz="1350" dirty="0"/>
          </a:p>
        </p:txBody>
      </p:sp>
      <p:sp>
        <p:nvSpPr>
          <p:cNvPr id="7" name="Shape 5"/>
          <p:cNvSpPr/>
          <p:nvPr/>
        </p:nvSpPr>
        <p:spPr>
          <a:xfrm>
            <a:off x="6172200" y="1783080"/>
            <a:ext cx="5349240" cy="2286000"/>
          </a:xfrm>
          <a:prstGeom prst="roundRect">
            <a:avLst>
              <a:gd name="adj" fmla="val 3600"/>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2011680"/>
            <a:ext cx="4572000" cy="320040"/>
          </a:xfrm>
          <a:prstGeom prst="rect">
            <a:avLst/>
          </a:prstGeom>
          <a:noFill/>
          <a:ln/>
        </p:spPr>
        <p:txBody>
          <a:bodyPr wrap="square" lIns="0" tIns="0" rIns="0" bIns="0" rtlCol="0" anchor="ctr"/>
          <a:lstStyle/>
          <a:p>
            <a:pPr indent="0" marL="0">
              <a:buNone/>
            </a:pPr>
            <a:r>
              <a:rPr lang="en-US" sz="1500" b="1" dirty="0">
                <a:solidFill>
                  <a:srgbClr val="16A34A"/>
                </a:solidFill>
                <a:latin typeface="Calibri" pitchFamily="34" charset="0"/>
                <a:ea typeface="Calibri" pitchFamily="34" charset="-122"/>
                <a:cs typeface="Calibri" pitchFamily="34" charset="-120"/>
              </a:rPr>
              <a:t>The fix</a:t>
            </a:r>
            <a:endParaRPr lang="en-US" sz="1500" dirty="0"/>
          </a:p>
        </p:txBody>
      </p:sp>
      <p:sp>
        <p:nvSpPr>
          <p:cNvPr id="9" name="Text 7"/>
          <p:cNvSpPr/>
          <p:nvPr/>
        </p:nvSpPr>
        <p:spPr>
          <a:xfrm>
            <a:off x="6446520" y="2423160"/>
            <a:ext cx="4846320" cy="146304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Remove them INSIDE each block, then decode. Nothing can leak across blocks. This is the conservative estimate and the one we'll quote.</a:t>
            </a:r>
            <a:endParaRPr lang="en-US" sz="1350" dirty="0"/>
          </a:p>
        </p:txBody>
      </p:sp>
      <p:sp>
        <p:nvSpPr>
          <p:cNvPr id="10" name="Shape 8"/>
          <p:cNvSpPr/>
          <p:nvPr/>
        </p:nvSpPr>
        <p:spPr>
          <a:xfrm>
            <a:off x="64008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640080" y="4526280"/>
            <a:ext cx="2624328" cy="822960"/>
          </a:xfrm>
          <a:prstGeom prst="rect">
            <a:avLst/>
          </a:prstGeom>
          <a:noFill/>
          <a:ln/>
        </p:spPr>
        <p:txBody>
          <a:bodyPr wrap="square" lIns="0" tIns="0" rIns="0" bIns="0" rtlCol="0" anchor="ctr"/>
          <a:lstStyle/>
          <a:p>
            <a:pPr algn="ctr" indent="0" marL="0">
              <a:buNone/>
            </a:pPr>
            <a:r>
              <a:rPr lang="en-US" sz="3400" b="1" dirty="0">
                <a:solidFill>
                  <a:srgbClr val="64748B"/>
                </a:solidFill>
                <a:latin typeface="Cambria" pitchFamily="34" charset="0"/>
                <a:ea typeface="Cambria" pitchFamily="34" charset="-122"/>
                <a:cs typeface="Cambria" pitchFamily="34" charset="-120"/>
              </a:rPr>
              <a:t>0.35</a:t>
            </a:r>
            <a:endParaRPr lang="en-US" sz="3400" dirty="0"/>
          </a:p>
        </p:txBody>
      </p:sp>
      <p:sp>
        <p:nvSpPr>
          <p:cNvPr id="12" name="Text 10"/>
          <p:cNvSpPr/>
          <p:nvPr/>
        </p:nvSpPr>
        <p:spPr>
          <a:xfrm>
            <a:off x="77724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best block, old method</a:t>
            </a:r>
            <a:endParaRPr lang="en-US" sz="1200" dirty="0"/>
          </a:p>
        </p:txBody>
      </p:sp>
      <p:sp>
        <p:nvSpPr>
          <p:cNvPr id="13" name="Shape 11"/>
          <p:cNvSpPr/>
          <p:nvPr/>
        </p:nvSpPr>
        <p:spPr>
          <a:xfrm>
            <a:off x="342900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3429000" y="4526280"/>
            <a:ext cx="2624328" cy="822960"/>
          </a:xfrm>
          <a:prstGeom prst="rect">
            <a:avLst/>
          </a:prstGeom>
          <a:noFill/>
          <a:ln/>
        </p:spPr>
        <p:txBody>
          <a:bodyPr wrap="square" lIns="0" tIns="0" rIns="0" bIns="0" rtlCol="0" anchor="ctr"/>
          <a:lstStyle/>
          <a:p>
            <a:pPr algn="ctr" indent="0" marL="0">
              <a:buNone/>
            </a:pPr>
            <a:r>
              <a:rPr lang="en-US" sz="3400" b="1" dirty="0">
                <a:solidFill>
                  <a:srgbClr val="64748B"/>
                </a:solidFill>
                <a:latin typeface="Cambria" pitchFamily="34" charset="0"/>
                <a:ea typeface="Cambria" pitchFamily="34" charset="-122"/>
                <a:cs typeface="Cambria" pitchFamily="34" charset="-120"/>
              </a:rPr>
              <a:t>0.09</a:t>
            </a:r>
            <a:endParaRPr lang="en-US" sz="3400" dirty="0"/>
          </a:p>
        </p:txBody>
      </p:sp>
      <p:sp>
        <p:nvSpPr>
          <p:cNvPr id="15" name="Text 13"/>
          <p:cNvSpPr/>
          <p:nvPr/>
        </p:nvSpPr>
        <p:spPr>
          <a:xfrm>
            <a:off x="356616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mean, old method</a:t>
            </a:r>
            <a:endParaRPr lang="en-US" sz="1200" dirty="0"/>
          </a:p>
        </p:txBody>
      </p:sp>
      <p:sp>
        <p:nvSpPr>
          <p:cNvPr id="16" name="Shape 14"/>
          <p:cNvSpPr/>
          <p:nvPr/>
        </p:nvSpPr>
        <p:spPr>
          <a:xfrm>
            <a:off x="621792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6217920" y="4526280"/>
            <a:ext cx="2624328" cy="822960"/>
          </a:xfrm>
          <a:prstGeom prst="rect">
            <a:avLst/>
          </a:prstGeom>
          <a:noFill/>
          <a:ln/>
        </p:spPr>
        <p:txBody>
          <a:bodyPr wrap="square" lIns="0" tIns="0" rIns="0" bIns="0" rtlCol="0" anchor="ctr"/>
          <a:lstStyle/>
          <a:p>
            <a:pPr algn="ctr" indent="0" marL="0">
              <a:buNone/>
            </a:pPr>
            <a:r>
              <a:rPr lang="en-US" sz="3400" b="1" dirty="0">
                <a:solidFill>
                  <a:srgbClr val="16A34A"/>
                </a:solidFill>
                <a:latin typeface="Cambria" pitchFamily="34" charset="0"/>
                <a:ea typeface="Cambria" pitchFamily="34" charset="-122"/>
                <a:cs typeface="Cambria" pitchFamily="34" charset="-120"/>
              </a:rPr>
              <a:t>0.04</a:t>
            </a:r>
            <a:endParaRPr lang="en-US" sz="3400" dirty="0"/>
          </a:p>
        </p:txBody>
      </p:sp>
      <p:sp>
        <p:nvSpPr>
          <p:cNvPr id="18" name="Text 16"/>
          <p:cNvSpPr/>
          <p:nvPr/>
        </p:nvSpPr>
        <p:spPr>
          <a:xfrm>
            <a:off x="635508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mean, corrected</a:t>
            </a:r>
            <a:endParaRPr lang="en-US" sz="1200" dirty="0"/>
          </a:p>
        </p:txBody>
      </p:sp>
      <p:sp>
        <p:nvSpPr>
          <p:cNvPr id="19" name="Shape 17"/>
          <p:cNvSpPr/>
          <p:nvPr/>
        </p:nvSpPr>
        <p:spPr>
          <a:xfrm>
            <a:off x="900684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Text 18"/>
          <p:cNvSpPr/>
          <p:nvPr/>
        </p:nvSpPr>
        <p:spPr>
          <a:xfrm>
            <a:off x="9006840" y="4526280"/>
            <a:ext cx="2624328" cy="822960"/>
          </a:xfrm>
          <a:prstGeom prst="rect">
            <a:avLst/>
          </a:prstGeom>
          <a:noFill/>
          <a:ln/>
        </p:spPr>
        <p:txBody>
          <a:bodyPr wrap="square" lIns="0" tIns="0" rIns="0" bIns="0" rtlCol="0" anchor="ctr"/>
          <a:lstStyle/>
          <a:p>
            <a:pPr algn="ctr" indent="0" marL="0">
              <a:buNone/>
            </a:pPr>
            <a:r>
              <a:rPr lang="en-US" sz="3400" b="1" dirty="0">
                <a:solidFill>
                  <a:srgbClr val="DC2626"/>
                </a:solidFill>
                <a:latin typeface="Cambria" pitchFamily="34" charset="0"/>
                <a:ea typeface="Cambria" pitchFamily="34" charset="-122"/>
                <a:cs typeface="Cambria" pitchFamily="34" charset="-120"/>
              </a:rPr>
              <a:t>−0.01</a:t>
            </a:r>
            <a:endParaRPr lang="en-US" sz="3400" dirty="0"/>
          </a:p>
        </p:txBody>
      </p:sp>
      <p:sp>
        <p:nvSpPr>
          <p:cNvPr id="21" name="Text 19"/>
          <p:cNvSpPr/>
          <p:nvPr/>
        </p:nvSpPr>
        <p:spPr>
          <a:xfrm>
            <a:off x="914400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shuffle null</a:t>
            </a:r>
            <a:endParaRPr lang="en-US" sz="1200" dirty="0"/>
          </a:p>
        </p:txBody>
      </p:sp>
      <p:sp>
        <p:nvSpPr>
          <p:cNvPr id="22" name="Text 20"/>
          <p:cNvSpPr/>
          <p:nvPr/>
        </p:nvSpPr>
        <p:spPr>
          <a:xfrm>
            <a:off x="658368" y="6309360"/>
            <a:ext cx="10881360" cy="365760"/>
          </a:xfrm>
          <a:prstGeom prst="rect">
            <a:avLst/>
          </a:prstGeom>
          <a:noFill/>
          <a:ln/>
        </p:spPr>
        <p:txBody>
          <a:bodyPr wrap="square" lIns="0" tIns="0" rIns="0" bIns="0" rtlCol="0" anchor="ctr"/>
          <a:lstStyle/>
          <a:p>
            <a:pPr indent="0" marL="0">
              <a:buNone/>
            </a:pPr>
            <a:r>
              <a:rPr lang="en-US" sz="1300" b="1" i="1" dirty="0">
                <a:solidFill>
                  <a:srgbClr val="1E293B"/>
                </a:solidFill>
                <a:latin typeface="Calibri" pitchFamily="34" charset="0"/>
                <a:ea typeface="Calibri" pitchFamily="34" charset="-122"/>
                <a:cs typeface="Calibri" pitchFamily="34" charset="-120"/>
              </a:rPr>
              <a:t>Still above the null in every animal — the finding holds, it's just smaller than I said.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16A34A"/>
                </a:solidFill>
                <a:latin typeface="Calibri" pitchFamily="34" charset="0"/>
                <a:ea typeface="Calibri" pitchFamily="34" charset="-122"/>
                <a:cs typeface="Calibri" pitchFamily="34" charset="-120"/>
              </a:rPr>
              <a:t>ASK 3 · CROSSTALK</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No muscle contamination</a:t>
            </a:r>
            <a:endParaRPr lang="en-US" sz="2800" dirty="0"/>
          </a:p>
        </p:txBody>
      </p:sp>
      <p:pic>
        <p:nvPicPr>
          <p:cNvPr id="4" name="Image 0" descr="outputs/verify/verification.png">    </p:cNvPr>
          <p:cNvPicPr>
            <a:picLocks noChangeAspect="1"/>
          </p:cNvPicPr>
          <p:nvPr/>
        </p:nvPicPr>
        <p:blipFill>
          <a:blip r:embed="rId1"/>
          <a:srcRect l="0" r="0" t="0" b="0"/>
          <a:stretch/>
        </p:blipFill>
        <p:spPr>
          <a:xfrm>
            <a:off x="457200" y="1828800"/>
            <a:ext cx="6949440" cy="2672862"/>
          </a:xfrm>
          <a:prstGeom prst="rect">
            <a:avLst/>
          </a:prstGeom>
        </p:spPr>
      </p:pic>
      <p:sp>
        <p:nvSpPr>
          <p:cNvPr id="5" name="Shape 2"/>
          <p:cNvSpPr/>
          <p:nvPr/>
        </p:nvSpPr>
        <p:spPr>
          <a:xfrm>
            <a:off x="7635240" y="1920240"/>
            <a:ext cx="3886200" cy="3794760"/>
          </a:xfrm>
          <a:prstGeom prst="roundRect">
            <a:avLst>
              <a:gd name="adj" fmla="val 2169"/>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Your method</a:t>
            </a:r>
            <a:endParaRPr lang="en-US" sz="1400" dirty="0"/>
          </a:p>
        </p:txBody>
      </p:sp>
      <p:sp>
        <p:nvSpPr>
          <p:cNvPr id="7" name="Text 4"/>
          <p:cNvSpPr/>
          <p:nvPr/>
        </p:nvSpPr>
        <p:spPr>
          <a:xfrm>
            <a:off x="7863840" y="2542032"/>
            <a:ext cx="3429000" cy="123444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Correlate cortical power against muscle power, band by band. Muscle artefact lives at high frequency, so contamination would show there.</a:t>
            </a:r>
            <a:endParaRPr lang="en-US" sz="1300" dirty="0"/>
          </a:p>
        </p:txBody>
      </p:sp>
      <p:sp>
        <p:nvSpPr>
          <p:cNvPr id="8" name="Text 5"/>
          <p:cNvSpPr/>
          <p:nvPr/>
        </p:nvSpPr>
        <p:spPr>
          <a:xfrm>
            <a:off x="7863840" y="3840480"/>
            <a:ext cx="3429000" cy="777240"/>
          </a:xfrm>
          <a:prstGeom prst="rect">
            <a:avLst/>
          </a:prstGeom>
          <a:noFill/>
          <a:ln/>
        </p:spPr>
        <p:txBody>
          <a:bodyPr wrap="square" lIns="0" tIns="0" rIns="0" bIns="0" rtlCol="0" anchor="ctr"/>
          <a:lstStyle/>
          <a:p>
            <a:pPr indent="0" marL="0">
              <a:lnSpc>
                <a:spcPct val="110000"/>
              </a:lnSpc>
              <a:buNone/>
            </a:pPr>
            <a:r>
              <a:rPr lang="en-US" sz="2000" b="1" dirty="0">
                <a:solidFill>
                  <a:srgbClr val="16A34A"/>
                </a:solidFill>
                <a:latin typeface="Cambria" pitchFamily="34" charset="0"/>
                <a:ea typeface="Cambria" pitchFamily="34" charset="-122"/>
                <a:cs typeface="Cambria" pitchFamily="34" charset="-120"/>
              </a:rPr>
              <a:t>Above 100 Hz:</a:t>
            </a:r>
            <a:endParaRPr lang="en-US" sz="2000" dirty="0"/>
          </a:p>
          <a:p>
            <a:pPr indent="0" marL="0">
              <a:lnSpc>
                <a:spcPct val="110000"/>
              </a:lnSpc>
              <a:buNone/>
            </a:pPr>
            <a:r>
              <a:rPr lang="en-US" sz="2000" b="1" dirty="0">
                <a:solidFill>
                  <a:srgbClr val="16A34A"/>
                </a:solidFill>
                <a:latin typeface="Cambria" pitchFamily="34" charset="0"/>
                <a:ea typeface="Cambria" pitchFamily="34" charset="-122"/>
                <a:cs typeface="Cambria" pitchFamily="34" charset="-120"/>
              </a:rPr>
              <a:t>r = +0.06</a:t>
            </a:r>
            <a:endParaRPr lang="en-US" sz="2000" dirty="0"/>
          </a:p>
        </p:txBody>
      </p:sp>
      <p:sp>
        <p:nvSpPr>
          <p:cNvPr id="9" name="Text 6"/>
          <p:cNvSpPr/>
          <p:nvPr/>
        </p:nvSpPr>
        <p:spPr>
          <a:xfrm>
            <a:off x="7863840" y="4709160"/>
            <a:ext cx="3429000" cy="914400"/>
          </a:xfrm>
          <a:prstGeom prst="rect">
            <a:avLst/>
          </a:prstGeom>
          <a:noFill/>
          <a:ln/>
        </p:spPr>
        <p:txBody>
          <a:bodyPr wrap="square" lIns="0" tIns="0" rIns="0" bIns="0" rtlCol="0" anchor="ctr"/>
          <a:lstStyle/>
          <a:p>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Essentially zero. Low bands slightly negative. Cortex marginally leads muscle, which is the acceptable direction.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ASK 4 · THE INTERNAL CONTROL</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The effect tracks how much they learned</a:t>
            </a:r>
            <a:endParaRPr lang="en-US" sz="2800" dirty="0"/>
          </a:p>
        </p:txBody>
      </p:sp>
      <p:pic>
        <p:nvPicPr>
          <p:cNvPr id="4" name="Image 0" descr="outputs/scaling/scaling.png">    </p:cNvPr>
          <p:cNvPicPr>
            <a:picLocks noChangeAspect="1"/>
          </p:cNvPicPr>
          <p:nvPr/>
        </p:nvPicPr>
        <p:blipFill>
          <a:blip r:embed="rId1"/>
          <a:srcRect l="0" r="0" t="0" b="0"/>
          <a:stretch/>
        </p:blipFill>
        <p:spPr>
          <a:xfrm>
            <a:off x="457200" y="1828800"/>
            <a:ext cx="6949440" cy="2672862"/>
          </a:xfrm>
          <a:prstGeom prst="rect">
            <a:avLst/>
          </a:prstGeom>
        </p:spPr>
      </p:pic>
      <p:sp>
        <p:nvSpPr>
          <p:cNvPr id="5" name="Shape 2"/>
          <p:cNvSpPr/>
          <p:nvPr/>
        </p:nvSpPr>
        <p:spPr>
          <a:xfrm>
            <a:off x="7635240" y="1920240"/>
            <a:ext cx="3886200" cy="3794760"/>
          </a:xfrm>
          <a:prstGeom prst="roundRect">
            <a:avLst>
              <a:gd name="adj" fmla="val 2169"/>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Your idea</a:t>
            </a:r>
            <a:endParaRPr lang="en-US" sz="1400" dirty="0"/>
          </a:p>
        </p:txBody>
      </p:sp>
      <p:sp>
        <p:nvSpPr>
          <p:cNvPr id="7" name="Text 4"/>
          <p:cNvSpPr/>
          <p:nvPr/>
        </p:nvSpPr>
        <p:spPr>
          <a:xfrm>
            <a:off x="7863840" y="2542032"/>
            <a:ext cx="3429000" cy="123444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Animals that failed to condition shouldn't show the cortical effect. Two of ours failed — they're the built-in negative control.</a:t>
            </a:r>
            <a:endParaRPr lang="en-US" sz="1300" dirty="0"/>
          </a:p>
        </p:txBody>
      </p:sp>
      <p:sp>
        <p:nvSpPr>
          <p:cNvPr id="8" name="Text 5"/>
          <p:cNvSpPr/>
          <p:nvPr/>
        </p:nvSpPr>
        <p:spPr>
          <a:xfrm>
            <a:off x="7863840" y="3840480"/>
            <a:ext cx="3429000" cy="548640"/>
          </a:xfrm>
          <a:prstGeom prst="rect">
            <a:avLst/>
          </a:prstGeom>
          <a:noFill/>
          <a:ln/>
        </p:spPr>
        <p:txBody>
          <a:bodyPr wrap="square" lIns="0" tIns="0" rIns="0" bIns="0" rtlCol="0" anchor="ctr"/>
          <a:lstStyle/>
          <a:p>
            <a:pPr indent="0" marL="0">
              <a:buNone/>
            </a:pPr>
            <a:r>
              <a:rPr lang="en-US" sz="2600" b="1" dirty="0">
                <a:solidFill>
                  <a:srgbClr val="6D28D9"/>
                </a:solidFill>
                <a:latin typeface="Cambria" pitchFamily="34" charset="0"/>
                <a:ea typeface="Cambria" pitchFamily="34" charset="-122"/>
                <a:cs typeface="Cambria" pitchFamily="34" charset="-120"/>
              </a:rPr>
              <a:t>r = +0.64</a:t>
            </a:r>
            <a:endParaRPr lang="en-US" sz="2600" dirty="0"/>
          </a:p>
        </p:txBody>
      </p:sp>
      <p:sp>
        <p:nvSpPr>
          <p:cNvPr id="9" name="Text 6"/>
          <p:cNvSpPr/>
          <p:nvPr/>
        </p:nvSpPr>
        <p:spPr>
          <a:xfrm>
            <a:off x="7863840" y="4434840"/>
            <a:ext cx="3429000" cy="914400"/>
          </a:xfrm>
          <a:prstGeom prst="rect">
            <a:avLst/>
          </a:prstGeom>
          <a:noFill/>
          <a:ln/>
        </p:spPr>
        <p:txBody>
          <a:bodyPr wrap="square" lIns="0" tIns="0" rIns="0" bIns="0" rtlCol="0" anchor="ctr"/>
          <a:lstStyle/>
          <a:p>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between learning and the change in coupling. The two successes gained coupling; the two failures didn't.</a:t>
            </a:r>
            <a:endParaRPr lang="en-US" sz="1250" dirty="0"/>
          </a:p>
        </p:txBody>
      </p:sp>
      <p:sp>
        <p:nvSpPr>
          <p:cNvPr id="10" name="Text 7"/>
          <p:cNvSpPr/>
          <p:nvPr/>
        </p:nvSpPr>
        <p:spPr>
          <a:xfrm>
            <a:off x="7863840" y="5394960"/>
            <a:ext cx="3429000" cy="320040"/>
          </a:xfrm>
          <a:prstGeom prst="rect">
            <a:avLst/>
          </a:prstGeom>
          <a:noFill/>
          <a:ln/>
        </p:spPr>
        <p:txBody>
          <a:bodyPr wrap="square" lIns="0" tIns="0" rIns="0" bIns="0" rtlCol="0" anchor="ctr"/>
          <a:lstStyle/>
          <a:p>
            <a:pPr indent="0" marL="0">
              <a:buNone/>
            </a:pPr>
            <a:r>
              <a:rPr lang="en-US" sz="1200" b="1" i="1" dirty="0">
                <a:solidFill>
                  <a:srgbClr val="D97706"/>
                </a:solidFill>
                <a:latin typeface="Calibri" pitchFamily="34" charset="0"/>
                <a:ea typeface="Calibri" pitchFamily="34" charset="-122"/>
                <a:cs typeface="Calibri" pitchFamily="34" charset="-120"/>
              </a:rPr>
              <a:t>n = 5, so not significant yet.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NEW FINDING · A CONSTRAINT</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A constraint worth knowing early</a:t>
            </a:r>
            <a:endParaRPr lang="en-US" sz="2800" dirty="0"/>
          </a:p>
        </p:txBody>
      </p:sp>
      <p:sp>
        <p:nvSpPr>
          <p:cNvPr id="4" name="Text 2"/>
          <p:cNvSpPr/>
          <p:nvPr/>
        </p:nvSpPr>
        <p:spPr>
          <a:xfrm>
            <a:off x="640080" y="1645920"/>
            <a:ext cx="10881360" cy="54864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Using the reward criterion as a success readout across every animal's log — the same trick that found animals 3 and 4:</a:t>
            </a:r>
            <a:endParaRPr lang="en-US" sz="1450" dirty="0"/>
          </a:p>
        </p:txBody>
      </p:sp>
      <p:sp>
        <p:nvSpPr>
          <p:cNvPr id="5" name="Shape 3"/>
          <p:cNvSpPr/>
          <p:nvPr/>
        </p:nvSpPr>
        <p:spPr>
          <a:xfrm>
            <a:off x="640080" y="237744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960120" y="246888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A3</a:t>
            </a:r>
            <a:endParaRPr lang="en-US" sz="1700" dirty="0"/>
          </a:p>
        </p:txBody>
      </p:sp>
      <p:sp>
        <p:nvSpPr>
          <p:cNvPr id="7" name="Text 5"/>
          <p:cNvSpPr/>
          <p:nvPr/>
        </p:nvSpPr>
        <p:spPr>
          <a:xfrm>
            <a:off x="1920240" y="246888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8" name="Text 6"/>
          <p:cNvSpPr/>
          <p:nvPr/>
        </p:nvSpPr>
        <p:spPr>
          <a:xfrm>
            <a:off x="3017520" y="246888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90 → 190</a:t>
            </a:r>
            <a:endParaRPr lang="en-US" sz="1350" dirty="0"/>
          </a:p>
        </p:txBody>
      </p:sp>
      <p:sp>
        <p:nvSpPr>
          <p:cNvPr id="9" name="Text 7"/>
          <p:cNvSpPr/>
          <p:nvPr/>
        </p:nvSpPr>
        <p:spPr>
          <a:xfrm>
            <a:off x="5943600" y="2468880"/>
            <a:ext cx="5303520" cy="548640"/>
          </a:xfrm>
          <a:prstGeom prst="rect">
            <a:avLst/>
          </a:prstGeom>
          <a:noFill/>
          <a:ln/>
        </p:spPr>
        <p:txBody>
          <a:bodyPr wrap="square" lIns="0" tIns="0" rIns="0" bIns="0" rtlCol="0" anchor="ctr"/>
          <a:lstStyle/>
          <a:p>
            <a:pPr indent="0" marL="0">
              <a:buNone/>
            </a:pPr>
            <a:r>
              <a:rPr lang="en-US" sz="1300" b="1" dirty="0">
                <a:solidFill>
                  <a:srgbClr val="16A34A"/>
                </a:solidFill>
                <a:latin typeface="Calibri" pitchFamily="34" charset="0"/>
                <a:ea typeface="Calibri" pitchFamily="34" charset="-122"/>
                <a:cs typeface="Calibri" pitchFamily="34" charset="-120"/>
              </a:rPr>
              <a:t>bar raised — learned</a:t>
            </a:r>
            <a:endParaRPr lang="en-US" sz="1300" dirty="0"/>
          </a:p>
        </p:txBody>
      </p:sp>
      <p:sp>
        <p:nvSpPr>
          <p:cNvPr id="10" name="Shape 8"/>
          <p:cNvSpPr/>
          <p:nvPr/>
        </p:nvSpPr>
        <p:spPr>
          <a:xfrm>
            <a:off x="640080" y="320040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329184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A4</a:t>
            </a:r>
            <a:endParaRPr lang="en-US" sz="1700" dirty="0"/>
          </a:p>
        </p:txBody>
      </p:sp>
      <p:sp>
        <p:nvSpPr>
          <p:cNvPr id="12" name="Text 10"/>
          <p:cNvSpPr/>
          <p:nvPr/>
        </p:nvSpPr>
        <p:spPr>
          <a:xfrm>
            <a:off x="1920240" y="329184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13" name="Text 11"/>
          <p:cNvSpPr/>
          <p:nvPr/>
        </p:nvSpPr>
        <p:spPr>
          <a:xfrm>
            <a:off x="3017520" y="329184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150 → 220</a:t>
            </a:r>
            <a:endParaRPr lang="en-US" sz="1350" dirty="0"/>
          </a:p>
        </p:txBody>
      </p:sp>
      <p:sp>
        <p:nvSpPr>
          <p:cNvPr id="14" name="Text 12"/>
          <p:cNvSpPr/>
          <p:nvPr/>
        </p:nvSpPr>
        <p:spPr>
          <a:xfrm>
            <a:off x="5943600" y="3291840"/>
            <a:ext cx="5303520" cy="548640"/>
          </a:xfrm>
          <a:prstGeom prst="rect">
            <a:avLst/>
          </a:prstGeom>
          <a:noFill/>
          <a:ln/>
        </p:spPr>
        <p:txBody>
          <a:bodyPr wrap="square" lIns="0" tIns="0" rIns="0" bIns="0" rtlCol="0" anchor="ctr"/>
          <a:lstStyle/>
          <a:p>
            <a:pPr indent="0" marL="0">
              <a:buNone/>
            </a:pPr>
            <a:r>
              <a:rPr lang="en-US" sz="1300" b="1" dirty="0">
                <a:solidFill>
                  <a:srgbClr val="16A34A"/>
                </a:solidFill>
                <a:latin typeface="Calibri" pitchFamily="34" charset="0"/>
                <a:ea typeface="Calibri" pitchFamily="34" charset="-122"/>
                <a:cs typeface="Calibri" pitchFamily="34" charset="-120"/>
              </a:rPr>
              <a:t>bar raised — learned</a:t>
            </a:r>
            <a:endParaRPr lang="en-US" sz="1300" dirty="0"/>
          </a:p>
        </p:txBody>
      </p:sp>
      <p:sp>
        <p:nvSpPr>
          <p:cNvPr id="15" name="Shape 13"/>
          <p:cNvSpPr/>
          <p:nvPr/>
        </p:nvSpPr>
        <p:spPr>
          <a:xfrm>
            <a:off x="640080" y="402336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Text 14"/>
          <p:cNvSpPr/>
          <p:nvPr/>
        </p:nvSpPr>
        <p:spPr>
          <a:xfrm>
            <a:off x="960120" y="411480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A1</a:t>
            </a:r>
            <a:endParaRPr lang="en-US" sz="1700" dirty="0"/>
          </a:p>
        </p:txBody>
      </p:sp>
      <p:sp>
        <p:nvSpPr>
          <p:cNvPr id="17" name="Text 15"/>
          <p:cNvSpPr/>
          <p:nvPr/>
        </p:nvSpPr>
        <p:spPr>
          <a:xfrm>
            <a:off x="1920240" y="411480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18" name="Text 16"/>
          <p:cNvSpPr/>
          <p:nvPr/>
        </p:nvSpPr>
        <p:spPr>
          <a:xfrm>
            <a:off x="3017520" y="411480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110 → 59</a:t>
            </a:r>
            <a:endParaRPr lang="en-US" sz="1350" dirty="0"/>
          </a:p>
        </p:txBody>
      </p:sp>
      <p:sp>
        <p:nvSpPr>
          <p:cNvPr id="19" name="Text 17"/>
          <p:cNvSpPr/>
          <p:nvPr/>
        </p:nvSpPr>
        <p:spPr>
          <a:xfrm>
            <a:off x="5943600" y="411480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bar lowered — struggled</a:t>
            </a:r>
            <a:endParaRPr lang="en-US" sz="1300" dirty="0"/>
          </a:p>
        </p:txBody>
      </p:sp>
      <p:sp>
        <p:nvSpPr>
          <p:cNvPr id="20" name="Shape 18"/>
          <p:cNvSpPr/>
          <p:nvPr/>
        </p:nvSpPr>
        <p:spPr>
          <a:xfrm>
            <a:off x="640080" y="484632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493776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A6</a:t>
            </a:r>
            <a:endParaRPr lang="en-US" sz="1700" dirty="0"/>
          </a:p>
        </p:txBody>
      </p:sp>
      <p:sp>
        <p:nvSpPr>
          <p:cNvPr id="22" name="Text 20"/>
          <p:cNvSpPr/>
          <p:nvPr/>
        </p:nvSpPr>
        <p:spPr>
          <a:xfrm>
            <a:off x="1920240" y="493776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23" name="Text 21"/>
          <p:cNvSpPr/>
          <p:nvPr/>
        </p:nvSpPr>
        <p:spPr>
          <a:xfrm>
            <a:off x="3017520" y="493776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150 → 80</a:t>
            </a:r>
            <a:endParaRPr lang="en-US" sz="1350" dirty="0"/>
          </a:p>
        </p:txBody>
      </p:sp>
      <p:sp>
        <p:nvSpPr>
          <p:cNvPr id="24" name="Text 22"/>
          <p:cNvSpPr/>
          <p:nvPr/>
        </p:nvSpPr>
        <p:spPr>
          <a:xfrm>
            <a:off x="5943600" y="493776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bar lowered — struggled</a:t>
            </a:r>
            <a:endParaRPr lang="en-US" sz="1300" dirty="0"/>
          </a:p>
        </p:txBody>
      </p:sp>
      <p:sp>
        <p:nvSpPr>
          <p:cNvPr id="25" name="Shape 23"/>
          <p:cNvSpPr/>
          <p:nvPr/>
        </p:nvSpPr>
        <p:spPr>
          <a:xfrm>
            <a:off x="640080" y="566928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6" name="Text 24"/>
          <p:cNvSpPr/>
          <p:nvPr/>
        </p:nvSpPr>
        <p:spPr>
          <a:xfrm>
            <a:off x="960120" y="576072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A12</a:t>
            </a:r>
            <a:endParaRPr lang="en-US" sz="1700" dirty="0"/>
          </a:p>
        </p:txBody>
      </p:sp>
      <p:sp>
        <p:nvSpPr>
          <p:cNvPr id="27" name="Text 25"/>
          <p:cNvSpPr/>
          <p:nvPr/>
        </p:nvSpPr>
        <p:spPr>
          <a:xfrm>
            <a:off x="1920240" y="576072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28" name="Text 26"/>
          <p:cNvSpPr/>
          <p:nvPr/>
        </p:nvSpPr>
        <p:spPr>
          <a:xfrm>
            <a:off x="3017520" y="576072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a:t>
            </a:r>
            <a:endParaRPr lang="en-US" sz="1350" dirty="0"/>
          </a:p>
        </p:txBody>
      </p:sp>
      <p:sp>
        <p:nvSpPr>
          <p:cNvPr id="29" name="Text 27"/>
          <p:cNvSpPr/>
          <p:nvPr/>
        </p:nvSpPr>
        <p:spPr>
          <a:xfrm>
            <a:off x="5943600" y="576072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ECoG electrode dead (2.8 µV)</a:t>
            </a:r>
            <a:endParaRPr lang="en-US" sz="1300" dirty="0"/>
          </a:p>
        </p:txBody>
      </p:sp>
      <p:sp>
        <p:nvSpPr>
          <p:cNvPr id="30" name="Shape 28"/>
          <p:cNvSpPr/>
          <p:nvPr/>
        </p:nvSpPr>
        <p:spPr>
          <a:xfrm>
            <a:off x="640080" y="6537960"/>
            <a:ext cx="10881360" cy="0"/>
          </a:xfrm>
          <a:prstGeom prst="roundRect">
            <a:avLst>
              <a:gd name="adj" fmla="val Infinity"/>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31" name="Text 29"/>
          <p:cNvSpPr/>
          <p:nvPr/>
        </p:nvSpPr>
        <p:spPr>
          <a:xfrm>
            <a:off x="658368" y="6492240"/>
            <a:ext cx="10881360" cy="365760"/>
          </a:xfrm>
          <a:prstGeom prst="rect">
            <a:avLst/>
          </a:prstGeom>
          <a:noFill/>
          <a:ln/>
        </p:spPr>
        <p:txBody>
          <a:bodyPr wrap="square" lIns="0" tIns="0" rIns="0" bIns="0" rtlCol="0" anchor="ctr"/>
          <a:lstStyle/>
          <a:p>
            <a:pPr indent="0" marL="0">
              <a:buNone/>
            </a:pPr>
            <a:r>
              <a:rPr lang="en-US" sz="1300" b="1" i="1" dirty="0">
                <a:solidFill>
                  <a:srgbClr val="6D28D9"/>
                </a:solidFill>
                <a:latin typeface="Calibri" pitchFamily="34" charset="0"/>
                <a:ea typeface="Calibri" pitchFamily="34" charset="-122"/>
                <a:cs typeface="Calibri" pitchFamily="34" charset="-120"/>
              </a:rPr>
              <a:t>So the up group is capped at two. The down group can still grow — 7, 8, 13, 14, 15 are ready to download.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NEW THIS WEEK · DELIVERABLES</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Everything now lives in one place</a:t>
            </a:r>
            <a:endParaRPr lang="en-US" sz="2800" dirty="0"/>
          </a:p>
        </p:txBody>
      </p:sp>
      <p:sp>
        <p:nvSpPr>
          <p:cNvPr id="4" name="Text 2"/>
          <p:cNvSpPr/>
          <p:nvPr/>
        </p:nvSpPr>
        <p:spPr>
          <a:xfrm>
            <a:off x="640080" y="1627632"/>
            <a:ext cx="10881360" cy="50292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We put the project behind a single page so the code, the write-up and the slides stay in sync and are easy to hand to anyone.</a:t>
            </a:r>
            <a:endParaRPr lang="en-US" sz="1450" dirty="0"/>
          </a:p>
        </p:txBody>
      </p:sp>
      <p:sp>
        <p:nvSpPr>
          <p:cNvPr id="5" name="Shape 3"/>
          <p:cNvSpPr/>
          <p:nvPr/>
        </p:nvSpPr>
        <p:spPr>
          <a:xfrm>
            <a:off x="640080"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914400" y="2514600"/>
            <a:ext cx="3017520" cy="274320"/>
          </a:xfrm>
          <a:prstGeom prst="rect">
            <a:avLst/>
          </a:prstGeom>
          <a:noFill/>
          <a:ln/>
        </p:spPr>
        <p:txBody>
          <a:bodyPr wrap="square" lIns="0" tIns="0" rIns="0" bIns="0" rtlCol="0" anchor="ctr"/>
          <a:lstStyle/>
          <a:p>
            <a:pPr indent="0" marL="0">
              <a:buNone/>
            </a:pPr>
            <a:r>
              <a:rPr lang="en-US" sz="1100" b="1" spc="200" kern="0" dirty="0">
                <a:solidFill>
                  <a:srgbClr val="6D28D9"/>
                </a:solidFill>
                <a:latin typeface="Calibri" pitchFamily="34" charset="0"/>
                <a:ea typeface="Calibri" pitchFamily="34" charset="-122"/>
                <a:cs typeface="Calibri" pitchFamily="34" charset="-120"/>
              </a:rPr>
              <a:t>REPOSITORY</a:t>
            </a:r>
            <a:endParaRPr lang="en-US" sz="1100" dirty="0"/>
          </a:p>
        </p:txBody>
      </p:sp>
      <p:sp>
        <p:nvSpPr>
          <p:cNvPr id="7" name="Text 5"/>
          <p:cNvSpPr/>
          <p:nvPr/>
        </p:nvSpPr>
        <p:spPr>
          <a:xfrm>
            <a:off x="914400"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The pipeline</a:t>
            </a:r>
            <a:endParaRPr lang="en-US" sz="1900" dirty="0"/>
          </a:p>
        </p:txBody>
      </p:sp>
      <p:sp>
        <p:nvSpPr>
          <p:cNvPr id="8" name="Text 6"/>
          <p:cNvSpPr/>
          <p:nvPr/>
        </p:nvSpPr>
        <p:spPr>
          <a:xfrm>
            <a:off x="914400"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Decoding, the pooled autoencoder, every control, per-animal results. One command per animal, reproducible end to end.</a:t>
            </a:r>
            <a:endParaRPr lang="en-US" sz="1250" dirty="0"/>
          </a:p>
        </p:txBody>
      </p:sp>
      <p:sp>
        <p:nvSpPr>
          <p:cNvPr id="9" name="Text 7"/>
          <p:cNvSpPr/>
          <p:nvPr/>
        </p:nvSpPr>
        <p:spPr>
          <a:xfrm>
            <a:off x="914400" y="4983480"/>
            <a:ext cx="3063240" cy="365760"/>
          </a:xfrm>
          <a:prstGeom prst="rect">
            <a:avLst/>
          </a:prstGeom>
          <a:noFill/>
          <a:ln/>
        </p:spPr>
        <p:txBody>
          <a:bodyPr wrap="square" lIns="0" tIns="0" rIns="0" bIns="0" rtlCol="0" anchor="ctr"/>
          <a:lstStyle/>
          <a:p>
            <a:pPr indent="0" marL="0">
              <a:buNone/>
            </a:pPr>
            <a:r>
              <a:rPr lang="en-US" sz="1050" i="1" dirty="0">
                <a:solidFill>
                  <a:srgbClr val="6D28D9"/>
                </a:solidFill>
                <a:latin typeface="Calibri" pitchFamily="34" charset="0"/>
                <a:ea typeface="Calibri" pitchFamily="34" charset="-122"/>
                <a:cs typeface="Calibri" pitchFamily="34" charset="-120"/>
              </a:rPr>
              <a:t>github.com/switchrao777/hroc-ncan</a:t>
            </a:r>
            <a:endParaRPr lang="en-US" sz="1050" dirty="0"/>
          </a:p>
        </p:txBody>
      </p:sp>
      <p:sp>
        <p:nvSpPr>
          <p:cNvPr id="10" name="Shape 8"/>
          <p:cNvSpPr/>
          <p:nvPr/>
        </p:nvSpPr>
        <p:spPr>
          <a:xfrm>
            <a:off x="4370832"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4645152" y="2514600"/>
            <a:ext cx="3017520" cy="274320"/>
          </a:xfrm>
          <a:prstGeom prst="rect">
            <a:avLst/>
          </a:prstGeom>
          <a:noFill/>
          <a:ln/>
        </p:spPr>
        <p:txBody>
          <a:bodyPr wrap="square" lIns="0" tIns="0" rIns="0" bIns="0" rtlCol="0" anchor="ctr"/>
          <a:lstStyle/>
          <a:p>
            <a:pPr indent="0" marL="0">
              <a:buNone/>
            </a:pPr>
            <a:r>
              <a:rPr lang="en-US" sz="1100" b="1" spc="200" kern="0" dirty="0">
                <a:solidFill>
                  <a:srgbClr val="0D9488"/>
                </a:solidFill>
                <a:latin typeface="Calibri" pitchFamily="34" charset="0"/>
                <a:ea typeface="Calibri" pitchFamily="34" charset="-122"/>
                <a:cs typeface="Calibri" pitchFamily="34" charset="-120"/>
              </a:rPr>
              <a:t>REPORT</a:t>
            </a:r>
            <a:endParaRPr lang="en-US" sz="1100" dirty="0"/>
          </a:p>
        </p:txBody>
      </p:sp>
      <p:sp>
        <p:nvSpPr>
          <p:cNvPr id="12" name="Text 10"/>
          <p:cNvSpPr/>
          <p:nvPr/>
        </p:nvSpPr>
        <p:spPr>
          <a:xfrm>
            <a:off x="4645152"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Six-page write-up</a:t>
            </a:r>
            <a:endParaRPr lang="en-US" sz="1900" dirty="0"/>
          </a:p>
        </p:txBody>
      </p:sp>
      <p:sp>
        <p:nvSpPr>
          <p:cNvPr id="13" name="Text 11"/>
          <p:cNvSpPr/>
          <p:nvPr/>
        </p:nvSpPr>
        <p:spPr>
          <a:xfrm>
            <a:off x="4645152"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Background, methods, results, limitations, references — with the four figures and the real numbers. Formatted as a handout.</a:t>
            </a:r>
            <a:endParaRPr lang="en-US" sz="1250" dirty="0"/>
          </a:p>
        </p:txBody>
      </p:sp>
      <p:sp>
        <p:nvSpPr>
          <p:cNvPr id="14" name="Text 12"/>
          <p:cNvSpPr/>
          <p:nvPr/>
        </p:nvSpPr>
        <p:spPr>
          <a:xfrm>
            <a:off x="4645152" y="4983480"/>
            <a:ext cx="3063240" cy="365760"/>
          </a:xfrm>
          <a:prstGeom prst="rect">
            <a:avLst/>
          </a:prstGeom>
          <a:noFill/>
          <a:ln/>
        </p:spPr>
        <p:txBody>
          <a:bodyPr wrap="square" lIns="0" tIns="0" rIns="0" bIns="0" rtlCol="0" anchor="ctr"/>
          <a:lstStyle/>
          <a:p>
            <a:pPr indent="0" marL="0">
              <a:buNone/>
            </a:pPr>
            <a:r>
              <a:rPr lang="en-US" sz="1050" i="1" dirty="0">
                <a:solidFill>
                  <a:srgbClr val="0D9488"/>
                </a:solidFill>
                <a:latin typeface="Calibri" pitchFamily="34" charset="0"/>
                <a:ea typeface="Calibri" pitchFamily="34" charset="-122"/>
                <a:cs typeface="Calibri" pitchFamily="34" charset="-120"/>
              </a:rPr>
              <a:t>docs/HROC_Report.pdf</a:t>
            </a:r>
            <a:endParaRPr lang="en-US" sz="1050" dirty="0"/>
          </a:p>
        </p:txBody>
      </p:sp>
      <p:sp>
        <p:nvSpPr>
          <p:cNvPr id="15" name="Shape 13"/>
          <p:cNvSpPr/>
          <p:nvPr/>
        </p:nvSpPr>
        <p:spPr>
          <a:xfrm>
            <a:off x="8101584"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Text 14"/>
          <p:cNvSpPr/>
          <p:nvPr/>
        </p:nvSpPr>
        <p:spPr>
          <a:xfrm>
            <a:off x="8375904" y="2514600"/>
            <a:ext cx="301752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SLIDES</a:t>
            </a:r>
            <a:endParaRPr lang="en-US" sz="1100" dirty="0"/>
          </a:p>
        </p:txBody>
      </p:sp>
      <p:sp>
        <p:nvSpPr>
          <p:cNvPr id="17" name="Text 15"/>
          <p:cNvSpPr/>
          <p:nvPr/>
        </p:nvSpPr>
        <p:spPr>
          <a:xfrm>
            <a:off x="8375904"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The decks</a:t>
            </a:r>
            <a:endParaRPr lang="en-US" sz="1900" dirty="0"/>
          </a:p>
        </p:txBody>
      </p:sp>
      <p:sp>
        <p:nvSpPr>
          <p:cNvPr id="18" name="Text 16"/>
          <p:cNvSpPr/>
          <p:nvPr/>
        </p:nvSpPr>
        <p:spPr>
          <a:xfrm>
            <a:off x="8375904"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This update, the talk for your group, and speaker notes for each.</a:t>
            </a:r>
            <a:endParaRPr lang="en-US" sz="1250" dirty="0"/>
          </a:p>
        </p:txBody>
      </p:sp>
      <p:sp>
        <p:nvSpPr>
          <p:cNvPr id="19" name="Text 17"/>
          <p:cNvSpPr/>
          <p:nvPr/>
        </p:nvSpPr>
        <p:spPr>
          <a:xfrm>
            <a:off x="8375904" y="4983480"/>
            <a:ext cx="3063240" cy="365760"/>
          </a:xfrm>
          <a:prstGeom prst="rect">
            <a:avLst/>
          </a:prstGeom>
          <a:noFill/>
          <a:ln/>
        </p:spPr>
        <p:txBody>
          <a:bodyPr wrap="square" lIns="0" tIns="0" rIns="0" bIns="0" rtlCol="0" anchor="ctr"/>
          <a:lstStyle/>
          <a:p>
            <a:pPr indent="0" marL="0">
              <a:buNone/>
            </a:pPr>
            <a:r>
              <a:rPr lang="en-US" sz="1050" i="1" dirty="0">
                <a:solidFill>
                  <a:srgbClr val="D97706"/>
                </a:solidFill>
                <a:latin typeface="Calibri" pitchFamily="34" charset="0"/>
                <a:ea typeface="Calibri" pitchFamily="34" charset="-122"/>
                <a:cs typeface="Calibri" pitchFamily="34" charset="-120"/>
              </a:rPr>
              <a:t>slides/</a:t>
            </a:r>
            <a:endParaRPr lang="en-US" sz="1050" dirty="0"/>
          </a:p>
        </p:txBody>
      </p:sp>
      <p:sp>
        <p:nvSpPr>
          <p:cNvPr id="20" name="Shape 18"/>
          <p:cNvSpPr/>
          <p:nvPr/>
        </p:nvSpPr>
        <p:spPr>
          <a:xfrm>
            <a:off x="640080" y="5715000"/>
            <a:ext cx="10881360" cy="777240"/>
          </a:xfrm>
          <a:prstGeom prst="roundRect">
            <a:avLst>
              <a:gd name="adj" fmla="val 10588"/>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5852160"/>
            <a:ext cx="10241280" cy="502920"/>
          </a:xfrm>
          <a:prstGeom prst="rect">
            <a:avLst/>
          </a:prstGeom>
          <a:noFill/>
          <a:ln/>
        </p:spPr>
        <p:txBody>
          <a:bodyPr wrap="square" lIns="0" tIns="0" rIns="0" bIns="0" rtlCol="0" anchor="ctr"/>
          <a:lstStyle/>
          <a:p>
            <a:pPr indent="0" marL="0">
              <a:buNone/>
            </a:pPr>
            <a:r>
              <a:rPr lang="en-US" sz="1300" b="1" dirty="0">
                <a:solidFill>
                  <a:srgbClr val="6D28D9"/>
                </a:solidFill>
                <a:latin typeface="Calibri" pitchFamily="34" charset="0"/>
                <a:ea typeface="Calibri" pitchFamily="34" charset="-122"/>
                <a:cs typeface="Calibri" pitchFamily="34" charset="-120"/>
              </a:rPr>
              <a:t>Two blanks I left for you:  </a:t>
            </a:r>
            <a:pPr indent="0" marL="0">
              <a:buNone/>
            </a:pPr>
            <a:r>
              <a:rPr lang="en-US" sz="1300" dirty="0">
                <a:solidFill>
                  <a:srgbClr val="1E293B"/>
                </a:solidFill>
                <a:latin typeface="Calibri" pitchFamily="34" charset="0"/>
                <a:ea typeface="Calibri" pitchFamily="34" charset="-122"/>
                <a:cs typeface="Calibri" pitchFamily="34" charset="-120"/>
              </a:rPr>
              <a:t>Theresa's surname, and what Tarun and I should be listed as. I didn't want to guess on the write-up.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NEXT</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Between now and the 21st</a:t>
            </a:r>
            <a:endParaRPr lang="en-US" sz="2800" dirty="0"/>
          </a:p>
        </p:txBody>
      </p:sp>
      <p:sp>
        <p:nvSpPr>
          <p:cNvPr id="4" name="Shape 2"/>
          <p:cNvSpPr/>
          <p:nvPr/>
        </p:nvSpPr>
        <p:spPr>
          <a:xfrm>
            <a:off x="640080" y="1920240"/>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76272"/>
            <a:ext cx="438912" cy="438912"/>
          </a:xfrm>
          <a:prstGeom prst="ellipse">
            <a:avLst/>
          </a:prstGeom>
          <a:solidFill>
            <a:srgbClr val="6D28D9"/>
          </a:solidFill>
          <a:ln/>
        </p:spPr>
      </p:sp>
      <p:sp>
        <p:nvSpPr>
          <p:cNvPr id="6" name="Text 4"/>
          <p:cNvSpPr/>
          <p:nvPr/>
        </p:nvSpPr>
        <p:spPr>
          <a:xfrm>
            <a:off x="896112" y="217627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2103120"/>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Download and process the remaining animals</a:t>
            </a:r>
            <a:endParaRPr lang="en-US" sz="1450" dirty="0"/>
          </a:p>
        </p:txBody>
      </p:sp>
      <p:sp>
        <p:nvSpPr>
          <p:cNvPr id="8" name="Text 6"/>
          <p:cNvSpPr/>
          <p:nvPr/>
        </p:nvSpPr>
        <p:spPr>
          <a:xfrm>
            <a:off x="5577840" y="2103120"/>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7, 8, 13, 14, 15 (down) plus 1 and 6 (failed up — negative controls). Takes n from 5 to about 12.</a:t>
            </a:r>
            <a:endParaRPr lang="en-US" sz="1250" dirty="0"/>
          </a:p>
        </p:txBody>
      </p:sp>
      <p:sp>
        <p:nvSpPr>
          <p:cNvPr id="9" name="Shape 7"/>
          <p:cNvSpPr/>
          <p:nvPr/>
        </p:nvSpPr>
        <p:spPr>
          <a:xfrm>
            <a:off x="640080" y="2990088"/>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896112" y="3246120"/>
            <a:ext cx="438912" cy="438912"/>
          </a:xfrm>
          <a:prstGeom prst="ellipse">
            <a:avLst/>
          </a:prstGeom>
          <a:solidFill>
            <a:srgbClr val="6D28D9"/>
          </a:solidFill>
          <a:ln/>
        </p:spPr>
      </p:sp>
      <p:sp>
        <p:nvSpPr>
          <p:cNvPr id="11" name="Text 9"/>
          <p:cNvSpPr/>
          <p:nvPr/>
        </p:nvSpPr>
        <p:spPr>
          <a:xfrm>
            <a:off x="896112" y="3246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72968"/>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Re-run everything at the larger n</a:t>
            </a:r>
            <a:endParaRPr lang="en-US" sz="1450" dirty="0"/>
          </a:p>
        </p:txBody>
      </p:sp>
      <p:sp>
        <p:nvSpPr>
          <p:cNvPr id="13" name="Text 11"/>
          <p:cNvSpPr/>
          <p:nvPr/>
        </p:nvSpPr>
        <p:spPr>
          <a:xfrm>
            <a:off x="5577840" y="3172968"/>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The scaling correlation is the analysis this powers. Fully automated — two commands per animal.</a:t>
            </a:r>
            <a:endParaRPr lang="en-US" sz="1250" dirty="0"/>
          </a:p>
        </p:txBody>
      </p:sp>
      <p:sp>
        <p:nvSpPr>
          <p:cNvPr id="14" name="Shape 12"/>
          <p:cNvSpPr/>
          <p:nvPr/>
        </p:nvSpPr>
        <p:spPr>
          <a:xfrm>
            <a:off x="640080" y="4059936"/>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96112" y="4315968"/>
            <a:ext cx="438912" cy="438912"/>
          </a:xfrm>
          <a:prstGeom prst="ellipse">
            <a:avLst/>
          </a:prstGeom>
          <a:solidFill>
            <a:srgbClr val="0D9488"/>
          </a:solidFill>
          <a:ln/>
        </p:spPr>
      </p:sp>
      <p:sp>
        <p:nvSpPr>
          <p:cNvPr id="16" name="Text 14"/>
          <p:cNvSpPr/>
          <p:nvPr/>
        </p:nvSpPr>
        <p:spPr>
          <a:xfrm>
            <a:off x="896112" y="431596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242816"/>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Build the presentation for your group</a:t>
            </a:r>
            <a:endParaRPr lang="en-US" sz="1450" dirty="0"/>
          </a:p>
        </p:txBody>
      </p:sp>
      <p:sp>
        <p:nvSpPr>
          <p:cNvPr id="18" name="Text 16"/>
          <p:cNvSpPr/>
          <p:nvPr/>
        </p:nvSpPr>
        <p:spPr>
          <a:xfrm>
            <a:off x="5577840" y="4242816"/>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Pipeline explained with a data-flow figure, at the level you described.</a:t>
            </a:r>
            <a:endParaRPr lang="en-US" sz="1250" dirty="0"/>
          </a:p>
        </p:txBody>
      </p:sp>
      <p:sp>
        <p:nvSpPr>
          <p:cNvPr id="19" name="Shape 17"/>
          <p:cNvSpPr/>
          <p:nvPr/>
        </p:nvSpPr>
        <p:spPr>
          <a:xfrm>
            <a:off x="640080" y="5129784"/>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Shape 18"/>
          <p:cNvSpPr/>
          <p:nvPr/>
        </p:nvSpPr>
        <p:spPr>
          <a:xfrm>
            <a:off x="896112" y="5385816"/>
            <a:ext cx="438912" cy="438912"/>
          </a:xfrm>
          <a:prstGeom prst="ellipse">
            <a:avLst/>
          </a:prstGeom>
          <a:solidFill>
            <a:srgbClr val="0D9488"/>
          </a:solidFill>
          <a:ln/>
        </p:spPr>
      </p:sp>
      <p:sp>
        <p:nvSpPr>
          <p:cNvPr id="21" name="Text 19"/>
          <p:cNvSpPr/>
          <p:nvPr/>
        </p:nvSpPr>
        <p:spPr>
          <a:xfrm>
            <a:off x="896112" y="538581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17904" y="5312664"/>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Preview it with you</a:t>
            </a:r>
            <a:endParaRPr lang="en-US" sz="1450" dirty="0"/>
          </a:p>
        </p:txBody>
      </p:sp>
      <p:sp>
        <p:nvSpPr>
          <p:cNvPr id="23" name="Text 21"/>
          <p:cNvSpPr/>
          <p:nvPr/>
        </p:nvSpPr>
        <p:spPr>
          <a:xfrm>
            <a:off x="5577840" y="5312664"/>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Before the 21st, so it's on par with what your group expects.</a:t>
            </a:r>
            <a:endParaRPr lang="en-US" sz="1250" dirty="0"/>
          </a:p>
        </p:txBody>
      </p:sp>
      <p:sp>
        <p:nvSpPr>
          <p:cNvPr id="24" name="Shape 22"/>
          <p:cNvSpPr/>
          <p:nvPr/>
        </p:nvSpPr>
        <p:spPr>
          <a:xfrm>
            <a:off x="640080" y="6263640"/>
            <a:ext cx="10881360" cy="685800"/>
          </a:xfrm>
          <a:prstGeom prst="roundRect">
            <a:avLst>
              <a:gd name="adj" fmla="val 120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5" name="Text 23"/>
          <p:cNvSpPr/>
          <p:nvPr/>
        </p:nvSpPr>
        <p:spPr>
          <a:xfrm>
            <a:off x="960120" y="6382512"/>
            <a:ext cx="10241280" cy="457200"/>
          </a:xfrm>
          <a:prstGeom prst="rect">
            <a:avLst/>
          </a:prstGeom>
          <a:noFill/>
          <a:ln/>
        </p:spPr>
        <p:txBody>
          <a:bodyPr wrap="square" lIns="0" tIns="0" rIns="0" bIns="0" rtlCol="0" anchor="ctr"/>
          <a:lstStyle/>
          <a:p>
            <a:pPr indent="0" marL="0">
              <a:buNone/>
            </a:pPr>
            <a:r>
              <a:rPr lang="en-US" sz="1350" b="1" dirty="0">
                <a:solidFill>
                  <a:srgbClr val="6D28D9"/>
                </a:solidFill>
                <a:latin typeface="Calibri" pitchFamily="34" charset="0"/>
                <a:ea typeface="Calibri" pitchFamily="34" charset="-122"/>
                <a:cs typeface="Calibri" pitchFamily="34" charset="-120"/>
              </a:rPr>
              <a:t>Question for you: with the up group capped at two, is the scaling analysis the right thing to build the paper 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HROC — Weekly Update</dc:title>
  <dc:subject>PptxGenJS Presentation</dc:subject>
  <dc:creator>Suchith Rao</dc:creator>
  <cp:lastModifiedBy>Suchith Rao</cp:lastModifiedBy>
  <cp:revision>1</cp:revision>
  <dcterms:created xsi:type="dcterms:W3CDTF">2026-08-12T18:52:36Z</dcterms:created>
  <dcterms:modified xsi:type="dcterms:W3CDTF">2026-08-12T18:52:36Z</dcterms:modified>
</cp:coreProperties>
</file>