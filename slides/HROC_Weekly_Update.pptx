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update this week. You gave us four things to check, all four are done, and I want to lead with the one where the number moved against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things. Partition the variance — done, table on the next slide. Re-check the 0.35 to see whether the stimulus was removed properly — done, and the number dropped, which I'll explain. Test for crosstalk using your correlation method — done, no contamination. And whether the effect scales with how much each animal learned — done, and that one is the most promising.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partition you asked for. Stimulus dominates at 47 percent. Background is 1. Cortex alone is 21, but most of that overlaps with stimulus because the stimulus drives both the cortical evoked response and the reflex. Cortex's unique contribution, once the other two are in the model, is 2 percent. And about half the variance is still unexplained. Your intuition in the meeting was right — they don't add up, because of that shared variance.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 I want to lead with. Last week I quoted 0.35. That was the best block, and on top of that I'd removed stimulus and background globally rather than block by block. If the stimulus-reflex relationship shifts between blocks, global removal leaves stimulus variance behind, and cortex tracks stimulus — so the number was inflated. Doing it inside each block gives 0.04. That's the number we'll quote from now on. It's still above the shuffle null in every animal, so the finding holds, it's just a smaller claim than I made last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Crosstalk, using exactly the method you suggested — correlate cortical against muscle power and see how much coordination there is. Above 100 hertz, where muscle artefact lives, the correlation is plus 0.06, essentially zero. The low bands are slightly negative. And the lead-lag check has cortex marginally leading muscle, which you said would be the acceptable direction. So we don't think the ECoG is reproducing the EMG.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this is your internal-control idea, which I think is the most promising thing we have. Animals differ in how much they learned and two of ours failed outright — those become the negative control. The correlation between learning and the change in coupling is plus 0.64. The two animals that succeeded gained coupling; the two that failed didn't. With five animals it isn't significant, but it's the right direction, and it's exactly what more animals would power.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new finding, and it's a constraint. I went back through every animal's log using the reward criterion as a success readout. For up-conditioning, raising the bar means the rat is beating it. Animals 3 and 4 had theirs raised, so they learned. Animals 1 and 6 had theirs lowered, so they struggled. And animal 12's electrode was dead. So the up group is capped at two, permanently — there isn't another good up-conditioned animal in this dataset. The down group can still grow, and 7, 8, 13, 14 and 15 are ready to download.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between now and the 21st. Download and process the remaining animals — the five down ones plus the two failed up animals, which are useful as negative controls. That takes us from five to about twelve. Re-run everything at that larger n, which is what powers the scaling correlation. Build the presentation for your group. And preview it with you beforehand. One question for you: given the up group is capped at two, is the scaling analysis the right thing to build the paper around rather than the direction contrast?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10149840" y="1005840"/>
            <a:ext cx="1280160" cy="1280160"/>
          </a:xfrm>
          <a:prstGeom prst="ellipse">
            <a:avLst/>
          </a:prstGeom>
          <a:solidFill>
            <a:srgbClr val="6D28D9">
              <a:alpha val="45000"/>
            </a:srgbClr>
          </a:solidFill>
          <a:ln/>
        </p:spPr>
      </p:sp>
      <p:sp>
        <p:nvSpPr>
          <p:cNvPr id="3" name="Shape 1"/>
          <p:cNvSpPr/>
          <p:nvPr/>
        </p:nvSpPr>
        <p:spPr>
          <a:xfrm>
            <a:off x="10789920" y="1737360"/>
            <a:ext cx="868680" cy="868680"/>
          </a:xfrm>
          <a:prstGeom prst="ellipse">
            <a:avLst/>
          </a:prstGeom>
          <a:solidFill>
            <a:srgbClr val="0D9488">
              <a:alpha val="55000"/>
            </a:srgbClr>
          </a:solidFill>
          <a:ln/>
        </p:spPr>
      </p:sp>
      <p:sp>
        <p:nvSpPr>
          <p:cNvPr id="4" name="Text 2"/>
          <p:cNvSpPr/>
          <p:nvPr/>
        </p:nvSpPr>
        <p:spPr>
          <a:xfrm>
            <a:off x="731520" y="1554480"/>
            <a:ext cx="9144000" cy="365760"/>
          </a:xfrm>
          <a:prstGeom prst="rect">
            <a:avLst/>
          </a:prstGeom>
          <a:noFill/>
          <a:ln/>
        </p:spPr>
        <p:txBody>
          <a:bodyPr wrap="square" lIns="0" tIns="0" rIns="0" bIns="0" rtlCol="0" anchor="ctr"/>
          <a:lstStyle/>
          <a:p>
            <a:pPr indent="0" marL="0">
              <a:buNone/>
            </a:pPr>
            <a:r>
              <a:rPr lang="en-US" sz="1400" b="1" spc="300" kern="0" dirty="0">
                <a:solidFill>
                  <a:srgbClr val="0D9488"/>
                </a:solidFill>
                <a:latin typeface="Calibri" pitchFamily="34" charset="0"/>
                <a:ea typeface="Calibri" pitchFamily="34" charset="-122"/>
                <a:cs typeface="Calibri" pitchFamily="34" charset="-120"/>
              </a:rPr>
              <a:t>WEEKLY UPDATE</a:t>
            </a:r>
            <a:endParaRPr lang="en-US" sz="1400" dirty="0"/>
          </a:p>
        </p:txBody>
      </p:sp>
      <p:sp>
        <p:nvSpPr>
          <p:cNvPr id="5" name="Text 3"/>
          <p:cNvSpPr/>
          <p:nvPr/>
        </p:nvSpPr>
        <p:spPr>
          <a:xfrm>
            <a:off x="731520" y="2011680"/>
            <a:ext cx="10424160" cy="1737360"/>
          </a:xfrm>
          <a:prstGeom prst="rect">
            <a:avLst/>
          </a:prstGeom>
          <a:noFill/>
          <a:ln/>
        </p:spPr>
        <p:txBody>
          <a:bodyPr wrap="square" lIns="0" tIns="0" rIns="0" bIns="0" rtlCol="0" anchor="ctr"/>
          <a:lstStyle/>
          <a:p>
            <a:pPr indent="0" marL="0">
              <a:lnSpc>
                <a:spcPct val="98000"/>
              </a:lnSpc>
              <a:buNone/>
            </a:pPr>
            <a:r>
              <a:rPr lang="en-US" sz="4000" b="1" dirty="0">
                <a:solidFill>
                  <a:srgbClr val="FFFFFF"/>
                </a:solidFill>
                <a:latin typeface="Cambria" pitchFamily="34" charset="0"/>
                <a:ea typeface="Cambria" pitchFamily="34" charset="-122"/>
                <a:cs typeface="Cambria" pitchFamily="34" charset="-120"/>
              </a:rPr>
              <a:t>Everything you asked for</a:t>
            </a:r>
            <a:endParaRPr lang="en-US" sz="4000" dirty="0"/>
          </a:p>
          <a:p>
            <a:pPr indent="0" marL="0">
              <a:lnSpc>
                <a:spcPct val="98000"/>
              </a:lnSpc>
              <a:buNone/>
            </a:pPr>
            <a:r>
              <a:rPr lang="en-US" sz="4000" b="1" dirty="0">
                <a:solidFill>
                  <a:srgbClr val="FFFFFF"/>
                </a:solidFill>
                <a:latin typeface="Cambria" pitchFamily="34" charset="0"/>
                <a:ea typeface="Cambria" pitchFamily="34" charset="-122"/>
                <a:cs typeface="Cambria" pitchFamily="34" charset="-120"/>
              </a:rPr>
              <a:t>last week, answered.</a:t>
            </a:r>
            <a:endParaRPr lang="en-US" sz="4000" dirty="0"/>
          </a:p>
        </p:txBody>
      </p:sp>
      <p:sp>
        <p:nvSpPr>
          <p:cNvPr id="6" name="Text 4"/>
          <p:cNvSpPr/>
          <p:nvPr/>
        </p:nvSpPr>
        <p:spPr>
          <a:xfrm>
            <a:off x="749808" y="3931920"/>
            <a:ext cx="10058400" cy="457200"/>
          </a:xfrm>
          <a:prstGeom prst="rect">
            <a:avLst/>
          </a:prstGeom>
          <a:noFill/>
          <a:ln/>
        </p:spPr>
        <p:txBody>
          <a:bodyPr wrap="square" lIns="0" tIns="0" rIns="0" bIns="0" rtlCol="0" anchor="ctr"/>
          <a:lstStyle/>
          <a:p>
            <a:pPr indent="0" marL="0">
              <a:buNone/>
            </a:pPr>
            <a:r>
              <a:rPr lang="en-US" sz="1700" dirty="0">
                <a:solidFill>
                  <a:srgbClr val="CBD5E1"/>
                </a:solidFill>
                <a:latin typeface="Calibri" pitchFamily="34" charset="0"/>
                <a:ea typeface="Calibri" pitchFamily="34" charset="-122"/>
                <a:cs typeface="Calibri" pitchFamily="34" charset="-120"/>
              </a:rPr>
              <a:t>Including one number that moved against us.</a:t>
            </a:r>
            <a:endParaRPr lang="en-US" sz="1700" dirty="0"/>
          </a:p>
        </p:txBody>
      </p:sp>
      <p:sp>
        <p:nvSpPr>
          <p:cNvPr id="7" name="Text 5"/>
          <p:cNvSpPr/>
          <p:nvPr/>
        </p:nvSpPr>
        <p:spPr>
          <a:xfrm>
            <a:off x="749808" y="5943600"/>
            <a:ext cx="10058400" cy="365760"/>
          </a:xfrm>
          <a:prstGeom prst="rect">
            <a:avLst/>
          </a:prstGeom>
          <a:noFill/>
          <a:ln/>
        </p:spPr>
        <p:txBody>
          <a:bodyPr wrap="square" lIns="0" tIns="0" rIns="0" bIns="0" rtlCol="0" anchor="ctr"/>
          <a:lstStyle/>
          <a:p>
            <a:pPr indent="0" marL="0">
              <a:buNone/>
            </a:pPr>
            <a:r>
              <a:rPr lang="en-US" sz="1400" dirty="0">
                <a:solidFill>
                  <a:srgbClr val="94A3B8"/>
                </a:solidFill>
                <a:latin typeface="Calibri" pitchFamily="34" charset="0"/>
                <a:ea typeface="Calibri" pitchFamily="34" charset="-122"/>
                <a:cs typeface="Calibri" pitchFamily="34" charset="-120"/>
              </a:rPr>
              <a:t>Suchith Rao &amp; Tarun Senthil    •    for Dr. Carp</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384048"/>
            <a:ext cx="10972800" cy="274320"/>
          </a:xfrm>
          <a:prstGeom prst="rect">
            <a:avLst/>
          </a:prstGeom>
          <a:noFill/>
          <a:ln/>
        </p:spPr>
        <p:txBody>
          <a:bodyPr wrap="square" lIns="0" tIns="0" rIns="0" bIns="0" rtlCol="0" anchor="ctr"/>
          <a:lstStyle/>
          <a:p>
            <a:pPr indent="0" marL="0">
              <a:buNone/>
            </a:pPr>
            <a:r>
              <a:rPr lang="en-US" sz="1200" b="1" spc="300" kern="0" dirty="0">
                <a:solidFill>
                  <a:srgbClr val="0D9488"/>
                </a:solidFill>
                <a:latin typeface="Calibri" pitchFamily="34" charset="0"/>
                <a:ea typeface="Calibri" pitchFamily="34" charset="-122"/>
                <a:cs typeface="Calibri" pitchFamily="34" charset="-120"/>
              </a:rPr>
              <a:t>SINCE LAST WEEK</a:t>
            </a:r>
            <a:endParaRPr lang="en-US" sz="1200" dirty="0"/>
          </a:p>
        </p:txBody>
      </p:sp>
      <p:sp>
        <p:nvSpPr>
          <p:cNvPr id="3" name="Text 1"/>
          <p:cNvSpPr/>
          <p:nvPr/>
        </p:nvSpPr>
        <p:spPr>
          <a:xfrm>
            <a:off x="640080" y="457200"/>
            <a:ext cx="11064240" cy="713232"/>
          </a:xfrm>
          <a:prstGeom prst="rect">
            <a:avLst/>
          </a:prstGeom>
          <a:noFill/>
          <a:ln/>
        </p:spPr>
        <p:txBody>
          <a:bodyPr wrap="square" lIns="0" tIns="0" rIns="0" bIns="0" rtlCol="0" anchor="ctr"/>
          <a:lstStyle/>
          <a:p>
            <a:pPr indent="0" marL="0">
              <a:buNone/>
            </a:pPr>
            <a:r>
              <a:rPr lang="en-US" sz="2800" b="1" dirty="0">
                <a:solidFill>
                  <a:srgbClr val="1E293B"/>
                </a:solidFill>
                <a:latin typeface="Cambria" pitchFamily="34" charset="0"/>
                <a:ea typeface="Cambria" pitchFamily="34" charset="-122"/>
                <a:cs typeface="Cambria" pitchFamily="34" charset="-120"/>
              </a:rPr>
              <a:t>Four things you asked for</a:t>
            </a:r>
            <a:endParaRPr lang="en-US" sz="2800" dirty="0"/>
          </a:p>
        </p:txBody>
      </p:sp>
      <p:sp>
        <p:nvSpPr>
          <p:cNvPr id="4" name="Shape 2"/>
          <p:cNvSpPr/>
          <p:nvPr/>
        </p:nvSpPr>
        <p:spPr>
          <a:xfrm>
            <a:off x="640080" y="1828800"/>
            <a:ext cx="10881360" cy="1051560"/>
          </a:xfrm>
          <a:prstGeom prst="roundRect">
            <a:avLst>
              <a:gd name="adj" fmla="val 7826"/>
            </a:avLst>
          </a:prstGeom>
          <a:solidFill>
            <a:srgbClr val="FFFFFF"/>
          </a:solidFill>
          <a:ln w="12700">
            <a:solidFill>
              <a:srgbClr val="E2E8F0"/>
            </a:solidFill>
            <a:prstDash val="solid"/>
          </a:ln>
          <a:effectLst>
            <a:outerShdw sx="100000" sy="100000" kx="0" ky="0" algn="bl" rotWithShape="0" blurRad="114300" dist="38100" dir="5400000">
              <a:srgbClr val="0F172A">
                <a:alpha val="14000"/>
              </a:srgbClr>
            </a:outerShdw>
          </a:effectLst>
        </p:spPr>
      </p:sp>
      <p:sp>
        <p:nvSpPr>
          <p:cNvPr id="5" name="Shape 3"/>
          <p:cNvSpPr/>
          <p:nvPr/>
        </p:nvSpPr>
        <p:spPr>
          <a:xfrm>
            <a:off x="896112" y="2130552"/>
            <a:ext cx="438912" cy="438912"/>
          </a:xfrm>
          <a:prstGeom prst="ellipse">
            <a:avLst/>
          </a:prstGeom>
          <a:solidFill>
            <a:srgbClr val="16A34A"/>
          </a:solidFill>
          <a:ln/>
        </p:spPr>
      </p:sp>
      <p:sp>
        <p:nvSpPr>
          <p:cNvPr id="6" name="Text 4"/>
          <p:cNvSpPr/>
          <p:nvPr/>
        </p:nvSpPr>
        <p:spPr>
          <a:xfrm>
            <a:off x="896112" y="2130552"/>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1517904" y="1956816"/>
            <a:ext cx="3017520" cy="77724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Partition the variance</a:t>
            </a:r>
            <a:endParaRPr lang="en-US" sz="1500" dirty="0"/>
          </a:p>
        </p:txBody>
      </p:sp>
      <p:sp>
        <p:nvSpPr>
          <p:cNvPr id="8" name="Text 6"/>
          <p:cNvSpPr/>
          <p:nvPr/>
        </p:nvSpPr>
        <p:spPr>
          <a:xfrm>
            <a:off x="4663440" y="1956816"/>
            <a:ext cx="3931920" cy="777240"/>
          </a:xfrm>
          <a:prstGeom prst="rect">
            <a:avLst/>
          </a:prstGeom>
          <a:noFill/>
          <a:ln/>
        </p:spPr>
        <p:txBody>
          <a:bodyPr wrap="square" lIns="0" tIns="0" rIns="0" bIns="0" rtlCol="0" anchor="ctr"/>
          <a:lstStyle/>
          <a:p>
            <a:pPr indent="0" marL="0">
              <a:lnSpc>
                <a:spcPct val="102000"/>
              </a:lnSpc>
              <a:buNone/>
            </a:pPr>
            <a:r>
              <a:rPr lang="en-US" sz="1250" dirty="0">
                <a:solidFill>
                  <a:srgbClr val="64748B"/>
                </a:solidFill>
                <a:latin typeface="Calibri" pitchFamily="34" charset="0"/>
                <a:ea typeface="Calibri" pitchFamily="34" charset="-122"/>
                <a:cs typeface="Calibri" pitchFamily="34" charset="-120"/>
              </a:rPr>
              <a:t>How much does each factor explain?</a:t>
            </a:r>
            <a:endParaRPr lang="en-US" sz="1250" dirty="0"/>
          </a:p>
        </p:txBody>
      </p:sp>
      <p:sp>
        <p:nvSpPr>
          <p:cNvPr id="9" name="Text 7"/>
          <p:cNvSpPr/>
          <p:nvPr/>
        </p:nvSpPr>
        <p:spPr>
          <a:xfrm>
            <a:off x="8732520" y="1956816"/>
            <a:ext cx="2651760" cy="777240"/>
          </a:xfrm>
          <a:prstGeom prst="rect">
            <a:avLst/>
          </a:prstGeom>
          <a:noFill/>
          <a:ln/>
        </p:spPr>
        <p:txBody>
          <a:bodyPr wrap="square" lIns="0" tIns="0" rIns="0" bIns="0" rtlCol="0" anchor="ctr"/>
          <a:lstStyle/>
          <a:p>
            <a:pPr indent="0" marL="0">
              <a:buNone/>
            </a:pPr>
            <a:r>
              <a:rPr lang="en-US" sz="1250" b="1" dirty="0">
                <a:solidFill>
                  <a:srgbClr val="16A34A"/>
                </a:solidFill>
                <a:latin typeface="Calibri" pitchFamily="34" charset="0"/>
                <a:ea typeface="Calibri" pitchFamily="34" charset="-122"/>
                <a:cs typeface="Calibri" pitchFamily="34" charset="-120"/>
              </a:rPr>
              <a:t>Done — table next slide</a:t>
            </a:r>
            <a:endParaRPr lang="en-US" sz="1250" dirty="0"/>
          </a:p>
        </p:txBody>
      </p:sp>
      <p:sp>
        <p:nvSpPr>
          <p:cNvPr id="10" name="Shape 8"/>
          <p:cNvSpPr/>
          <p:nvPr/>
        </p:nvSpPr>
        <p:spPr>
          <a:xfrm>
            <a:off x="640080" y="2990088"/>
            <a:ext cx="10881360" cy="1051560"/>
          </a:xfrm>
          <a:prstGeom prst="roundRect">
            <a:avLst>
              <a:gd name="adj" fmla="val 7826"/>
            </a:avLst>
          </a:prstGeom>
          <a:solidFill>
            <a:srgbClr val="FFFFFF"/>
          </a:solidFill>
          <a:ln w="12700">
            <a:solidFill>
              <a:srgbClr val="E2E8F0"/>
            </a:solidFill>
            <a:prstDash val="solid"/>
          </a:ln>
          <a:effectLst>
            <a:outerShdw sx="100000" sy="100000" kx="0" ky="0" algn="bl" rotWithShape="0" blurRad="114300" dist="38100" dir="5400000">
              <a:srgbClr val="0F172A">
                <a:alpha val="14000"/>
              </a:srgbClr>
            </a:outerShdw>
          </a:effectLst>
        </p:spPr>
      </p:sp>
      <p:sp>
        <p:nvSpPr>
          <p:cNvPr id="11" name="Shape 9"/>
          <p:cNvSpPr/>
          <p:nvPr/>
        </p:nvSpPr>
        <p:spPr>
          <a:xfrm>
            <a:off x="896112" y="3291840"/>
            <a:ext cx="438912" cy="438912"/>
          </a:xfrm>
          <a:prstGeom prst="ellipse">
            <a:avLst/>
          </a:prstGeom>
          <a:solidFill>
            <a:srgbClr val="D97706"/>
          </a:solidFill>
          <a:ln/>
        </p:spPr>
      </p:sp>
      <p:sp>
        <p:nvSpPr>
          <p:cNvPr id="12" name="Text 10"/>
          <p:cNvSpPr/>
          <p:nvPr/>
        </p:nvSpPr>
        <p:spPr>
          <a:xfrm>
            <a:off x="896112" y="3291840"/>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Text 11"/>
          <p:cNvSpPr/>
          <p:nvPr/>
        </p:nvSpPr>
        <p:spPr>
          <a:xfrm>
            <a:off x="1517904" y="3118104"/>
            <a:ext cx="3017520" cy="77724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Re-check the 0.35</a:t>
            </a:r>
            <a:endParaRPr lang="en-US" sz="1500" dirty="0"/>
          </a:p>
        </p:txBody>
      </p:sp>
      <p:sp>
        <p:nvSpPr>
          <p:cNvPr id="14" name="Text 12"/>
          <p:cNvSpPr/>
          <p:nvPr/>
        </p:nvSpPr>
        <p:spPr>
          <a:xfrm>
            <a:off x="4663440" y="3118104"/>
            <a:ext cx="3931920" cy="777240"/>
          </a:xfrm>
          <a:prstGeom prst="rect">
            <a:avLst/>
          </a:prstGeom>
          <a:noFill/>
          <a:ln/>
        </p:spPr>
        <p:txBody>
          <a:bodyPr wrap="square" lIns="0" tIns="0" rIns="0" bIns="0" rtlCol="0" anchor="ctr"/>
          <a:lstStyle/>
          <a:p>
            <a:pPr indent="0" marL="0">
              <a:lnSpc>
                <a:spcPct val="102000"/>
              </a:lnSpc>
              <a:buNone/>
            </a:pPr>
            <a:r>
              <a:rPr lang="en-US" sz="1250" dirty="0">
                <a:solidFill>
                  <a:srgbClr val="64748B"/>
                </a:solidFill>
                <a:latin typeface="Calibri" pitchFamily="34" charset="0"/>
                <a:ea typeface="Calibri" pitchFamily="34" charset="-122"/>
                <a:cs typeface="Calibri" pitchFamily="34" charset="-120"/>
              </a:rPr>
              <a:t>Was stimulus removed properly?</a:t>
            </a:r>
            <a:endParaRPr lang="en-US" sz="1250" dirty="0"/>
          </a:p>
        </p:txBody>
      </p:sp>
      <p:sp>
        <p:nvSpPr>
          <p:cNvPr id="15" name="Text 13"/>
          <p:cNvSpPr/>
          <p:nvPr/>
        </p:nvSpPr>
        <p:spPr>
          <a:xfrm>
            <a:off x="8732520" y="3118104"/>
            <a:ext cx="2651760" cy="777240"/>
          </a:xfrm>
          <a:prstGeom prst="rect">
            <a:avLst/>
          </a:prstGeom>
          <a:noFill/>
          <a:ln/>
        </p:spPr>
        <p:txBody>
          <a:bodyPr wrap="square" lIns="0" tIns="0" rIns="0" bIns="0" rtlCol="0" anchor="ctr"/>
          <a:lstStyle/>
          <a:p>
            <a:pPr indent="0" marL="0">
              <a:buNone/>
            </a:pPr>
            <a:r>
              <a:rPr lang="en-US" sz="1250" b="1" dirty="0">
                <a:solidFill>
                  <a:srgbClr val="D97706"/>
                </a:solidFill>
                <a:latin typeface="Calibri" pitchFamily="34" charset="0"/>
                <a:ea typeface="Calibri" pitchFamily="34" charset="-122"/>
                <a:cs typeface="Calibri" pitchFamily="34" charset="-120"/>
              </a:rPr>
              <a:t>Done — the number dropped</a:t>
            </a:r>
            <a:endParaRPr lang="en-US" sz="1250" dirty="0"/>
          </a:p>
        </p:txBody>
      </p:sp>
      <p:sp>
        <p:nvSpPr>
          <p:cNvPr id="16" name="Shape 14"/>
          <p:cNvSpPr/>
          <p:nvPr/>
        </p:nvSpPr>
        <p:spPr>
          <a:xfrm>
            <a:off x="640080" y="4151376"/>
            <a:ext cx="10881360" cy="1051560"/>
          </a:xfrm>
          <a:prstGeom prst="roundRect">
            <a:avLst>
              <a:gd name="adj" fmla="val 7826"/>
            </a:avLst>
          </a:prstGeom>
          <a:solidFill>
            <a:srgbClr val="FFFFFF"/>
          </a:solidFill>
          <a:ln w="12700">
            <a:solidFill>
              <a:srgbClr val="E2E8F0"/>
            </a:solidFill>
            <a:prstDash val="solid"/>
          </a:ln>
          <a:effectLst>
            <a:outerShdw sx="100000" sy="100000" kx="0" ky="0" algn="bl" rotWithShape="0" blurRad="114300" dist="38100" dir="5400000">
              <a:srgbClr val="0F172A">
                <a:alpha val="14000"/>
              </a:srgbClr>
            </a:outerShdw>
          </a:effectLst>
        </p:spPr>
      </p:sp>
      <p:sp>
        <p:nvSpPr>
          <p:cNvPr id="17" name="Shape 15"/>
          <p:cNvSpPr/>
          <p:nvPr/>
        </p:nvSpPr>
        <p:spPr>
          <a:xfrm>
            <a:off x="896112" y="4453128"/>
            <a:ext cx="438912" cy="438912"/>
          </a:xfrm>
          <a:prstGeom prst="ellipse">
            <a:avLst/>
          </a:prstGeom>
          <a:solidFill>
            <a:srgbClr val="16A34A"/>
          </a:solidFill>
          <a:ln/>
        </p:spPr>
      </p:sp>
      <p:sp>
        <p:nvSpPr>
          <p:cNvPr id="18" name="Text 16"/>
          <p:cNvSpPr/>
          <p:nvPr/>
        </p:nvSpPr>
        <p:spPr>
          <a:xfrm>
            <a:off x="896112" y="4453128"/>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9" name="Text 17"/>
          <p:cNvSpPr/>
          <p:nvPr/>
        </p:nvSpPr>
        <p:spPr>
          <a:xfrm>
            <a:off x="1517904" y="4279392"/>
            <a:ext cx="3017520" cy="77724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Test for crosstalk</a:t>
            </a:r>
            <a:endParaRPr lang="en-US" sz="1500" dirty="0"/>
          </a:p>
        </p:txBody>
      </p:sp>
      <p:sp>
        <p:nvSpPr>
          <p:cNvPr id="20" name="Text 18"/>
          <p:cNvSpPr/>
          <p:nvPr/>
        </p:nvSpPr>
        <p:spPr>
          <a:xfrm>
            <a:off x="4663440" y="4279392"/>
            <a:ext cx="3931920" cy="777240"/>
          </a:xfrm>
          <a:prstGeom prst="rect">
            <a:avLst/>
          </a:prstGeom>
          <a:noFill/>
          <a:ln/>
        </p:spPr>
        <p:txBody>
          <a:bodyPr wrap="square" lIns="0" tIns="0" rIns="0" bIns="0" rtlCol="0" anchor="ctr"/>
          <a:lstStyle/>
          <a:p>
            <a:pPr indent="0" marL="0">
              <a:lnSpc>
                <a:spcPct val="102000"/>
              </a:lnSpc>
              <a:buNone/>
            </a:pPr>
            <a:r>
              <a:rPr lang="en-US" sz="1250" dirty="0">
                <a:solidFill>
                  <a:srgbClr val="64748B"/>
                </a:solidFill>
                <a:latin typeface="Calibri" pitchFamily="34" charset="0"/>
                <a:ea typeface="Calibri" pitchFamily="34" charset="-122"/>
                <a:cs typeface="Calibri" pitchFamily="34" charset="-120"/>
              </a:rPr>
              <a:t>Correlate cortex against muscle power</a:t>
            </a:r>
            <a:endParaRPr lang="en-US" sz="1250" dirty="0"/>
          </a:p>
        </p:txBody>
      </p:sp>
      <p:sp>
        <p:nvSpPr>
          <p:cNvPr id="21" name="Text 19"/>
          <p:cNvSpPr/>
          <p:nvPr/>
        </p:nvSpPr>
        <p:spPr>
          <a:xfrm>
            <a:off x="8732520" y="4279392"/>
            <a:ext cx="2651760" cy="777240"/>
          </a:xfrm>
          <a:prstGeom prst="rect">
            <a:avLst/>
          </a:prstGeom>
          <a:noFill/>
          <a:ln/>
        </p:spPr>
        <p:txBody>
          <a:bodyPr wrap="square" lIns="0" tIns="0" rIns="0" bIns="0" rtlCol="0" anchor="ctr"/>
          <a:lstStyle/>
          <a:p>
            <a:pPr indent="0" marL="0">
              <a:buNone/>
            </a:pPr>
            <a:r>
              <a:rPr lang="en-US" sz="1250" b="1" dirty="0">
                <a:solidFill>
                  <a:srgbClr val="16A34A"/>
                </a:solidFill>
                <a:latin typeface="Calibri" pitchFamily="34" charset="0"/>
                <a:ea typeface="Calibri" pitchFamily="34" charset="-122"/>
                <a:cs typeface="Calibri" pitchFamily="34" charset="-120"/>
              </a:rPr>
              <a:t>Done — no contamination</a:t>
            </a:r>
            <a:endParaRPr lang="en-US" sz="1250" dirty="0"/>
          </a:p>
        </p:txBody>
      </p:sp>
      <p:sp>
        <p:nvSpPr>
          <p:cNvPr id="22" name="Shape 20"/>
          <p:cNvSpPr/>
          <p:nvPr/>
        </p:nvSpPr>
        <p:spPr>
          <a:xfrm>
            <a:off x="640080" y="5312664"/>
            <a:ext cx="10881360" cy="1051560"/>
          </a:xfrm>
          <a:prstGeom prst="roundRect">
            <a:avLst>
              <a:gd name="adj" fmla="val 7826"/>
            </a:avLst>
          </a:prstGeom>
          <a:solidFill>
            <a:srgbClr val="FFFFFF"/>
          </a:solidFill>
          <a:ln w="12700">
            <a:solidFill>
              <a:srgbClr val="E2E8F0"/>
            </a:solidFill>
            <a:prstDash val="solid"/>
          </a:ln>
          <a:effectLst>
            <a:outerShdw sx="100000" sy="100000" kx="0" ky="0" algn="bl" rotWithShape="0" blurRad="114300" dist="38100" dir="5400000">
              <a:srgbClr val="0F172A">
                <a:alpha val="14000"/>
              </a:srgbClr>
            </a:outerShdw>
          </a:effectLst>
        </p:spPr>
      </p:sp>
      <p:sp>
        <p:nvSpPr>
          <p:cNvPr id="23" name="Shape 21"/>
          <p:cNvSpPr/>
          <p:nvPr/>
        </p:nvSpPr>
        <p:spPr>
          <a:xfrm>
            <a:off x="896112" y="5614416"/>
            <a:ext cx="438912" cy="438912"/>
          </a:xfrm>
          <a:prstGeom prst="ellipse">
            <a:avLst/>
          </a:prstGeom>
          <a:solidFill>
            <a:srgbClr val="16A34A"/>
          </a:solidFill>
          <a:ln/>
        </p:spPr>
      </p:sp>
      <p:sp>
        <p:nvSpPr>
          <p:cNvPr id="24" name="Text 22"/>
          <p:cNvSpPr/>
          <p:nvPr/>
        </p:nvSpPr>
        <p:spPr>
          <a:xfrm>
            <a:off x="896112" y="5614416"/>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5" name="Text 23"/>
          <p:cNvSpPr/>
          <p:nvPr/>
        </p:nvSpPr>
        <p:spPr>
          <a:xfrm>
            <a:off x="1517904" y="5440680"/>
            <a:ext cx="3017520" cy="77724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Does it scale with learning?</a:t>
            </a:r>
            <a:endParaRPr lang="en-US" sz="1500" dirty="0"/>
          </a:p>
        </p:txBody>
      </p:sp>
      <p:sp>
        <p:nvSpPr>
          <p:cNvPr id="26" name="Text 24"/>
          <p:cNvSpPr/>
          <p:nvPr/>
        </p:nvSpPr>
        <p:spPr>
          <a:xfrm>
            <a:off x="4663440" y="5440680"/>
            <a:ext cx="3931920" cy="777240"/>
          </a:xfrm>
          <a:prstGeom prst="rect">
            <a:avLst/>
          </a:prstGeom>
          <a:noFill/>
          <a:ln/>
        </p:spPr>
        <p:txBody>
          <a:bodyPr wrap="square" lIns="0" tIns="0" rIns="0" bIns="0" rtlCol="0" anchor="ctr"/>
          <a:lstStyle/>
          <a:p>
            <a:pPr indent="0" marL="0">
              <a:lnSpc>
                <a:spcPct val="102000"/>
              </a:lnSpc>
              <a:buNone/>
            </a:pPr>
            <a:r>
              <a:rPr lang="en-US" sz="1250" dirty="0">
                <a:solidFill>
                  <a:srgbClr val="64748B"/>
                </a:solidFill>
                <a:latin typeface="Calibri" pitchFamily="34" charset="0"/>
                <a:ea typeface="Calibri" pitchFamily="34" charset="-122"/>
                <a:cs typeface="Calibri" pitchFamily="34" charset="-120"/>
              </a:rPr>
              <a:t>Failed animals as internal control</a:t>
            </a:r>
            <a:endParaRPr lang="en-US" sz="1250" dirty="0"/>
          </a:p>
        </p:txBody>
      </p:sp>
      <p:sp>
        <p:nvSpPr>
          <p:cNvPr id="27" name="Text 25"/>
          <p:cNvSpPr/>
          <p:nvPr/>
        </p:nvSpPr>
        <p:spPr>
          <a:xfrm>
            <a:off x="8732520" y="5440680"/>
            <a:ext cx="2651760" cy="777240"/>
          </a:xfrm>
          <a:prstGeom prst="rect">
            <a:avLst/>
          </a:prstGeom>
          <a:noFill/>
          <a:ln/>
        </p:spPr>
        <p:txBody>
          <a:bodyPr wrap="square" lIns="0" tIns="0" rIns="0" bIns="0" rtlCol="0" anchor="ctr"/>
          <a:lstStyle/>
          <a:p>
            <a:pPr indent="0" marL="0">
              <a:buNone/>
            </a:pPr>
            <a:r>
              <a:rPr lang="en-US" sz="1250" b="1" dirty="0">
                <a:solidFill>
                  <a:srgbClr val="16A34A"/>
                </a:solidFill>
                <a:latin typeface="Calibri" pitchFamily="34" charset="0"/>
                <a:ea typeface="Calibri" pitchFamily="34" charset="-122"/>
                <a:cs typeface="Calibri" pitchFamily="34" charset="-120"/>
              </a:rPr>
              <a:t>Done — r = +0.64</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384048"/>
            <a:ext cx="10972800" cy="274320"/>
          </a:xfrm>
          <a:prstGeom prst="rect">
            <a:avLst/>
          </a:prstGeom>
          <a:noFill/>
          <a:ln/>
        </p:spPr>
        <p:txBody>
          <a:bodyPr wrap="square" lIns="0" tIns="0" rIns="0" bIns="0" rtlCol="0" anchor="ctr"/>
          <a:lstStyle/>
          <a:p>
            <a:pPr indent="0" marL="0">
              <a:buNone/>
            </a:pPr>
            <a:r>
              <a:rPr lang="en-US" sz="1200" b="1" spc="300" kern="0" dirty="0">
                <a:solidFill>
                  <a:srgbClr val="0D9488"/>
                </a:solidFill>
                <a:latin typeface="Calibri" pitchFamily="34" charset="0"/>
                <a:ea typeface="Calibri" pitchFamily="34" charset="-122"/>
                <a:cs typeface="Calibri" pitchFamily="34" charset="-120"/>
              </a:rPr>
              <a:t>ASK 1 · THE PARTITION</a:t>
            </a:r>
            <a:endParaRPr lang="en-US" sz="1200" dirty="0"/>
          </a:p>
        </p:txBody>
      </p:sp>
      <p:sp>
        <p:nvSpPr>
          <p:cNvPr id="3" name="Text 1"/>
          <p:cNvSpPr/>
          <p:nvPr/>
        </p:nvSpPr>
        <p:spPr>
          <a:xfrm>
            <a:off x="640080" y="457200"/>
            <a:ext cx="11064240" cy="713232"/>
          </a:xfrm>
          <a:prstGeom prst="rect">
            <a:avLst/>
          </a:prstGeom>
          <a:noFill/>
          <a:ln/>
        </p:spPr>
        <p:txBody>
          <a:bodyPr wrap="square" lIns="0" tIns="0" rIns="0" bIns="0" rtlCol="0" anchor="ctr"/>
          <a:lstStyle/>
          <a:p>
            <a:pPr indent="0" marL="0">
              <a:buNone/>
            </a:pPr>
            <a:r>
              <a:rPr lang="en-US" sz="2800" b="1" dirty="0">
                <a:solidFill>
                  <a:srgbClr val="1E293B"/>
                </a:solidFill>
                <a:latin typeface="Cambria" pitchFamily="34" charset="0"/>
                <a:ea typeface="Cambria" pitchFamily="34" charset="-122"/>
                <a:cs typeface="Cambria" pitchFamily="34" charset="-120"/>
              </a:rPr>
              <a:t>What explains reflex size</a:t>
            </a:r>
            <a:endParaRPr lang="en-US" sz="2800" dirty="0"/>
          </a:p>
        </p:txBody>
      </p:sp>
      <p:sp>
        <p:nvSpPr>
          <p:cNvPr id="4" name="Shape 2"/>
          <p:cNvSpPr/>
          <p:nvPr/>
        </p:nvSpPr>
        <p:spPr>
          <a:xfrm>
            <a:off x="640080" y="1783080"/>
            <a:ext cx="10881360" cy="868680"/>
          </a:xfrm>
          <a:prstGeom prst="roundRect">
            <a:avLst>
              <a:gd name="adj" fmla="val 9474"/>
            </a:avLst>
          </a:prstGeom>
          <a:solidFill>
            <a:srgbClr val="FFFFFF"/>
          </a:solidFill>
          <a:ln w="12700">
            <a:solidFill>
              <a:srgbClr val="E2E8F0"/>
            </a:solidFill>
            <a:prstDash val="solid"/>
          </a:ln>
          <a:effectLst>
            <a:outerShdw sx="100000" sy="100000" kx="0" ky="0" algn="bl" rotWithShape="0" blurRad="114300" dist="38100" dir="5400000">
              <a:srgbClr val="0F172A">
                <a:alpha val="14000"/>
              </a:srgbClr>
            </a:outerShdw>
          </a:effectLst>
        </p:spPr>
      </p:sp>
      <p:sp>
        <p:nvSpPr>
          <p:cNvPr id="5" name="Text 3"/>
          <p:cNvSpPr/>
          <p:nvPr/>
        </p:nvSpPr>
        <p:spPr>
          <a:xfrm>
            <a:off x="960120" y="1920240"/>
            <a:ext cx="3840480" cy="594360"/>
          </a:xfrm>
          <a:prstGeom prst="rect">
            <a:avLst/>
          </a:prstGeom>
          <a:noFill/>
          <a:ln/>
        </p:spPr>
        <p:txBody>
          <a:bodyPr wrap="square" lIns="0" tIns="0" rIns="0" bIns="0" rtlCol="0" anchor="ctr"/>
          <a:lstStyle/>
          <a:p>
            <a:pPr indent="0" marL="0">
              <a:buNone/>
            </a:pPr>
            <a:r>
              <a:rPr lang="en-US" sz="1450" b="1" dirty="0">
                <a:solidFill>
                  <a:srgbClr val="1E293B"/>
                </a:solidFill>
                <a:latin typeface="Calibri" pitchFamily="34" charset="0"/>
                <a:ea typeface="Calibri" pitchFamily="34" charset="-122"/>
                <a:cs typeface="Calibri" pitchFamily="34" charset="-120"/>
              </a:rPr>
              <a:t>Stimulus (M-wave)</a:t>
            </a:r>
            <a:endParaRPr lang="en-US" sz="1450" dirty="0"/>
          </a:p>
        </p:txBody>
      </p:sp>
      <p:sp>
        <p:nvSpPr>
          <p:cNvPr id="6" name="Text 4"/>
          <p:cNvSpPr/>
          <p:nvPr/>
        </p:nvSpPr>
        <p:spPr>
          <a:xfrm>
            <a:off x="4937760" y="1920240"/>
            <a:ext cx="1371600" cy="594360"/>
          </a:xfrm>
          <a:prstGeom prst="rect">
            <a:avLst/>
          </a:prstGeom>
          <a:noFill/>
          <a:ln/>
        </p:spPr>
        <p:txBody>
          <a:bodyPr wrap="square" lIns="0" tIns="0" rIns="0" bIns="0" rtlCol="0" anchor="ctr"/>
          <a:lstStyle/>
          <a:p>
            <a:pPr algn="r" indent="0" marL="0">
              <a:buNone/>
            </a:pPr>
            <a:r>
              <a:rPr lang="en-US" sz="2300" b="1" dirty="0">
                <a:solidFill>
                  <a:srgbClr val="6D28D9"/>
                </a:solidFill>
                <a:latin typeface="Cambria" pitchFamily="34" charset="0"/>
                <a:ea typeface="Cambria" pitchFamily="34" charset="-122"/>
                <a:cs typeface="Cambria" pitchFamily="34" charset="-120"/>
              </a:rPr>
              <a:t>47%</a:t>
            </a:r>
            <a:endParaRPr lang="en-US" sz="2300" dirty="0"/>
          </a:p>
        </p:txBody>
      </p:sp>
      <p:sp>
        <p:nvSpPr>
          <p:cNvPr id="7" name="Text 5"/>
          <p:cNvSpPr/>
          <p:nvPr/>
        </p:nvSpPr>
        <p:spPr>
          <a:xfrm>
            <a:off x="6583680" y="1920240"/>
            <a:ext cx="4663440" cy="594360"/>
          </a:xfrm>
          <a:prstGeom prst="rect">
            <a:avLst/>
          </a:prstGeom>
          <a:noFill/>
          <a:ln/>
        </p:spPr>
        <p:txBody>
          <a:bodyPr wrap="square" lIns="0" tIns="0" rIns="0" bIns="0" rtlCol="0" anchor="ctr"/>
          <a:lstStyle/>
          <a:p>
            <a:pPr indent="0" marL="0">
              <a:lnSpc>
                <a:spcPct val="102000"/>
              </a:lnSpc>
              <a:buNone/>
            </a:pPr>
            <a:r>
              <a:rPr lang="en-US" sz="1200" dirty="0">
                <a:solidFill>
                  <a:srgbClr val="64748B"/>
                </a:solidFill>
                <a:latin typeface="Calibri" pitchFamily="34" charset="0"/>
                <a:ea typeface="Calibri" pitchFamily="34" charset="-122"/>
                <a:cs typeface="Calibri" pitchFamily="34" charset="-120"/>
              </a:rPr>
              <a:t>Dominant — how much stimulus reached the muscle</a:t>
            </a:r>
            <a:endParaRPr lang="en-US" sz="1200" dirty="0"/>
          </a:p>
        </p:txBody>
      </p:sp>
      <p:sp>
        <p:nvSpPr>
          <p:cNvPr id="8" name="Shape 6"/>
          <p:cNvSpPr/>
          <p:nvPr/>
        </p:nvSpPr>
        <p:spPr>
          <a:xfrm>
            <a:off x="640080" y="2743200"/>
            <a:ext cx="10881360" cy="868680"/>
          </a:xfrm>
          <a:prstGeom prst="roundRect">
            <a:avLst>
              <a:gd name="adj" fmla="val 9474"/>
            </a:avLst>
          </a:prstGeom>
          <a:solidFill>
            <a:srgbClr val="FFFFFF"/>
          </a:solidFill>
          <a:ln w="12700">
            <a:solidFill>
              <a:srgbClr val="E2E8F0"/>
            </a:solidFill>
            <a:prstDash val="solid"/>
          </a:ln>
          <a:effectLst>
            <a:outerShdw sx="100000" sy="100000" kx="0" ky="0" algn="bl" rotWithShape="0" blurRad="114300" dist="38100" dir="5400000">
              <a:srgbClr val="0F172A">
                <a:alpha val="14000"/>
              </a:srgbClr>
            </a:outerShdw>
          </a:effectLst>
        </p:spPr>
      </p:sp>
      <p:sp>
        <p:nvSpPr>
          <p:cNvPr id="9" name="Text 7"/>
          <p:cNvSpPr/>
          <p:nvPr/>
        </p:nvSpPr>
        <p:spPr>
          <a:xfrm>
            <a:off x="960120" y="2880360"/>
            <a:ext cx="3840480" cy="594360"/>
          </a:xfrm>
          <a:prstGeom prst="rect">
            <a:avLst/>
          </a:prstGeom>
          <a:noFill/>
          <a:ln/>
        </p:spPr>
        <p:txBody>
          <a:bodyPr wrap="square" lIns="0" tIns="0" rIns="0" bIns="0" rtlCol="0" anchor="ctr"/>
          <a:lstStyle/>
          <a:p>
            <a:pPr indent="0" marL="0">
              <a:buNone/>
            </a:pPr>
            <a:r>
              <a:rPr lang="en-US" sz="1450" b="1" dirty="0">
                <a:solidFill>
                  <a:srgbClr val="1E293B"/>
                </a:solidFill>
                <a:latin typeface="Calibri" pitchFamily="34" charset="0"/>
                <a:ea typeface="Calibri" pitchFamily="34" charset="-122"/>
                <a:cs typeface="Calibri" pitchFamily="34" charset="-120"/>
              </a:rPr>
              <a:t>Background excitability</a:t>
            </a:r>
            <a:endParaRPr lang="en-US" sz="1450" dirty="0"/>
          </a:p>
        </p:txBody>
      </p:sp>
      <p:sp>
        <p:nvSpPr>
          <p:cNvPr id="10" name="Text 8"/>
          <p:cNvSpPr/>
          <p:nvPr/>
        </p:nvSpPr>
        <p:spPr>
          <a:xfrm>
            <a:off x="4937760" y="2880360"/>
            <a:ext cx="1371600" cy="594360"/>
          </a:xfrm>
          <a:prstGeom prst="rect">
            <a:avLst/>
          </a:prstGeom>
          <a:noFill/>
          <a:ln/>
        </p:spPr>
        <p:txBody>
          <a:bodyPr wrap="square" lIns="0" tIns="0" rIns="0" bIns="0" rtlCol="0" anchor="ctr"/>
          <a:lstStyle/>
          <a:p>
            <a:pPr algn="r" indent="0" marL="0">
              <a:buNone/>
            </a:pPr>
            <a:r>
              <a:rPr lang="en-US" sz="2300" b="1" dirty="0">
                <a:solidFill>
                  <a:srgbClr val="0D9488"/>
                </a:solidFill>
                <a:latin typeface="Cambria" pitchFamily="34" charset="0"/>
                <a:ea typeface="Cambria" pitchFamily="34" charset="-122"/>
                <a:cs typeface="Cambria" pitchFamily="34" charset="-120"/>
              </a:rPr>
              <a:t>1%</a:t>
            </a:r>
            <a:endParaRPr lang="en-US" sz="2300" dirty="0"/>
          </a:p>
        </p:txBody>
      </p:sp>
      <p:sp>
        <p:nvSpPr>
          <p:cNvPr id="11" name="Text 9"/>
          <p:cNvSpPr/>
          <p:nvPr/>
        </p:nvSpPr>
        <p:spPr>
          <a:xfrm>
            <a:off x="6583680" y="2880360"/>
            <a:ext cx="4663440" cy="594360"/>
          </a:xfrm>
          <a:prstGeom prst="rect">
            <a:avLst/>
          </a:prstGeom>
          <a:noFill/>
          <a:ln/>
        </p:spPr>
        <p:txBody>
          <a:bodyPr wrap="square" lIns="0" tIns="0" rIns="0" bIns="0" rtlCol="0" anchor="ctr"/>
          <a:lstStyle/>
          <a:p>
            <a:pPr indent="0" marL="0">
              <a:lnSpc>
                <a:spcPct val="102000"/>
              </a:lnSpc>
              <a:buNone/>
            </a:pPr>
            <a:r>
              <a:rPr lang="en-US" sz="1200" dirty="0">
                <a:solidFill>
                  <a:srgbClr val="64748B"/>
                </a:solidFill>
                <a:latin typeface="Calibri" pitchFamily="34" charset="0"/>
                <a:ea typeface="Calibri" pitchFamily="34" charset="-122"/>
                <a:cs typeface="Calibri" pitchFamily="34" charset="-120"/>
              </a:rPr>
              <a:t>Small alone, but a necessary control</a:t>
            </a:r>
            <a:endParaRPr lang="en-US" sz="1200" dirty="0"/>
          </a:p>
        </p:txBody>
      </p:sp>
      <p:sp>
        <p:nvSpPr>
          <p:cNvPr id="12" name="Shape 10"/>
          <p:cNvSpPr/>
          <p:nvPr/>
        </p:nvSpPr>
        <p:spPr>
          <a:xfrm>
            <a:off x="640080" y="3703320"/>
            <a:ext cx="10881360" cy="868680"/>
          </a:xfrm>
          <a:prstGeom prst="roundRect">
            <a:avLst>
              <a:gd name="adj" fmla="val 9474"/>
            </a:avLst>
          </a:prstGeom>
          <a:solidFill>
            <a:srgbClr val="FFFFFF"/>
          </a:solidFill>
          <a:ln w="12700">
            <a:solidFill>
              <a:srgbClr val="E2E8F0"/>
            </a:solidFill>
            <a:prstDash val="solid"/>
          </a:ln>
          <a:effectLst>
            <a:outerShdw sx="100000" sy="100000" kx="0" ky="0" algn="bl" rotWithShape="0" blurRad="114300" dist="38100" dir="5400000">
              <a:srgbClr val="0F172A">
                <a:alpha val="14000"/>
              </a:srgbClr>
            </a:outerShdw>
          </a:effectLst>
        </p:spPr>
      </p:sp>
      <p:sp>
        <p:nvSpPr>
          <p:cNvPr id="13" name="Text 11"/>
          <p:cNvSpPr/>
          <p:nvPr/>
        </p:nvSpPr>
        <p:spPr>
          <a:xfrm>
            <a:off x="960120" y="3840480"/>
            <a:ext cx="3840480" cy="594360"/>
          </a:xfrm>
          <a:prstGeom prst="rect">
            <a:avLst/>
          </a:prstGeom>
          <a:noFill/>
          <a:ln/>
        </p:spPr>
        <p:txBody>
          <a:bodyPr wrap="square" lIns="0" tIns="0" rIns="0" bIns="0" rtlCol="0" anchor="ctr"/>
          <a:lstStyle/>
          <a:p>
            <a:pPr indent="0" marL="0">
              <a:buNone/>
            </a:pPr>
            <a:r>
              <a:rPr lang="en-US" sz="1450" b="1" dirty="0">
                <a:solidFill>
                  <a:srgbClr val="1E293B"/>
                </a:solidFill>
                <a:latin typeface="Calibri" pitchFamily="34" charset="0"/>
                <a:ea typeface="Calibri" pitchFamily="34" charset="-122"/>
                <a:cs typeface="Calibri" pitchFamily="34" charset="-120"/>
              </a:rPr>
              <a:t>Cortex, alone</a:t>
            </a:r>
            <a:endParaRPr lang="en-US" sz="1450" dirty="0"/>
          </a:p>
        </p:txBody>
      </p:sp>
      <p:sp>
        <p:nvSpPr>
          <p:cNvPr id="14" name="Text 12"/>
          <p:cNvSpPr/>
          <p:nvPr/>
        </p:nvSpPr>
        <p:spPr>
          <a:xfrm>
            <a:off x="4937760" y="3840480"/>
            <a:ext cx="1371600" cy="594360"/>
          </a:xfrm>
          <a:prstGeom prst="rect">
            <a:avLst/>
          </a:prstGeom>
          <a:noFill/>
          <a:ln/>
        </p:spPr>
        <p:txBody>
          <a:bodyPr wrap="square" lIns="0" tIns="0" rIns="0" bIns="0" rtlCol="0" anchor="ctr"/>
          <a:lstStyle/>
          <a:p>
            <a:pPr algn="r" indent="0" marL="0">
              <a:buNone/>
            </a:pPr>
            <a:r>
              <a:rPr lang="en-US" sz="2300" b="1" dirty="0">
                <a:solidFill>
                  <a:srgbClr val="2563EB"/>
                </a:solidFill>
                <a:latin typeface="Cambria" pitchFamily="34" charset="0"/>
                <a:ea typeface="Cambria" pitchFamily="34" charset="-122"/>
                <a:cs typeface="Cambria" pitchFamily="34" charset="-120"/>
              </a:rPr>
              <a:t>21%</a:t>
            </a:r>
            <a:endParaRPr lang="en-US" sz="2300" dirty="0"/>
          </a:p>
        </p:txBody>
      </p:sp>
      <p:sp>
        <p:nvSpPr>
          <p:cNvPr id="15" name="Text 13"/>
          <p:cNvSpPr/>
          <p:nvPr/>
        </p:nvSpPr>
        <p:spPr>
          <a:xfrm>
            <a:off x="6583680" y="3840480"/>
            <a:ext cx="4663440" cy="594360"/>
          </a:xfrm>
          <a:prstGeom prst="rect">
            <a:avLst/>
          </a:prstGeom>
          <a:noFill/>
          <a:ln/>
        </p:spPr>
        <p:txBody>
          <a:bodyPr wrap="square" lIns="0" tIns="0" rIns="0" bIns="0" rtlCol="0" anchor="ctr"/>
          <a:lstStyle/>
          <a:p>
            <a:pPr indent="0" marL="0">
              <a:lnSpc>
                <a:spcPct val="102000"/>
              </a:lnSpc>
              <a:buNone/>
            </a:pPr>
            <a:r>
              <a:rPr lang="en-US" sz="1200" dirty="0">
                <a:solidFill>
                  <a:srgbClr val="64748B"/>
                </a:solidFill>
                <a:latin typeface="Calibri" pitchFamily="34" charset="0"/>
                <a:ea typeface="Calibri" pitchFamily="34" charset="-122"/>
                <a:cs typeface="Calibri" pitchFamily="34" charset="-120"/>
              </a:rPr>
              <a:t>Mostly overlaps stimulus — stimulus drives both</a:t>
            </a:r>
            <a:endParaRPr lang="en-US" sz="1200" dirty="0"/>
          </a:p>
        </p:txBody>
      </p:sp>
      <p:sp>
        <p:nvSpPr>
          <p:cNvPr id="16" name="Shape 14"/>
          <p:cNvSpPr/>
          <p:nvPr/>
        </p:nvSpPr>
        <p:spPr>
          <a:xfrm>
            <a:off x="640080" y="4663440"/>
            <a:ext cx="10881360" cy="868680"/>
          </a:xfrm>
          <a:prstGeom prst="roundRect">
            <a:avLst>
              <a:gd name="adj" fmla="val 9474"/>
            </a:avLst>
          </a:prstGeom>
          <a:solidFill>
            <a:srgbClr val="F0FDF4"/>
          </a:solidFill>
          <a:ln w="12700">
            <a:solidFill>
              <a:srgbClr val="E2E8F0"/>
            </a:solidFill>
            <a:prstDash val="solid"/>
          </a:ln>
          <a:effectLst>
            <a:outerShdw sx="100000" sy="100000" kx="0" ky="0" algn="bl" rotWithShape="0" blurRad="114300" dist="38100" dir="5400000">
              <a:srgbClr val="0F172A">
                <a:alpha val="14000"/>
              </a:srgbClr>
            </a:outerShdw>
          </a:effectLst>
        </p:spPr>
      </p:sp>
      <p:sp>
        <p:nvSpPr>
          <p:cNvPr id="17" name="Text 15"/>
          <p:cNvSpPr/>
          <p:nvPr/>
        </p:nvSpPr>
        <p:spPr>
          <a:xfrm>
            <a:off x="960120" y="4800600"/>
            <a:ext cx="3840480" cy="594360"/>
          </a:xfrm>
          <a:prstGeom prst="rect">
            <a:avLst/>
          </a:prstGeom>
          <a:noFill/>
          <a:ln/>
        </p:spPr>
        <p:txBody>
          <a:bodyPr wrap="square" lIns="0" tIns="0" rIns="0" bIns="0" rtlCol="0" anchor="ctr"/>
          <a:lstStyle/>
          <a:p>
            <a:pPr indent="0" marL="0">
              <a:buNone/>
            </a:pPr>
            <a:r>
              <a:rPr lang="en-US" sz="1450" b="1" dirty="0">
                <a:solidFill>
                  <a:srgbClr val="1E293B"/>
                </a:solidFill>
                <a:latin typeface="Calibri" pitchFamily="34" charset="0"/>
                <a:ea typeface="Calibri" pitchFamily="34" charset="-122"/>
                <a:cs typeface="Calibri" pitchFamily="34" charset="-120"/>
              </a:rPr>
              <a:t>Cortex, unique</a:t>
            </a:r>
            <a:endParaRPr lang="en-US" sz="1450" dirty="0"/>
          </a:p>
        </p:txBody>
      </p:sp>
      <p:sp>
        <p:nvSpPr>
          <p:cNvPr id="18" name="Text 16"/>
          <p:cNvSpPr/>
          <p:nvPr/>
        </p:nvSpPr>
        <p:spPr>
          <a:xfrm>
            <a:off x="4937760" y="4800600"/>
            <a:ext cx="1371600" cy="594360"/>
          </a:xfrm>
          <a:prstGeom prst="rect">
            <a:avLst/>
          </a:prstGeom>
          <a:noFill/>
          <a:ln/>
        </p:spPr>
        <p:txBody>
          <a:bodyPr wrap="square" lIns="0" tIns="0" rIns="0" bIns="0" rtlCol="0" anchor="ctr"/>
          <a:lstStyle/>
          <a:p>
            <a:pPr algn="r" indent="0" marL="0">
              <a:buNone/>
            </a:pPr>
            <a:r>
              <a:rPr lang="en-US" sz="2300" b="1" dirty="0">
                <a:solidFill>
                  <a:srgbClr val="16A34A"/>
                </a:solidFill>
                <a:latin typeface="Cambria" pitchFamily="34" charset="0"/>
                <a:ea typeface="Cambria" pitchFamily="34" charset="-122"/>
                <a:cs typeface="Cambria" pitchFamily="34" charset="-120"/>
              </a:rPr>
              <a:t>2%</a:t>
            </a:r>
            <a:endParaRPr lang="en-US" sz="2300" dirty="0"/>
          </a:p>
        </p:txBody>
      </p:sp>
      <p:sp>
        <p:nvSpPr>
          <p:cNvPr id="19" name="Text 17"/>
          <p:cNvSpPr/>
          <p:nvPr/>
        </p:nvSpPr>
        <p:spPr>
          <a:xfrm>
            <a:off x="6583680" y="4800600"/>
            <a:ext cx="4663440" cy="594360"/>
          </a:xfrm>
          <a:prstGeom prst="rect">
            <a:avLst/>
          </a:prstGeom>
          <a:noFill/>
          <a:ln/>
        </p:spPr>
        <p:txBody>
          <a:bodyPr wrap="square" lIns="0" tIns="0" rIns="0" bIns="0" rtlCol="0" anchor="ctr"/>
          <a:lstStyle/>
          <a:p>
            <a:pPr indent="0" marL="0">
              <a:lnSpc>
                <a:spcPct val="102000"/>
              </a:lnSpc>
              <a:buNone/>
            </a:pPr>
            <a:r>
              <a:rPr lang="en-US" sz="1200" dirty="0">
                <a:solidFill>
                  <a:srgbClr val="64748B"/>
                </a:solidFill>
                <a:latin typeface="Calibri" pitchFamily="34" charset="0"/>
                <a:ea typeface="Calibri" pitchFamily="34" charset="-122"/>
                <a:cs typeface="Calibri" pitchFamily="34" charset="-120"/>
              </a:rPr>
              <a:t>What cortex adds once the others are known</a:t>
            </a:r>
            <a:endParaRPr lang="en-US" sz="1200" dirty="0"/>
          </a:p>
        </p:txBody>
      </p:sp>
      <p:sp>
        <p:nvSpPr>
          <p:cNvPr id="20" name="Shape 18"/>
          <p:cNvSpPr/>
          <p:nvPr/>
        </p:nvSpPr>
        <p:spPr>
          <a:xfrm>
            <a:off x="640080" y="5623560"/>
            <a:ext cx="10881360" cy="868680"/>
          </a:xfrm>
          <a:prstGeom prst="roundRect">
            <a:avLst>
              <a:gd name="adj" fmla="val 9474"/>
            </a:avLst>
          </a:prstGeom>
          <a:solidFill>
            <a:srgbClr val="FFFFFF"/>
          </a:solidFill>
          <a:ln w="12700">
            <a:solidFill>
              <a:srgbClr val="E2E8F0"/>
            </a:solidFill>
            <a:prstDash val="solid"/>
          </a:ln>
          <a:effectLst>
            <a:outerShdw sx="100000" sy="100000" kx="0" ky="0" algn="bl" rotWithShape="0" blurRad="114300" dist="38100" dir="5400000">
              <a:srgbClr val="0F172A">
                <a:alpha val="14000"/>
              </a:srgbClr>
            </a:outerShdw>
          </a:effectLst>
        </p:spPr>
      </p:sp>
      <p:sp>
        <p:nvSpPr>
          <p:cNvPr id="21" name="Text 19"/>
          <p:cNvSpPr/>
          <p:nvPr/>
        </p:nvSpPr>
        <p:spPr>
          <a:xfrm>
            <a:off x="960120" y="5760720"/>
            <a:ext cx="3840480" cy="594360"/>
          </a:xfrm>
          <a:prstGeom prst="rect">
            <a:avLst/>
          </a:prstGeom>
          <a:noFill/>
          <a:ln/>
        </p:spPr>
        <p:txBody>
          <a:bodyPr wrap="square" lIns="0" tIns="0" rIns="0" bIns="0" rtlCol="0" anchor="ctr"/>
          <a:lstStyle/>
          <a:p>
            <a:pPr indent="0" marL="0">
              <a:buNone/>
            </a:pPr>
            <a:r>
              <a:rPr lang="en-US" sz="1450" b="1" dirty="0">
                <a:solidFill>
                  <a:srgbClr val="1E293B"/>
                </a:solidFill>
                <a:latin typeface="Calibri" pitchFamily="34" charset="0"/>
                <a:ea typeface="Calibri" pitchFamily="34" charset="-122"/>
                <a:cs typeface="Calibri" pitchFamily="34" charset="-120"/>
              </a:rPr>
              <a:t>Unexplained</a:t>
            </a:r>
            <a:endParaRPr lang="en-US" sz="1450" dirty="0"/>
          </a:p>
        </p:txBody>
      </p:sp>
      <p:sp>
        <p:nvSpPr>
          <p:cNvPr id="22" name="Text 20"/>
          <p:cNvSpPr/>
          <p:nvPr/>
        </p:nvSpPr>
        <p:spPr>
          <a:xfrm>
            <a:off x="4937760" y="5760720"/>
            <a:ext cx="1371600" cy="594360"/>
          </a:xfrm>
          <a:prstGeom prst="rect">
            <a:avLst/>
          </a:prstGeom>
          <a:noFill/>
          <a:ln/>
        </p:spPr>
        <p:txBody>
          <a:bodyPr wrap="square" lIns="0" tIns="0" rIns="0" bIns="0" rtlCol="0" anchor="ctr"/>
          <a:lstStyle/>
          <a:p>
            <a:pPr algn="r" indent="0" marL="0">
              <a:buNone/>
            </a:pPr>
            <a:r>
              <a:rPr lang="en-US" sz="2300" b="1" dirty="0">
                <a:solidFill>
                  <a:srgbClr val="64748B"/>
                </a:solidFill>
                <a:latin typeface="Cambria" pitchFamily="34" charset="0"/>
                <a:ea typeface="Cambria" pitchFamily="34" charset="-122"/>
                <a:cs typeface="Cambria" pitchFamily="34" charset="-120"/>
              </a:rPr>
              <a:t>51%</a:t>
            </a:r>
            <a:endParaRPr lang="en-US" sz="2300" dirty="0"/>
          </a:p>
        </p:txBody>
      </p:sp>
      <p:sp>
        <p:nvSpPr>
          <p:cNvPr id="23" name="Text 21"/>
          <p:cNvSpPr/>
          <p:nvPr/>
        </p:nvSpPr>
        <p:spPr>
          <a:xfrm>
            <a:off x="6583680" y="5760720"/>
            <a:ext cx="4663440" cy="594360"/>
          </a:xfrm>
          <a:prstGeom prst="rect">
            <a:avLst/>
          </a:prstGeom>
          <a:noFill/>
          <a:ln/>
        </p:spPr>
        <p:txBody>
          <a:bodyPr wrap="square" lIns="0" tIns="0" rIns="0" bIns="0" rtlCol="0" anchor="ctr"/>
          <a:lstStyle/>
          <a:p>
            <a:pPr indent="0" marL="0">
              <a:lnSpc>
                <a:spcPct val="102000"/>
              </a:lnSpc>
              <a:buNone/>
            </a:pPr>
            <a:r>
              <a:rPr lang="en-US" sz="1200" dirty="0">
                <a:solidFill>
                  <a:srgbClr val="64748B"/>
                </a:solidFill>
                <a:latin typeface="Calibri" pitchFamily="34" charset="0"/>
                <a:ea typeface="Calibri" pitchFamily="34" charset="-122"/>
                <a:cs typeface="Calibri" pitchFamily="34" charset="-120"/>
              </a:rPr>
              <a:t>Trial-to-trial variability we can't account for</a:t>
            </a:r>
            <a:endParaRPr lang="en-US" sz="1200" dirty="0"/>
          </a:p>
        </p:txBody>
      </p:sp>
      <p:sp>
        <p:nvSpPr>
          <p:cNvPr id="24" name="Text 22"/>
          <p:cNvSpPr/>
          <p:nvPr/>
        </p:nvSpPr>
        <p:spPr>
          <a:xfrm>
            <a:off x="658368" y="6537960"/>
            <a:ext cx="10881360" cy="320040"/>
          </a:xfrm>
          <a:prstGeom prst="rect">
            <a:avLst/>
          </a:prstGeom>
          <a:noFill/>
          <a:ln/>
        </p:spPr>
        <p:txBody>
          <a:bodyPr wrap="square" lIns="0" tIns="0" rIns="0" bIns="0" rtlCol="0" anchor="ctr"/>
          <a:lstStyle/>
          <a:p>
            <a:pPr indent="0" marL="0">
              <a:buNone/>
            </a:pPr>
            <a:r>
              <a:rPr lang="en-US" sz="1250" i="1" dirty="0">
                <a:solidFill>
                  <a:srgbClr val="6D28D9"/>
                </a:solidFill>
                <a:latin typeface="Calibri" pitchFamily="34" charset="0"/>
                <a:ea typeface="Calibri" pitchFamily="34" charset="-122"/>
                <a:cs typeface="Calibri" pitchFamily="34" charset="-120"/>
              </a:rPr>
              <a:t>Your read was right: the three don't add up, because cortex and stimulus share variance.</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384048"/>
            <a:ext cx="10972800" cy="274320"/>
          </a:xfrm>
          <a:prstGeom prst="rect">
            <a:avLst/>
          </a:prstGeom>
          <a:noFill/>
          <a:ln/>
        </p:spPr>
        <p:txBody>
          <a:bodyPr wrap="square" lIns="0" tIns="0" rIns="0" bIns="0" rtlCol="0" anchor="ctr"/>
          <a:lstStyle/>
          <a:p>
            <a:pPr indent="0" marL="0">
              <a:buNone/>
            </a:pPr>
            <a:r>
              <a:rPr lang="en-US" sz="1200" b="1" spc="300" kern="0" dirty="0">
                <a:solidFill>
                  <a:srgbClr val="D97706"/>
                </a:solidFill>
                <a:latin typeface="Calibri" pitchFamily="34" charset="0"/>
                <a:ea typeface="Calibri" pitchFamily="34" charset="-122"/>
                <a:cs typeface="Calibri" pitchFamily="34" charset="-120"/>
              </a:rPr>
              <a:t>ASK 2 · THE CORRECTION</a:t>
            </a:r>
            <a:endParaRPr lang="en-US" sz="1200" dirty="0"/>
          </a:p>
        </p:txBody>
      </p:sp>
      <p:sp>
        <p:nvSpPr>
          <p:cNvPr id="3" name="Text 1"/>
          <p:cNvSpPr/>
          <p:nvPr/>
        </p:nvSpPr>
        <p:spPr>
          <a:xfrm>
            <a:off x="640080" y="457200"/>
            <a:ext cx="11064240" cy="713232"/>
          </a:xfrm>
          <a:prstGeom prst="rect">
            <a:avLst/>
          </a:prstGeom>
          <a:noFill/>
          <a:ln/>
        </p:spPr>
        <p:txBody>
          <a:bodyPr wrap="square" lIns="0" tIns="0" rIns="0" bIns="0" rtlCol="0" anchor="ctr"/>
          <a:lstStyle/>
          <a:p>
            <a:pPr indent="0" marL="0">
              <a:buNone/>
            </a:pPr>
            <a:r>
              <a:rPr lang="en-US" sz="2800" b="1" dirty="0">
                <a:solidFill>
                  <a:srgbClr val="1E293B"/>
                </a:solidFill>
                <a:latin typeface="Cambria" pitchFamily="34" charset="0"/>
                <a:ea typeface="Cambria" pitchFamily="34" charset="-122"/>
                <a:cs typeface="Cambria" pitchFamily="34" charset="-120"/>
              </a:rPr>
              <a:t>The 0.35 was inflated. The real number is 0.04.</a:t>
            </a:r>
            <a:endParaRPr lang="en-US" sz="2800" dirty="0"/>
          </a:p>
        </p:txBody>
      </p:sp>
      <p:sp>
        <p:nvSpPr>
          <p:cNvPr id="4" name="Shape 2"/>
          <p:cNvSpPr/>
          <p:nvPr/>
        </p:nvSpPr>
        <p:spPr>
          <a:xfrm>
            <a:off x="640080" y="1783080"/>
            <a:ext cx="5349240" cy="2286000"/>
          </a:xfrm>
          <a:prstGeom prst="roundRect">
            <a:avLst>
              <a:gd name="adj" fmla="val 3600"/>
            </a:avLst>
          </a:prstGeom>
          <a:solidFill>
            <a:srgbClr val="F1F5F9"/>
          </a:solidFill>
          <a:ln w="12700">
            <a:solidFill>
              <a:srgbClr val="E2E8F0"/>
            </a:solidFill>
            <a:prstDash val="solid"/>
          </a:ln>
          <a:effectLst>
            <a:outerShdw sx="100000" sy="100000" kx="0" ky="0" algn="bl" rotWithShape="0" blurRad="114300" dist="38100" dir="5400000">
              <a:srgbClr val="0F172A">
                <a:alpha val="14000"/>
              </a:srgbClr>
            </a:outerShdw>
          </a:effectLst>
        </p:spPr>
      </p:sp>
      <p:sp>
        <p:nvSpPr>
          <p:cNvPr id="5" name="Text 3"/>
          <p:cNvSpPr/>
          <p:nvPr/>
        </p:nvSpPr>
        <p:spPr>
          <a:xfrm>
            <a:off x="914400" y="2011680"/>
            <a:ext cx="4572000" cy="320040"/>
          </a:xfrm>
          <a:prstGeom prst="rect">
            <a:avLst/>
          </a:prstGeom>
          <a:noFill/>
          <a:ln/>
        </p:spPr>
        <p:txBody>
          <a:bodyPr wrap="square" lIns="0" tIns="0" rIns="0" bIns="0" rtlCol="0" anchor="ctr"/>
          <a:lstStyle/>
          <a:p>
            <a:pPr indent="0" marL="0">
              <a:buNone/>
            </a:pPr>
            <a:r>
              <a:rPr lang="en-US" sz="1500" b="1" dirty="0">
                <a:solidFill>
                  <a:srgbClr val="D97706"/>
                </a:solidFill>
                <a:latin typeface="Calibri" pitchFamily="34" charset="0"/>
                <a:ea typeface="Calibri" pitchFamily="34" charset="-122"/>
                <a:cs typeface="Calibri" pitchFamily="34" charset="-120"/>
              </a:rPr>
              <a:t>What was wrong</a:t>
            </a:r>
            <a:endParaRPr lang="en-US" sz="1500" dirty="0"/>
          </a:p>
        </p:txBody>
      </p:sp>
      <p:sp>
        <p:nvSpPr>
          <p:cNvPr id="6" name="Text 4"/>
          <p:cNvSpPr/>
          <p:nvPr/>
        </p:nvSpPr>
        <p:spPr>
          <a:xfrm>
            <a:off x="914400" y="2423160"/>
            <a:ext cx="4846320" cy="1463040"/>
          </a:xfrm>
          <a:prstGeom prst="rect">
            <a:avLst/>
          </a:prstGeom>
          <a:noFill/>
          <a:ln/>
        </p:spPr>
        <p:txBody>
          <a:bodyPr wrap="square" lIns="0" tIns="0" rIns="0" bIns="0" rtlCol="0" anchor="ctr"/>
          <a:lstStyle/>
          <a:p>
            <a:pPr indent="0" marL="0">
              <a:lnSpc>
                <a:spcPct val="105000"/>
              </a:lnSpc>
              <a:buNone/>
            </a:pPr>
            <a:r>
              <a:rPr lang="en-US" sz="1350" dirty="0">
                <a:solidFill>
                  <a:srgbClr val="1E293B"/>
                </a:solidFill>
                <a:latin typeface="Calibri" pitchFamily="34" charset="0"/>
                <a:ea typeface="Calibri" pitchFamily="34" charset="-122"/>
                <a:cs typeface="Calibri" pitchFamily="34" charset="-120"/>
              </a:rPr>
              <a:t>I removed stimulus and background across ALL trials at once, then measured cortex within each 5-day block. If the stimulus–reflex relationship shifts between blocks, that leaves stimulus variance behind — and cortex tracks stimulus.</a:t>
            </a:r>
            <a:endParaRPr lang="en-US" sz="1350" dirty="0"/>
          </a:p>
        </p:txBody>
      </p:sp>
      <p:sp>
        <p:nvSpPr>
          <p:cNvPr id="7" name="Shape 5"/>
          <p:cNvSpPr/>
          <p:nvPr/>
        </p:nvSpPr>
        <p:spPr>
          <a:xfrm>
            <a:off x="6172200" y="1783080"/>
            <a:ext cx="5349240" cy="2286000"/>
          </a:xfrm>
          <a:prstGeom prst="roundRect">
            <a:avLst>
              <a:gd name="adj" fmla="val 3600"/>
            </a:avLst>
          </a:prstGeom>
          <a:solidFill>
            <a:srgbClr val="F0FDF4"/>
          </a:solidFill>
          <a:ln w="12700">
            <a:solidFill>
              <a:srgbClr val="E2E8F0"/>
            </a:solidFill>
            <a:prstDash val="solid"/>
          </a:ln>
          <a:effectLst>
            <a:outerShdw sx="100000" sy="100000" kx="0" ky="0" algn="bl" rotWithShape="0" blurRad="114300" dist="38100" dir="5400000">
              <a:srgbClr val="0F172A">
                <a:alpha val="14000"/>
              </a:srgbClr>
            </a:outerShdw>
          </a:effectLst>
        </p:spPr>
      </p:sp>
      <p:sp>
        <p:nvSpPr>
          <p:cNvPr id="8" name="Text 6"/>
          <p:cNvSpPr/>
          <p:nvPr/>
        </p:nvSpPr>
        <p:spPr>
          <a:xfrm>
            <a:off x="6446520" y="2011680"/>
            <a:ext cx="4572000" cy="320040"/>
          </a:xfrm>
          <a:prstGeom prst="rect">
            <a:avLst/>
          </a:prstGeom>
          <a:noFill/>
          <a:ln/>
        </p:spPr>
        <p:txBody>
          <a:bodyPr wrap="square" lIns="0" tIns="0" rIns="0" bIns="0" rtlCol="0" anchor="ctr"/>
          <a:lstStyle/>
          <a:p>
            <a:pPr indent="0" marL="0">
              <a:buNone/>
            </a:pPr>
            <a:r>
              <a:rPr lang="en-US" sz="1500" b="1" dirty="0">
                <a:solidFill>
                  <a:srgbClr val="16A34A"/>
                </a:solidFill>
                <a:latin typeface="Calibri" pitchFamily="34" charset="0"/>
                <a:ea typeface="Calibri" pitchFamily="34" charset="-122"/>
                <a:cs typeface="Calibri" pitchFamily="34" charset="-120"/>
              </a:rPr>
              <a:t>The fix</a:t>
            </a:r>
            <a:endParaRPr lang="en-US" sz="1500" dirty="0"/>
          </a:p>
        </p:txBody>
      </p:sp>
      <p:sp>
        <p:nvSpPr>
          <p:cNvPr id="9" name="Text 7"/>
          <p:cNvSpPr/>
          <p:nvPr/>
        </p:nvSpPr>
        <p:spPr>
          <a:xfrm>
            <a:off x="6446520" y="2423160"/>
            <a:ext cx="4846320" cy="1463040"/>
          </a:xfrm>
          <a:prstGeom prst="rect">
            <a:avLst/>
          </a:prstGeom>
          <a:noFill/>
          <a:ln/>
        </p:spPr>
        <p:txBody>
          <a:bodyPr wrap="square" lIns="0" tIns="0" rIns="0" bIns="0" rtlCol="0" anchor="ctr"/>
          <a:lstStyle/>
          <a:p>
            <a:pPr indent="0" marL="0">
              <a:lnSpc>
                <a:spcPct val="105000"/>
              </a:lnSpc>
              <a:buNone/>
            </a:pPr>
            <a:r>
              <a:rPr lang="en-US" sz="1350" dirty="0">
                <a:solidFill>
                  <a:srgbClr val="1E293B"/>
                </a:solidFill>
                <a:latin typeface="Calibri" pitchFamily="34" charset="0"/>
                <a:ea typeface="Calibri" pitchFamily="34" charset="-122"/>
                <a:cs typeface="Calibri" pitchFamily="34" charset="-120"/>
              </a:rPr>
              <a:t>Remove them INSIDE each block, then decode. Nothing can leak across blocks. This is the conservative estimate and the one we'll quote.</a:t>
            </a:r>
            <a:endParaRPr lang="en-US" sz="1350" dirty="0"/>
          </a:p>
        </p:txBody>
      </p:sp>
      <p:sp>
        <p:nvSpPr>
          <p:cNvPr id="10" name="Shape 8"/>
          <p:cNvSpPr/>
          <p:nvPr/>
        </p:nvSpPr>
        <p:spPr>
          <a:xfrm>
            <a:off x="640080" y="4343400"/>
            <a:ext cx="2624328" cy="1737360"/>
          </a:xfrm>
          <a:prstGeom prst="roundRect">
            <a:avLst>
              <a:gd name="adj" fmla="val 4737"/>
            </a:avLst>
          </a:prstGeom>
          <a:solidFill>
            <a:srgbClr val="FFFFFF"/>
          </a:solidFill>
          <a:ln w="12700">
            <a:solidFill>
              <a:srgbClr val="E2E8F0"/>
            </a:solidFill>
            <a:prstDash val="solid"/>
          </a:ln>
          <a:effectLst>
            <a:outerShdw sx="100000" sy="100000" kx="0" ky="0" algn="bl" rotWithShape="0" blurRad="114300" dist="38100" dir="5400000">
              <a:srgbClr val="0F172A">
                <a:alpha val="14000"/>
              </a:srgbClr>
            </a:outerShdw>
          </a:effectLst>
        </p:spPr>
      </p:sp>
      <p:sp>
        <p:nvSpPr>
          <p:cNvPr id="11" name="Text 9"/>
          <p:cNvSpPr/>
          <p:nvPr/>
        </p:nvSpPr>
        <p:spPr>
          <a:xfrm>
            <a:off x="640080" y="4526280"/>
            <a:ext cx="2624328" cy="822960"/>
          </a:xfrm>
          <a:prstGeom prst="rect">
            <a:avLst/>
          </a:prstGeom>
          <a:noFill/>
          <a:ln/>
        </p:spPr>
        <p:txBody>
          <a:bodyPr wrap="square" lIns="0" tIns="0" rIns="0" bIns="0" rtlCol="0" anchor="ctr"/>
          <a:lstStyle/>
          <a:p>
            <a:pPr algn="ctr" indent="0" marL="0">
              <a:buNone/>
            </a:pPr>
            <a:r>
              <a:rPr lang="en-US" sz="3400" b="1" dirty="0">
                <a:solidFill>
                  <a:srgbClr val="64748B"/>
                </a:solidFill>
                <a:latin typeface="Cambria" pitchFamily="34" charset="0"/>
                <a:ea typeface="Cambria" pitchFamily="34" charset="-122"/>
                <a:cs typeface="Cambria" pitchFamily="34" charset="-120"/>
              </a:rPr>
              <a:t>0.35</a:t>
            </a:r>
            <a:endParaRPr lang="en-US" sz="3400" dirty="0"/>
          </a:p>
        </p:txBody>
      </p:sp>
      <p:sp>
        <p:nvSpPr>
          <p:cNvPr id="12" name="Text 10"/>
          <p:cNvSpPr/>
          <p:nvPr/>
        </p:nvSpPr>
        <p:spPr>
          <a:xfrm>
            <a:off x="777240" y="5349240"/>
            <a:ext cx="2350008" cy="548640"/>
          </a:xfrm>
          <a:prstGeom prst="rect">
            <a:avLst/>
          </a:prstGeom>
          <a:noFill/>
          <a:ln/>
        </p:spPr>
        <p:txBody>
          <a:bodyPr wrap="square" lIns="0" tIns="0" rIns="0" bIns="0"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best block, old method</a:t>
            </a:r>
            <a:endParaRPr lang="en-US" sz="1200" dirty="0"/>
          </a:p>
        </p:txBody>
      </p:sp>
      <p:sp>
        <p:nvSpPr>
          <p:cNvPr id="13" name="Shape 11"/>
          <p:cNvSpPr/>
          <p:nvPr/>
        </p:nvSpPr>
        <p:spPr>
          <a:xfrm>
            <a:off x="3429000" y="4343400"/>
            <a:ext cx="2624328" cy="1737360"/>
          </a:xfrm>
          <a:prstGeom prst="roundRect">
            <a:avLst>
              <a:gd name="adj" fmla="val 4737"/>
            </a:avLst>
          </a:prstGeom>
          <a:solidFill>
            <a:srgbClr val="FFFFFF"/>
          </a:solidFill>
          <a:ln w="12700">
            <a:solidFill>
              <a:srgbClr val="E2E8F0"/>
            </a:solidFill>
            <a:prstDash val="solid"/>
          </a:ln>
          <a:effectLst>
            <a:outerShdw sx="100000" sy="100000" kx="0" ky="0" algn="bl" rotWithShape="0" blurRad="114300" dist="38100" dir="5400000">
              <a:srgbClr val="0F172A">
                <a:alpha val="14000"/>
              </a:srgbClr>
            </a:outerShdw>
          </a:effectLst>
        </p:spPr>
      </p:sp>
      <p:sp>
        <p:nvSpPr>
          <p:cNvPr id="14" name="Text 12"/>
          <p:cNvSpPr/>
          <p:nvPr/>
        </p:nvSpPr>
        <p:spPr>
          <a:xfrm>
            <a:off x="3429000" y="4526280"/>
            <a:ext cx="2624328" cy="822960"/>
          </a:xfrm>
          <a:prstGeom prst="rect">
            <a:avLst/>
          </a:prstGeom>
          <a:noFill/>
          <a:ln/>
        </p:spPr>
        <p:txBody>
          <a:bodyPr wrap="square" lIns="0" tIns="0" rIns="0" bIns="0" rtlCol="0" anchor="ctr"/>
          <a:lstStyle/>
          <a:p>
            <a:pPr algn="ctr" indent="0" marL="0">
              <a:buNone/>
            </a:pPr>
            <a:r>
              <a:rPr lang="en-US" sz="3400" b="1" dirty="0">
                <a:solidFill>
                  <a:srgbClr val="64748B"/>
                </a:solidFill>
                <a:latin typeface="Cambria" pitchFamily="34" charset="0"/>
                <a:ea typeface="Cambria" pitchFamily="34" charset="-122"/>
                <a:cs typeface="Cambria" pitchFamily="34" charset="-120"/>
              </a:rPr>
              <a:t>0.09</a:t>
            </a:r>
            <a:endParaRPr lang="en-US" sz="3400" dirty="0"/>
          </a:p>
        </p:txBody>
      </p:sp>
      <p:sp>
        <p:nvSpPr>
          <p:cNvPr id="15" name="Text 13"/>
          <p:cNvSpPr/>
          <p:nvPr/>
        </p:nvSpPr>
        <p:spPr>
          <a:xfrm>
            <a:off x="3566160" y="5349240"/>
            <a:ext cx="2350008" cy="548640"/>
          </a:xfrm>
          <a:prstGeom prst="rect">
            <a:avLst/>
          </a:prstGeom>
          <a:noFill/>
          <a:ln/>
        </p:spPr>
        <p:txBody>
          <a:bodyPr wrap="square" lIns="0" tIns="0" rIns="0" bIns="0"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mean, old method</a:t>
            </a:r>
            <a:endParaRPr lang="en-US" sz="1200" dirty="0"/>
          </a:p>
        </p:txBody>
      </p:sp>
      <p:sp>
        <p:nvSpPr>
          <p:cNvPr id="16" name="Shape 14"/>
          <p:cNvSpPr/>
          <p:nvPr/>
        </p:nvSpPr>
        <p:spPr>
          <a:xfrm>
            <a:off x="6217920" y="4343400"/>
            <a:ext cx="2624328" cy="1737360"/>
          </a:xfrm>
          <a:prstGeom prst="roundRect">
            <a:avLst>
              <a:gd name="adj" fmla="val 4737"/>
            </a:avLst>
          </a:prstGeom>
          <a:solidFill>
            <a:srgbClr val="FFFFFF"/>
          </a:solidFill>
          <a:ln w="12700">
            <a:solidFill>
              <a:srgbClr val="E2E8F0"/>
            </a:solidFill>
            <a:prstDash val="solid"/>
          </a:ln>
          <a:effectLst>
            <a:outerShdw sx="100000" sy="100000" kx="0" ky="0" algn="bl" rotWithShape="0" blurRad="114300" dist="38100" dir="5400000">
              <a:srgbClr val="0F172A">
                <a:alpha val="14000"/>
              </a:srgbClr>
            </a:outerShdw>
          </a:effectLst>
        </p:spPr>
      </p:sp>
      <p:sp>
        <p:nvSpPr>
          <p:cNvPr id="17" name="Text 15"/>
          <p:cNvSpPr/>
          <p:nvPr/>
        </p:nvSpPr>
        <p:spPr>
          <a:xfrm>
            <a:off x="6217920" y="4526280"/>
            <a:ext cx="2624328" cy="822960"/>
          </a:xfrm>
          <a:prstGeom prst="rect">
            <a:avLst/>
          </a:prstGeom>
          <a:noFill/>
          <a:ln/>
        </p:spPr>
        <p:txBody>
          <a:bodyPr wrap="square" lIns="0" tIns="0" rIns="0" bIns="0" rtlCol="0" anchor="ctr"/>
          <a:lstStyle/>
          <a:p>
            <a:pPr algn="ctr" indent="0" marL="0">
              <a:buNone/>
            </a:pPr>
            <a:r>
              <a:rPr lang="en-US" sz="3400" b="1" dirty="0">
                <a:solidFill>
                  <a:srgbClr val="16A34A"/>
                </a:solidFill>
                <a:latin typeface="Cambria" pitchFamily="34" charset="0"/>
                <a:ea typeface="Cambria" pitchFamily="34" charset="-122"/>
                <a:cs typeface="Cambria" pitchFamily="34" charset="-120"/>
              </a:rPr>
              <a:t>0.04</a:t>
            </a:r>
            <a:endParaRPr lang="en-US" sz="3400" dirty="0"/>
          </a:p>
        </p:txBody>
      </p:sp>
      <p:sp>
        <p:nvSpPr>
          <p:cNvPr id="18" name="Text 16"/>
          <p:cNvSpPr/>
          <p:nvPr/>
        </p:nvSpPr>
        <p:spPr>
          <a:xfrm>
            <a:off x="6355080" y="5349240"/>
            <a:ext cx="2350008" cy="548640"/>
          </a:xfrm>
          <a:prstGeom prst="rect">
            <a:avLst/>
          </a:prstGeom>
          <a:noFill/>
          <a:ln/>
        </p:spPr>
        <p:txBody>
          <a:bodyPr wrap="square" lIns="0" tIns="0" rIns="0" bIns="0"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mean, corrected</a:t>
            </a:r>
            <a:endParaRPr lang="en-US" sz="1200" dirty="0"/>
          </a:p>
        </p:txBody>
      </p:sp>
      <p:sp>
        <p:nvSpPr>
          <p:cNvPr id="19" name="Shape 17"/>
          <p:cNvSpPr/>
          <p:nvPr/>
        </p:nvSpPr>
        <p:spPr>
          <a:xfrm>
            <a:off x="9006840" y="4343400"/>
            <a:ext cx="2624328" cy="1737360"/>
          </a:xfrm>
          <a:prstGeom prst="roundRect">
            <a:avLst>
              <a:gd name="adj" fmla="val 4737"/>
            </a:avLst>
          </a:prstGeom>
          <a:solidFill>
            <a:srgbClr val="FFFFFF"/>
          </a:solidFill>
          <a:ln w="12700">
            <a:solidFill>
              <a:srgbClr val="E2E8F0"/>
            </a:solidFill>
            <a:prstDash val="solid"/>
          </a:ln>
          <a:effectLst>
            <a:outerShdw sx="100000" sy="100000" kx="0" ky="0" algn="bl" rotWithShape="0" blurRad="114300" dist="38100" dir="5400000">
              <a:srgbClr val="0F172A">
                <a:alpha val="14000"/>
              </a:srgbClr>
            </a:outerShdw>
          </a:effectLst>
        </p:spPr>
      </p:sp>
      <p:sp>
        <p:nvSpPr>
          <p:cNvPr id="20" name="Text 18"/>
          <p:cNvSpPr/>
          <p:nvPr/>
        </p:nvSpPr>
        <p:spPr>
          <a:xfrm>
            <a:off x="9006840" y="4526280"/>
            <a:ext cx="2624328" cy="822960"/>
          </a:xfrm>
          <a:prstGeom prst="rect">
            <a:avLst/>
          </a:prstGeom>
          <a:noFill/>
          <a:ln/>
        </p:spPr>
        <p:txBody>
          <a:bodyPr wrap="square" lIns="0" tIns="0" rIns="0" bIns="0" rtlCol="0" anchor="ctr"/>
          <a:lstStyle/>
          <a:p>
            <a:pPr algn="ctr" indent="0" marL="0">
              <a:buNone/>
            </a:pPr>
            <a:r>
              <a:rPr lang="en-US" sz="3400" b="1" dirty="0">
                <a:solidFill>
                  <a:srgbClr val="DC2626"/>
                </a:solidFill>
                <a:latin typeface="Cambria" pitchFamily="34" charset="0"/>
                <a:ea typeface="Cambria" pitchFamily="34" charset="-122"/>
                <a:cs typeface="Cambria" pitchFamily="34" charset="-120"/>
              </a:rPr>
              <a:t>−0.01</a:t>
            </a:r>
            <a:endParaRPr lang="en-US" sz="3400" dirty="0"/>
          </a:p>
        </p:txBody>
      </p:sp>
      <p:sp>
        <p:nvSpPr>
          <p:cNvPr id="21" name="Text 19"/>
          <p:cNvSpPr/>
          <p:nvPr/>
        </p:nvSpPr>
        <p:spPr>
          <a:xfrm>
            <a:off x="9144000" y="5349240"/>
            <a:ext cx="2350008" cy="548640"/>
          </a:xfrm>
          <a:prstGeom prst="rect">
            <a:avLst/>
          </a:prstGeom>
          <a:noFill/>
          <a:ln/>
        </p:spPr>
        <p:txBody>
          <a:bodyPr wrap="square" lIns="0" tIns="0" rIns="0" bIns="0"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shuffle null</a:t>
            </a:r>
            <a:endParaRPr lang="en-US" sz="1200" dirty="0"/>
          </a:p>
        </p:txBody>
      </p:sp>
      <p:sp>
        <p:nvSpPr>
          <p:cNvPr id="22" name="Text 20"/>
          <p:cNvSpPr/>
          <p:nvPr/>
        </p:nvSpPr>
        <p:spPr>
          <a:xfrm>
            <a:off x="658368" y="6309360"/>
            <a:ext cx="10881360" cy="365760"/>
          </a:xfrm>
          <a:prstGeom prst="rect">
            <a:avLst/>
          </a:prstGeom>
          <a:noFill/>
          <a:ln/>
        </p:spPr>
        <p:txBody>
          <a:bodyPr wrap="square" lIns="0" tIns="0" rIns="0" bIns="0" rtlCol="0" anchor="ctr"/>
          <a:lstStyle/>
          <a:p>
            <a:pPr indent="0" marL="0">
              <a:buNone/>
            </a:pPr>
            <a:r>
              <a:rPr lang="en-US" sz="1300" b="1" i="1" dirty="0">
                <a:solidFill>
                  <a:srgbClr val="1E293B"/>
                </a:solidFill>
                <a:latin typeface="Calibri" pitchFamily="34" charset="0"/>
                <a:ea typeface="Calibri" pitchFamily="34" charset="-122"/>
                <a:cs typeface="Calibri" pitchFamily="34" charset="-120"/>
              </a:rPr>
              <a:t>Still above the null in every animal — the finding holds, it's just smaller than I said.</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384048"/>
            <a:ext cx="10972800" cy="274320"/>
          </a:xfrm>
          <a:prstGeom prst="rect">
            <a:avLst/>
          </a:prstGeom>
          <a:noFill/>
          <a:ln/>
        </p:spPr>
        <p:txBody>
          <a:bodyPr wrap="square" lIns="0" tIns="0" rIns="0" bIns="0" rtlCol="0" anchor="ctr"/>
          <a:lstStyle/>
          <a:p>
            <a:pPr indent="0" marL="0">
              <a:buNone/>
            </a:pPr>
            <a:r>
              <a:rPr lang="en-US" sz="1200" b="1" spc="300" kern="0" dirty="0">
                <a:solidFill>
                  <a:srgbClr val="16A34A"/>
                </a:solidFill>
                <a:latin typeface="Calibri" pitchFamily="34" charset="0"/>
                <a:ea typeface="Calibri" pitchFamily="34" charset="-122"/>
                <a:cs typeface="Calibri" pitchFamily="34" charset="-120"/>
              </a:rPr>
              <a:t>ASK 3 · CROSSTALK</a:t>
            </a:r>
            <a:endParaRPr lang="en-US" sz="1200" dirty="0"/>
          </a:p>
        </p:txBody>
      </p:sp>
      <p:sp>
        <p:nvSpPr>
          <p:cNvPr id="3" name="Text 1"/>
          <p:cNvSpPr/>
          <p:nvPr/>
        </p:nvSpPr>
        <p:spPr>
          <a:xfrm>
            <a:off x="640080" y="457200"/>
            <a:ext cx="11064240" cy="713232"/>
          </a:xfrm>
          <a:prstGeom prst="rect">
            <a:avLst/>
          </a:prstGeom>
          <a:noFill/>
          <a:ln/>
        </p:spPr>
        <p:txBody>
          <a:bodyPr wrap="square" lIns="0" tIns="0" rIns="0" bIns="0" rtlCol="0" anchor="ctr"/>
          <a:lstStyle/>
          <a:p>
            <a:pPr indent="0" marL="0">
              <a:buNone/>
            </a:pPr>
            <a:r>
              <a:rPr lang="en-US" sz="2800" b="1" dirty="0">
                <a:solidFill>
                  <a:srgbClr val="1E293B"/>
                </a:solidFill>
                <a:latin typeface="Cambria" pitchFamily="34" charset="0"/>
                <a:ea typeface="Cambria" pitchFamily="34" charset="-122"/>
                <a:cs typeface="Cambria" pitchFamily="34" charset="-120"/>
              </a:rPr>
              <a:t>No muscle contamination</a:t>
            </a:r>
            <a:endParaRPr lang="en-US" sz="2800" dirty="0"/>
          </a:p>
        </p:txBody>
      </p:sp>
      <p:pic>
        <p:nvPicPr>
          <p:cNvPr id="4" name="Image 0" descr="outputs/verify/verification.png">    </p:cNvPr>
          <p:cNvPicPr>
            <a:picLocks noChangeAspect="1"/>
          </p:cNvPicPr>
          <p:nvPr/>
        </p:nvPicPr>
        <p:blipFill>
          <a:blip r:embed="rId1"/>
          <a:srcRect l="0" r="0" t="0" b="0"/>
          <a:stretch/>
        </p:blipFill>
        <p:spPr>
          <a:xfrm>
            <a:off x="457200" y="1828800"/>
            <a:ext cx="6949440" cy="2672862"/>
          </a:xfrm>
          <a:prstGeom prst="rect">
            <a:avLst/>
          </a:prstGeom>
        </p:spPr>
      </p:pic>
      <p:sp>
        <p:nvSpPr>
          <p:cNvPr id="5" name="Shape 2"/>
          <p:cNvSpPr/>
          <p:nvPr/>
        </p:nvSpPr>
        <p:spPr>
          <a:xfrm>
            <a:off x="7635240" y="1920240"/>
            <a:ext cx="3886200" cy="3794760"/>
          </a:xfrm>
          <a:prstGeom prst="roundRect">
            <a:avLst>
              <a:gd name="adj" fmla="val 2169"/>
            </a:avLst>
          </a:prstGeom>
          <a:solidFill>
            <a:srgbClr val="F0FDF4"/>
          </a:solidFill>
          <a:ln w="12700">
            <a:solidFill>
              <a:srgbClr val="E2E8F0"/>
            </a:solidFill>
            <a:prstDash val="solid"/>
          </a:ln>
          <a:effectLst>
            <a:outerShdw sx="100000" sy="100000" kx="0" ky="0" algn="bl" rotWithShape="0" blurRad="114300" dist="38100" dir="5400000">
              <a:srgbClr val="0F172A">
                <a:alpha val="14000"/>
              </a:srgbClr>
            </a:outerShdw>
          </a:effectLst>
        </p:spPr>
      </p:sp>
      <p:sp>
        <p:nvSpPr>
          <p:cNvPr id="6" name="Text 3"/>
          <p:cNvSpPr/>
          <p:nvPr/>
        </p:nvSpPr>
        <p:spPr>
          <a:xfrm>
            <a:off x="7863840" y="2148840"/>
            <a:ext cx="3383280" cy="320040"/>
          </a:xfrm>
          <a:prstGeom prst="rect">
            <a:avLst/>
          </a:prstGeom>
          <a:noFill/>
          <a:ln/>
        </p:spPr>
        <p:txBody>
          <a:bodyPr wrap="square" lIns="0" tIns="0" rIns="0" bIns="0" rtlCol="0" anchor="ctr"/>
          <a:lstStyle/>
          <a:p>
            <a:pPr indent="0" marL="0">
              <a:buNone/>
            </a:pPr>
            <a:r>
              <a:rPr lang="en-US" sz="1400" b="1" dirty="0">
                <a:solidFill>
                  <a:srgbClr val="0D9488"/>
                </a:solidFill>
                <a:latin typeface="Calibri" pitchFamily="34" charset="0"/>
                <a:ea typeface="Calibri" pitchFamily="34" charset="-122"/>
                <a:cs typeface="Calibri" pitchFamily="34" charset="-120"/>
              </a:rPr>
              <a:t>Your method</a:t>
            </a:r>
            <a:endParaRPr lang="en-US" sz="1400" dirty="0"/>
          </a:p>
        </p:txBody>
      </p:sp>
      <p:sp>
        <p:nvSpPr>
          <p:cNvPr id="7" name="Text 4"/>
          <p:cNvSpPr/>
          <p:nvPr/>
        </p:nvSpPr>
        <p:spPr>
          <a:xfrm>
            <a:off x="7863840" y="2542032"/>
            <a:ext cx="3429000" cy="1234440"/>
          </a:xfrm>
          <a:prstGeom prst="rect">
            <a:avLst/>
          </a:prstGeom>
          <a:noFill/>
          <a:ln/>
        </p:spPr>
        <p:txBody>
          <a:bodyPr wrap="square" lIns="0" tIns="0" rIns="0" bIns="0" rtlCol="0" anchor="ctr"/>
          <a:lstStyle/>
          <a:p>
            <a:pPr indent="0" marL="0">
              <a:lnSpc>
                <a:spcPct val="105000"/>
              </a:lnSpc>
              <a:buNone/>
            </a:pPr>
            <a:r>
              <a:rPr lang="en-US" sz="1300" dirty="0">
                <a:solidFill>
                  <a:srgbClr val="1E293B"/>
                </a:solidFill>
                <a:latin typeface="Calibri" pitchFamily="34" charset="0"/>
                <a:ea typeface="Calibri" pitchFamily="34" charset="-122"/>
                <a:cs typeface="Calibri" pitchFamily="34" charset="-120"/>
              </a:rPr>
              <a:t>Correlate cortical power against muscle power, band by band. Muscle artefact lives at high frequency, so contamination would show there.</a:t>
            </a:r>
            <a:endParaRPr lang="en-US" sz="1300" dirty="0"/>
          </a:p>
        </p:txBody>
      </p:sp>
      <p:sp>
        <p:nvSpPr>
          <p:cNvPr id="8" name="Text 5"/>
          <p:cNvSpPr/>
          <p:nvPr/>
        </p:nvSpPr>
        <p:spPr>
          <a:xfrm>
            <a:off x="7863840" y="3840480"/>
            <a:ext cx="3429000" cy="777240"/>
          </a:xfrm>
          <a:prstGeom prst="rect">
            <a:avLst/>
          </a:prstGeom>
          <a:noFill/>
          <a:ln/>
        </p:spPr>
        <p:txBody>
          <a:bodyPr wrap="square" lIns="0" tIns="0" rIns="0" bIns="0" rtlCol="0" anchor="ctr"/>
          <a:lstStyle/>
          <a:p>
            <a:pPr indent="0" marL="0">
              <a:lnSpc>
                <a:spcPct val="110000"/>
              </a:lnSpc>
              <a:buNone/>
            </a:pPr>
            <a:r>
              <a:rPr lang="en-US" sz="2000" b="1" dirty="0">
                <a:solidFill>
                  <a:srgbClr val="16A34A"/>
                </a:solidFill>
                <a:latin typeface="Cambria" pitchFamily="34" charset="0"/>
                <a:ea typeface="Cambria" pitchFamily="34" charset="-122"/>
                <a:cs typeface="Cambria" pitchFamily="34" charset="-120"/>
              </a:rPr>
              <a:t>Above 100 Hz:</a:t>
            </a:r>
            <a:endParaRPr lang="en-US" sz="2000" dirty="0"/>
          </a:p>
          <a:p>
            <a:pPr indent="0" marL="0">
              <a:lnSpc>
                <a:spcPct val="110000"/>
              </a:lnSpc>
              <a:buNone/>
            </a:pPr>
            <a:r>
              <a:rPr lang="en-US" sz="2000" b="1" dirty="0">
                <a:solidFill>
                  <a:srgbClr val="16A34A"/>
                </a:solidFill>
                <a:latin typeface="Cambria" pitchFamily="34" charset="0"/>
                <a:ea typeface="Cambria" pitchFamily="34" charset="-122"/>
                <a:cs typeface="Cambria" pitchFamily="34" charset="-120"/>
              </a:rPr>
              <a:t>r = +0.06</a:t>
            </a:r>
            <a:endParaRPr lang="en-US" sz="2000" dirty="0"/>
          </a:p>
        </p:txBody>
      </p:sp>
      <p:sp>
        <p:nvSpPr>
          <p:cNvPr id="9" name="Text 6"/>
          <p:cNvSpPr/>
          <p:nvPr/>
        </p:nvSpPr>
        <p:spPr>
          <a:xfrm>
            <a:off x="7863840" y="4709160"/>
            <a:ext cx="3429000" cy="914400"/>
          </a:xfrm>
          <a:prstGeom prst="rect">
            <a:avLst/>
          </a:prstGeom>
          <a:noFill/>
          <a:ln/>
        </p:spPr>
        <p:txBody>
          <a:bodyPr wrap="square" lIns="0" tIns="0" rIns="0" bIns="0" rtlCol="0" anchor="ctr"/>
          <a:lstStyle/>
          <a:p>
            <a:pPr indent="0" marL="0">
              <a:lnSpc>
                <a:spcPct val="105000"/>
              </a:lnSpc>
              <a:buNone/>
            </a:pPr>
            <a:r>
              <a:rPr lang="en-US" sz="1250" i="1" dirty="0">
                <a:solidFill>
                  <a:srgbClr val="64748B"/>
                </a:solidFill>
                <a:latin typeface="Calibri" pitchFamily="34" charset="0"/>
                <a:ea typeface="Calibri" pitchFamily="34" charset="-122"/>
                <a:cs typeface="Calibri" pitchFamily="34" charset="-120"/>
              </a:rPr>
              <a:t>Essentially zero. Low bands slightly negative. Cortex marginally leads muscle, which is the acceptable direction.</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384048"/>
            <a:ext cx="10972800" cy="274320"/>
          </a:xfrm>
          <a:prstGeom prst="rect">
            <a:avLst/>
          </a:prstGeom>
          <a:noFill/>
          <a:ln/>
        </p:spPr>
        <p:txBody>
          <a:bodyPr wrap="square" lIns="0" tIns="0" rIns="0" bIns="0" rtlCol="0" anchor="ctr"/>
          <a:lstStyle/>
          <a:p>
            <a:pPr indent="0" marL="0">
              <a:buNone/>
            </a:pPr>
            <a:r>
              <a:rPr lang="en-US" sz="1200" b="1" spc="300" kern="0" dirty="0">
                <a:solidFill>
                  <a:srgbClr val="6D28D9"/>
                </a:solidFill>
                <a:latin typeface="Calibri" pitchFamily="34" charset="0"/>
                <a:ea typeface="Calibri" pitchFamily="34" charset="-122"/>
                <a:cs typeface="Calibri" pitchFamily="34" charset="-120"/>
              </a:rPr>
              <a:t>ASK 4 · THE INTERNAL CONTROL</a:t>
            </a:r>
            <a:endParaRPr lang="en-US" sz="1200" dirty="0"/>
          </a:p>
        </p:txBody>
      </p:sp>
      <p:sp>
        <p:nvSpPr>
          <p:cNvPr id="3" name="Text 1"/>
          <p:cNvSpPr/>
          <p:nvPr/>
        </p:nvSpPr>
        <p:spPr>
          <a:xfrm>
            <a:off x="640080" y="457200"/>
            <a:ext cx="11064240" cy="713232"/>
          </a:xfrm>
          <a:prstGeom prst="rect">
            <a:avLst/>
          </a:prstGeom>
          <a:noFill/>
          <a:ln/>
        </p:spPr>
        <p:txBody>
          <a:bodyPr wrap="square" lIns="0" tIns="0" rIns="0" bIns="0" rtlCol="0" anchor="ctr"/>
          <a:lstStyle/>
          <a:p>
            <a:pPr indent="0" marL="0">
              <a:buNone/>
            </a:pPr>
            <a:r>
              <a:rPr lang="en-US" sz="2800" b="1" dirty="0">
                <a:solidFill>
                  <a:srgbClr val="1E293B"/>
                </a:solidFill>
                <a:latin typeface="Cambria" pitchFamily="34" charset="0"/>
                <a:ea typeface="Cambria" pitchFamily="34" charset="-122"/>
                <a:cs typeface="Cambria" pitchFamily="34" charset="-120"/>
              </a:rPr>
              <a:t>The effect tracks how much they learned</a:t>
            </a:r>
            <a:endParaRPr lang="en-US" sz="2800" dirty="0"/>
          </a:p>
        </p:txBody>
      </p:sp>
      <p:pic>
        <p:nvPicPr>
          <p:cNvPr id="4" name="Image 0" descr="outputs/scaling/scaling.png">    </p:cNvPr>
          <p:cNvPicPr>
            <a:picLocks noChangeAspect="1"/>
          </p:cNvPicPr>
          <p:nvPr/>
        </p:nvPicPr>
        <p:blipFill>
          <a:blip r:embed="rId1"/>
          <a:srcRect l="0" r="0" t="0" b="0"/>
          <a:stretch/>
        </p:blipFill>
        <p:spPr>
          <a:xfrm>
            <a:off x="457200" y="1828800"/>
            <a:ext cx="6949440" cy="2672862"/>
          </a:xfrm>
          <a:prstGeom prst="rect">
            <a:avLst/>
          </a:prstGeom>
        </p:spPr>
      </p:pic>
      <p:sp>
        <p:nvSpPr>
          <p:cNvPr id="5" name="Shape 2"/>
          <p:cNvSpPr/>
          <p:nvPr/>
        </p:nvSpPr>
        <p:spPr>
          <a:xfrm>
            <a:off x="7635240" y="1920240"/>
            <a:ext cx="3886200" cy="3794760"/>
          </a:xfrm>
          <a:prstGeom prst="roundRect">
            <a:avLst>
              <a:gd name="adj" fmla="val 2169"/>
            </a:avLst>
          </a:prstGeom>
          <a:solidFill>
            <a:srgbClr val="F5F3FF"/>
          </a:solidFill>
          <a:ln w="12700">
            <a:solidFill>
              <a:srgbClr val="E2E8F0"/>
            </a:solidFill>
            <a:prstDash val="solid"/>
          </a:ln>
          <a:effectLst>
            <a:outerShdw sx="100000" sy="100000" kx="0" ky="0" algn="bl" rotWithShape="0" blurRad="114300" dist="38100" dir="5400000">
              <a:srgbClr val="0F172A">
                <a:alpha val="14000"/>
              </a:srgbClr>
            </a:outerShdw>
          </a:effectLst>
        </p:spPr>
      </p:sp>
      <p:sp>
        <p:nvSpPr>
          <p:cNvPr id="6" name="Text 3"/>
          <p:cNvSpPr/>
          <p:nvPr/>
        </p:nvSpPr>
        <p:spPr>
          <a:xfrm>
            <a:off x="7863840" y="2148840"/>
            <a:ext cx="3383280" cy="320040"/>
          </a:xfrm>
          <a:prstGeom prst="rect">
            <a:avLst/>
          </a:prstGeom>
          <a:noFill/>
          <a:ln/>
        </p:spPr>
        <p:txBody>
          <a:bodyPr wrap="square" lIns="0" tIns="0" rIns="0" bIns="0" rtlCol="0" anchor="ctr"/>
          <a:lstStyle/>
          <a:p>
            <a:pPr indent="0" marL="0">
              <a:buNone/>
            </a:pPr>
            <a:r>
              <a:rPr lang="en-US" sz="1400" b="1" dirty="0">
                <a:solidFill>
                  <a:srgbClr val="6D28D9"/>
                </a:solidFill>
                <a:latin typeface="Calibri" pitchFamily="34" charset="0"/>
                <a:ea typeface="Calibri" pitchFamily="34" charset="-122"/>
                <a:cs typeface="Calibri" pitchFamily="34" charset="-120"/>
              </a:rPr>
              <a:t>Your idea</a:t>
            </a:r>
            <a:endParaRPr lang="en-US" sz="1400" dirty="0"/>
          </a:p>
        </p:txBody>
      </p:sp>
      <p:sp>
        <p:nvSpPr>
          <p:cNvPr id="7" name="Text 4"/>
          <p:cNvSpPr/>
          <p:nvPr/>
        </p:nvSpPr>
        <p:spPr>
          <a:xfrm>
            <a:off x="7863840" y="2542032"/>
            <a:ext cx="3429000" cy="1234440"/>
          </a:xfrm>
          <a:prstGeom prst="rect">
            <a:avLst/>
          </a:prstGeom>
          <a:noFill/>
          <a:ln/>
        </p:spPr>
        <p:txBody>
          <a:bodyPr wrap="square" lIns="0" tIns="0" rIns="0" bIns="0" rtlCol="0" anchor="ctr"/>
          <a:lstStyle/>
          <a:p>
            <a:pPr indent="0" marL="0">
              <a:lnSpc>
                <a:spcPct val="105000"/>
              </a:lnSpc>
              <a:buNone/>
            </a:pPr>
            <a:r>
              <a:rPr lang="en-US" sz="1300" dirty="0">
                <a:solidFill>
                  <a:srgbClr val="1E293B"/>
                </a:solidFill>
                <a:latin typeface="Calibri" pitchFamily="34" charset="0"/>
                <a:ea typeface="Calibri" pitchFamily="34" charset="-122"/>
                <a:cs typeface="Calibri" pitchFamily="34" charset="-120"/>
              </a:rPr>
              <a:t>Animals that failed to condition shouldn't show the cortical effect. Two of ours failed — they're the built-in negative control.</a:t>
            </a:r>
            <a:endParaRPr lang="en-US" sz="1300" dirty="0"/>
          </a:p>
        </p:txBody>
      </p:sp>
      <p:sp>
        <p:nvSpPr>
          <p:cNvPr id="8" name="Text 5"/>
          <p:cNvSpPr/>
          <p:nvPr/>
        </p:nvSpPr>
        <p:spPr>
          <a:xfrm>
            <a:off x="7863840" y="3840480"/>
            <a:ext cx="3429000" cy="548640"/>
          </a:xfrm>
          <a:prstGeom prst="rect">
            <a:avLst/>
          </a:prstGeom>
          <a:noFill/>
          <a:ln/>
        </p:spPr>
        <p:txBody>
          <a:bodyPr wrap="square" lIns="0" tIns="0" rIns="0" bIns="0" rtlCol="0" anchor="ctr"/>
          <a:lstStyle/>
          <a:p>
            <a:pPr indent="0" marL="0">
              <a:buNone/>
            </a:pPr>
            <a:r>
              <a:rPr lang="en-US" sz="2600" b="1" dirty="0">
                <a:solidFill>
                  <a:srgbClr val="6D28D9"/>
                </a:solidFill>
                <a:latin typeface="Cambria" pitchFamily="34" charset="0"/>
                <a:ea typeface="Cambria" pitchFamily="34" charset="-122"/>
                <a:cs typeface="Cambria" pitchFamily="34" charset="-120"/>
              </a:rPr>
              <a:t>r = +0.64</a:t>
            </a:r>
            <a:endParaRPr lang="en-US" sz="2600" dirty="0"/>
          </a:p>
        </p:txBody>
      </p:sp>
      <p:sp>
        <p:nvSpPr>
          <p:cNvPr id="9" name="Text 6"/>
          <p:cNvSpPr/>
          <p:nvPr/>
        </p:nvSpPr>
        <p:spPr>
          <a:xfrm>
            <a:off x="7863840" y="4434840"/>
            <a:ext cx="3429000" cy="914400"/>
          </a:xfrm>
          <a:prstGeom prst="rect">
            <a:avLst/>
          </a:prstGeom>
          <a:noFill/>
          <a:ln/>
        </p:spPr>
        <p:txBody>
          <a:bodyPr wrap="square" lIns="0" tIns="0" rIns="0" bIns="0" rtlCol="0" anchor="ctr"/>
          <a:lstStyle/>
          <a:p>
            <a:pPr indent="0" marL="0">
              <a:lnSpc>
                <a:spcPct val="105000"/>
              </a:lnSpc>
              <a:buNone/>
            </a:pPr>
            <a:r>
              <a:rPr lang="en-US" sz="1250" dirty="0">
                <a:solidFill>
                  <a:srgbClr val="1E293B"/>
                </a:solidFill>
                <a:latin typeface="Calibri" pitchFamily="34" charset="0"/>
                <a:ea typeface="Calibri" pitchFamily="34" charset="-122"/>
                <a:cs typeface="Calibri" pitchFamily="34" charset="-120"/>
              </a:rPr>
              <a:t>between learning and the change in coupling. The two successes gained coupling; the two failures didn't.</a:t>
            </a:r>
            <a:endParaRPr lang="en-US" sz="1250" dirty="0"/>
          </a:p>
        </p:txBody>
      </p:sp>
      <p:sp>
        <p:nvSpPr>
          <p:cNvPr id="10" name="Text 7"/>
          <p:cNvSpPr/>
          <p:nvPr/>
        </p:nvSpPr>
        <p:spPr>
          <a:xfrm>
            <a:off x="7863840" y="5394960"/>
            <a:ext cx="3429000" cy="320040"/>
          </a:xfrm>
          <a:prstGeom prst="rect">
            <a:avLst/>
          </a:prstGeom>
          <a:noFill/>
          <a:ln/>
        </p:spPr>
        <p:txBody>
          <a:bodyPr wrap="square" lIns="0" tIns="0" rIns="0" bIns="0" rtlCol="0" anchor="ctr"/>
          <a:lstStyle/>
          <a:p>
            <a:pPr indent="0" marL="0">
              <a:buNone/>
            </a:pPr>
            <a:r>
              <a:rPr lang="en-US" sz="1200" b="1" i="1" dirty="0">
                <a:solidFill>
                  <a:srgbClr val="D97706"/>
                </a:solidFill>
                <a:latin typeface="Calibri" pitchFamily="34" charset="0"/>
                <a:ea typeface="Calibri" pitchFamily="34" charset="-122"/>
                <a:cs typeface="Calibri" pitchFamily="34" charset="-120"/>
              </a:rPr>
              <a:t>n = 5, so not significant yet.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384048"/>
            <a:ext cx="10972800" cy="274320"/>
          </a:xfrm>
          <a:prstGeom prst="rect">
            <a:avLst/>
          </a:prstGeom>
          <a:noFill/>
          <a:ln/>
        </p:spPr>
        <p:txBody>
          <a:bodyPr wrap="square" lIns="0" tIns="0" rIns="0" bIns="0" rtlCol="0" anchor="ctr"/>
          <a:lstStyle/>
          <a:p>
            <a:pPr indent="0" marL="0">
              <a:buNone/>
            </a:pPr>
            <a:r>
              <a:rPr lang="en-US" sz="1200" b="1" spc="300" kern="0" dirty="0">
                <a:solidFill>
                  <a:srgbClr val="D97706"/>
                </a:solidFill>
                <a:latin typeface="Calibri" pitchFamily="34" charset="0"/>
                <a:ea typeface="Calibri" pitchFamily="34" charset="-122"/>
                <a:cs typeface="Calibri" pitchFamily="34" charset="-120"/>
              </a:rPr>
              <a:t>NEW FINDING · A CONSTRAINT</a:t>
            </a:r>
            <a:endParaRPr lang="en-US" sz="1200" dirty="0"/>
          </a:p>
        </p:txBody>
      </p:sp>
      <p:sp>
        <p:nvSpPr>
          <p:cNvPr id="3" name="Text 1"/>
          <p:cNvSpPr/>
          <p:nvPr/>
        </p:nvSpPr>
        <p:spPr>
          <a:xfrm>
            <a:off x="640080" y="457200"/>
            <a:ext cx="11064240" cy="713232"/>
          </a:xfrm>
          <a:prstGeom prst="rect">
            <a:avLst/>
          </a:prstGeom>
          <a:noFill/>
          <a:ln/>
        </p:spPr>
        <p:txBody>
          <a:bodyPr wrap="square" lIns="0" tIns="0" rIns="0" bIns="0" rtlCol="0" anchor="ctr"/>
          <a:lstStyle/>
          <a:p>
            <a:pPr indent="0" marL="0">
              <a:buNone/>
            </a:pPr>
            <a:r>
              <a:rPr lang="en-US" sz="2800" b="1" dirty="0">
                <a:solidFill>
                  <a:srgbClr val="1E293B"/>
                </a:solidFill>
                <a:latin typeface="Cambria" pitchFamily="34" charset="0"/>
                <a:ea typeface="Cambria" pitchFamily="34" charset="-122"/>
                <a:cs typeface="Cambria" pitchFamily="34" charset="-120"/>
              </a:rPr>
              <a:t>We've run out of up-conditioned animals</a:t>
            </a:r>
            <a:endParaRPr lang="en-US" sz="2800" dirty="0"/>
          </a:p>
        </p:txBody>
      </p:sp>
      <p:sp>
        <p:nvSpPr>
          <p:cNvPr id="4" name="Text 2"/>
          <p:cNvSpPr/>
          <p:nvPr/>
        </p:nvSpPr>
        <p:spPr>
          <a:xfrm>
            <a:off x="640080" y="1645920"/>
            <a:ext cx="10881360" cy="548640"/>
          </a:xfrm>
          <a:prstGeom prst="rect">
            <a:avLst/>
          </a:prstGeom>
          <a:noFill/>
          <a:ln/>
        </p:spPr>
        <p:txBody>
          <a:bodyPr wrap="square" lIns="0" tIns="0" rIns="0" bIns="0" rtlCol="0" anchor="ctr"/>
          <a:lstStyle/>
          <a:p>
            <a:pPr indent="0" marL="0">
              <a:buNone/>
            </a:pPr>
            <a:r>
              <a:rPr lang="en-US" sz="1450" dirty="0">
                <a:solidFill>
                  <a:srgbClr val="1E293B"/>
                </a:solidFill>
                <a:latin typeface="Calibri" pitchFamily="34" charset="0"/>
                <a:ea typeface="Calibri" pitchFamily="34" charset="-122"/>
                <a:cs typeface="Calibri" pitchFamily="34" charset="-120"/>
              </a:rPr>
              <a:t>Using the reward criterion as a success readout across every animal's log — the same trick that found animals 3 and 4:</a:t>
            </a:r>
            <a:endParaRPr lang="en-US" sz="1450" dirty="0"/>
          </a:p>
        </p:txBody>
      </p:sp>
      <p:sp>
        <p:nvSpPr>
          <p:cNvPr id="5" name="Shape 3"/>
          <p:cNvSpPr/>
          <p:nvPr/>
        </p:nvSpPr>
        <p:spPr>
          <a:xfrm>
            <a:off x="640080" y="2377440"/>
            <a:ext cx="10881360" cy="731520"/>
          </a:xfrm>
          <a:prstGeom prst="roundRect">
            <a:avLst>
              <a:gd name="adj" fmla="val 11250"/>
            </a:avLst>
          </a:prstGeom>
          <a:solidFill>
            <a:srgbClr val="FFFFFF"/>
          </a:solidFill>
          <a:ln w="12700">
            <a:solidFill>
              <a:srgbClr val="E2E8F0"/>
            </a:solidFill>
            <a:prstDash val="solid"/>
          </a:ln>
          <a:effectLst>
            <a:outerShdw sx="100000" sy="100000" kx="0" ky="0" algn="bl" rotWithShape="0" blurRad="114300" dist="38100" dir="5400000">
              <a:srgbClr val="0F172A">
                <a:alpha val="14000"/>
              </a:srgbClr>
            </a:outerShdw>
          </a:effectLst>
        </p:spPr>
      </p:sp>
      <p:sp>
        <p:nvSpPr>
          <p:cNvPr id="6" name="Text 4"/>
          <p:cNvSpPr/>
          <p:nvPr/>
        </p:nvSpPr>
        <p:spPr>
          <a:xfrm>
            <a:off x="960120" y="2468880"/>
            <a:ext cx="914400" cy="548640"/>
          </a:xfrm>
          <a:prstGeom prst="rect">
            <a:avLst/>
          </a:prstGeom>
          <a:noFill/>
          <a:ln/>
        </p:spPr>
        <p:txBody>
          <a:bodyPr wrap="square" lIns="0" tIns="0" rIns="0" bIns="0" rtlCol="0" anchor="ctr"/>
          <a:lstStyle/>
          <a:p>
            <a:pPr indent="0" marL="0">
              <a:buNone/>
            </a:pPr>
            <a:r>
              <a:rPr lang="en-US" sz="1700" b="1" dirty="0">
                <a:solidFill>
                  <a:srgbClr val="1E293B"/>
                </a:solidFill>
                <a:latin typeface="Cambria" pitchFamily="34" charset="0"/>
                <a:ea typeface="Cambria" pitchFamily="34" charset="-122"/>
                <a:cs typeface="Cambria" pitchFamily="34" charset="-120"/>
              </a:rPr>
              <a:t>A3</a:t>
            </a:r>
            <a:endParaRPr lang="en-US" sz="1700" dirty="0"/>
          </a:p>
        </p:txBody>
      </p:sp>
      <p:sp>
        <p:nvSpPr>
          <p:cNvPr id="7" name="Text 5"/>
          <p:cNvSpPr/>
          <p:nvPr/>
        </p:nvSpPr>
        <p:spPr>
          <a:xfrm>
            <a:off x="1920240" y="2468880"/>
            <a:ext cx="914400" cy="54864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up</a:t>
            </a:r>
            <a:endParaRPr lang="en-US" sz="1300" dirty="0"/>
          </a:p>
        </p:txBody>
      </p:sp>
      <p:sp>
        <p:nvSpPr>
          <p:cNvPr id="8" name="Text 6"/>
          <p:cNvSpPr/>
          <p:nvPr/>
        </p:nvSpPr>
        <p:spPr>
          <a:xfrm>
            <a:off x="3017520" y="2468880"/>
            <a:ext cx="2743200" cy="548640"/>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RW  90 → 190</a:t>
            </a:r>
            <a:endParaRPr lang="en-US" sz="1350" dirty="0"/>
          </a:p>
        </p:txBody>
      </p:sp>
      <p:sp>
        <p:nvSpPr>
          <p:cNvPr id="9" name="Text 7"/>
          <p:cNvSpPr/>
          <p:nvPr/>
        </p:nvSpPr>
        <p:spPr>
          <a:xfrm>
            <a:off x="5943600" y="2468880"/>
            <a:ext cx="5303520" cy="548640"/>
          </a:xfrm>
          <a:prstGeom prst="rect">
            <a:avLst/>
          </a:prstGeom>
          <a:noFill/>
          <a:ln/>
        </p:spPr>
        <p:txBody>
          <a:bodyPr wrap="square" lIns="0" tIns="0" rIns="0" bIns="0" rtlCol="0" anchor="ctr"/>
          <a:lstStyle/>
          <a:p>
            <a:pPr indent="0" marL="0">
              <a:buNone/>
            </a:pPr>
            <a:r>
              <a:rPr lang="en-US" sz="1300" b="1" dirty="0">
                <a:solidFill>
                  <a:srgbClr val="16A34A"/>
                </a:solidFill>
                <a:latin typeface="Calibri" pitchFamily="34" charset="0"/>
                <a:ea typeface="Calibri" pitchFamily="34" charset="-122"/>
                <a:cs typeface="Calibri" pitchFamily="34" charset="-120"/>
              </a:rPr>
              <a:t>bar raised — learned</a:t>
            </a:r>
            <a:endParaRPr lang="en-US" sz="1300" dirty="0"/>
          </a:p>
        </p:txBody>
      </p:sp>
      <p:sp>
        <p:nvSpPr>
          <p:cNvPr id="10" name="Shape 8"/>
          <p:cNvSpPr/>
          <p:nvPr/>
        </p:nvSpPr>
        <p:spPr>
          <a:xfrm>
            <a:off x="640080" y="3200400"/>
            <a:ext cx="10881360" cy="731520"/>
          </a:xfrm>
          <a:prstGeom prst="roundRect">
            <a:avLst>
              <a:gd name="adj" fmla="val 11250"/>
            </a:avLst>
          </a:prstGeom>
          <a:solidFill>
            <a:srgbClr val="FFFFFF"/>
          </a:solidFill>
          <a:ln w="12700">
            <a:solidFill>
              <a:srgbClr val="E2E8F0"/>
            </a:solidFill>
            <a:prstDash val="solid"/>
          </a:ln>
          <a:effectLst>
            <a:outerShdw sx="100000" sy="100000" kx="0" ky="0" algn="bl" rotWithShape="0" blurRad="114300" dist="38100" dir="5400000">
              <a:srgbClr val="0F172A">
                <a:alpha val="14000"/>
              </a:srgbClr>
            </a:outerShdw>
          </a:effectLst>
        </p:spPr>
      </p:sp>
      <p:sp>
        <p:nvSpPr>
          <p:cNvPr id="11" name="Text 9"/>
          <p:cNvSpPr/>
          <p:nvPr/>
        </p:nvSpPr>
        <p:spPr>
          <a:xfrm>
            <a:off x="960120" y="3291840"/>
            <a:ext cx="914400" cy="548640"/>
          </a:xfrm>
          <a:prstGeom prst="rect">
            <a:avLst/>
          </a:prstGeom>
          <a:noFill/>
          <a:ln/>
        </p:spPr>
        <p:txBody>
          <a:bodyPr wrap="square" lIns="0" tIns="0" rIns="0" bIns="0" rtlCol="0" anchor="ctr"/>
          <a:lstStyle/>
          <a:p>
            <a:pPr indent="0" marL="0">
              <a:buNone/>
            </a:pPr>
            <a:r>
              <a:rPr lang="en-US" sz="1700" b="1" dirty="0">
                <a:solidFill>
                  <a:srgbClr val="1E293B"/>
                </a:solidFill>
                <a:latin typeface="Cambria" pitchFamily="34" charset="0"/>
                <a:ea typeface="Cambria" pitchFamily="34" charset="-122"/>
                <a:cs typeface="Cambria" pitchFamily="34" charset="-120"/>
              </a:rPr>
              <a:t>A4</a:t>
            </a:r>
            <a:endParaRPr lang="en-US" sz="1700" dirty="0"/>
          </a:p>
        </p:txBody>
      </p:sp>
      <p:sp>
        <p:nvSpPr>
          <p:cNvPr id="12" name="Text 10"/>
          <p:cNvSpPr/>
          <p:nvPr/>
        </p:nvSpPr>
        <p:spPr>
          <a:xfrm>
            <a:off x="1920240" y="3291840"/>
            <a:ext cx="914400" cy="54864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up</a:t>
            </a:r>
            <a:endParaRPr lang="en-US" sz="1300" dirty="0"/>
          </a:p>
        </p:txBody>
      </p:sp>
      <p:sp>
        <p:nvSpPr>
          <p:cNvPr id="13" name="Text 11"/>
          <p:cNvSpPr/>
          <p:nvPr/>
        </p:nvSpPr>
        <p:spPr>
          <a:xfrm>
            <a:off x="3017520" y="3291840"/>
            <a:ext cx="2743200" cy="548640"/>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RW 150 → 220</a:t>
            </a:r>
            <a:endParaRPr lang="en-US" sz="1350" dirty="0"/>
          </a:p>
        </p:txBody>
      </p:sp>
      <p:sp>
        <p:nvSpPr>
          <p:cNvPr id="14" name="Text 12"/>
          <p:cNvSpPr/>
          <p:nvPr/>
        </p:nvSpPr>
        <p:spPr>
          <a:xfrm>
            <a:off x="5943600" y="3291840"/>
            <a:ext cx="5303520" cy="548640"/>
          </a:xfrm>
          <a:prstGeom prst="rect">
            <a:avLst/>
          </a:prstGeom>
          <a:noFill/>
          <a:ln/>
        </p:spPr>
        <p:txBody>
          <a:bodyPr wrap="square" lIns="0" tIns="0" rIns="0" bIns="0" rtlCol="0" anchor="ctr"/>
          <a:lstStyle/>
          <a:p>
            <a:pPr indent="0" marL="0">
              <a:buNone/>
            </a:pPr>
            <a:r>
              <a:rPr lang="en-US" sz="1300" b="1" dirty="0">
                <a:solidFill>
                  <a:srgbClr val="16A34A"/>
                </a:solidFill>
                <a:latin typeface="Calibri" pitchFamily="34" charset="0"/>
                <a:ea typeface="Calibri" pitchFamily="34" charset="-122"/>
                <a:cs typeface="Calibri" pitchFamily="34" charset="-120"/>
              </a:rPr>
              <a:t>bar raised — learned</a:t>
            </a:r>
            <a:endParaRPr lang="en-US" sz="1300" dirty="0"/>
          </a:p>
        </p:txBody>
      </p:sp>
      <p:sp>
        <p:nvSpPr>
          <p:cNvPr id="15" name="Shape 13"/>
          <p:cNvSpPr/>
          <p:nvPr/>
        </p:nvSpPr>
        <p:spPr>
          <a:xfrm>
            <a:off x="640080" y="4023360"/>
            <a:ext cx="10881360" cy="731520"/>
          </a:xfrm>
          <a:prstGeom prst="roundRect">
            <a:avLst>
              <a:gd name="adj" fmla="val 11250"/>
            </a:avLst>
          </a:prstGeom>
          <a:solidFill>
            <a:srgbClr val="FFFFFF"/>
          </a:solidFill>
          <a:ln w="12700">
            <a:solidFill>
              <a:srgbClr val="E2E8F0"/>
            </a:solidFill>
            <a:prstDash val="solid"/>
          </a:ln>
          <a:effectLst>
            <a:outerShdw sx="100000" sy="100000" kx="0" ky="0" algn="bl" rotWithShape="0" blurRad="114300" dist="38100" dir="5400000">
              <a:srgbClr val="0F172A">
                <a:alpha val="14000"/>
              </a:srgbClr>
            </a:outerShdw>
          </a:effectLst>
        </p:spPr>
      </p:sp>
      <p:sp>
        <p:nvSpPr>
          <p:cNvPr id="16" name="Text 14"/>
          <p:cNvSpPr/>
          <p:nvPr/>
        </p:nvSpPr>
        <p:spPr>
          <a:xfrm>
            <a:off x="960120" y="4114800"/>
            <a:ext cx="914400" cy="548640"/>
          </a:xfrm>
          <a:prstGeom prst="rect">
            <a:avLst/>
          </a:prstGeom>
          <a:noFill/>
          <a:ln/>
        </p:spPr>
        <p:txBody>
          <a:bodyPr wrap="square" lIns="0" tIns="0" rIns="0" bIns="0" rtlCol="0" anchor="ctr"/>
          <a:lstStyle/>
          <a:p>
            <a:pPr indent="0" marL="0">
              <a:buNone/>
            </a:pPr>
            <a:r>
              <a:rPr lang="en-US" sz="1700" b="1" dirty="0">
                <a:solidFill>
                  <a:srgbClr val="1E293B"/>
                </a:solidFill>
                <a:latin typeface="Cambria" pitchFamily="34" charset="0"/>
                <a:ea typeface="Cambria" pitchFamily="34" charset="-122"/>
                <a:cs typeface="Cambria" pitchFamily="34" charset="-120"/>
              </a:rPr>
              <a:t>A1</a:t>
            </a:r>
            <a:endParaRPr lang="en-US" sz="1700" dirty="0"/>
          </a:p>
        </p:txBody>
      </p:sp>
      <p:sp>
        <p:nvSpPr>
          <p:cNvPr id="17" name="Text 15"/>
          <p:cNvSpPr/>
          <p:nvPr/>
        </p:nvSpPr>
        <p:spPr>
          <a:xfrm>
            <a:off x="1920240" y="4114800"/>
            <a:ext cx="914400" cy="54864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up</a:t>
            </a:r>
            <a:endParaRPr lang="en-US" sz="1300" dirty="0"/>
          </a:p>
        </p:txBody>
      </p:sp>
      <p:sp>
        <p:nvSpPr>
          <p:cNvPr id="18" name="Text 16"/>
          <p:cNvSpPr/>
          <p:nvPr/>
        </p:nvSpPr>
        <p:spPr>
          <a:xfrm>
            <a:off x="3017520" y="4114800"/>
            <a:ext cx="2743200" cy="548640"/>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RW 110 → 59</a:t>
            </a:r>
            <a:endParaRPr lang="en-US" sz="1350" dirty="0"/>
          </a:p>
        </p:txBody>
      </p:sp>
      <p:sp>
        <p:nvSpPr>
          <p:cNvPr id="19" name="Text 17"/>
          <p:cNvSpPr/>
          <p:nvPr/>
        </p:nvSpPr>
        <p:spPr>
          <a:xfrm>
            <a:off x="5943600" y="4114800"/>
            <a:ext cx="5303520" cy="548640"/>
          </a:xfrm>
          <a:prstGeom prst="rect">
            <a:avLst/>
          </a:prstGeom>
          <a:noFill/>
          <a:ln/>
        </p:spPr>
        <p:txBody>
          <a:bodyPr wrap="square" lIns="0" tIns="0" rIns="0" bIns="0" rtlCol="0" anchor="ctr"/>
          <a:lstStyle/>
          <a:p>
            <a:pPr indent="0" marL="0">
              <a:buNone/>
            </a:pPr>
            <a:r>
              <a:rPr lang="en-US" sz="1300" b="1" dirty="0">
                <a:solidFill>
                  <a:srgbClr val="DC2626"/>
                </a:solidFill>
                <a:latin typeface="Calibri" pitchFamily="34" charset="0"/>
                <a:ea typeface="Calibri" pitchFamily="34" charset="-122"/>
                <a:cs typeface="Calibri" pitchFamily="34" charset="-120"/>
              </a:rPr>
              <a:t>bar lowered — struggled</a:t>
            </a:r>
            <a:endParaRPr lang="en-US" sz="1300" dirty="0"/>
          </a:p>
        </p:txBody>
      </p:sp>
      <p:sp>
        <p:nvSpPr>
          <p:cNvPr id="20" name="Shape 18"/>
          <p:cNvSpPr/>
          <p:nvPr/>
        </p:nvSpPr>
        <p:spPr>
          <a:xfrm>
            <a:off x="640080" y="4846320"/>
            <a:ext cx="10881360" cy="731520"/>
          </a:xfrm>
          <a:prstGeom prst="roundRect">
            <a:avLst>
              <a:gd name="adj" fmla="val 11250"/>
            </a:avLst>
          </a:prstGeom>
          <a:solidFill>
            <a:srgbClr val="FFFFFF"/>
          </a:solidFill>
          <a:ln w="12700">
            <a:solidFill>
              <a:srgbClr val="E2E8F0"/>
            </a:solidFill>
            <a:prstDash val="solid"/>
          </a:ln>
          <a:effectLst>
            <a:outerShdw sx="100000" sy="100000" kx="0" ky="0" algn="bl" rotWithShape="0" blurRad="114300" dist="38100" dir="5400000">
              <a:srgbClr val="0F172A">
                <a:alpha val="14000"/>
              </a:srgbClr>
            </a:outerShdw>
          </a:effectLst>
        </p:spPr>
      </p:sp>
      <p:sp>
        <p:nvSpPr>
          <p:cNvPr id="21" name="Text 19"/>
          <p:cNvSpPr/>
          <p:nvPr/>
        </p:nvSpPr>
        <p:spPr>
          <a:xfrm>
            <a:off x="960120" y="4937760"/>
            <a:ext cx="914400" cy="548640"/>
          </a:xfrm>
          <a:prstGeom prst="rect">
            <a:avLst/>
          </a:prstGeom>
          <a:noFill/>
          <a:ln/>
        </p:spPr>
        <p:txBody>
          <a:bodyPr wrap="square" lIns="0" tIns="0" rIns="0" bIns="0" rtlCol="0" anchor="ctr"/>
          <a:lstStyle/>
          <a:p>
            <a:pPr indent="0" marL="0">
              <a:buNone/>
            </a:pPr>
            <a:r>
              <a:rPr lang="en-US" sz="1700" b="1" dirty="0">
                <a:solidFill>
                  <a:srgbClr val="1E293B"/>
                </a:solidFill>
                <a:latin typeface="Cambria" pitchFamily="34" charset="0"/>
                <a:ea typeface="Cambria" pitchFamily="34" charset="-122"/>
                <a:cs typeface="Cambria" pitchFamily="34" charset="-120"/>
              </a:rPr>
              <a:t>A6</a:t>
            </a:r>
            <a:endParaRPr lang="en-US" sz="1700" dirty="0"/>
          </a:p>
        </p:txBody>
      </p:sp>
      <p:sp>
        <p:nvSpPr>
          <p:cNvPr id="22" name="Text 20"/>
          <p:cNvSpPr/>
          <p:nvPr/>
        </p:nvSpPr>
        <p:spPr>
          <a:xfrm>
            <a:off x="1920240" y="4937760"/>
            <a:ext cx="914400" cy="54864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up</a:t>
            </a:r>
            <a:endParaRPr lang="en-US" sz="1300" dirty="0"/>
          </a:p>
        </p:txBody>
      </p:sp>
      <p:sp>
        <p:nvSpPr>
          <p:cNvPr id="23" name="Text 21"/>
          <p:cNvSpPr/>
          <p:nvPr/>
        </p:nvSpPr>
        <p:spPr>
          <a:xfrm>
            <a:off x="3017520" y="4937760"/>
            <a:ext cx="2743200" cy="548640"/>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RW 150 → 80</a:t>
            </a:r>
            <a:endParaRPr lang="en-US" sz="1350" dirty="0"/>
          </a:p>
        </p:txBody>
      </p:sp>
      <p:sp>
        <p:nvSpPr>
          <p:cNvPr id="24" name="Text 22"/>
          <p:cNvSpPr/>
          <p:nvPr/>
        </p:nvSpPr>
        <p:spPr>
          <a:xfrm>
            <a:off x="5943600" y="4937760"/>
            <a:ext cx="5303520" cy="548640"/>
          </a:xfrm>
          <a:prstGeom prst="rect">
            <a:avLst/>
          </a:prstGeom>
          <a:noFill/>
          <a:ln/>
        </p:spPr>
        <p:txBody>
          <a:bodyPr wrap="square" lIns="0" tIns="0" rIns="0" bIns="0" rtlCol="0" anchor="ctr"/>
          <a:lstStyle/>
          <a:p>
            <a:pPr indent="0" marL="0">
              <a:buNone/>
            </a:pPr>
            <a:r>
              <a:rPr lang="en-US" sz="1300" b="1" dirty="0">
                <a:solidFill>
                  <a:srgbClr val="DC2626"/>
                </a:solidFill>
                <a:latin typeface="Calibri" pitchFamily="34" charset="0"/>
                <a:ea typeface="Calibri" pitchFamily="34" charset="-122"/>
                <a:cs typeface="Calibri" pitchFamily="34" charset="-120"/>
              </a:rPr>
              <a:t>bar lowered — struggled</a:t>
            </a:r>
            <a:endParaRPr lang="en-US" sz="1300" dirty="0"/>
          </a:p>
        </p:txBody>
      </p:sp>
      <p:sp>
        <p:nvSpPr>
          <p:cNvPr id="25" name="Shape 23"/>
          <p:cNvSpPr/>
          <p:nvPr/>
        </p:nvSpPr>
        <p:spPr>
          <a:xfrm>
            <a:off x="640080" y="5669280"/>
            <a:ext cx="10881360" cy="731520"/>
          </a:xfrm>
          <a:prstGeom prst="roundRect">
            <a:avLst>
              <a:gd name="adj" fmla="val 11250"/>
            </a:avLst>
          </a:prstGeom>
          <a:solidFill>
            <a:srgbClr val="FFFFFF"/>
          </a:solidFill>
          <a:ln w="12700">
            <a:solidFill>
              <a:srgbClr val="E2E8F0"/>
            </a:solidFill>
            <a:prstDash val="solid"/>
          </a:ln>
          <a:effectLst>
            <a:outerShdw sx="100000" sy="100000" kx="0" ky="0" algn="bl" rotWithShape="0" blurRad="114300" dist="38100" dir="5400000">
              <a:srgbClr val="0F172A">
                <a:alpha val="14000"/>
              </a:srgbClr>
            </a:outerShdw>
          </a:effectLst>
        </p:spPr>
      </p:sp>
      <p:sp>
        <p:nvSpPr>
          <p:cNvPr id="26" name="Text 24"/>
          <p:cNvSpPr/>
          <p:nvPr/>
        </p:nvSpPr>
        <p:spPr>
          <a:xfrm>
            <a:off x="960120" y="5760720"/>
            <a:ext cx="914400" cy="548640"/>
          </a:xfrm>
          <a:prstGeom prst="rect">
            <a:avLst/>
          </a:prstGeom>
          <a:noFill/>
          <a:ln/>
        </p:spPr>
        <p:txBody>
          <a:bodyPr wrap="square" lIns="0" tIns="0" rIns="0" bIns="0" rtlCol="0" anchor="ctr"/>
          <a:lstStyle/>
          <a:p>
            <a:pPr indent="0" marL="0">
              <a:buNone/>
            </a:pPr>
            <a:r>
              <a:rPr lang="en-US" sz="1700" b="1" dirty="0">
                <a:solidFill>
                  <a:srgbClr val="1E293B"/>
                </a:solidFill>
                <a:latin typeface="Cambria" pitchFamily="34" charset="0"/>
                <a:ea typeface="Cambria" pitchFamily="34" charset="-122"/>
                <a:cs typeface="Cambria" pitchFamily="34" charset="-120"/>
              </a:rPr>
              <a:t>A12</a:t>
            </a:r>
            <a:endParaRPr lang="en-US" sz="1700" dirty="0"/>
          </a:p>
        </p:txBody>
      </p:sp>
      <p:sp>
        <p:nvSpPr>
          <p:cNvPr id="27" name="Text 25"/>
          <p:cNvSpPr/>
          <p:nvPr/>
        </p:nvSpPr>
        <p:spPr>
          <a:xfrm>
            <a:off x="1920240" y="5760720"/>
            <a:ext cx="914400" cy="54864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up</a:t>
            </a:r>
            <a:endParaRPr lang="en-US" sz="1300" dirty="0"/>
          </a:p>
        </p:txBody>
      </p:sp>
      <p:sp>
        <p:nvSpPr>
          <p:cNvPr id="28" name="Text 26"/>
          <p:cNvSpPr/>
          <p:nvPr/>
        </p:nvSpPr>
        <p:spPr>
          <a:xfrm>
            <a:off x="3017520" y="5760720"/>
            <a:ext cx="2743200" cy="548640"/>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a:t>
            </a:r>
            <a:endParaRPr lang="en-US" sz="1350" dirty="0"/>
          </a:p>
        </p:txBody>
      </p:sp>
      <p:sp>
        <p:nvSpPr>
          <p:cNvPr id="29" name="Text 27"/>
          <p:cNvSpPr/>
          <p:nvPr/>
        </p:nvSpPr>
        <p:spPr>
          <a:xfrm>
            <a:off x="5943600" y="5760720"/>
            <a:ext cx="5303520" cy="548640"/>
          </a:xfrm>
          <a:prstGeom prst="rect">
            <a:avLst/>
          </a:prstGeom>
          <a:noFill/>
          <a:ln/>
        </p:spPr>
        <p:txBody>
          <a:bodyPr wrap="square" lIns="0" tIns="0" rIns="0" bIns="0" rtlCol="0" anchor="ctr"/>
          <a:lstStyle/>
          <a:p>
            <a:pPr indent="0" marL="0">
              <a:buNone/>
            </a:pPr>
            <a:r>
              <a:rPr lang="en-US" sz="1300" b="1" dirty="0">
                <a:solidFill>
                  <a:srgbClr val="DC2626"/>
                </a:solidFill>
                <a:latin typeface="Calibri" pitchFamily="34" charset="0"/>
                <a:ea typeface="Calibri" pitchFamily="34" charset="-122"/>
                <a:cs typeface="Calibri" pitchFamily="34" charset="-120"/>
              </a:rPr>
              <a:t>ECoG electrode dead (2.8 µV)</a:t>
            </a:r>
            <a:endParaRPr lang="en-US" sz="1300" dirty="0"/>
          </a:p>
        </p:txBody>
      </p:sp>
      <p:sp>
        <p:nvSpPr>
          <p:cNvPr id="30" name="Shape 28"/>
          <p:cNvSpPr/>
          <p:nvPr/>
        </p:nvSpPr>
        <p:spPr>
          <a:xfrm>
            <a:off x="640080" y="6537960"/>
            <a:ext cx="10881360" cy="0"/>
          </a:xfrm>
          <a:prstGeom prst="roundRect">
            <a:avLst>
              <a:gd name="adj" fmla="val Infinity"/>
            </a:avLst>
          </a:prstGeom>
          <a:solidFill>
            <a:srgbClr val="FFFFFF"/>
          </a:solidFill>
          <a:ln w="12700">
            <a:solidFill>
              <a:srgbClr val="E2E8F0"/>
            </a:solidFill>
            <a:prstDash val="solid"/>
          </a:ln>
          <a:effectLst>
            <a:outerShdw sx="100000" sy="100000" kx="0" ky="0" algn="bl" rotWithShape="0" blurRad="114300" dist="38100" dir="5400000">
              <a:srgbClr val="0F172A">
                <a:alpha val="14000"/>
              </a:srgbClr>
            </a:outerShdw>
          </a:effectLst>
        </p:spPr>
      </p:sp>
      <p:sp>
        <p:nvSpPr>
          <p:cNvPr id="31" name="Text 29"/>
          <p:cNvSpPr/>
          <p:nvPr/>
        </p:nvSpPr>
        <p:spPr>
          <a:xfrm>
            <a:off x="658368" y="6492240"/>
            <a:ext cx="10881360" cy="365760"/>
          </a:xfrm>
          <a:prstGeom prst="rect">
            <a:avLst/>
          </a:prstGeom>
          <a:noFill/>
          <a:ln/>
        </p:spPr>
        <p:txBody>
          <a:bodyPr wrap="square" lIns="0" tIns="0" rIns="0" bIns="0" rtlCol="0" anchor="ctr"/>
          <a:lstStyle/>
          <a:p>
            <a:pPr indent="0" marL="0">
              <a:buNone/>
            </a:pPr>
            <a:r>
              <a:rPr lang="en-US" sz="1300" b="1" i="1" dirty="0">
                <a:solidFill>
                  <a:srgbClr val="6D28D9"/>
                </a:solidFill>
                <a:latin typeface="Calibri" pitchFamily="34" charset="0"/>
                <a:ea typeface="Calibri" pitchFamily="34" charset="-122"/>
                <a:cs typeface="Calibri" pitchFamily="34" charset="-120"/>
              </a:rPr>
              <a:t>So the up group is capped at two. The down group can still grow — 7, 8, 13, 14, 15 are ready to download.</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384048"/>
            <a:ext cx="10972800" cy="274320"/>
          </a:xfrm>
          <a:prstGeom prst="rect">
            <a:avLst/>
          </a:prstGeom>
          <a:noFill/>
          <a:ln/>
        </p:spPr>
        <p:txBody>
          <a:bodyPr wrap="square" lIns="0" tIns="0" rIns="0" bIns="0" rtlCol="0" anchor="ctr"/>
          <a:lstStyle/>
          <a:p>
            <a:pPr indent="0" marL="0">
              <a:buNone/>
            </a:pPr>
            <a:r>
              <a:rPr lang="en-US" sz="1200" b="1" spc="300" kern="0" dirty="0">
                <a:solidFill>
                  <a:srgbClr val="0D9488"/>
                </a:solidFill>
                <a:latin typeface="Calibri" pitchFamily="34" charset="0"/>
                <a:ea typeface="Calibri" pitchFamily="34" charset="-122"/>
                <a:cs typeface="Calibri" pitchFamily="34" charset="-120"/>
              </a:rPr>
              <a:t>NEXT</a:t>
            </a:r>
            <a:endParaRPr lang="en-US" sz="1200" dirty="0"/>
          </a:p>
        </p:txBody>
      </p:sp>
      <p:sp>
        <p:nvSpPr>
          <p:cNvPr id="3" name="Text 1"/>
          <p:cNvSpPr/>
          <p:nvPr/>
        </p:nvSpPr>
        <p:spPr>
          <a:xfrm>
            <a:off x="640080" y="457200"/>
            <a:ext cx="11064240" cy="713232"/>
          </a:xfrm>
          <a:prstGeom prst="rect">
            <a:avLst/>
          </a:prstGeom>
          <a:noFill/>
          <a:ln/>
        </p:spPr>
        <p:txBody>
          <a:bodyPr wrap="square" lIns="0" tIns="0" rIns="0" bIns="0" rtlCol="0" anchor="ctr"/>
          <a:lstStyle/>
          <a:p>
            <a:pPr indent="0" marL="0">
              <a:buNone/>
            </a:pPr>
            <a:r>
              <a:rPr lang="en-US" sz="2800" b="1" dirty="0">
                <a:solidFill>
                  <a:srgbClr val="1E293B"/>
                </a:solidFill>
                <a:latin typeface="Cambria" pitchFamily="34" charset="0"/>
                <a:ea typeface="Cambria" pitchFamily="34" charset="-122"/>
                <a:cs typeface="Cambria" pitchFamily="34" charset="-120"/>
              </a:rPr>
              <a:t>Between now and the 21st</a:t>
            </a:r>
            <a:endParaRPr lang="en-US" sz="2800" dirty="0"/>
          </a:p>
        </p:txBody>
      </p:sp>
      <p:sp>
        <p:nvSpPr>
          <p:cNvPr id="4" name="Shape 2"/>
          <p:cNvSpPr/>
          <p:nvPr/>
        </p:nvSpPr>
        <p:spPr>
          <a:xfrm>
            <a:off x="640080" y="1920240"/>
            <a:ext cx="10881360" cy="960120"/>
          </a:xfrm>
          <a:prstGeom prst="roundRect">
            <a:avLst>
              <a:gd name="adj" fmla="val 8571"/>
            </a:avLst>
          </a:prstGeom>
          <a:solidFill>
            <a:srgbClr val="FFFFFF"/>
          </a:solidFill>
          <a:ln w="12700">
            <a:solidFill>
              <a:srgbClr val="E2E8F0"/>
            </a:solidFill>
            <a:prstDash val="solid"/>
          </a:ln>
          <a:effectLst>
            <a:outerShdw sx="100000" sy="100000" kx="0" ky="0" algn="bl" rotWithShape="0" blurRad="114300" dist="38100" dir="5400000">
              <a:srgbClr val="0F172A">
                <a:alpha val="14000"/>
              </a:srgbClr>
            </a:outerShdw>
          </a:effectLst>
        </p:spPr>
      </p:sp>
      <p:sp>
        <p:nvSpPr>
          <p:cNvPr id="5" name="Shape 3"/>
          <p:cNvSpPr/>
          <p:nvPr/>
        </p:nvSpPr>
        <p:spPr>
          <a:xfrm>
            <a:off x="896112" y="2176272"/>
            <a:ext cx="438912" cy="438912"/>
          </a:xfrm>
          <a:prstGeom prst="ellipse">
            <a:avLst/>
          </a:prstGeom>
          <a:solidFill>
            <a:srgbClr val="6D28D9"/>
          </a:solidFill>
          <a:ln/>
        </p:spPr>
      </p:sp>
      <p:sp>
        <p:nvSpPr>
          <p:cNvPr id="6" name="Text 4"/>
          <p:cNvSpPr/>
          <p:nvPr/>
        </p:nvSpPr>
        <p:spPr>
          <a:xfrm>
            <a:off x="896112" y="2176272"/>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1517904" y="2103120"/>
            <a:ext cx="3931920" cy="594360"/>
          </a:xfrm>
          <a:prstGeom prst="rect">
            <a:avLst/>
          </a:prstGeom>
          <a:noFill/>
          <a:ln/>
        </p:spPr>
        <p:txBody>
          <a:bodyPr wrap="square" lIns="0" tIns="0" rIns="0" bIns="0" rtlCol="0" anchor="ctr"/>
          <a:lstStyle/>
          <a:p>
            <a:pPr indent="0" marL="0">
              <a:lnSpc>
                <a:spcPct val="100000"/>
              </a:lnSpc>
              <a:buNone/>
            </a:pPr>
            <a:r>
              <a:rPr lang="en-US" sz="1450" b="1" dirty="0">
                <a:solidFill>
                  <a:srgbClr val="1E293B"/>
                </a:solidFill>
                <a:latin typeface="Calibri" pitchFamily="34" charset="0"/>
                <a:ea typeface="Calibri" pitchFamily="34" charset="-122"/>
                <a:cs typeface="Calibri" pitchFamily="34" charset="-120"/>
              </a:rPr>
              <a:t>Download and process the remaining animals</a:t>
            </a:r>
            <a:endParaRPr lang="en-US" sz="1450" dirty="0"/>
          </a:p>
        </p:txBody>
      </p:sp>
      <p:sp>
        <p:nvSpPr>
          <p:cNvPr id="8" name="Text 6"/>
          <p:cNvSpPr/>
          <p:nvPr/>
        </p:nvSpPr>
        <p:spPr>
          <a:xfrm>
            <a:off x="5577840" y="2103120"/>
            <a:ext cx="5669280" cy="594360"/>
          </a:xfrm>
          <a:prstGeom prst="rect">
            <a:avLst/>
          </a:prstGeom>
          <a:noFill/>
          <a:ln/>
        </p:spPr>
        <p:txBody>
          <a:bodyPr wrap="square" lIns="0" tIns="0" rIns="0" bIns="0" rtlCol="0" anchor="ctr"/>
          <a:lstStyle/>
          <a:p>
            <a:pPr indent="0" marL="0">
              <a:lnSpc>
                <a:spcPct val="102000"/>
              </a:lnSpc>
              <a:buNone/>
            </a:pPr>
            <a:r>
              <a:rPr lang="en-US" sz="1250" dirty="0">
                <a:solidFill>
                  <a:srgbClr val="64748B"/>
                </a:solidFill>
                <a:latin typeface="Calibri" pitchFamily="34" charset="0"/>
                <a:ea typeface="Calibri" pitchFamily="34" charset="-122"/>
                <a:cs typeface="Calibri" pitchFamily="34" charset="-120"/>
              </a:rPr>
              <a:t>7, 8, 13, 14, 15 (down) plus 1 and 6 (failed up — negative controls). Takes n from 5 to about 12.</a:t>
            </a:r>
            <a:endParaRPr lang="en-US" sz="1250" dirty="0"/>
          </a:p>
        </p:txBody>
      </p:sp>
      <p:sp>
        <p:nvSpPr>
          <p:cNvPr id="9" name="Shape 7"/>
          <p:cNvSpPr/>
          <p:nvPr/>
        </p:nvSpPr>
        <p:spPr>
          <a:xfrm>
            <a:off x="640080" y="2990088"/>
            <a:ext cx="10881360" cy="960120"/>
          </a:xfrm>
          <a:prstGeom prst="roundRect">
            <a:avLst>
              <a:gd name="adj" fmla="val 8571"/>
            </a:avLst>
          </a:prstGeom>
          <a:solidFill>
            <a:srgbClr val="FFFFFF"/>
          </a:solidFill>
          <a:ln w="12700">
            <a:solidFill>
              <a:srgbClr val="E2E8F0"/>
            </a:solidFill>
            <a:prstDash val="solid"/>
          </a:ln>
          <a:effectLst>
            <a:outerShdw sx="100000" sy="100000" kx="0" ky="0" algn="bl" rotWithShape="0" blurRad="114300" dist="38100" dir="5400000">
              <a:srgbClr val="0F172A">
                <a:alpha val="14000"/>
              </a:srgbClr>
            </a:outerShdw>
          </a:effectLst>
        </p:spPr>
      </p:sp>
      <p:sp>
        <p:nvSpPr>
          <p:cNvPr id="10" name="Shape 8"/>
          <p:cNvSpPr/>
          <p:nvPr/>
        </p:nvSpPr>
        <p:spPr>
          <a:xfrm>
            <a:off x="896112" y="3246120"/>
            <a:ext cx="438912" cy="438912"/>
          </a:xfrm>
          <a:prstGeom prst="ellipse">
            <a:avLst/>
          </a:prstGeom>
          <a:solidFill>
            <a:srgbClr val="6D28D9"/>
          </a:solidFill>
          <a:ln/>
        </p:spPr>
      </p:sp>
      <p:sp>
        <p:nvSpPr>
          <p:cNvPr id="11" name="Text 9"/>
          <p:cNvSpPr/>
          <p:nvPr/>
        </p:nvSpPr>
        <p:spPr>
          <a:xfrm>
            <a:off x="896112" y="3246120"/>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1517904" y="3172968"/>
            <a:ext cx="3931920" cy="594360"/>
          </a:xfrm>
          <a:prstGeom prst="rect">
            <a:avLst/>
          </a:prstGeom>
          <a:noFill/>
          <a:ln/>
        </p:spPr>
        <p:txBody>
          <a:bodyPr wrap="square" lIns="0" tIns="0" rIns="0" bIns="0" rtlCol="0" anchor="ctr"/>
          <a:lstStyle/>
          <a:p>
            <a:pPr indent="0" marL="0">
              <a:lnSpc>
                <a:spcPct val="100000"/>
              </a:lnSpc>
              <a:buNone/>
            </a:pPr>
            <a:r>
              <a:rPr lang="en-US" sz="1450" b="1" dirty="0">
                <a:solidFill>
                  <a:srgbClr val="1E293B"/>
                </a:solidFill>
                <a:latin typeface="Calibri" pitchFamily="34" charset="0"/>
                <a:ea typeface="Calibri" pitchFamily="34" charset="-122"/>
                <a:cs typeface="Calibri" pitchFamily="34" charset="-120"/>
              </a:rPr>
              <a:t>Re-run everything at the larger n</a:t>
            </a:r>
            <a:endParaRPr lang="en-US" sz="1450" dirty="0"/>
          </a:p>
        </p:txBody>
      </p:sp>
      <p:sp>
        <p:nvSpPr>
          <p:cNvPr id="13" name="Text 11"/>
          <p:cNvSpPr/>
          <p:nvPr/>
        </p:nvSpPr>
        <p:spPr>
          <a:xfrm>
            <a:off x="5577840" y="3172968"/>
            <a:ext cx="5669280" cy="594360"/>
          </a:xfrm>
          <a:prstGeom prst="rect">
            <a:avLst/>
          </a:prstGeom>
          <a:noFill/>
          <a:ln/>
        </p:spPr>
        <p:txBody>
          <a:bodyPr wrap="square" lIns="0" tIns="0" rIns="0" bIns="0" rtlCol="0" anchor="ctr"/>
          <a:lstStyle/>
          <a:p>
            <a:pPr indent="0" marL="0">
              <a:lnSpc>
                <a:spcPct val="102000"/>
              </a:lnSpc>
              <a:buNone/>
            </a:pPr>
            <a:r>
              <a:rPr lang="en-US" sz="1250" dirty="0">
                <a:solidFill>
                  <a:srgbClr val="64748B"/>
                </a:solidFill>
                <a:latin typeface="Calibri" pitchFamily="34" charset="0"/>
                <a:ea typeface="Calibri" pitchFamily="34" charset="-122"/>
                <a:cs typeface="Calibri" pitchFamily="34" charset="-120"/>
              </a:rPr>
              <a:t>The scaling correlation is the analysis this powers. Fully automated — two commands per animal.</a:t>
            </a:r>
            <a:endParaRPr lang="en-US" sz="1250" dirty="0"/>
          </a:p>
        </p:txBody>
      </p:sp>
      <p:sp>
        <p:nvSpPr>
          <p:cNvPr id="14" name="Shape 12"/>
          <p:cNvSpPr/>
          <p:nvPr/>
        </p:nvSpPr>
        <p:spPr>
          <a:xfrm>
            <a:off x="640080" y="4059936"/>
            <a:ext cx="10881360" cy="960120"/>
          </a:xfrm>
          <a:prstGeom prst="roundRect">
            <a:avLst>
              <a:gd name="adj" fmla="val 8571"/>
            </a:avLst>
          </a:prstGeom>
          <a:solidFill>
            <a:srgbClr val="FFFFFF"/>
          </a:solidFill>
          <a:ln w="12700">
            <a:solidFill>
              <a:srgbClr val="E2E8F0"/>
            </a:solidFill>
            <a:prstDash val="solid"/>
          </a:ln>
          <a:effectLst>
            <a:outerShdw sx="100000" sy="100000" kx="0" ky="0" algn="bl" rotWithShape="0" blurRad="114300" dist="38100" dir="5400000">
              <a:srgbClr val="0F172A">
                <a:alpha val="14000"/>
              </a:srgbClr>
            </a:outerShdw>
          </a:effectLst>
        </p:spPr>
      </p:sp>
      <p:sp>
        <p:nvSpPr>
          <p:cNvPr id="15" name="Shape 13"/>
          <p:cNvSpPr/>
          <p:nvPr/>
        </p:nvSpPr>
        <p:spPr>
          <a:xfrm>
            <a:off x="896112" y="4315968"/>
            <a:ext cx="438912" cy="438912"/>
          </a:xfrm>
          <a:prstGeom prst="ellipse">
            <a:avLst/>
          </a:prstGeom>
          <a:solidFill>
            <a:srgbClr val="0D9488"/>
          </a:solidFill>
          <a:ln/>
        </p:spPr>
      </p:sp>
      <p:sp>
        <p:nvSpPr>
          <p:cNvPr id="16" name="Text 14"/>
          <p:cNvSpPr/>
          <p:nvPr/>
        </p:nvSpPr>
        <p:spPr>
          <a:xfrm>
            <a:off x="896112" y="4315968"/>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7" name="Text 15"/>
          <p:cNvSpPr/>
          <p:nvPr/>
        </p:nvSpPr>
        <p:spPr>
          <a:xfrm>
            <a:off x="1517904" y="4242816"/>
            <a:ext cx="3931920" cy="594360"/>
          </a:xfrm>
          <a:prstGeom prst="rect">
            <a:avLst/>
          </a:prstGeom>
          <a:noFill/>
          <a:ln/>
        </p:spPr>
        <p:txBody>
          <a:bodyPr wrap="square" lIns="0" tIns="0" rIns="0" bIns="0" rtlCol="0" anchor="ctr"/>
          <a:lstStyle/>
          <a:p>
            <a:pPr indent="0" marL="0">
              <a:lnSpc>
                <a:spcPct val="100000"/>
              </a:lnSpc>
              <a:buNone/>
            </a:pPr>
            <a:r>
              <a:rPr lang="en-US" sz="1450" b="1" dirty="0">
                <a:solidFill>
                  <a:srgbClr val="1E293B"/>
                </a:solidFill>
                <a:latin typeface="Calibri" pitchFamily="34" charset="0"/>
                <a:ea typeface="Calibri" pitchFamily="34" charset="-122"/>
                <a:cs typeface="Calibri" pitchFamily="34" charset="-120"/>
              </a:rPr>
              <a:t>Build the presentation for your group</a:t>
            </a:r>
            <a:endParaRPr lang="en-US" sz="1450" dirty="0"/>
          </a:p>
        </p:txBody>
      </p:sp>
      <p:sp>
        <p:nvSpPr>
          <p:cNvPr id="18" name="Text 16"/>
          <p:cNvSpPr/>
          <p:nvPr/>
        </p:nvSpPr>
        <p:spPr>
          <a:xfrm>
            <a:off x="5577840" y="4242816"/>
            <a:ext cx="5669280" cy="594360"/>
          </a:xfrm>
          <a:prstGeom prst="rect">
            <a:avLst/>
          </a:prstGeom>
          <a:noFill/>
          <a:ln/>
        </p:spPr>
        <p:txBody>
          <a:bodyPr wrap="square" lIns="0" tIns="0" rIns="0" bIns="0" rtlCol="0" anchor="ctr"/>
          <a:lstStyle/>
          <a:p>
            <a:pPr indent="0" marL="0">
              <a:lnSpc>
                <a:spcPct val="102000"/>
              </a:lnSpc>
              <a:buNone/>
            </a:pPr>
            <a:r>
              <a:rPr lang="en-US" sz="1250" dirty="0">
                <a:solidFill>
                  <a:srgbClr val="64748B"/>
                </a:solidFill>
                <a:latin typeface="Calibri" pitchFamily="34" charset="0"/>
                <a:ea typeface="Calibri" pitchFamily="34" charset="-122"/>
                <a:cs typeface="Calibri" pitchFamily="34" charset="-120"/>
              </a:rPr>
              <a:t>Pipeline explained with a data-flow figure, at the level you described.</a:t>
            </a:r>
            <a:endParaRPr lang="en-US" sz="1250" dirty="0"/>
          </a:p>
        </p:txBody>
      </p:sp>
      <p:sp>
        <p:nvSpPr>
          <p:cNvPr id="19" name="Shape 17"/>
          <p:cNvSpPr/>
          <p:nvPr/>
        </p:nvSpPr>
        <p:spPr>
          <a:xfrm>
            <a:off x="640080" y="5129784"/>
            <a:ext cx="10881360" cy="960120"/>
          </a:xfrm>
          <a:prstGeom prst="roundRect">
            <a:avLst>
              <a:gd name="adj" fmla="val 8571"/>
            </a:avLst>
          </a:prstGeom>
          <a:solidFill>
            <a:srgbClr val="FFFFFF"/>
          </a:solidFill>
          <a:ln w="12700">
            <a:solidFill>
              <a:srgbClr val="E2E8F0"/>
            </a:solidFill>
            <a:prstDash val="solid"/>
          </a:ln>
          <a:effectLst>
            <a:outerShdw sx="100000" sy="100000" kx="0" ky="0" algn="bl" rotWithShape="0" blurRad="114300" dist="38100" dir="5400000">
              <a:srgbClr val="0F172A">
                <a:alpha val="14000"/>
              </a:srgbClr>
            </a:outerShdw>
          </a:effectLst>
        </p:spPr>
      </p:sp>
      <p:sp>
        <p:nvSpPr>
          <p:cNvPr id="20" name="Shape 18"/>
          <p:cNvSpPr/>
          <p:nvPr/>
        </p:nvSpPr>
        <p:spPr>
          <a:xfrm>
            <a:off x="896112" y="5385816"/>
            <a:ext cx="438912" cy="438912"/>
          </a:xfrm>
          <a:prstGeom prst="ellipse">
            <a:avLst/>
          </a:prstGeom>
          <a:solidFill>
            <a:srgbClr val="0D9488"/>
          </a:solidFill>
          <a:ln/>
        </p:spPr>
      </p:sp>
      <p:sp>
        <p:nvSpPr>
          <p:cNvPr id="21" name="Text 19"/>
          <p:cNvSpPr/>
          <p:nvPr/>
        </p:nvSpPr>
        <p:spPr>
          <a:xfrm>
            <a:off x="896112" y="5385816"/>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2" name="Text 20"/>
          <p:cNvSpPr/>
          <p:nvPr/>
        </p:nvSpPr>
        <p:spPr>
          <a:xfrm>
            <a:off x="1517904" y="5312664"/>
            <a:ext cx="3931920" cy="594360"/>
          </a:xfrm>
          <a:prstGeom prst="rect">
            <a:avLst/>
          </a:prstGeom>
          <a:noFill/>
          <a:ln/>
        </p:spPr>
        <p:txBody>
          <a:bodyPr wrap="square" lIns="0" tIns="0" rIns="0" bIns="0" rtlCol="0" anchor="ctr"/>
          <a:lstStyle/>
          <a:p>
            <a:pPr indent="0" marL="0">
              <a:lnSpc>
                <a:spcPct val="100000"/>
              </a:lnSpc>
              <a:buNone/>
            </a:pPr>
            <a:r>
              <a:rPr lang="en-US" sz="1450" b="1" dirty="0">
                <a:solidFill>
                  <a:srgbClr val="1E293B"/>
                </a:solidFill>
                <a:latin typeface="Calibri" pitchFamily="34" charset="0"/>
                <a:ea typeface="Calibri" pitchFamily="34" charset="-122"/>
                <a:cs typeface="Calibri" pitchFamily="34" charset="-120"/>
              </a:rPr>
              <a:t>Preview it with you</a:t>
            </a:r>
            <a:endParaRPr lang="en-US" sz="1450" dirty="0"/>
          </a:p>
        </p:txBody>
      </p:sp>
      <p:sp>
        <p:nvSpPr>
          <p:cNvPr id="23" name="Text 21"/>
          <p:cNvSpPr/>
          <p:nvPr/>
        </p:nvSpPr>
        <p:spPr>
          <a:xfrm>
            <a:off x="5577840" y="5312664"/>
            <a:ext cx="5669280" cy="594360"/>
          </a:xfrm>
          <a:prstGeom prst="rect">
            <a:avLst/>
          </a:prstGeom>
          <a:noFill/>
          <a:ln/>
        </p:spPr>
        <p:txBody>
          <a:bodyPr wrap="square" lIns="0" tIns="0" rIns="0" bIns="0" rtlCol="0" anchor="ctr"/>
          <a:lstStyle/>
          <a:p>
            <a:pPr indent="0" marL="0">
              <a:lnSpc>
                <a:spcPct val="102000"/>
              </a:lnSpc>
              <a:buNone/>
            </a:pPr>
            <a:r>
              <a:rPr lang="en-US" sz="1250" dirty="0">
                <a:solidFill>
                  <a:srgbClr val="64748B"/>
                </a:solidFill>
                <a:latin typeface="Calibri" pitchFamily="34" charset="0"/>
                <a:ea typeface="Calibri" pitchFamily="34" charset="-122"/>
                <a:cs typeface="Calibri" pitchFamily="34" charset="-120"/>
              </a:rPr>
              <a:t>Before the 21st, so it's on par with what your group expects.</a:t>
            </a:r>
            <a:endParaRPr lang="en-US" sz="1250" dirty="0"/>
          </a:p>
        </p:txBody>
      </p:sp>
      <p:sp>
        <p:nvSpPr>
          <p:cNvPr id="24" name="Shape 22"/>
          <p:cNvSpPr/>
          <p:nvPr/>
        </p:nvSpPr>
        <p:spPr>
          <a:xfrm>
            <a:off x="640080" y="6263640"/>
            <a:ext cx="10881360" cy="685800"/>
          </a:xfrm>
          <a:prstGeom prst="roundRect">
            <a:avLst>
              <a:gd name="adj" fmla="val 12000"/>
            </a:avLst>
          </a:prstGeom>
          <a:solidFill>
            <a:srgbClr val="F5F3FF"/>
          </a:solidFill>
          <a:ln w="12700">
            <a:solidFill>
              <a:srgbClr val="E2E8F0"/>
            </a:solidFill>
            <a:prstDash val="solid"/>
          </a:ln>
          <a:effectLst>
            <a:outerShdw sx="100000" sy="100000" kx="0" ky="0" algn="bl" rotWithShape="0" blurRad="114300" dist="38100" dir="5400000">
              <a:srgbClr val="0F172A">
                <a:alpha val="14000"/>
              </a:srgbClr>
            </a:outerShdw>
          </a:effectLst>
        </p:spPr>
      </p:sp>
      <p:sp>
        <p:nvSpPr>
          <p:cNvPr id="25" name="Text 23"/>
          <p:cNvSpPr/>
          <p:nvPr/>
        </p:nvSpPr>
        <p:spPr>
          <a:xfrm>
            <a:off x="960120" y="6382512"/>
            <a:ext cx="10241280" cy="457200"/>
          </a:xfrm>
          <a:prstGeom prst="rect">
            <a:avLst/>
          </a:prstGeom>
          <a:noFill/>
          <a:ln/>
        </p:spPr>
        <p:txBody>
          <a:bodyPr wrap="square" lIns="0" tIns="0" rIns="0" bIns="0" rtlCol="0" anchor="ctr"/>
          <a:lstStyle/>
          <a:p>
            <a:pPr indent="0" marL="0">
              <a:buNone/>
            </a:pPr>
            <a:r>
              <a:rPr lang="en-US" sz="1350" b="1" dirty="0">
                <a:solidFill>
                  <a:srgbClr val="6D28D9"/>
                </a:solidFill>
                <a:latin typeface="Calibri" pitchFamily="34" charset="0"/>
                <a:ea typeface="Calibri" pitchFamily="34" charset="-122"/>
                <a:cs typeface="Calibri" pitchFamily="34" charset="-120"/>
              </a:rPr>
              <a:t>Question for you: with the up group capped at two, is the scaling analysis the right thing to build the paper on?</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HROC — Weekly Update</dc:title>
  <dc:subject>PptxGenJS Presentation</dc:subject>
  <dc:creator>Suchith Rao</dc:creator>
  <cp:lastModifiedBy>Suchith Rao</cp:lastModifiedBy>
  <cp:revision>1</cp:revision>
  <dcterms:created xsi:type="dcterms:W3CDTF">2026-08-12T18:24:04Z</dcterms:created>
  <dcterms:modified xsi:type="dcterms:W3CDTF">2026-08-12T18:24:04Z</dcterms:modified>
</cp:coreProperties>
</file>