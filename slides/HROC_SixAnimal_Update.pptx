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last time we doubled the dataset to six animals including three up-conditioned, built every control you asked for, and found a positive result by changing the question. I'll go through it in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your four asks. The randomized-order control passes cleanly, the null is essentially zero in every animal, so the drift metric is not an artifact of the numbers. Pre-stimulus background is extracted from fragment zero and is now a covariate in everything. We adopted the last-ten-days baseline and it visibly cleans things up. And we found strong up-conditioned animals by scanning the reward criterion in every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now six animals, 2.7 million trials, three down and three up. Worth explaining how we picked the up animals: we scanned the logs only, no big downloads, and used the reward criterion as a success readout. Animals 4 and 3 had their bar raised substantially, so they genuinely learned. Animals 1 and 6 had it lowered, so they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Behaviour first, because it's the positive control that has to hold. Every animal aligned to its own conditioning onset. Up animals' corrected H rises, down animals' falls, a seventy-two point group difference. Animals 9, 11 and 3 clear your twenty percent criterion. And this is with stimulus size and pre-stimulus background both regressed out, so it isn't stimulus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drift question, and we can actually close it. The logic is that recording drift doesn't care which direction you trained the animal but conditioning does, so a real effect must differ between up and down. It doesn't — twenty-two versus thirty-five, not significant. Combined with the sham null failing in five of six animals, and your randomized-order control passing, three independent controls agree. The average cortical state drift is recording nonstationarity, not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rather than keep fighting the confound, we changed the question. Instead of asking whether the average state moved, ask whether cortex predicts the reflex trial by trial. The key design point is that we train and test inside a single five-day block, so slow drift moves train and test together and cancels. Drift literally cannot manufacture within-block predictive structure. We also remove stimulus and background first, and use a within-block shuffle as the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positive result. Cross-validated R-squared reaches point three five, against a shuffle null of essentially zero, and it's present in every animal. So cortical activity carries trial-by-trial information about the reflex that is not stimulus intensity, not muscle tone, and not drift. What we can't yet say is whether that coupling changes with conditioning — that's a power problem, n of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asked whether cortical state before the stimulus predicts how big the reflex will be. It does, but weakly, R-squared point zero one against a null of essentially zero. Notably, pre-stimulus muscle activity predicts better than cortex — which is exactly what you said would happen with motoneuron pool excitability, and it's a good sign the measurement is working. So the main coupling result is not just pre-stimulus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rated honestly. The behaviour is solid and bidirectional. The coupling result is real and drift-immune, and it's our positive finding. And the drift-equals-learning question is answered no, with three independent controls agreeing — which is a useful negative,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last few weeks: add the remaining down animals, which are already logged and ready — going from five to ten animals is what resolves whether the coupling changes with conditioning. Finish the crosstalk test, which is the one thing a reviewer will demand. Do frequency-resolved coupling. And start writing. The paper is bidirectional conditioning, plus the drift-immune coupling result, plus the control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I'd like your read on. Whether the coupling result is interesting enough to build the paper on. How you'd rule out EMG crosstalk. Which animals to add next. And whether the negative drift result is worth reporting as a caution to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0149840" y="914400"/>
            <a:ext cx="1280160" cy="1280160"/>
          </a:xfrm>
          <a:prstGeom prst="ellipse">
            <a:avLst/>
          </a:prstGeom>
          <a:solidFill>
            <a:srgbClr val="6D28D9">
              <a:alpha val="45000"/>
            </a:srgbClr>
          </a:solidFill>
          <a:ln/>
        </p:spPr>
      </p:sp>
      <p:sp>
        <p:nvSpPr>
          <p:cNvPr id="3" name="Shape 1"/>
          <p:cNvSpPr/>
          <p:nvPr/>
        </p:nvSpPr>
        <p:spPr>
          <a:xfrm>
            <a:off x="10789920" y="1645920"/>
            <a:ext cx="868680" cy="868680"/>
          </a:xfrm>
          <a:prstGeom prst="ellipse">
            <a:avLst/>
          </a:prstGeom>
          <a:solidFill>
            <a:srgbClr val="0D9488">
              <a:alpha val="55000"/>
            </a:srgbClr>
          </a:solidFill>
          <a:ln/>
        </p:spPr>
      </p:sp>
      <p:sp>
        <p:nvSpPr>
          <p:cNvPr id="4" name="Text 2"/>
          <p:cNvSpPr/>
          <p:nvPr/>
        </p:nvSpPr>
        <p:spPr>
          <a:xfrm>
            <a:off x="731520" y="1417320"/>
            <a:ext cx="9144000" cy="365760"/>
          </a:xfrm>
          <a:prstGeom prst="rect">
            <a:avLst/>
          </a:prstGeom>
          <a:noFill/>
          <a:ln/>
        </p:spPr>
        <p:txBody>
          <a:bodyPr wrap="square" lIns="0" tIns="0" rIns="0" bIns="0" rtlCol="0" anchor="ctr"/>
          <a:lstStyle/>
          <a:p>
            <a:pPr indent="0" marL="0">
              <a:buNone/>
            </a:pPr>
            <a:r>
              <a:rPr lang="en-US" sz="1400" b="1" spc="300" kern="0" dirty="0">
                <a:solidFill>
                  <a:srgbClr val="0D9488"/>
                </a:solidFill>
                <a:latin typeface="Calibri" pitchFamily="34" charset="0"/>
                <a:ea typeface="Calibri" pitchFamily="34" charset="-122"/>
                <a:cs typeface="Calibri" pitchFamily="34" charset="-120"/>
              </a:rPr>
              <a:t>HROC · NCAN · DEEP-LEARNING TRACK</a:t>
            </a:r>
            <a:endParaRPr lang="en-US" sz="1400" dirty="0"/>
          </a:p>
        </p:txBody>
      </p:sp>
      <p:sp>
        <p:nvSpPr>
          <p:cNvPr id="5" name="Text 3"/>
          <p:cNvSpPr/>
          <p:nvPr/>
        </p:nvSpPr>
        <p:spPr>
          <a:xfrm>
            <a:off x="731520" y="1920240"/>
            <a:ext cx="10424160" cy="1828800"/>
          </a:xfrm>
          <a:prstGeom prst="rect">
            <a:avLst/>
          </a:prstGeom>
          <a:noFill/>
          <a:ln/>
        </p:spPr>
        <p:txBody>
          <a:bodyPr wrap="square" lIns="0" tIns="0" rIns="0" bIns="0" rtlCol="0" anchor="ctr"/>
          <a:lstStyle/>
          <a:p>
            <a:pPr indent="0" marL="0">
              <a:lnSpc>
                <a:spcPct val="98000"/>
              </a:lnSpc>
              <a:buNone/>
            </a:pPr>
            <a:r>
              <a:rPr lang="en-US" sz="4200" b="1" dirty="0">
                <a:solidFill>
                  <a:srgbClr val="FFFFFF"/>
                </a:solidFill>
                <a:latin typeface="Cambria" pitchFamily="34" charset="0"/>
                <a:ea typeface="Cambria" pitchFamily="34" charset="-122"/>
                <a:cs typeface="Cambria" pitchFamily="34" charset="-120"/>
              </a:rPr>
              <a:t>Six animals, both directions,</a:t>
            </a:r>
            <a:endParaRPr lang="en-US" sz="4200" dirty="0"/>
          </a:p>
          <a:p>
            <a:pPr indent="0" marL="0">
              <a:lnSpc>
                <a:spcPct val="98000"/>
              </a:lnSpc>
              <a:buNone/>
            </a:pPr>
            <a:r>
              <a:rPr lang="en-US" sz="4200" b="1" dirty="0">
                <a:solidFill>
                  <a:srgbClr val="FFFFFF"/>
                </a:solidFill>
                <a:latin typeface="Cambria" pitchFamily="34" charset="0"/>
                <a:ea typeface="Cambria" pitchFamily="34" charset="-122"/>
                <a:cs typeface="Cambria" pitchFamily="34" charset="-120"/>
              </a:rPr>
              <a:t>and a positive result.</a:t>
            </a:r>
            <a:endParaRPr lang="en-US" sz="4200" dirty="0"/>
          </a:p>
        </p:txBody>
      </p:sp>
      <p:sp>
        <p:nvSpPr>
          <p:cNvPr id="6" name="Text 4"/>
          <p:cNvSpPr/>
          <p:nvPr/>
        </p:nvSpPr>
        <p:spPr>
          <a:xfrm>
            <a:off x="749808" y="3931920"/>
            <a:ext cx="10058400" cy="45720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Every control you asked for is now built and run.</a:t>
            </a:r>
            <a:endParaRPr lang="en-US" sz="1800" dirty="0"/>
          </a:p>
        </p:txBody>
      </p:sp>
      <p:sp>
        <p:nvSpPr>
          <p:cNvPr id="7" name="Text 5"/>
          <p:cNvSpPr/>
          <p:nvPr/>
        </p:nvSpPr>
        <p:spPr>
          <a:xfrm>
            <a:off x="749808" y="5943600"/>
            <a:ext cx="10058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Suchith Rao</a:t>
            </a:r>
            <a:pPr indent="0" marL="0">
              <a:buNone/>
            </a:pPr>
            <a:r>
              <a:rPr lang="en-US" sz="1500" dirty="0">
                <a:solidFill>
                  <a:srgbClr val="94A3B8"/>
                </a:solidFill>
                <a:latin typeface="Calibri" pitchFamily="34" charset="0"/>
                <a:ea typeface="Calibri" pitchFamily="34" charset="-122"/>
                <a:cs typeface="Calibri" pitchFamily="34" charset="-120"/>
              </a:rPr>
              <a:t>    •    for Dr. Carp    •    August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YOUR ASKS, LAST MEETING</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All four are built and run</a:t>
            </a:r>
            <a:endParaRPr lang="en-US" sz="2900" dirty="0"/>
          </a:p>
        </p:txBody>
      </p:sp>
      <p:sp>
        <p:nvSpPr>
          <p:cNvPr id="4" name="Shape 2"/>
          <p:cNvSpPr/>
          <p:nvPr/>
        </p:nvSpPr>
        <p:spPr>
          <a:xfrm>
            <a:off x="640080" y="1828800"/>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896112" y="2121408"/>
            <a:ext cx="457200" cy="457200"/>
          </a:xfrm>
          <a:prstGeom prst="ellipse">
            <a:avLst/>
          </a:prstGeom>
          <a:solidFill>
            <a:srgbClr val="16A34A"/>
          </a:solidFill>
          <a:ln/>
        </p:spPr>
      </p:sp>
      <p:sp>
        <p:nvSpPr>
          <p:cNvPr id="6" name="Text 4"/>
          <p:cNvSpPr/>
          <p:nvPr/>
        </p:nvSpPr>
        <p:spPr>
          <a:xfrm>
            <a:off x="896112" y="21214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17904" y="1956816"/>
            <a:ext cx="320040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Randomised-order control</a:t>
            </a:r>
            <a:endParaRPr lang="en-US" sz="1500" dirty="0"/>
          </a:p>
        </p:txBody>
      </p:sp>
      <p:sp>
        <p:nvSpPr>
          <p:cNvPr id="8" name="Text 6"/>
          <p:cNvSpPr/>
          <p:nvPr/>
        </p:nvSpPr>
        <p:spPr>
          <a:xfrm>
            <a:off x="4846320" y="1956816"/>
            <a:ext cx="411480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Shuffle trial order, rerun the drift. If it still drifts, it's baked into the numbers.</a:t>
            </a:r>
            <a:endParaRPr lang="en-US" sz="1250" dirty="0"/>
          </a:p>
        </p:txBody>
      </p:sp>
      <p:sp>
        <p:nvSpPr>
          <p:cNvPr id="9" name="Text 7"/>
          <p:cNvSpPr/>
          <p:nvPr/>
        </p:nvSpPr>
        <p:spPr>
          <a:xfrm>
            <a:off x="9098280" y="1956816"/>
            <a:ext cx="2286000" cy="7772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PASSES — null ≈ 0 in every animal</a:t>
            </a:r>
            <a:endParaRPr lang="en-US" sz="1200" dirty="0"/>
          </a:p>
        </p:txBody>
      </p:sp>
      <p:sp>
        <p:nvSpPr>
          <p:cNvPr id="10" name="Shape 8"/>
          <p:cNvSpPr/>
          <p:nvPr/>
        </p:nvSpPr>
        <p:spPr>
          <a:xfrm>
            <a:off x="640080" y="2990088"/>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Shape 9"/>
          <p:cNvSpPr/>
          <p:nvPr/>
        </p:nvSpPr>
        <p:spPr>
          <a:xfrm>
            <a:off x="896112" y="3282696"/>
            <a:ext cx="457200" cy="457200"/>
          </a:xfrm>
          <a:prstGeom prst="ellipse">
            <a:avLst/>
          </a:prstGeom>
          <a:solidFill>
            <a:srgbClr val="16A34A"/>
          </a:solidFill>
          <a:ln/>
        </p:spPr>
      </p:sp>
      <p:sp>
        <p:nvSpPr>
          <p:cNvPr id="12" name="Text 10"/>
          <p:cNvSpPr/>
          <p:nvPr/>
        </p:nvSpPr>
        <p:spPr>
          <a:xfrm>
            <a:off x="896112" y="32826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1517904" y="3118104"/>
            <a:ext cx="320040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Pre-stimulus background</a:t>
            </a:r>
            <a:endParaRPr lang="en-US" sz="1500" dirty="0"/>
          </a:p>
        </p:txBody>
      </p:sp>
      <p:sp>
        <p:nvSpPr>
          <p:cNvPr id="14" name="Text 12"/>
          <p:cNvSpPr/>
          <p:nvPr/>
        </p:nvSpPr>
        <p:spPr>
          <a:xfrm>
            <a:off x="4846320" y="3118104"/>
            <a:ext cx="411480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Motoneuron-pool excitability, 20 ms before the stimulus, from fragment 0.</a:t>
            </a:r>
            <a:endParaRPr lang="en-US" sz="1250" dirty="0"/>
          </a:p>
        </p:txBody>
      </p:sp>
      <p:sp>
        <p:nvSpPr>
          <p:cNvPr id="15" name="Text 13"/>
          <p:cNvSpPr/>
          <p:nvPr/>
        </p:nvSpPr>
        <p:spPr>
          <a:xfrm>
            <a:off x="9098280" y="3118104"/>
            <a:ext cx="2286000" cy="7772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Built — now a covariate everywhere</a:t>
            </a:r>
            <a:endParaRPr lang="en-US" sz="1200" dirty="0"/>
          </a:p>
        </p:txBody>
      </p:sp>
      <p:sp>
        <p:nvSpPr>
          <p:cNvPr id="16" name="Shape 14"/>
          <p:cNvSpPr/>
          <p:nvPr/>
        </p:nvSpPr>
        <p:spPr>
          <a:xfrm>
            <a:off x="640080" y="4151376"/>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7" name="Shape 15"/>
          <p:cNvSpPr/>
          <p:nvPr/>
        </p:nvSpPr>
        <p:spPr>
          <a:xfrm>
            <a:off x="896112" y="4443984"/>
            <a:ext cx="457200" cy="457200"/>
          </a:xfrm>
          <a:prstGeom prst="ellipse">
            <a:avLst/>
          </a:prstGeom>
          <a:solidFill>
            <a:srgbClr val="16A34A"/>
          </a:solidFill>
          <a:ln/>
        </p:spPr>
      </p:sp>
      <p:sp>
        <p:nvSpPr>
          <p:cNvPr id="18" name="Text 16"/>
          <p:cNvSpPr/>
          <p:nvPr/>
        </p:nvSpPr>
        <p:spPr>
          <a:xfrm>
            <a:off x="896112" y="444398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1517904" y="4279392"/>
            <a:ext cx="320040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Last 10 baseline days</a:t>
            </a:r>
            <a:endParaRPr lang="en-US" sz="1500" dirty="0"/>
          </a:p>
        </p:txBody>
      </p:sp>
      <p:sp>
        <p:nvSpPr>
          <p:cNvPr id="20" name="Text 18"/>
          <p:cNvSpPr/>
          <p:nvPr/>
        </p:nvSpPr>
        <p:spPr>
          <a:xfrm>
            <a:off x="4846320" y="4279392"/>
            <a:ext cx="411480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Early baseline had settings changes, so only the last 10 days are the reference.</a:t>
            </a:r>
            <a:endParaRPr lang="en-US" sz="1250" dirty="0"/>
          </a:p>
        </p:txBody>
      </p:sp>
      <p:sp>
        <p:nvSpPr>
          <p:cNvPr id="21" name="Text 19"/>
          <p:cNvSpPr/>
          <p:nvPr/>
        </p:nvSpPr>
        <p:spPr>
          <a:xfrm>
            <a:off x="9098280" y="4279392"/>
            <a:ext cx="2286000" cy="7772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Adopted — visibly cleaner</a:t>
            </a:r>
            <a:endParaRPr lang="en-US" sz="1200" dirty="0"/>
          </a:p>
        </p:txBody>
      </p:sp>
      <p:sp>
        <p:nvSpPr>
          <p:cNvPr id="22" name="Shape 20"/>
          <p:cNvSpPr/>
          <p:nvPr/>
        </p:nvSpPr>
        <p:spPr>
          <a:xfrm>
            <a:off x="640080" y="5312664"/>
            <a:ext cx="10881360" cy="1051560"/>
          </a:xfrm>
          <a:prstGeom prst="roundRect">
            <a:avLst>
              <a:gd name="adj" fmla="val 78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3" name="Shape 21"/>
          <p:cNvSpPr/>
          <p:nvPr/>
        </p:nvSpPr>
        <p:spPr>
          <a:xfrm>
            <a:off x="896112" y="5605272"/>
            <a:ext cx="457200" cy="457200"/>
          </a:xfrm>
          <a:prstGeom prst="ellipse">
            <a:avLst/>
          </a:prstGeom>
          <a:solidFill>
            <a:srgbClr val="16A34A"/>
          </a:solidFill>
          <a:ln/>
        </p:spPr>
      </p:sp>
      <p:sp>
        <p:nvSpPr>
          <p:cNvPr id="24" name="Text 22"/>
          <p:cNvSpPr/>
          <p:nvPr/>
        </p:nvSpPr>
        <p:spPr>
          <a:xfrm>
            <a:off x="896112" y="56052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5" name="Text 23"/>
          <p:cNvSpPr/>
          <p:nvPr/>
        </p:nvSpPr>
        <p:spPr>
          <a:xfrm>
            <a:off x="1517904" y="5440680"/>
            <a:ext cx="3200400" cy="7772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 strong up-conditioned animal</a:t>
            </a:r>
            <a:endParaRPr lang="en-US" sz="1500" dirty="0"/>
          </a:p>
        </p:txBody>
      </p:sp>
      <p:sp>
        <p:nvSpPr>
          <p:cNvPr id="26" name="Text 24"/>
          <p:cNvSpPr/>
          <p:nvPr/>
        </p:nvSpPr>
        <p:spPr>
          <a:xfrm>
            <a:off x="4846320" y="5440680"/>
            <a:ext cx="4114800" cy="777240"/>
          </a:xfrm>
          <a:prstGeom prst="rect">
            <a:avLst/>
          </a:prstGeom>
          <a:noFill/>
          <a:ln/>
        </p:spPr>
        <p:txBody>
          <a:bodyPr wrap="square" lIns="0" tIns="0" rIns="0" bIns="0" rtlCol="0" anchor="ctr"/>
          <a:lstStyle/>
          <a:p>
            <a:pPr indent="0" marL="0">
              <a:lnSpc>
                <a:spcPct val="102000"/>
              </a:lnSpc>
              <a:buNone/>
            </a:pPr>
            <a:r>
              <a:rPr lang="en-US" sz="1250" dirty="0">
                <a:solidFill>
                  <a:srgbClr val="64748B"/>
                </a:solidFill>
                <a:latin typeface="Calibri" pitchFamily="34" charset="0"/>
                <a:ea typeface="Calibri" pitchFamily="34" charset="-122"/>
                <a:cs typeface="Calibri" pitchFamily="34" charset="-120"/>
              </a:rPr>
              <a:t>Animal 12 was weak. Scanned every log for reward-criterion progression.</a:t>
            </a:r>
            <a:endParaRPr lang="en-US" sz="1250" dirty="0"/>
          </a:p>
        </p:txBody>
      </p:sp>
      <p:sp>
        <p:nvSpPr>
          <p:cNvPr id="27" name="Text 25"/>
          <p:cNvSpPr/>
          <p:nvPr/>
        </p:nvSpPr>
        <p:spPr>
          <a:xfrm>
            <a:off x="9098280" y="5440680"/>
            <a:ext cx="2286000" cy="777240"/>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Found animals 3 and 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DATASET</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Six animals, both directions</a:t>
            </a:r>
            <a:endParaRPr lang="en-US" sz="2900" dirty="0"/>
          </a:p>
        </p:txBody>
      </p:sp>
      <p:sp>
        <p:nvSpPr>
          <p:cNvPr id="4" name="Shape 2"/>
          <p:cNvSpPr/>
          <p:nvPr/>
        </p:nvSpPr>
        <p:spPr>
          <a:xfrm>
            <a:off x="640080" y="1783080"/>
            <a:ext cx="35387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640080" y="1965960"/>
            <a:ext cx="3538728" cy="822960"/>
          </a:xfrm>
          <a:prstGeom prst="rect">
            <a:avLst/>
          </a:prstGeom>
          <a:noFill/>
          <a:ln/>
        </p:spPr>
        <p:txBody>
          <a:bodyPr wrap="square" lIns="0" tIns="0" rIns="0" bIns="0" rtlCol="0" anchor="ctr"/>
          <a:lstStyle/>
          <a:p>
            <a:pPr algn="ctr" indent="0" marL="0">
              <a:buNone/>
            </a:pPr>
            <a:r>
              <a:rPr lang="en-US" sz="4000" b="1" dirty="0">
                <a:solidFill>
                  <a:srgbClr val="6D28D9"/>
                </a:solidFill>
                <a:latin typeface="Cambria" pitchFamily="34" charset="0"/>
                <a:ea typeface="Cambria" pitchFamily="34" charset="-122"/>
                <a:cs typeface="Cambria" pitchFamily="34" charset="-120"/>
              </a:rPr>
              <a:t>6</a:t>
            </a:r>
            <a:endParaRPr lang="en-US" sz="4000" dirty="0"/>
          </a:p>
        </p:txBody>
      </p:sp>
      <p:sp>
        <p:nvSpPr>
          <p:cNvPr id="6" name="Text 4"/>
          <p:cNvSpPr/>
          <p:nvPr/>
        </p:nvSpPr>
        <p:spPr>
          <a:xfrm>
            <a:off x="640080" y="2788920"/>
            <a:ext cx="3538728" cy="45720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animals processed</a:t>
            </a:r>
            <a:endParaRPr lang="en-US" sz="1400" dirty="0"/>
          </a:p>
        </p:txBody>
      </p:sp>
      <p:sp>
        <p:nvSpPr>
          <p:cNvPr id="7" name="Shape 5"/>
          <p:cNvSpPr/>
          <p:nvPr/>
        </p:nvSpPr>
        <p:spPr>
          <a:xfrm>
            <a:off x="4370832" y="1783080"/>
            <a:ext cx="35387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8" name="Text 6"/>
          <p:cNvSpPr/>
          <p:nvPr/>
        </p:nvSpPr>
        <p:spPr>
          <a:xfrm>
            <a:off x="4370832" y="1965960"/>
            <a:ext cx="3538728" cy="822960"/>
          </a:xfrm>
          <a:prstGeom prst="rect">
            <a:avLst/>
          </a:prstGeom>
          <a:noFill/>
          <a:ln/>
        </p:spPr>
        <p:txBody>
          <a:bodyPr wrap="square" lIns="0" tIns="0" rIns="0" bIns="0" rtlCol="0" anchor="ctr"/>
          <a:lstStyle/>
          <a:p>
            <a:pPr algn="ctr" indent="0" marL="0">
              <a:buNone/>
            </a:pPr>
            <a:r>
              <a:rPr lang="en-US" sz="4000" b="1" dirty="0">
                <a:solidFill>
                  <a:srgbClr val="0D9488"/>
                </a:solidFill>
                <a:latin typeface="Cambria" pitchFamily="34" charset="0"/>
                <a:ea typeface="Cambria" pitchFamily="34" charset="-122"/>
                <a:cs typeface="Cambria" pitchFamily="34" charset="-120"/>
              </a:rPr>
              <a:t>2.7M</a:t>
            </a:r>
            <a:endParaRPr lang="en-US" sz="4000" dirty="0"/>
          </a:p>
        </p:txBody>
      </p:sp>
      <p:sp>
        <p:nvSpPr>
          <p:cNvPr id="9" name="Text 7"/>
          <p:cNvSpPr/>
          <p:nvPr/>
        </p:nvSpPr>
        <p:spPr>
          <a:xfrm>
            <a:off x="4370832" y="2788920"/>
            <a:ext cx="3538728" cy="45720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trials decoded</a:t>
            </a:r>
            <a:endParaRPr lang="en-US" sz="1400" dirty="0"/>
          </a:p>
        </p:txBody>
      </p:sp>
      <p:sp>
        <p:nvSpPr>
          <p:cNvPr id="10" name="Shape 8"/>
          <p:cNvSpPr/>
          <p:nvPr/>
        </p:nvSpPr>
        <p:spPr>
          <a:xfrm>
            <a:off x="8101584" y="1783080"/>
            <a:ext cx="3538728" cy="1737360"/>
          </a:xfrm>
          <a:prstGeom prst="roundRect">
            <a:avLst>
              <a:gd name="adj" fmla="val 4737"/>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Text 9"/>
          <p:cNvSpPr/>
          <p:nvPr/>
        </p:nvSpPr>
        <p:spPr>
          <a:xfrm>
            <a:off x="8101584" y="1965960"/>
            <a:ext cx="3538728" cy="822960"/>
          </a:xfrm>
          <a:prstGeom prst="rect">
            <a:avLst/>
          </a:prstGeom>
          <a:noFill/>
          <a:ln/>
        </p:spPr>
        <p:txBody>
          <a:bodyPr wrap="square" lIns="0" tIns="0" rIns="0" bIns="0" rtlCol="0" anchor="ctr"/>
          <a:lstStyle/>
          <a:p>
            <a:pPr algn="ctr" indent="0" marL="0">
              <a:buNone/>
            </a:pPr>
            <a:r>
              <a:rPr lang="en-US" sz="4000" b="1" dirty="0">
                <a:solidFill>
                  <a:srgbClr val="D97706"/>
                </a:solidFill>
                <a:latin typeface="Cambria" pitchFamily="34" charset="0"/>
                <a:ea typeface="Cambria" pitchFamily="34" charset="-122"/>
                <a:cs typeface="Cambria" pitchFamily="34" charset="-120"/>
              </a:rPr>
              <a:t>3 / 3</a:t>
            </a:r>
            <a:endParaRPr lang="en-US" sz="4000" dirty="0"/>
          </a:p>
        </p:txBody>
      </p:sp>
      <p:sp>
        <p:nvSpPr>
          <p:cNvPr id="12" name="Text 10"/>
          <p:cNvSpPr/>
          <p:nvPr/>
        </p:nvSpPr>
        <p:spPr>
          <a:xfrm>
            <a:off x="8101584" y="2788920"/>
            <a:ext cx="3538728" cy="45720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down / up</a:t>
            </a:r>
            <a:endParaRPr lang="en-US" sz="1400" dirty="0"/>
          </a:p>
        </p:txBody>
      </p:sp>
      <p:sp>
        <p:nvSpPr>
          <p:cNvPr id="13" name="Shape 11"/>
          <p:cNvSpPr/>
          <p:nvPr/>
        </p:nvSpPr>
        <p:spPr>
          <a:xfrm>
            <a:off x="640080" y="3794760"/>
            <a:ext cx="10881360" cy="2286000"/>
          </a:xfrm>
          <a:prstGeom prst="roundRect">
            <a:avLst>
              <a:gd name="adj" fmla="val 3600"/>
            </a:avLst>
          </a:prstGeom>
          <a:solidFill>
            <a:srgbClr val="F1F5F9"/>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4" name="Text 12"/>
          <p:cNvSpPr/>
          <p:nvPr/>
        </p:nvSpPr>
        <p:spPr>
          <a:xfrm>
            <a:off x="960120" y="4023360"/>
            <a:ext cx="5486400" cy="365760"/>
          </a:xfrm>
          <a:prstGeom prst="rect">
            <a:avLst/>
          </a:prstGeom>
          <a:noFill/>
          <a:ln/>
        </p:spPr>
        <p:txBody>
          <a:bodyPr wrap="square" lIns="0" tIns="0" rIns="0" bIns="0" rtlCol="0" anchor="ctr"/>
          <a:lstStyle/>
          <a:p>
            <a:pPr indent="0" marL="0">
              <a:buNone/>
            </a:pPr>
            <a:r>
              <a:rPr lang="en-US" sz="1500" b="1" dirty="0">
                <a:solidFill>
                  <a:srgbClr val="6D28D9"/>
                </a:solidFill>
                <a:latin typeface="Calibri" pitchFamily="34" charset="0"/>
                <a:ea typeface="Calibri" pitchFamily="34" charset="-122"/>
                <a:cs typeface="Calibri" pitchFamily="34" charset="-120"/>
              </a:rPr>
              <a:t>How we found the up animals</a:t>
            </a:r>
            <a:endParaRPr lang="en-US" sz="1500" dirty="0"/>
          </a:p>
        </p:txBody>
      </p:sp>
      <p:sp>
        <p:nvSpPr>
          <p:cNvPr id="15" name="Text 13"/>
          <p:cNvSpPr/>
          <p:nvPr/>
        </p:nvSpPr>
        <p:spPr>
          <a:xfrm>
            <a:off x="960120" y="4434840"/>
            <a:ext cx="10241280" cy="822960"/>
          </a:xfrm>
          <a:prstGeom prst="rect">
            <a:avLst/>
          </a:prstGeom>
          <a:noFill/>
          <a:ln/>
        </p:spPr>
        <p:txBody>
          <a:bodyPr wrap="square" lIns="0" tIns="0" rIns="0" bIns="0" rtlCol="0" anchor="ctr"/>
          <a:lstStyle/>
          <a:p>
            <a:pPr indent="0" marL="0">
              <a:lnSpc>
                <a:spcPct val="104000"/>
              </a:lnSpc>
              <a:buNone/>
            </a:pPr>
            <a:r>
              <a:rPr lang="en-US" sz="1400" dirty="0">
                <a:solidFill>
                  <a:srgbClr val="1E293B"/>
                </a:solidFill>
                <a:latin typeface="Calibri" pitchFamily="34" charset="0"/>
                <a:ea typeface="Calibri" pitchFamily="34" charset="-122"/>
                <a:cs typeface="Calibri" pitchFamily="34" charset="-120"/>
              </a:rPr>
              <a:t>We scanned every animal's log without downloading the data. The reward criterion (RW) is a success readout — you raise the bar when the rat beats it, lower it when it struggles.</a:t>
            </a:r>
            <a:endParaRPr lang="en-US" sz="1400" dirty="0"/>
          </a:p>
        </p:txBody>
      </p:sp>
      <p:sp>
        <p:nvSpPr>
          <p:cNvPr id="16" name="Text 14"/>
          <p:cNvSpPr/>
          <p:nvPr/>
        </p:nvSpPr>
        <p:spPr>
          <a:xfrm>
            <a:off x="960120" y="5349240"/>
            <a:ext cx="10241280" cy="457200"/>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Animal 4: RW 150→220 (+47%)   •   Animal 3: RW 90→190 (+111%)</a:t>
            </a:r>
            <a:pPr indent="0" marL="0">
              <a:buNone/>
            </a:pPr>
            <a:r>
              <a:rPr lang="en-US" sz="1400" dirty="0">
                <a:solidFill>
                  <a:srgbClr val="64748B"/>
                </a:solidFill>
                <a:latin typeface="Calibri" pitchFamily="34" charset="0"/>
                <a:ea typeface="Calibri" pitchFamily="34" charset="-122"/>
                <a:cs typeface="Calibri" pitchFamily="34" charset="-120"/>
              </a:rPr>
              <a:t>        Animals 1 and 6: criterion lowered — failed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16A34A"/>
                </a:solidFill>
                <a:latin typeface="Calibri" pitchFamily="34" charset="0"/>
                <a:ea typeface="Calibri" pitchFamily="34" charset="-122"/>
                <a:cs typeface="Calibri" pitchFamily="34" charset="-120"/>
              </a:rPr>
              <a:t>RESULT 1 · BEHAVIOUR</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Conditioning works in both directions</a:t>
            </a:r>
            <a:endParaRPr lang="en-US" sz="2900" dirty="0"/>
          </a:p>
        </p:txBody>
      </p:sp>
      <p:pic>
        <p:nvPicPr>
          <p:cNvPr id="4" name="Image 0" descr="outputs/updown/updown_contrast.png">    </p:cNvPr>
          <p:cNvPicPr>
            <a:picLocks noChangeAspect="1"/>
          </p:cNvPicPr>
          <p:nvPr/>
        </p:nvPicPr>
        <p:blipFill>
          <a:blip r:embed="rId1"/>
          <a:srcRect l="0" r="0" t="0" b="0"/>
          <a:stretch/>
        </p:blipFill>
        <p:spPr>
          <a:xfrm>
            <a:off x="457200" y="1783080"/>
            <a:ext cx="6949440" cy="2672862"/>
          </a:xfrm>
          <a:prstGeom prst="rect">
            <a:avLst/>
          </a:prstGeom>
        </p:spPr>
      </p:pic>
      <p:sp>
        <p:nvSpPr>
          <p:cNvPr id="5" name="Shape 2"/>
          <p:cNvSpPr/>
          <p:nvPr/>
        </p:nvSpPr>
        <p:spPr>
          <a:xfrm>
            <a:off x="7726680" y="1920240"/>
            <a:ext cx="3794760" cy="3840480"/>
          </a:xfrm>
          <a:prstGeom prst="roundRect">
            <a:avLst>
              <a:gd name="adj" fmla="val 2169"/>
            </a:avLst>
          </a:prstGeom>
          <a:solidFill>
            <a:srgbClr val="F0FDF4"/>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7955280" y="2148840"/>
            <a:ext cx="3291840" cy="320040"/>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Left panel</a:t>
            </a:r>
            <a:endParaRPr lang="en-US" sz="1400" dirty="0"/>
          </a:p>
        </p:txBody>
      </p:sp>
      <p:sp>
        <p:nvSpPr>
          <p:cNvPr id="7" name="Text 4"/>
          <p:cNvSpPr/>
          <p:nvPr/>
        </p:nvSpPr>
        <p:spPr>
          <a:xfrm>
            <a:off x="7955280" y="2560320"/>
            <a:ext cx="3337560" cy="137160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Corrected H, aligned to each animal's own onset. Red (up) rises, blue (down) falls. Group difference +72 percentage points.</a:t>
            </a:r>
            <a:endParaRPr lang="en-US" sz="1350" dirty="0"/>
          </a:p>
        </p:txBody>
      </p:sp>
      <p:sp>
        <p:nvSpPr>
          <p:cNvPr id="8" name="Text 5"/>
          <p:cNvSpPr/>
          <p:nvPr/>
        </p:nvSpPr>
        <p:spPr>
          <a:xfrm>
            <a:off x="7955280" y="3977640"/>
            <a:ext cx="3337560" cy="914400"/>
          </a:xfrm>
          <a:prstGeom prst="rect">
            <a:avLst/>
          </a:prstGeom>
          <a:noFill/>
          <a:ln/>
        </p:spPr>
        <p:txBody>
          <a:bodyPr wrap="square" lIns="0" tIns="0" rIns="0" bIns="0" rtlCol="0" anchor="ctr"/>
          <a:lstStyle/>
          <a:p>
            <a:pPr indent="0" marL="0">
              <a:lnSpc>
                <a:spcPct val="105000"/>
              </a:lnSpc>
              <a:buNone/>
            </a:pPr>
            <a:r>
              <a:rPr lang="en-US" sz="1350" b="1" dirty="0">
                <a:solidFill>
                  <a:srgbClr val="1E293B"/>
                </a:solidFill>
                <a:latin typeface="Calibri" pitchFamily="34" charset="0"/>
                <a:ea typeface="Calibri" pitchFamily="34" charset="-122"/>
                <a:cs typeface="Calibri" pitchFamily="34" charset="-120"/>
              </a:rPr>
              <a:t>Animals 9, 11 (down) and 3 (up) clear your 20% criterion.</a:t>
            </a:r>
            <a:endParaRPr lang="en-US" sz="1350" dirty="0"/>
          </a:p>
        </p:txBody>
      </p:sp>
      <p:sp>
        <p:nvSpPr>
          <p:cNvPr id="9" name="Text 6"/>
          <p:cNvSpPr/>
          <p:nvPr/>
        </p:nvSpPr>
        <p:spPr>
          <a:xfrm>
            <a:off x="7955280" y="4937760"/>
            <a:ext cx="3337560" cy="731520"/>
          </a:xfrm>
          <a:prstGeom prst="rect">
            <a:avLst/>
          </a:prstGeom>
          <a:noFill/>
          <a:ln/>
        </p:spPr>
        <p:txBody>
          <a:bodyPr wrap="square" lIns="0" tIns="0" rIns="0" bIns="0" rtlCol="0" anchor="ctr"/>
          <a:lstStyle/>
          <a:p>
            <a:pPr indent="0" marL="0">
              <a:lnSpc>
                <a:spcPct val="103000"/>
              </a:lnSpc>
              <a:buNone/>
            </a:pPr>
            <a:r>
              <a:rPr lang="en-US" sz="1250" i="1" dirty="0">
                <a:solidFill>
                  <a:srgbClr val="64748B"/>
                </a:solidFill>
                <a:latin typeface="Calibri" pitchFamily="34" charset="0"/>
                <a:ea typeface="Calibri" pitchFamily="34" charset="-122"/>
                <a:cs typeface="Calibri" pitchFamily="34" charset="-120"/>
              </a:rPr>
              <a:t>All with stimulus and pre-stimulus background regressed out.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D97706"/>
                </a:solidFill>
                <a:latin typeface="Calibri" pitchFamily="34" charset="0"/>
                <a:ea typeface="Calibri" pitchFamily="34" charset="-122"/>
                <a:cs typeface="Calibri" pitchFamily="34" charset="-120"/>
              </a:rPr>
              <a:t>RESULT 2 · THE DRIFT QUESTION, ANSWERED</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Cortical drift is not conditioning</a:t>
            </a:r>
            <a:endParaRPr lang="en-US" sz="2900" dirty="0"/>
          </a:p>
        </p:txBody>
      </p:sp>
      <p:sp>
        <p:nvSpPr>
          <p:cNvPr id="4" name="Shape 2"/>
          <p:cNvSpPr/>
          <p:nvPr/>
        </p:nvSpPr>
        <p:spPr>
          <a:xfrm>
            <a:off x="640080" y="1783080"/>
            <a:ext cx="5349240" cy="1965960"/>
          </a:xfrm>
          <a:prstGeom prst="roundRect">
            <a:avLst>
              <a:gd name="adj" fmla="val 4186"/>
            </a:avLst>
          </a:prstGeom>
          <a:solidFill>
            <a:srgbClr val="F1F5F9"/>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914400" y="2011680"/>
            <a:ext cx="457200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The logic</a:t>
            </a:r>
            <a:endParaRPr lang="en-US" sz="1500" dirty="0"/>
          </a:p>
        </p:txBody>
      </p:sp>
      <p:sp>
        <p:nvSpPr>
          <p:cNvPr id="6" name="Text 4"/>
          <p:cNvSpPr/>
          <p:nvPr/>
        </p:nvSpPr>
        <p:spPr>
          <a:xfrm>
            <a:off x="914400" y="2395728"/>
            <a:ext cx="4846320" cy="1188720"/>
          </a:xfrm>
          <a:prstGeom prst="rect">
            <a:avLst/>
          </a:prstGeom>
          <a:noFill/>
          <a:ln/>
        </p:spPr>
        <p:txBody>
          <a:bodyPr wrap="square" lIns="0" tIns="0" rIns="0" bIns="0" rtlCol="0" anchor="ctr"/>
          <a:lstStyle/>
          <a:p>
            <a:pPr indent="0" marL="0">
              <a:lnSpc>
                <a:spcPct val="105000"/>
              </a:lnSpc>
              <a:buNone/>
            </a:pPr>
            <a:r>
              <a:rPr lang="en-US" sz="1400" dirty="0">
                <a:solidFill>
                  <a:srgbClr val="1E293B"/>
                </a:solidFill>
                <a:latin typeface="Calibri" pitchFamily="34" charset="0"/>
                <a:ea typeface="Calibri" pitchFamily="34" charset="-122"/>
                <a:cs typeface="Calibri" pitchFamily="34" charset="-120"/>
              </a:rPr>
              <a:t>Recording drift doesn't care which direction you trained the animal. Conditioning does. So if the drift is learning, it must differ between up and down.</a:t>
            </a:r>
            <a:endParaRPr lang="en-US" sz="1400" dirty="0"/>
          </a:p>
        </p:txBody>
      </p:sp>
      <p:sp>
        <p:nvSpPr>
          <p:cNvPr id="7" name="Shape 5"/>
          <p:cNvSpPr/>
          <p:nvPr/>
        </p:nvSpPr>
        <p:spPr>
          <a:xfrm>
            <a:off x="6172200" y="1783080"/>
            <a:ext cx="5349240" cy="1965960"/>
          </a:xfrm>
          <a:prstGeom prst="roundRect">
            <a:avLst>
              <a:gd name="adj" fmla="val 4186"/>
            </a:avLst>
          </a:prstGeom>
          <a:solidFill>
            <a:srgbClr val="FEF3E2"/>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8" name="Text 6"/>
          <p:cNvSpPr/>
          <p:nvPr/>
        </p:nvSpPr>
        <p:spPr>
          <a:xfrm>
            <a:off x="6446520" y="2011680"/>
            <a:ext cx="4572000" cy="32004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It doesn't</a:t>
            </a:r>
            <a:endParaRPr lang="en-US" sz="1500" dirty="0"/>
          </a:p>
        </p:txBody>
      </p:sp>
      <p:sp>
        <p:nvSpPr>
          <p:cNvPr id="9" name="Text 7"/>
          <p:cNvSpPr/>
          <p:nvPr/>
        </p:nvSpPr>
        <p:spPr>
          <a:xfrm>
            <a:off x="6446520" y="2395728"/>
            <a:ext cx="4846320" cy="1188720"/>
          </a:xfrm>
          <a:prstGeom prst="rect">
            <a:avLst/>
          </a:prstGeom>
          <a:noFill/>
          <a:ln/>
        </p:spPr>
        <p:txBody>
          <a:bodyPr wrap="square" lIns="0" tIns="0" rIns="0" bIns="0" rtlCol="0" anchor="ctr"/>
          <a:lstStyle/>
          <a:p>
            <a:pPr indent="0" marL="0">
              <a:lnSpc>
                <a:spcPct val="105000"/>
              </a:lnSpc>
              <a:buNone/>
            </a:pPr>
            <a:r>
              <a:rPr lang="en-US" sz="1400" dirty="0">
                <a:solidFill>
                  <a:srgbClr val="1E293B"/>
                </a:solidFill>
                <a:latin typeface="Calibri" pitchFamily="34" charset="0"/>
                <a:ea typeface="Calibri" pitchFamily="34" charset="-122"/>
                <a:cs typeface="Calibri" pitchFamily="34" charset="-120"/>
              </a:rPr>
              <a:t>Up 21.9 vs down 34.6, t = −1.01, not significant. No direction dependence, so the drift is recording nonstationarity.</a:t>
            </a:r>
            <a:endParaRPr lang="en-US" sz="1400" dirty="0"/>
          </a:p>
        </p:txBody>
      </p:sp>
      <p:sp>
        <p:nvSpPr>
          <p:cNvPr id="10" name="Shape 8"/>
          <p:cNvSpPr/>
          <p:nvPr/>
        </p:nvSpPr>
        <p:spPr>
          <a:xfrm>
            <a:off x="640080" y="3977640"/>
            <a:ext cx="10881360" cy="713232"/>
          </a:xfrm>
          <a:prstGeom prst="roundRect">
            <a:avLst>
              <a:gd name="adj" fmla="val 1153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Text 9"/>
          <p:cNvSpPr/>
          <p:nvPr/>
        </p:nvSpPr>
        <p:spPr>
          <a:xfrm>
            <a:off x="960120" y="4069080"/>
            <a:ext cx="5029200" cy="530352"/>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Sham null (baseline split)</a:t>
            </a:r>
            <a:endParaRPr lang="en-US" sz="1450" dirty="0"/>
          </a:p>
        </p:txBody>
      </p:sp>
      <p:sp>
        <p:nvSpPr>
          <p:cNvPr id="12" name="Text 10"/>
          <p:cNvSpPr/>
          <p:nvPr/>
        </p:nvSpPr>
        <p:spPr>
          <a:xfrm>
            <a:off x="6217920" y="4069080"/>
            <a:ext cx="5029200" cy="530352"/>
          </a:xfrm>
          <a:prstGeom prst="rect">
            <a:avLst/>
          </a:prstGeom>
          <a:noFill/>
          <a:ln/>
        </p:spPr>
        <p:txBody>
          <a:bodyPr wrap="square" lIns="0" tIns="0" rIns="0" bIns="0"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fails in 5 of 6 animals</a:t>
            </a:r>
            <a:endParaRPr lang="en-US" sz="1400" dirty="0"/>
          </a:p>
        </p:txBody>
      </p:sp>
      <p:sp>
        <p:nvSpPr>
          <p:cNvPr id="13" name="Shape 11"/>
          <p:cNvSpPr/>
          <p:nvPr/>
        </p:nvSpPr>
        <p:spPr>
          <a:xfrm>
            <a:off x="640080" y="4800600"/>
            <a:ext cx="10881360" cy="713232"/>
          </a:xfrm>
          <a:prstGeom prst="roundRect">
            <a:avLst>
              <a:gd name="adj" fmla="val 1153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4" name="Text 12"/>
          <p:cNvSpPr/>
          <p:nvPr/>
        </p:nvSpPr>
        <p:spPr>
          <a:xfrm>
            <a:off x="960120" y="4892040"/>
            <a:ext cx="5029200" cy="530352"/>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Randomised-order null</a:t>
            </a:r>
            <a:endParaRPr lang="en-US" sz="1450" dirty="0"/>
          </a:p>
        </p:txBody>
      </p:sp>
      <p:sp>
        <p:nvSpPr>
          <p:cNvPr id="15" name="Text 13"/>
          <p:cNvSpPr/>
          <p:nvPr/>
        </p:nvSpPr>
        <p:spPr>
          <a:xfrm>
            <a:off x="6217920" y="4892040"/>
            <a:ext cx="5029200" cy="530352"/>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passes — ≈0 everywhere</a:t>
            </a:r>
            <a:endParaRPr lang="en-US" sz="1400" dirty="0"/>
          </a:p>
        </p:txBody>
      </p:sp>
      <p:sp>
        <p:nvSpPr>
          <p:cNvPr id="16" name="Shape 14"/>
          <p:cNvSpPr/>
          <p:nvPr/>
        </p:nvSpPr>
        <p:spPr>
          <a:xfrm>
            <a:off x="640080" y="5623560"/>
            <a:ext cx="10881360" cy="713232"/>
          </a:xfrm>
          <a:prstGeom prst="roundRect">
            <a:avLst>
              <a:gd name="adj" fmla="val 1153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7" name="Text 15"/>
          <p:cNvSpPr/>
          <p:nvPr/>
        </p:nvSpPr>
        <p:spPr>
          <a:xfrm>
            <a:off x="960120" y="5715000"/>
            <a:ext cx="5029200" cy="530352"/>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Direction contrast</a:t>
            </a:r>
            <a:endParaRPr lang="en-US" sz="1450" dirty="0"/>
          </a:p>
        </p:txBody>
      </p:sp>
      <p:sp>
        <p:nvSpPr>
          <p:cNvPr id="18" name="Text 16"/>
          <p:cNvSpPr/>
          <p:nvPr/>
        </p:nvSpPr>
        <p:spPr>
          <a:xfrm>
            <a:off x="6217920" y="5715000"/>
            <a:ext cx="5029200" cy="530352"/>
          </a:xfrm>
          <a:prstGeom prst="rect">
            <a:avLst/>
          </a:prstGeom>
          <a:noFill/>
          <a:ln/>
        </p:spPr>
        <p:txBody>
          <a:bodyPr wrap="square" lIns="0" tIns="0" rIns="0" bIns="0"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no difference (t = −1.01)</a:t>
            </a:r>
            <a:endParaRPr lang="en-US" sz="1400" dirty="0"/>
          </a:p>
        </p:txBody>
      </p:sp>
      <p:sp>
        <p:nvSpPr>
          <p:cNvPr id="19" name="Text 17"/>
          <p:cNvSpPr/>
          <p:nvPr/>
        </p:nvSpPr>
        <p:spPr>
          <a:xfrm>
            <a:off x="658368" y="6400800"/>
            <a:ext cx="1088136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Three independent controls agree. This question is answered.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6D28D9"/>
                </a:solidFill>
                <a:latin typeface="Calibri" pitchFamily="34" charset="0"/>
                <a:ea typeface="Calibri" pitchFamily="34" charset="-122"/>
                <a:cs typeface="Calibri" pitchFamily="34" charset="-120"/>
              </a:rPr>
              <a:t>SO WE CHANGED THE QUESTION</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A question drift can't contaminate</a:t>
            </a:r>
            <a:endParaRPr lang="en-US" sz="2900" dirty="0"/>
          </a:p>
        </p:txBody>
      </p:sp>
      <p:sp>
        <p:nvSpPr>
          <p:cNvPr id="4" name="Shape 2"/>
          <p:cNvSpPr/>
          <p:nvPr/>
        </p:nvSpPr>
        <p:spPr>
          <a:xfrm>
            <a:off x="640080" y="1828800"/>
            <a:ext cx="5349240" cy="1828800"/>
          </a:xfrm>
          <a:prstGeom prst="roundRect">
            <a:avLst>
              <a:gd name="adj" fmla="val 4500"/>
            </a:avLst>
          </a:prstGeom>
          <a:solidFill>
            <a:srgbClr val="F1F5F9"/>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Text 3"/>
          <p:cNvSpPr/>
          <p:nvPr/>
        </p:nvSpPr>
        <p:spPr>
          <a:xfrm>
            <a:off x="914400" y="2057400"/>
            <a:ext cx="4572000" cy="32004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Old question</a:t>
            </a:r>
            <a:endParaRPr lang="en-US" sz="1400" dirty="0"/>
          </a:p>
        </p:txBody>
      </p:sp>
      <p:sp>
        <p:nvSpPr>
          <p:cNvPr id="6" name="Text 4"/>
          <p:cNvSpPr/>
          <p:nvPr/>
        </p:nvSpPr>
        <p:spPr>
          <a:xfrm>
            <a:off x="914400" y="2468880"/>
            <a:ext cx="4846320" cy="1005840"/>
          </a:xfrm>
          <a:prstGeom prst="rect">
            <a:avLst/>
          </a:prstGeom>
          <a:noFill/>
          <a:ln/>
        </p:spPr>
        <p:txBody>
          <a:bodyPr wrap="square" lIns="0" tIns="0" rIns="0" bIns="0" rtlCol="0" anchor="ctr"/>
          <a:lstStyle/>
          <a:p>
            <a:pPr indent="0" marL="0">
              <a:lnSpc>
                <a:spcPct val="105000"/>
              </a:lnSpc>
              <a:buNone/>
            </a:pPr>
            <a:r>
              <a:rPr lang="en-US" sz="1700" i="1" dirty="0">
                <a:solidFill>
                  <a:srgbClr val="1E293B"/>
                </a:solidFill>
                <a:latin typeface="Cambria" pitchFamily="34" charset="0"/>
                <a:ea typeface="Cambria" pitchFamily="34" charset="-122"/>
                <a:cs typeface="Cambria" pitchFamily="34" charset="-120"/>
              </a:rPr>
              <a:t>"Did the average cortical state move over weeks?"</a:t>
            </a:r>
            <a:endParaRPr lang="en-US" sz="1700" dirty="0"/>
          </a:p>
        </p:txBody>
      </p:sp>
      <p:sp>
        <p:nvSpPr>
          <p:cNvPr id="7" name="Shape 5"/>
          <p:cNvSpPr/>
          <p:nvPr/>
        </p:nvSpPr>
        <p:spPr>
          <a:xfrm>
            <a:off x="6172200" y="1828800"/>
            <a:ext cx="5349240" cy="1828800"/>
          </a:xfrm>
          <a:prstGeom prst="roundRect">
            <a:avLst>
              <a:gd name="adj" fmla="val 4500"/>
            </a:avLst>
          </a:prstGeom>
          <a:solidFill>
            <a:srgbClr val="F5F3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8" name="Text 6"/>
          <p:cNvSpPr/>
          <p:nvPr/>
        </p:nvSpPr>
        <p:spPr>
          <a:xfrm>
            <a:off x="6446520" y="2057400"/>
            <a:ext cx="4572000" cy="320040"/>
          </a:xfrm>
          <a:prstGeom prst="rect">
            <a:avLst/>
          </a:prstGeom>
          <a:noFill/>
          <a:ln/>
        </p:spPr>
        <p:txBody>
          <a:bodyPr wrap="square" lIns="0" tIns="0" rIns="0" bIns="0" rtlCol="0" anchor="ctr"/>
          <a:lstStyle/>
          <a:p>
            <a:pPr indent="0" marL="0">
              <a:buNone/>
            </a:pPr>
            <a:r>
              <a:rPr lang="en-US" sz="1400" b="1" dirty="0">
                <a:solidFill>
                  <a:srgbClr val="6D28D9"/>
                </a:solidFill>
                <a:latin typeface="Calibri" pitchFamily="34" charset="0"/>
                <a:ea typeface="Calibri" pitchFamily="34" charset="-122"/>
                <a:cs typeface="Calibri" pitchFamily="34" charset="-120"/>
              </a:rPr>
              <a:t>New question</a:t>
            </a:r>
            <a:endParaRPr lang="en-US" sz="1400" dirty="0"/>
          </a:p>
        </p:txBody>
      </p:sp>
      <p:sp>
        <p:nvSpPr>
          <p:cNvPr id="9" name="Text 7"/>
          <p:cNvSpPr/>
          <p:nvPr/>
        </p:nvSpPr>
        <p:spPr>
          <a:xfrm>
            <a:off x="6446520" y="2468880"/>
            <a:ext cx="4846320" cy="1005840"/>
          </a:xfrm>
          <a:prstGeom prst="rect">
            <a:avLst/>
          </a:prstGeom>
          <a:noFill/>
          <a:ln/>
        </p:spPr>
        <p:txBody>
          <a:bodyPr wrap="square" lIns="0" tIns="0" rIns="0" bIns="0" rtlCol="0" anchor="ctr"/>
          <a:lstStyle/>
          <a:p>
            <a:pPr indent="0" marL="0">
              <a:lnSpc>
                <a:spcPct val="105000"/>
              </a:lnSpc>
              <a:buNone/>
            </a:pPr>
            <a:r>
              <a:rPr lang="en-US" sz="1700" b="1" i="1" dirty="0">
                <a:solidFill>
                  <a:srgbClr val="6D28D9"/>
                </a:solidFill>
                <a:latin typeface="Cambria" pitchFamily="34" charset="0"/>
                <a:ea typeface="Cambria" pitchFamily="34" charset="-122"/>
                <a:cs typeface="Cambria" pitchFamily="34" charset="-120"/>
              </a:rPr>
              <a:t>"Can cortex predict the reflex trial by trial?"</a:t>
            </a:r>
            <a:endParaRPr lang="en-US" sz="1700" dirty="0"/>
          </a:p>
        </p:txBody>
      </p:sp>
      <p:sp>
        <p:nvSpPr>
          <p:cNvPr id="10" name="Shape 8"/>
          <p:cNvSpPr/>
          <p:nvPr/>
        </p:nvSpPr>
        <p:spPr>
          <a:xfrm>
            <a:off x="640080" y="3977640"/>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1" name="Shape 9"/>
          <p:cNvSpPr/>
          <p:nvPr/>
        </p:nvSpPr>
        <p:spPr>
          <a:xfrm>
            <a:off x="896112" y="4142232"/>
            <a:ext cx="457200" cy="457200"/>
          </a:xfrm>
          <a:prstGeom prst="ellipse">
            <a:avLst/>
          </a:prstGeom>
          <a:solidFill>
            <a:srgbClr val="6D28D9"/>
          </a:solidFill>
          <a:ln/>
        </p:spPr>
      </p:sp>
      <p:sp>
        <p:nvSpPr>
          <p:cNvPr id="12" name="Text 10"/>
          <p:cNvSpPr/>
          <p:nvPr/>
        </p:nvSpPr>
        <p:spPr>
          <a:xfrm>
            <a:off x="896112" y="41422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3" name="Text 11"/>
          <p:cNvSpPr/>
          <p:nvPr/>
        </p:nvSpPr>
        <p:spPr>
          <a:xfrm>
            <a:off x="1517904" y="4087368"/>
            <a:ext cx="3657600" cy="56692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Train and test inside one 5-day block</a:t>
            </a:r>
            <a:endParaRPr lang="en-US" sz="1400" dirty="0"/>
          </a:p>
        </p:txBody>
      </p:sp>
      <p:sp>
        <p:nvSpPr>
          <p:cNvPr id="14" name="Text 12"/>
          <p:cNvSpPr/>
          <p:nvPr/>
        </p:nvSpPr>
        <p:spPr>
          <a:xfrm>
            <a:off x="5303520" y="4087368"/>
            <a:ext cx="5943600" cy="566928"/>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Slow drift moves train and test together, so it cancels. Drift cannot create within-block predictive structure.</a:t>
            </a:r>
            <a:endParaRPr lang="en-US" sz="1250" dirty="0"/>
          </a:p>
        </p:txBody>
      </p:sp>
      <p:sp>
        <p:nvSpPr>
          <p:cNvPr id="15" name="Shape 13"/>
          <p:cNvSpPr/>
          <p:nvPr/>
        </p:nvSpPr>
        <p:spPr>
          <a:xfrm>
            <a:off x="640080" y="4864608"/>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6" name="Shape 14"/>
          <p:cNvSpPr/>
          <p:nvPr/>
        </p:nvSpPr>
        <p:spPr>
          <a:xfrm>
            <a:off x="896112" y="5029200"/>
            <a:ext cx="457200" cy="457200"/>
          </a:xfrm>
          <a:prstGeom prst="ellipse">
            <a:avLst/>
          </a:prstGeom>
          <a:solidFill>
            <a:srgbClr val="6D28D9"/>
          </a:solidFill>
          <a:ln/>
        </p:spPr>
      </p:sp>
      <p:sp>
        <p:nvSpPr>
          <p:cNvPr id="17" name="Text 15"/>
          <p:cNvSpPr/>
          <p:nvPr/>
        </p:nvSpPr>
        <p:spPr>
          <a:xfrm>
            <a:off x="896112" y="50292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8" name="Text 16"/>
          <p:cNvSpPr/>
          <p:nvPr/>
        </p:nvSpPr>
        <p:spPr>
          <a:xfrm>
            <a:off x="1517904" y="4974336"/>
            <a:ext cx="3657600" cy="56692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Stimulus and background removed first</a:t>
            </a:r>
            <a:endParaRPr lang="en-US" sz="1400" dirty="0"/>
          </a:p>
        </p:txBody>
      </p:sp>
      <p:sp>
        <p:nvSpPr>
          <p:cNvPr id="19" name="Text 17"/>
          <p:cNvSpPr/>
          <p:nvPr/>
        </p:nvSpPr>
        <p:spPr>
          <a:xfrm>
            <a:off x="5303520" y="4974336"/>
            <a:ext cx="5943600" cy="566928"/>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So the decoder can't cheat by reading stimulus size or muscle tone.</a:t>
            </a:r>
            <a:endParaRPr lang="en-US" sz="1250" dirty="0"/>
          </a:p>
        </p:txBody>
      </p:sp>
      <p:sp>
        <p:nvSpPr>
          <p:cNvPr id="20" name="Shape 18"/>
          <p:cNvSpPr/>
          <p:nvPr/>
        </p:nvSpPr>
        <p:spPr>
          <a:xfrm>
            <a:off x="640080" y="5751576"/>
            <a:ext cx="10881360" cy="777240"/>
          </a:xfrm>
          <a:prstGeom prst="roundRect">
            <a:avLst>
              <a:gd name="adj" fmla="val 10588"/>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1" name="Shape 19"/>
          <p:cNvSpPr/>
          <p:nvPr/>
        </p:nvSpPr>
        <p:spPr>
          <a:xfrm>
            <a:off x="896112" y="5916168"/>
            <a:ext cx="457200" cy="457200"/>
          </a:xfrm>
          <a:prstGeom prst="ellipse">
            <a:avLst/>
          </a:prstGeom>
          <a:solidFill>
            <a:srgbClr val="6D28D9"/>
          </a:solidFill>
          <a:ln/>
        </p:spPr>
      </p:sp>
      <p:sp>
        <p:nvSpPr>
          <p:cNvPr id="22" name="Text 20"/>
          <p:cNvSpPr/>
          <p:nvPr/>
        </p:nvSpPr>
        <p:spPr>
          <a:xfrm>
            <a:off x="896112" y="59161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3" name="Text 21"/>
          <p:cNvSpPr/>
          <p:nvPr/>
        </p:nvSpPr>
        <p:spPr>
          <a:xfrm>
            <a:off x="1517904" y="5861304"/>
            <a:ext cx="3657600" cy="56692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Within-block label shuffle as the null</a:t>
            </a:r>
            <a:endParaRPr lang="en-US" sz="1400" dirty="0"/>
          </a:p>
        </p:txBody>
      </p:sp>
      <p:sp>
        <p:nvSpPr>
          <p:cNvPr id="24" name="Text 22"/>
          <p:cNvSpPr/>
          <p:nvPr/>
        </p:nvSpPr>
        <p:spPr>
          <a:xfrm>
            <a:off x="5303520" y="5861304"/>
            <a:ext cx="5943600" cy="566928"/>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Real coupling has to beat a shuffle of its own block.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16A34A"/>
                </a:solidFill>
                <a:latin typeface="Calibri" pitchFamily="34" charset="0"/>
                <a:ea typeface="Calibri" pitchFamily="34" charset="-122"/>
                <a:cs typeface="Calibri" pitchFamily="34" charset="-120"/>
              </a:rPr>
              <a:t>RESULT 3 · THE POSITIVE FINDING</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Cortex predicts the reflex, trial by trial</a:t>
            </a:r>
            <a:endParaRPr lang="en-US" sz="2900" dirty="0"/>
          </a:p>
        </p:txBody>
      </p:sp>
      <p:pic>
        <p:nvPicPr>
          <p:cNvPr id="4" name="Image 0" descr="outputs/coupling/coupling_group.png">    </p:cNvPr>
          <p:cNvPicPr>
            <a:picLocks noChangeAspect="1"/>
          </p:cNvPicPr>
          <p:nvPr/>
        </p:nvPicPr>
        <p:blipFill>
          <a:blip r:embed="rId1"/>
          <a:srcRect l="0" r="0" t="0" b="0"/>
          <a:stretch/>
        </p:blipFill>
        <p:spPr>
          <a:xfrm>
            <a:off x="502920" y="1783080"/>
            <a:ext cx="6564935" cy="3794760"/>
          </a:xfrm>
          <a:prstGeom prst="rect">
            <a:avLst/>
          </a:prstGeom>
        </p:spPr>
      </p:pic>
      <p:sp>
        <p:nvSpPr>
          <p:cNvPr id="5" name="Shape 2"/>
          <p:cNvSpPr/>
          <p:nvPr/>
        </p:nvSpPr>
        <p:spPr>
          <a:xfrm>
            <a:off x="7680960" y="1920240"/>
            <a:ext cx="3840480" cy="3840480"/>
          </a:xfrm>
          <a:prstGeom prst="roundRect">
            <a:avLst>
              <a:gd name="adj" fmla="val 2143"/>
            </a:avLst>
          </a:prstGeom>
          <a:solidFill>
            <a:srgbClr val="F0FDF4"/>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7909560" y="2148840"/>
            <a:ext cx="3383280" cy="457200"/>
          </a:xfrm>
          <a:prstGeom prst="rect">
            <a:avLst/>
          </a:prstGeom>
          <a:noFill/>
          <a:ln/>
        </p:spPr>
        <p:txBody>
          <a:bodyPr wrap="square" lIns="0" tIns="0" rIns="0" bIns="0" rtlCol="0" anchor="ctr"/>
          <a:lstStyle/>
          <a:p>
            <a:pPr indent="0" marL="0">
              <a:buNone/>
            </a:pPr>
            <a:r>
              <a:rPr lang="en-US" sz="2400" b="1" dirty="0">
                <a:solidFill>
                  <a:srgbClr val="16A34A"/>
                </a:solidFill>
                <a:latin typeface="Cambria" pitchFamily="34" charset="0"/>
                <a:ea typeface="Cambria" pitchFamily="34" charset="-122"/>
                <a:cs typeface="Cambria" pitchFamily="34" charset="-120"/>
              </a:rPr>
              <a:t>R² up to 0.35</a:t>
            </a:r>
            <a:endParaRPr lang="en-US" sz="2400" dirty="0"/>
          </a:p>
        </p:txBody>
      </p:sp>
      <p:sp>
        <p:nvSpPr>
          <p:cNvPr id="7" name="Text 4"/>
          <p:cNvSpPr/>
          <p:nvPr/>
        </p:nvSpPr>
        <p:spPr>
          <a:xfrm>
            <a:off x="7909560" y="2697480"/>
            <a:ext cx="3383280" cy="914400"/>
          </a:xfrm>
          <a:prstGeom prst="rect">
            <a:avLst/>
          </a:prstGeom>
          <a:noFill/>
          <a:ln/>
        </p:spPr>
        <p:txBody>
          <a:bodyPr wrap="square" lIns="0" tIns="0" rIns="0" bIns="0" rtlCol="0" anchor="ctr"/>
          <a:lstStyle/>
          <a:p>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against a shuffle null of ≈ 0. Present in every animal (0.02–0.19 mean).</a:t>
            </a:r>
            <a:endParaRPr lang="en-US" sz="1350" dirty="0"/>
          </a:p>
        </p:txBody>
      </p:sp>
      <p:sp>
        <p:nvSpPr>
          <p:cNvPr id="8" name="Text 5"/>
          <p:cNvSpPr/>
          <p:nvPr/>
        </p:nvSpPr>
        <p:spPr>
          <a:xfrm>
            <a:off x="7909560" y="3703320"/>
            <a:ext cx="3383280" cy="1463040"/>
          </a:xfrm>
          <a:prstGeom prst="rect">
            <a:avLst/>
          </a:prstGeom>
          <a:noFill/>
          <a:ln/>
        </p:spPr>
        <p:txBody>
          <a:bodyPr wrap="square" lIns="0" tIns="0" rIns="0" bIns="0" rtlCol="0" anchor="ctr"/>
          <a:lstStyle/>
          <a:p>
            <a:pPr indent="0" marL="0">
              <a:lnSpc>
                <a:spcPct val="105000"/>
              </a:lnSpc>
              <a:buNone/>
            </a:pPr>
            <a:r>
              <a:rPr lang="en-US" sz="1350" b="1" dirty="0">
                <a:solidFill>
                  <a:srgbClr val="1E293B"/>
                </a:solidFill>
                <a:latin typeface="Calibri" pitchFamily="34" charset="0"/>
                <a:ea typeface="Calibri" pitchFamily="34" charset="-122"/>
                <a:cs typeface="Calibri" pitchFamily="34" charset="-120"/>
              </a:rPr>
              <a:t>Cortical activity carries trial-by-trial information about the reflex that isn't stimulus intensity, isn't muscle tone, and isn't drift.</a:t>
            </a:r>
            <a:endParaRPr lang="en-US" sz="1350" dirty="0"/>
          </a:p>
        </p:txBody>
      </p:sp>
      <p:sp>
        <p:nvSpPr>
          <p:cNvPr id="9" name="Text 6"/>
          <p:cNvSpPr/>
          <p:nvPr/>
        </p:nvSpPr>
        <p:spPr>
          <a:xfrm>
            <a:off x="7909560" y="5120640"/>
            <a:ext cx="3383280" cy="640080"/>
          </a:xfrm>
          <a:prstGeom prst="rect">
            <a:avLst/>
          </a:prstGeom>
          <a:noFill/>
          <a:ln/>
        </p:spPr>
        <p:txBody>
          <a:bodyPr wrap="square" lIns="0" tIns="0" rIns="0" bIns="0" rtlCol="0" anchor="ctr"/>
          <a:lstStyle/>
          <a:p>
            <a:pPr indent="0" marL="0">
              <a:lnSpc>
                <a:spcPct val="103000"/>
              </a:lnSpc>
              <a:buNone/>
            </a:pPr>
            <a:r>
              <a:rPr lang="en-US" sz="1200" i="1" dirty="0">
                <a:solidFill>
                  <a:srgbClr val="D97706"/>
                </a:solidFill>
                <a:latin typeface="Calibri" pitchFamily="34" charset="0"/>
                <a:ea typeface="Calibri" pitchFamily="34" charset="-122"/>
                <a:cs typeface="Calibri" pitchFamily="34" charset="-120"/>
              </a:rPr>
              <a:t>Whether it CHANGES with conditioning is not resolved (t = 0.69, n = 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RESULT 4 · IS IT REALLY CORTICAL?</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Pre-stimulus state and the crosstalk check</a:t>
            </a:r>
            <a:endParaRPr lang="en-US" sz="2900" dirty="0"/>
          </a:p>
        </p:txBody>
      </p:sp>
      <p:pic>
        <p:nvPicPr>
          <p:cNvPr id="4" name="Image 0" descr="outputs/prestim/prestim_coupling.png">    </p:cNvPr>
          <p:cNvPicPr>
            <a:picLocks noChangeAspect="1"/>
          </p:cNvPicPr>
          <p:nvPr/>
        </p:nvPicPr>
        <p:blipFill>
          <a:blip r:embed="rId1"/>
          <a:srcRect l="0" r="0" t="0" b="0"/>
          <a:stretch/>
        </p:blipFill>
        <p:spPr>
          <a:xfrm>
            <a:off x="502920" y="1874520"/>
            <a:ext cx="6858000" cy="2637692"/>
          </a:xfrm>
          <a:prstGeom prst="rect">
            <a:avLst/>
          </a:prstGeom>
        </p:spPr>
      </p:pic>
      <p:sp>
        <p:nvSpPr>
          <p:cNvPr id="5" name="Shape 2"/>
          <p:cNvSpPr/>
          <p:nvPr/>
        </p:nvSpPr>
        <p:spPr>
          <a:xfrm>
            <a:off x="7680960" y="1920240"/>
            <a:ext cx="3840480" cy="3840480"/>
          </a:xfrm>
          <a:prstGeom prst="roundRect">
            <a:avLst>
              <a:gd name="adj" fmla="val 2143"/>
            </a:avLst>
          </a:prstGeom>
          <a:solidFill>
            <a:srgbClr val="F1F5F9"/>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6" name="Text 3"/>
          <p:cNvSpPr/>
          <p:nvPr/>
        </p:nvSpPr>
        <p:spPr>
          <a:xfrm>
            <a:off x="7909560" y="2148840"/>
            <a:ext cx="3383280" cy="32004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What we tested</a:t>
            </a:r>
            <a:endParaRPr lang="en-US" sz="1400" dirty="0"/>
          </a:p>
        </p:txBody>
      </p:sp>
      <p:sp>
        <p:nvSpPr>
          <p:cNvPr id="7" name="Text 4"/>
          <p:cNvSpPr/>
          <p:nvPr/>
        </p:nvSpPr>
        <p:spPr>
          <a:xfrm>
            <a:off x="7909560" y="2560320"/>
            <a:ext cx="3383280" cy="1188720"/>
          </a:xfrm>
          <a:prstGeom prst="rect">
            <a:avLst/>
          </a:prstGeom>
          <a:noFill/>
          <a:ln/>
        </p:spPr>
        <p:txBody>
          <a:bodyPr wrap="square" lIns="0" tIns="0" rIns="0" bIns="0" rtlCol="0" anchor="ctr"/>
          <a:lstStyle/>
          <a:p>
            <a:pPr indent="0" marL="0">
              <a:lnSpc>
                <a:spcPct val="105000"/>
              </a:lnSpc>
              <a:buNone/>
            </a:pPr>
            <a:r>
              <a:rPr lang="en-US" sz="1300" dirty="0">
                <a:solidFill>
                  <a:srgbClr val="1E293B"/>
                </a:solidFill>
                <a:latin typeface="Calibri" pitchFamily="34" charset="0"/>
                <a:ea typeface="Calibri" pitchFamily="34" charset="-122"/>
                <a:cs typeface="Calibri" pitchFamily="34" charset="-120"/>
              </a:rPr>
              <a:t>Cortical band power measured entirely BEFORE the stimulus — it can't contain a response that hasn't happened.</a:t>
            </a:r>
            <a:endParaRPr lang="en-US" sz="1300" dirty="0"/>
          </a:p>
        </p:txBody>
      </p:sp>
      <p:sp>
        <p:nvSpPr>
          <p:cNvPr id="8" name="Text 5"/>
          <p:cNvSpPr/>
          <p:nvPr/>
        </p:nvSpPr>
        <p:spPr>
          <a:xfrm>
            <a:off x="7909560" y="3840480"/>
            <a:ext cx="3383280" cy="640080"/>
          </a:xfrm>
          <a:prstGeom prst="rect">
            <a:avLst/>
          </a:prstGeom>
          <a:noFill/>
          <a:ln/>
        </p:spPr>
        <p:txBody>
          <a:bodyPr wrap="square" lIns="0" tIns="0" rIns="0" bIns="0" rtlCol="0" anchor="ctr"/>
          <a:lstStyle/>
          <a:p>
            <a:pPr indent="0" marL="0">
              <a:lnSpc>
                <a:spcPct val="105000"/>
              </a:lnSpc>
              <a:buNone/>
            </a:pPr>
            <a:r>
              <a:rPr lang="en-US" sz="1350" b="1" dirty="0">
                <a:solidFill>
                  <a:srgbClr val="1E293B"/>
                </a:solidFill>
                <a:latin typeface="Calibri" pitchFamily="34" charset="0"/>
                <a:ea typeface="Calibri" pitchFamily="34" charset="-122"/>
                <a:cs typeface="Calibri" pitchFamily="34" charset="-120"/>
              </a:rPr>
              <a:t>It works, but weakly: R² 0.010 vs null −0.002.</a:t>
            </a:r>
            <a:endParaRPr lang="en-US" sz="1350" dirty="0"/>
          </a:p>
        </p:txBody>
      </p:sp>
      <p:sp>
        <p:nvSpPr>
          <p:cNvPr id="9" name="Text 6"/>
          <p:cNvSpPr/>
          <p:nvPr/>
        </p:nvSpPr>
        <p:spPr>
          <a:xfrm>
            <a:off x="7909560" y="4526280"/>
            <a:ext cx="3383280" cy="1188720"/>
          </a:xfrm>
          <a:prstGeom prst="rect">
            <a:avLst/>
          </a:prstGeom>
          <a:noFill/>
          <a:ln/>
        </p:spPr>
        <p:txBody>
          <a:bodyPr wrap="square" lIns="0" tIns="0" rIns="0" bIns="0" rtlCol="0" anchor="ctr"/>
          <a:lstStyle/>
          <a:p>
            <a:pPr indent="0" marL="0">
              <a:lnSpc>
                <a:spcPct val="105000"/>
              </a:lnSpc>
              <a:buNone/>
            </a:pPr>
            <a:r>
              <a:rPr lang="en-US" sz="1250" i="1" dirty="0">
                <a:solidFill>
                  <a:srgbClr val="64748B"/>
                </a:solidFill>
                <a:latin typeface="Calibri" pitchFamily="34" charset="0"/>
                <a:ea typeface="Calibri" pitchFamily="34" charset="-122"/>
                <a:cs typeface="Calibri" pitchFamily="34" charset="-120"/>
              </a:rPr>
              <a:t>And pre-stimulus MUSCLE predicts better (0.022) — exactly what you predicted about motoneuron-pool excitability. A good check that the measurement is right.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WHERE WE STAND</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Three findings, honestly rated</a:t>
            </a:r>
            <a:endParaRPr lang="en-US" sz="2900" dirty="0"/>
          </a:p>
        </p:txBody>
      </p:sp>
      <p:sp>
        <p:nvSpPr>
          <p:cNvPr id="4" name="Shape 2"/>
          <p:cNvSpPr/>
          <p:nvPr/>
        </p:nvSpPr>
        <p:spPr>
          <a:xfrm>
            <a:off x="640080" y="1828800"/>
            <a:ext cx="3538728" cy="4023360"/>
          </a:xfrm>
          <a:prstGeom prst="roundRect">
            <a:avLst>
              <a:gd name="adj" fmla="val 23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914400" y="2103120"/>
            <a:ext cx="2148840" cy="457200"/>
          </a:xfrm>
          <a:prstGeom prst="roundRect">
            <a:avLst>
              <a:gd name="adj" fmla="val 20000"/>
            </a:avLst>
          </a:prstGeom>
          <a:solidFill>
            <a:srgbClr val="16A34A"/>
          </a:solidFill>
          <a:ln/>
        </p:spPr>
      </p:sp>
      <p:sp>
        <p:nvSpPr>
          <p:cNvPr id="6" name="Text 4"/>
          <p:cNvSpPr/>
          <p:nvPr/>
        </p:nvSpPr>
        <p:spPr>
          <a:xfrm>
            <a:off x="914400" y="2103120"/>
            <a:ext cx="2148840" cy="45720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SOLID</a:t>
            </a:r>
            <a:endParaRPr lang="en-US" sz="1250" dirty="0"/>
          </a:p>
        </p:txBody>
      </p:sp>
      <p:sp>
        <p:nvSpPr>
          <p:cNvPr id="7" name="Text 5"/>
          <p:cNvSpPr/>
          <p:nvPr/>
        </p:nvSpPr>
        <p:spPr>
          <a:xfrm>
            <a:off x="914400" y="2743200"/>
            <a:ext cx="3017520" cy="685800"/>
          </a:xfrm>
          <a:prstGeom prst="rect">
            <a:avLst/>
          </a:prstGeom>
          <a:noFill/>
          <a:ln/>
        </p:spPr>
        <p:txBody>
          <a:bodyPr wrap="square" lIns="0" tIns="0" rIns="0" bIns="0" rtlCol="0" anchor="ctr"/>
          <a:lstStyle/>
          <a:p>
            <a:pPr indent="0" marL="0">
              <a:lnSpc>
                <a:spcPct val="100000"/>
              </a:lnSpc>
              <a:buNone/>
            </a:pPr>
            <a:r>
              <a:rPr lang="en-US" sz="1650" b="1" dirty="0">
                <a:solidFill>
                  <a:srgbClr val="1E293B"/>
                </a:solidFill>
                <a:latin typeface="Calibri" pitchFamily="34" charset="0"/>
                <a:ea typeface="Calibri" pitchFamily="34" charset="-122"/>
                <a:cs typeface="Calibri" pitchFamily="34" charset="-120"/>
              </a:rPr>
              <a:t>Behaviour, bidirectional</a:t>
            </a:r>
            <a:endParaRPr lang="en-US" sz="1650" dirty="0"/>
          </a:p>
        </p:txBody>
      </p:sp>
      <p:sp>
        <p:nvSpPr>
          <p:cNvPr id="8" name="Text 6"/>
          <p:cNvSpPr/>
          <p:nvPr/>
        </p:nvSpPr>
        <p:spPr>
          <a:xfrm>
            <a:off x="914400" y="3566160"/>
            <a:ext cx="3063240" cy="2103120"/>
          </a:xfrm>
          <a:prstGeom prst="rect">
            <a:avLst/>
          </a:prstGeom>
          <a:noFill/>
          <a:ln/>
        </p:spPr>
        <p:txBody>
          <a:bodyPr wrap="square" lIns="0" tIns="0" rIns="0" bIns="0" rtlCol="0" anchor="ctr"/>
          <a:lstStyle/>
          <a:p>
            <a:pPr indent="0" marL="0">
              <a:lnSpc>
                <a:spcPct val="107000"/>
              </a:lnSpc>
              <a:buNone/>
            </a:pPr>
            <a:r>
              <a:rPr lang="en-US" sz="1300" dirty="0">
                <a:solidFill>
                  <a:srgbClr val="64748B"/>
                </a:solidFill>
                <a:latin typeface="Calibri" pitchFamily="34" charset="0"/>
                <a:ea typeface="Calibri" pitchFamily="34" charset="-122"/>
                <a:cs typeface="Calibri" pitchFamily="34" charset="-120"/>
              </a:rPr>
              <a:t>Conditioning works both directions, fully controlled for stimulus and background. Clears your 20% criterion in 3 animals.</a:t>
            </a:r>
            <a:endParaRPr lang="en-US" sz="1300" dirty="0"/>
          </a:p>
        </p:txBody>
      </p:sp>
      <p:sp>
        <p:nvSpPr>
          <p:cNvPr id="9" name="Shape 7"/>
          <p:cNvSpPr/>
          <p:nvPr/>
        </p:nvSpPr>
        <p:spPr>
          <a:xfrm>
            <a:off x="4370832" y="1828800"/>
            <a:ext cx="3538728" cy="4023360"/>
          </a:xfrm>
          <a:prstGeom prst="roundRect">
            <a:avLst>
              <a:gd name="adj" fmla="val 23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0" name="Shape 8"/>
          <p:cNvSpPr/>
          <p:nvPr/>
        </p:nvSpPr>
        <p:spPr>
          <a:xfrm>
            <a:off x="4645152" y="2103120"/>
            <a:ext cx="2148840" cy="457200"/>
          </a:xfrm>
          <a:prstGeom prst="roundRect">
            <a:avLst>
              <a:gd name="adj" fmla="val 20000"/>
            </a:avLst>
          </a:prstGeom>
          <a:solidFill>
            <a:srgbClr val="0D9488"/>
          </a:solidFill>
          <a:ln/>
        </p:spPr>
      </p:sp>
      <p:sp>
        <p:nvSpPr>
          <p:cNvPr id="11" name="Text 9"/>
          <p:cNvSpPr/>
          <p:nvPr/>
        </p:nvSpPr>
        <p:spPr>
          <a:xfrm>
            <a:off x="4645152" y="2103120"/>
            <a:ext cx="2148840" cy="45720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REAL</a:t>
            </a:r>
            <a:endParaRPr lang="en-US" sz="1250" dirty="0"/>
          </a:p>
        </p:txBody>
      </p:sp>
      <p:sp>
        <p:nvSpPr>
          <p:cNvPr id="12" name="Text 10"/>
          <p:cNvSpPr/>
          <p:nvPr/>
        </p:nvSpPr>
        <p:spPr>
          <a:xfrm>
            <a:off x="4645152" y="2743200"/>
            <a:ext cx="3017520" cy="685800"/>
          </a:xfrm>
          <a:prstGeom prst="rect">
            <a:avLst/>
          </a:prstGeom>
          <a:noFill/>
          <a:ln/>
        </p:spPr>
        <p:txBody>
          <a:bodyPr wrap="square" lIns="0" tIns="0" rIns="0" bIns="0" rtlCol="0" anchor="ctr"/>
          <a:lstStyle/>
          <a:p>
            <a:pPr indent="0" marL="0">
              <a:lnSpc>
                <a:spcPct val="100000"/>
              </a:lnSpc>
              <a:buNone/>
            </a:pPr>
            <a:r>
              <a:rPr lang="en-US" sz="1650" b="1" dirty="0">
                <a:solidFill>
                  <a:srgbClr val="1E293B"/>
                </a:solidFill>
                <a:latin typeface="Calibri" pitchFamily="34" charset="0"/>
                <a:ea typeface="Calibri" pitchFamily="34" charset="-122"/>
                <a:cs typeface="Calibri" pitchFamily="34" charset="-120"/>
              </a:rPr>
              <a:t>Cortex→reflex coupling</a:t>
            </a:r>
            <a:endParaRPr lang="en-US" sz="1650" dirty="0"/>
          </a:p>
        </p:txBody>
      </p:sp>
      <p:sp>
        <p:nvSpPr>
          <p:cNvPr id="13" name="Text 11"/>
          <p:cNvSpPr/>
          <p:nvPr/>
        </p:nvSpPr>
        <p:spPr>
          <a:xfrm>
            <a:off x="4645152" y="3566160"/>
            <a:ext cx="3063240" cy="2103120"/>
          </a:xfrm>
          <a:prstGeom prst="rect">
            <a:avLst/>
          </a:prstGeom>
          <a:noFill/>
          <a:ln/>
        </p:spPr>
        <p:txBody>
          <a:bodyPr wrap="square" lIns="0" tIns="0" rIns="0" bIns="0" rtlCol="0" anchor="ctr"/>
          <a:lstStyle/>
          <a:p>
            <a:pPr indent="0" marL="0">
              <a:lnSpc>
                <a:spcPct val="107000"/>
              </a:lnSpc>
              <a:buNone/>
            </a:pPr>
            <a:r>
              <a:rPr lang="en-US" sz="1300" dirty="0">
                <a:solidFill>
                  <a:srgbClr val="64748B"/>
                </a:solidFill>
                <a:latin typeface="Calibri" pitchFamily="34" charset="0"/>
                <a:ea typeface="Calibri" pitchFamily="34" charset="-122"/>
                <a:cs typeface="Calibri" pitchFamily="34" charset="-120"/>
              </a:rPr>
              <a:t>R² up to 0.35 over a ≈0 null, drift-immune by design, present in every animal. This is the positive result.</a:t>
            </a:r>
            <a:endParaRPr lang="en-US" sz="1300" dirty="0"/>
          </a:p>
        </p:txBody>
      </p:sp>
      <p:sp>
        <p:nvSpPr>
          <p:cNvPr id="14" name="Shape 12"/>
          <p:cNvSpPr/>
          <p:nvPr/>
        </p:nvSpPr>
        <p:spPr>
          <a:xfrm>
            <a:off x="8101584" y="1828800"/>
            <a:ext cx="3538728" cy="4023360"/>
          </a:xfrm>
          <a:prstGeom prst="roundRect">
            <a:avLst>
              <a:gd name="adj" fmla="val 2326"/>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5" name="Shape 13"/>
          <p:cNvSpPr/>
          <p:nvPr/>
        </p:nvSpPr>
        <p:spPr>
          <a:xfrm>
            <a:off x="8375904" y="2103120"/>
            <a:ext cx="2148840" cy="457200"/>
          </a:xfrm>
          <a:prstGeom prst="roundRect">
            <a:avLst>
              <a:gd name="adj" fmla="val 20000"/>
            </a:avLst>
          </a:prstGeom>
          <a:solidFill>
            <a:srgbClr val="D97706"/>
          </a:solidFill>
          <a:ln/>
        </p:spPr>
      </p:sp>
      <p:sp>
        <p:nvSpPr>
          <p:cNvPr id="16" name="Text 14"/>
          <p:cNvSpPr/>
          <p:nvPr/>
        </p:nvSpPr>
        <p:spPr>
          <a:xfrm>
            <a:off x="8375904" y="2103120"/>
            <a:ext cx="2148840" cy="45720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ANSWERED: NO</a:t>
            </a:r>
            <a:endParaRPr lang="en-US" sz="1250" dirty="0"/>
          </a:p>
        </p:txBody>
      </p:sp>
      <p:sp>
        <p:nvSpPr>
          <p:cNvPr id="17" name="Text 15"/>
          <p:cNvSpPr/>
          <p:nvPr/>
        </p:nvSpPr>
        <p:spPr>
          <a:xfrm>
            <a:off x="8375904" y="2743200"/>
            <a:ext cx="3017520" cy="685800"/>
          </a:xfrm>
          <a:prstGeom prst="rect">
            <a:avLst/>
          </a:prstGeom>
          <a:noFill/>
          <a:ln/>
        </p:spPr>
        <p:txBody>
          <a:bodyPr wrap="square" lIns="0" tIns="0" rIns="0" bIns="0" rtlCol="0" anchor="ctr"/>
          <a:lstStyle/>
          <a:p>
            <a:pPr indent="0" marL="0">
              <a:lnSpc>
                <a:spcPct val="100000"/>
              </a:lnSpc>
              <a:buNone/>
            </a:pPr>
            <a:r>
              <a:rPr lang="en-US" sz="1650" b="1" dirty="0">
                <a:solidFill>
                  <a:srgbClr val="1E293B"/>
                </a:solidFill>
                <a:latin typeface="Calibri" pitchFamily="34" charset="0"/>
                <a:ea typeface="Calibri" pitchFamily="34" charset="-122"/>
                <a:cs typeface="Calibri" pitchFamily="34" charset="-120"/>
              </a:rPr>
              <a:t>Drift = learning?</a:t>
            </a:r>
            <a:endParaRPr lang="en-US" sz="1650" dirty="0"/>
          </a:p>
        </p:txBody>
      </p:sp>
      <p:sp>
        <p:nvSpPr>
          <p:cNvPr id="18" name="Text 16"/>
          <p:cNvSpPr/>
          <p:nvPr/>
        </p:nvSpPr>
        <p:spPr>
          <a:xfrm>
            <a:off x="8375904" y="3566160"/>
            <a:ext cx="3063240" cy="2103120"/>
          </a:xfrm>
          <a:prstGeom prst="rect">
            <a:avLst/>
          </a:prstGeom>
          <a:noFill/>
          <a:ln/>
        </p:spPr>
        <p:txBody>
          <a:bodyPr wrap="square" lIns="0" tIns="0" rIns="0" bIns="0" rtlCol="0" anchor="ctr"/>
          <a:lstStyle/>
          <a:p>
            <a:pPr indent="0" marL="0">
              <a:lnSpc>
                <a:spcPct val="107000"/>
              </a:lnSpc>
              <a:buNone/>
            </a:pPr>
            <a:r>
              <a:rPr lang="en-US" sz="1300" dirty="0">
                <a:solidFill>
                  <a:srgbClr val="64748B"/>
                </a:solidFill>
                <a:latin typeface="Calibri" pitchFamily="34" charset="0"/>
                <a:ea typeface="Calibri" pitchFamily="34" charset="-122"/>
                <a:cs typeface="Calibri" pitchFamily="34" charset="-120"/>
              </a:rPr>
              <a:t>Three independent controls agree the average-state drift is recording nonstationarity. Useful negative.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972800" cy="274320"/>
          </a:xfrm>
          <a:prstGeom prst="rect">
            <a:avLst/>
          </a:prstGeom>
          <a:noFill/>
          <a:ln/>
        </p:spPr>
        <p:txBody>
          <a:bodyPr wrap="square" lIns="0" tIns="0" rIns="0" bIns="0" rtlCol="0" anchor="ctr"/>
          <a:lstStyle/>
          <a:p>
            <a:pPr indent="0" marL="0">
              <a:buNone/>
            </a:pPr>
            <a:r>
              <a:rPr lang="en-US" sz="1250" b="1" spc="300" kern="0" dirty="0">
                <a:solidFill>
                  <a:srgbClr val="6D28D9"/>
                </a:solidFill>
                <a:latin typeface="Calibri" pitchFamily="34" charset="0"/>
                <a:ea typeface="Calibri" pitchFamily="34" charset="-122"/>
                <a:cs typeface="Calibri" pitchFamily="34" charset="-120"/>
              </a:rPr>
              <a:t>LAST FEW WEEKS</a:t>
            </a:r>
            <a:endParaRPr lang="en-US" sz="1250" dirty="0"/>
          </a:p>
        </p:txBody>
      </p:sp>
      <p:sp>
        <p:nvSpPr>
          <p:cNvPr id="3" name="Text 1"/>
          <p:cNvSpPr/>
          <p:nvPr/>
        </p:nvSpPr>
        <p:spPr>
          <a:xfrm>
            <a:off x="640080" y="457200"/>
            <a:ext cx="11064240" cy="685800"/>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Plan for the rest of the project</a:t>
            </a:r>
            <a:endParaRPr lang="en-US" sz="2900" dirty="0"/>
          </a:p>
        </p:txBody>
      </p:sp>
      <p:sp>
        <p:nvSpPr>
          <p:cNvPr id="4" name="Shape 2"/>
          <p:cNvSpPr/>
          <p:nvPr/>
        </p:nvSpPr>
        <p:spPr>
          <a:xfrm>
            <a:off x="640080" y="1920240"/>
            <a:ext cx="10881360" cy="914400"/>
          </a:xfrm>
          <a:prstGeom prst="roundRect">
            <a:avLst>
              <a:gd name="adj" fmla="val 9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5" name="Shape 3"/>
          <p:cNvSpPr/>
          <p:nvPr/>
        </p:nvSpPr>
        <p:spPr>
          <a:xfrm>
            <a:off x="896112" y="2148840"/>
            <a:ext cx="457200" cy="457200"/>
          </a:xfrm>
          <a:prstGeom prst="ellipse">
            <a:avLst/>
          </a:prstGeom>
          <a:solidFill>
            <a:srgbClr val="6D28D9"/>
          </a:solidFill>
          <a:ln/>
        </p:spPr>
      </p:sp>
      <p:sp>
        <p:nvSpPr>
          <p:cNvPr id="6" name="Text 4"/>
          <p:cNvSpPr/>
          <p:nvPr/>
        </p:nvSpPr>
        <p:spPr>
          <a:xfrm>
            <a:off x="896112" y="21488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17904" y="2084832"/>
            <a:ext cx="3657600" cy="5943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Add the remaining down animals</a:t>
            </a:r>
            <a:endParaRPr lang="en-US" sz="1500" dirty="0"/>
          </a:p>
        </p:txBody>
      </p:sp>
      <p:sp>
        <p:nvSpPr>
          <p:cNvPr id="8" name="Text 6"/>
          <p:cNvSpPr/>
          <p:nvPr/>
        </p:nvSpPr>
        <p:spPr>
          <a:xfrm>
            <a:off x="5303520" y="2084832"/>
            <a:ext cx="5943600" cy="594360"/>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7, 8, 13, 14, 15 are logged and ready. n=5→10 is what resolves whether coupling changes with conditioning.</a:t>
            </a:r>
            <a:endParaRPr lang="en-US" sz="1250" dirty="0"/>
          </a:p>
        </p:txBody>
      </p:sp>
      <p:sp>
        <p:nvSpPr>
          <p:cNvPr id="9" name="Shape 7"/>
          <p:cNvSpPr/>
          <p:nvPr/>
        </p:nvSpPr>
        <p:spPr>
          <a:xfrm>
            <a:off x="640080" y="2944368"/>
            <a:ext cx="10881360" cy="914400"/>
          </a:xfrm>
          <a:prstGeom prst="roundRect">
            <a:avLst>
              <a:gd name="adj" fmla="val 9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0" name="Shape 8"/>
          <p:cNvSpPr/>
          <p:nvPr/>
        </p:nvSpPr>
        <p:spPr>
          <a:xfrm>
            <a:off x="896112" y="3172968"/>
            <a:ext cx="457200" cy="457200"/>
          </a:xfrm>
          <a:prstGeom prst="ellipse">
            <a:avLst/>
          </a:prstGeom>
          <a:solidFill>
            <a:srgbClr val="6D28D9"/>
          </a:solidFill>
          <a:ln/>
        </p:spPr>
      </p:sp>
      <p:sp>
        <p:nvSpPr>
          <p:cNvPr id="11" name="Text 9"/>
          <p:cNvSpPr/>
          <p:nvPr/>
        </p:nvSpPr>
        <p:spPr>
          <a:xfrm>
            <a:off x="896112" y="317296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517904" y="3108960"/>
            <a:ext cx="3657600" cy="5943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Finish the crosstalk test</a:t>
            </a:r>
            <a:endParaRPr lang="en-US" sz="1500" dirty="0"/>
          </a:p>
        </p:txBody>
      </p:sp>
      <p:sp>
        <p:nvSpPr>
          <p:cNvPr id="13" name="Text 11"/>
          <p:cNvSpPr/>
          <p:nvPr/>
        </p:nvSpPr>
        <p:spPr>
          <a:xfrm>
            <a:off x="5303520" y="3108960"/>
            <a:ext cx="5943600" cy="594360"/>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Spectral/temporal dissociation for the post-stimulus coupling. The one thing a reviewer will demand.</a:t>
            </a:r>
            <a:endParaRPr lang="en-US" sz="1250" dirty="0"/>
          </a:p>
        </p:txBody>
      </p:sp>
      <p:sp>
        <p:nvSpPr>
          <p:cNvPr id="14" name="Shape 12"/>
          <p:cNvSpPr/>
          <p:nvPr/>
        </p:nvSpPr>
        <p:spPr>
          <a:xfrm>
            <a:off x="640080" y="3968496"/>
            <a:ext cx="10881360" cy="914400"/>
          </a:xfrm>
          <a:prstGeom prst="roundRect">
            <a:avLst>
              <a:gd name="adj" fmla="val 9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15" name="Shape 13"/>
          <p:cNvSpPr/>
          <p:nvPr/>
        </p:nvSpPr>
        <p:spPr>
          <a:xfrm>
            <a:off x="896112" y="4197096"/>
            <a:ext cx="457200" cy="457200"/>
          </a:xfrm>
          <a:prstGeom prst="ellipse">
            <a:avLst/>
          </a:prstGeom>
          <a:solidFill>
            <a:srgbClr val="0D9488"/>
          </a:solidFill>
          <a:ln/>
        </p:spPr>
      </p:sp>
      <p:sp>
        <p:nvSpPr>
          <p:cNvPr id="16" name="Text 14"/>
          <p:cNvSpPr/>
          <p:nvPr/>
        </p:nvSpPr>
        <p:spPr>
          <a:xfrm>
            <a:off x="896112" y="41970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17904" y="4133088"/>
            <a:ext cx="3657600" cy="5943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Frequency-resolved coupling</a:t>
            </a:r>
            <a:endParaRPr lang="en-US" sz="1500" dirty="0"/>
          </a:p>
        </p:txBody>
      </p:sp>
      <p:sp>
        <p:nvSpPr>
          <p:cNvPr id="18" name="Text 16"/>
          <p:cNvSpPr/>
          <p:nvPr/>
        </p:nvSpPr>
        <p:spPr>
          <a:xfrm>
            <a:off x="5303520" y="4133088"/>
            <a:ext cx="5943600" cy="594360"/>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Which bands carry the reflex information? Sharpens the result and the crosstalk argument.</a:t>
            </a:r>
            <a:endParaRPr lang="en-US" sz="1250" dirty="0"/>
          </a:p>
        </p:txBody>
      </p:sp>
      <p:sp>
        <p:nvSpPr>
          <p:cNvPr id="19" name="Shape 17"/>
          <p:cNvSpPr/>
          <p:nvPr/>
        </p:nvSpPr>
        <p:spPr>
          <a:xfrm>
            <a:off x="640080" y="4992624"/>
            <a:ext cx="10881360" cy="914400"/>
          </a:xfrm>
          <a:prstGeom prst="roundRect">
            <a:avLst>
              <a:gd name="adj" fmla="val 9000"/>
            </a:avLst>
          </a:prstGeom>
          <a:solidFill>
            <a:srgbClr val="FFFF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0" name="Shape 18"/>
          <p:cNvSpPr/>
          <p:nvPr/>
        </p:nvSpPr>
        <p:spPr>
          <a:xfrm>
            <a:off x="896112" y="5221224"/>
            <a:ext cx="457200" cy="457200"/>
          </a:xfrm>
          <a:prstGeom prst="ellipse">
            <a:avLst/>
          </a:prstGeom>
          <a:solidFill>
            <a:srgbClr val="0D9488"/>
          </a:solidFill>
          <a:ln/>
        </p:spPr>
      </p:sp>
      <p:sp>
        <p:nvSpPr>
          <p:cNvPr id="21" name="Text 19"/>
          <p:cNvSpPr/>
          <p:nvPr/>
        </p:nvSpPr>
        <p:spPr>
          <a:xfrm>
            <a:off x="896112" y="52212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1517904" y="5157216"/>
            <a:ext cx="3657600" cy="5943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Write it up</a:t>
            </a:r>
            <a:endParaRPr lang="en-US" sz="1500" dirty="0"/>
          </a:p>
        </p:txBody>
      </p:sp>
      <p:sp>
        <p:nvSpPr>
          <p:cNvPr id="23" name="Text 21"/>
          <p:cNvSpPr/>
          <p:nvPr/>
        </p:nvSpPr>
        <p:spPr>
          <a:xfrm>
            <a:off x="5303520" y="5157216"/>
            <a:ext cx="5943600" cy="594360"/>
          </a:xfrm>
          <a:prstGeom prst="rect">
            <a:avLst/>
          </a:prstGeom>
          <a:noFill/>
          <a:ln/>
        </p:spPr>
        <p:txBody>
          <a:bodyPr wrap="square" lIns="0" tIns="0" rIns="0" bIns="0" rtlCol="0" anchor="ctr"/>
          <a:lstStyle/>
          <a:p>
            <a:pPr indent="0" marL="0">
              <a:lnSpc>
                <a:spcPct val="100000"/>
              </a:lnSpc>
              <a:buNone/>
            </a:pPr>
            <a:r>
              <a:rPr lang="en-US" sz="1250" dirty="0">
                <a:solidFill>
                  <a:srgbClr val="64748B"/>
                </a:solidFill>
                <a:latin typeface="Calibri" pitchFamily="34" charset="0"/>
                <a:ea typeface="Calibri" pitchFamily="34" charset="-122"/>
                <a:cs typeface="Calibri" pitchFamily="34" charset="-120"/>
              </a:rPr>
              <a:t>Behaviour + coupling + the controls. Draft while the last animals process.</a:t>
            </a:r>
            <a:endParaRPr lang="en-US" sz="1250" dirty="0"/>
          </a:p>
        </p:txBody>
      </p:sp>
      <p:sp>
        <p:nvSpPr>
          <p:cNvPr id="24" name="Shape 22"/>
          <p:cNvSpPr/>
          <p:nvPr/>
        </p:nvSpPr>
        <p:spPr>
          <a:xfrm>
            <a:off x="640080" y="6126480"/>
            <a:ext cx="10881360" cy="685800"/>
          </a:xfrm>
          <a:prstGeom prst="roundRect">
            <a:avLst>
              <a:gd name="adj" fmla="val 12000"/>
            </a:avLst>
          </a:prstGeom>
          <a:solidFill>
            <a:srgbClr val="F5F3FF"/>
          </a:solidFill>
          <a:ln w="12700">
            <a:solidFill>
              <a:srgbClr val="E2E8F0"/>
            </a:solidFill>
            <a:prstDash val="solid"/>
          </a:ln>
          <a:effectLst>
            <a:outerShdw sx="100000" sy="100000" kx="0" ky="0" algn="bl" rotWithShape="0" blurRad="114300" dist="38100" dir="5400000">
              <a:srgbClr val="0F172A">
                <a:alpha val="14000"/>
              </a:srgbClr>
            </a:outerShdw>
          </a:effectLst>
        </p:spPr>
      </p:sp>
      <p:sp>
        <p:nvSpPr>
          <p:cNvPr id="25" name="Text 23"/>
          <p:cNvSpPr/>
          <p:nvPr/>
        </p:nvSpPr>
        <p:spPr>
          <a:xfrm>
            <a:off x="960120" y="6236208"/>
            <a:ext cx="10241280" cy="457200"/>
          </a:xfrm>
          <a:prstGeom prst="rect">
            <a:avLst/>
          </a:prstGeom>
          <a:noFill/>
          <a:ln/>
        </p:spPr>
        <p:txBody>
          <a:bodyPr wrap="square" lIns="0" tIns="0" rIns="0" bIns="0" rtlCol="0" anchor="ctr"/>
          <a:lstStyle/>
          <a:p>
            <a:pPr indent="0" marL="0">
              <a:buNone/>
            </a:pPr>
            <a:r>
              <a:rPr lang="en-US" sz="1400" b="1" dirty="0">
                <a:solidFill>
                  <a:srgbClr val="6D28D9"/>
                </a:solidFill>
                <a:latin typeface="Calibri" pitchFamily="34" charset="0"/>
                <a:ea typeface="Calibri" pitchFamily="34" charset="-122"/>
                <a:cs typeface="Calibri" pitchFamily="34" charset="-120"/>
              </a:rPr>
              <a:t>The paper: bidirectional conditioning + a drift-immune cortical coupling result + the control methodology.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548640"/>
            <a:ext cx="10058400" cy="365760"/>
          </a:xfrm>
          <a:prstGeom prst="rect">
            <a:avLst/>
          </a:prstGeom>
          <a:noFill/>
          <a:ln/>
        </p:spPr>
        <p:txBody>
          <a:bodyPr wrap="square" lIns="0" tIns="0" rIns="0" bIns="0" rtlCol="0" anchor="ctr"/>
          <a:lstStyle/>
          <a:p>
            <a:pPr indent="0" marL="0">
              <a:buNone/>
            </a:pPr>
            <a:r>
              <a:rPr lang="en-US" sz="1400" b="1" spc="300" kern="0" dirty="0">
                <a:solidFill>
                  <a:srgbClr val="0D9488"/>
                </a:solidFill>
                <a:latin typeface="Calibri" pitchFamily="34" charset="0"/>
                <a:ea typeface="Calibri" pitchFamily="34" charset="-122"/>
                <a:cs typeface="Calibri" pitchFamily="34" charset="-120"/>
              </a:rPr>
              <a:t>WHERE I NEED YOUR READ</a:t>
            </a:r>
            <a:endParaRPr lang="en-US" sz="1400" dirty="0"/>
          </a:p>
        </p:txBody>
      </p:sp>
      <p:sp>
        <p:nvSpPr>
          <p:cNvPr id="3" name="Text 1"/>
          <p:cNvSpPr/>
          <p:nvPr/>
        </p:nvSpPr>
        <p:spPr>
          <a:xfrm>
            <a:off x="731520" y="96012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questions</a:t>
            </a:r>
            <a:endParaRPr lang="en-US" sz="3000" dirty="0"/>
          </a:p>
        </p:txBody>
      </p:sp>
      <p:sp>
        <p:nvSpPr>
          <p:cNvPr id="4" name="Shape 2"/>
          <p:cNvSpPr/>
          <p:nvPr/>
        </p:nvSpPr>
        <p:spPr>
          <a:xfrm>
            <a:off x="731520" y="1920240"/>
            <a:ext cx="5257800" cy="1874520"/>
          </a:xfrm>
          <a:prstGeom prst="roundRect">
            <a:avLst>
              <a:gd name="adj" fmla="val 4390"/>
            </a:avLst>
          </a:prstGeom>
          <a:solidFill>
            <a:srgbClr val="1E293B"/>
          </a:solidFill>
          <a:ln w="12700">
            <a:solidFill>
              <a:srgbClr val="334155"/>
            </a:solidFill>
            <a:prstDash val="solid"/>
          </a:ln>
        </p:spPr>
      </p:sp>
      <p:sp>
        <p:nvSpPr>
          <p:cNvPr id="5" name="Shape 3"/>
          <p:cNvSpPr/>
          <p:nvPr/>
        </p:nvSpPr>
        <p:spPr>
          <a:xfrm>
            <a:off x="1005840" y="2194560"/>
            <a:ext cx="457200" cy="457200"/>
          </a:xfrm>
          <a:prstGeom prst="ellipse">
            <a:avLst/>
          </a:prstGeom>
          <a:solidFill>
            <a:srgbClr val="6D28D9"/>
          </a:solidFill>
          <a:ln/>
        </p:spPr>
      </p:sp>
      <p:sp>
        <p:nvSpPr>
          <p:cNvPr id="6" name="Text 4"/>
          <p:cNvSpPr/>
          <p:nvPr/>
        </p:nvSpPr>
        <p:spPr>
          <a:xfrm>
            <a:off x="1005840"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2194560"/>
            <a:ext cx="4206240" cy="502920"/>
          </a:xfrm>
          <a:prstGeom prst="rect">
            <a:avLst/>
          </a:prstGeom>
          <a:noFill/>
          <a:ln/>
        </p:spPr>
        <p:txBody>
          <a:bodyPr wrap="square" lIns="0" tIns="0" rIns="0" bIns="0"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Is the coupling result interesting to you?</a:t>
            </a:r>
            <a:endParaRPr lang="en-US" sz="1450" dirty="0"/>
          </a:p>
        </p:txBody>
      </p:sp>
      <p:sp>
        <p:nvSpPr>
          <p:cNvPr id="8" name="Text 6"/>
          <p:cNvSpPr/>
          <p:nvPr/>
        </p:nvSpPr>
        <p:spPr>
          <a:xfrm>
            <a:off x="1024128" y="2788920"/>
            <a:ext cx="4709160" cy="914400"/>
          </a:xfrm>
          <a:prstGeom prst="rect">
            <a:avLst/>
          </a:prstGeom>
          <a:noFill/>
          <a:ln/>
        </p:spPr>
        <p:txBody>
          <a:bodyPr wrap="square" lIns="0" tIns="0" rIns="0" bIns="0" rtlCol="0" anchor="ctr"/>
          <a:lstStyle/>
          <a:p>
            <a:pPr indent="0" marL="0">
              <a:lnSpc>
                <a:spcPct val="105000"/>
              </a:lnSpc>
              <a:buNone/>
            </a:pPr>
            <a:r>
              <a:rPr lang="en-US" sz="1200" dirty="0">
                <a:solidFill>
                  <a:srgbClr val="CBD5E1"/>
                </a:solidFill>
                <a:latin typeface="Calibri" pitchFamily="34" charset="0"/>
                <a:ea typeface="Calibri" pitchFamily="34" charset="-122"/>
                <a:cs typeface="Calibri" pitchFamily="34" charset="-120"/>
              </a:rPr>
              <a:t>Cortex predicts reflex size trial by trial, independent of stimulus and background. Is that a finding worth building the paper on?</a:t>
            </a:r>
            <a:endParaRPr lang="en-US" sz="1200" dirty="0"/>
          </a:p>
        </p:txBody>
      </p:sp>
      <p:sp>
        <p:nvSpPr>
          <p:cNvPr id="9" name="Shape 7"/>
          <p:cNvSpPr/>
          <p:nvPr/>
        </p:nvSpPr>
        <p:spPr>
          <a:xfrm>
            <a:off x="6263640" y="1920240"/>
            <a:ext cx="5257800" cy="1874520"/>
          </a:xfrm>
          <a:prstGeom prst="roundRect">
            <a:avLst>
              <a:gd name="adj" fmla="val 4390"/>
            </a:avLst>
          </a:prstGeom>
          <a:solidFill>
            <a:srgbClr val="1E293B"/>
          </a:solidFill>
          <a:ln w="12700">
            <a:solidFill>
              <a:srgbClr val="334155"/>
            </a:solidFill>
            <a:prstDash val="solid"/>
          </a:ln>
        </p:spPr>
      </p:sp>
      <p:sp>
        <p:nvSpPr>
          <p:cNvPr id="10" name="Shape 8"/>
          <p:cNvSpPr/>
          <p:nvPr/>
        </p:nvSpPr>
        <p:spPr>
          <a:xfrm>
            <a:off x="6537960" y="2194560"/>
            <a:ext cx="457200" cy="457200"/>
          </a:xfrm>
          <a:prstGeom prst="ellipse">
            <a:avLst/>
          </a:prstGeom>
          <a:solidFill>
            <a:srgbClr val="6D28D9"/>
          </a:solidFill>
          <a:ln/>
        </p:spPr>
      </p:sp>
      <p:sp>
        <p:nvSpPr>
          <p:cNvPr id="11" name="Text 9"/>
          <p:cNvSpPr/>
          <p:nvPr/>
        </p:nvSpPr>
        <p:spPr>
          <a:xfrm>
            <a:off x="6537960" y="2194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7132320" y="2194560"/>
            <a:ext cx="4206240" cy="502920"/>
          </a:xfrm>
          <a:prstGeom prst="rect">
            <a:avLst/>
          </a:prstGeom>
          <a:noFill/>
          <a:ln/>
        </p:spPr>
        <p:txBody>
          <a:bodyPr wrap="square" lIns="0" tIns="0" rIns="0" bIns="0"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How would you rule out crosstalk?</a:t>
            </a:r>
            <a:endParaRPr lang="en-US" sz="1450" dirty="0"/>
          </a:p>
        </p:txBody>
      </p:sp>
      <p:sp>
        <p:nvSpPr>
          <p:cNvPr id="13" name="Text 11"/>
          <p:cNvSpPr/>
          <p:nvPr/>
        </p:nvSpPr>
        <p:spPr>
          <a:xfrm>
            <a:off x="6556248" y="2788920"/>
            <a:ext cx="4709160" cy="914400"/>
          </a:xfrm>
          <a:prstGeom prst="rect">
            <a:avLst/>
          </a:prstGeom>
          <a:noFill/>
          <a:ln/>
        </p:spPr>
        <p:txBody>
          <a:bodyPr wrap="square" lIns="0" tIns="0" rIns="0" bIns="0" rtlCol="0" anchor="ctr"/>
          <a:lstStyle/>
          <a:p>
            <a:pPr indent="0" marL="0">
              <a:lnSpc>
                <a:spcPct val="105000"/>
              </a:lnSpc>
              <a:buNone/>
            </a:pPr>
            <a:r>
              <a:rPr lang="en-US" sz="1200" dirty="0">
                <a:solidFill>
                  <a:srgbClr val="CBD5E1"/>
                </a:solidFill>
                <a:latin typeface="Calibri" pitchFamily="34" charset="0"/>
                <a:ea typeface="Calibri" pitchFamily="34" charset="-122"/>
                <a:cs typeface="Calibri" pitchFamily="34" charset="-120"/>
              </a:rPr>
              <a:t>Both channels record simultaneously. What would convince you the ECoG isn't picking up muscle?</a:t>
            </a:r>
            <a:endParaRPr lang="en-US" sz="1200" dirty="0"/>
          </a:p>
        </p:txBody>
      </p:sp>
      <p:sp>
        <p:nvSpPr>
          <p:cNvPr id="14" name="Shape 12"/>
          <p:cNvSpPr/>
          <p:nvPr/>
        </p:nvSpPr>
        <p:spPr>
          <a:xfrm>
            <a:off x="731520" y="4069080"/>
            <a:ext cx="5257800" cy="1874520"/>
          </a:xfrm>
          <a:prstGeom prst="roundRect">
            <a:avLst>
              <a:gd name="adj" fmla="val 4390"/>
            </a:avLst>
          </a:prstGeom>
          <a:solidFill>
            <a:srgbClr val="1E293B"/>
          </a:solidFill>
          <a:ln w="12700">
            <a:solidFill>
              <a:srgbClr val="334155"/>
            </a:solidFill>
            <a:prstDash val="solid"/>
          </a:ln>
        </p:spPr>
      </p:sp>
      <p:sp>
        <p:nvSpPr>
          <p:cNvPr id="15" name="Shape 13"/>
          <p:cNvSpPr/>
          <p:nvPr/>
        </p:nvSpPr>
        <p:spPr>
          <a:xfrm>
            <a:off x="1005840" y="4343400"/>
            <a:ext cx="457200" cy="457200"/>
          </a:xfrm>
          <a:prstGeom prst="ellipse">
            <a:avLst/>
          </a:prstGeom>
          <a:solidFill>
            <a:srgbClr val="0D9488"/>
          </a:solidFill>
          <a:ln/>
        </p:spPr>
      </p:sp>
      <p:sp>
        <p:nvSpPr>
          <p:cNvPr id="16" name="Text 14"/>
          <p:cNvSpPr/>
          <p:nvPr/>
        </p:nvSpPr>
        <p:spPr>
          <a:xfrm>
            <a:off x="1005840" y="43434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600200" y="4343400"/>
            <a:ext cx="4206240" cy="502920"/>
          </a:xfrm>
          <a:prstGeom prst="rect">
            <a:avLst/>
          </a:prstGeom>
          <a:noFill/>
          <a:ln/>
        </p:spPr>
        <p:txBody>
          <a:bodyPr wrap="square" lIns="0" tIns="0" rIns="0" bIns="0"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Which animals next?</a:t>
            </a:r>
            <a:endParaRPr lang="en-US" sz="1450" dirty="0"/>
          </a:p>
        </p:txBody>
      </p:sp>
      <p:sp>
        <p:nvSpPr>
          <p:cNvPr id="18" name="Text 16"/>
          <p:cNvSpPr/>
          <p:nvPr/>
        </p:nvSpPr>
        <p:spPr>
          <a:xfrm>
            <a:off x="1024128" y="4937760"/>
            <a:ext cx="4709160" cy="914400"/>
          </a:xfrm>
          <a:prstGeom prst="rect">
            <a:avLst/>
          </a:prstGeom>
          <a:noFill/>
          <a:ln/>
        </p:spPr>
        <p:txBody>
          <a:bodyPr wrap="square" lIns="0" tIns="0" rIns="0" bIns="0" rtlCol="0" anchor="ctr"/>
          <a:lstStyle/>
          <a:p>
            <a:pPr indent="0" marL="0">
              <a:lnSpc>
                <a:spcPct val="105000"/>
              </a:lnSpc>
              <a:buNone/>
            </a:pPr>
            <a:r>
              <a:rPr lang="en-US" sz="1200" dirty="0">
                <a:solidFill>
                  <a:srgbClr val="CBD5E1"/>
                </a:solidFill>
                <a:latin typeface="Calibri" pitchFamily="34" charset="0"/>
                <a:ea typeface="Calibri" pitchFamily="34" charset="-122"/>
                <a:cs typeface="Calibri" pitchFamily="34" charset="-120"/>
              </a:rPr>
              <a:t>7, 8, 13, 14, 15 are all down. Any more up-conditioned animals worth finding?</a:t>
            </a:r>
            <a:endParaRPr lang="en-US" sz="1200" dirty="0"/>
          </a:p>
        </p:txBody>
      </p:sp>
      <p:sp>
        <p:nvSpPr>
          <p:cNvPr id="19" name="Shape 17"/>
          <p:cNvSpPr/>
          <p:nvPr/>
        </p:nvSpPr>
        <p:spPr>
          <a:xfrm>
            <a:off x="6263640" y="4069080"/>
            <a:ext cx="5257800" cy="1874520"/>
          </a:xfrm>
          <a:prstGeom prst="roundRect">
            <a:avLst>
              <a:gd name="adj" fmla="val 4390"/>
            </a:avLst>
          </a:prstGeom>
          <a:solidFill>
            <a:srgbClr val="1E293B"/>
          </a:solidFill>
          <a:ln w="12700">
            <a:solidFill>
              <a:srgbClr val="334155"/>
            </a:solidFill>
            <a:prstDash val="solid"/>
          </a:ln>
        </p:spPr>
      </p:sp>
      <p:sp>
        <p:nvSpPr>
          <p:cNvPr id="20" name="Shape 18"/>
          <p:cNvSpPr/>
          <p:nvPr/>
        </p:nvSpPr>
        <p:spPr>
          <a:xfrm>
            <a:off x="6537960" y="4343400"/>
            <a:ext cx="457200" cy="457200"/>
          </a:xfrm>
          <a:prstGeom prst="ellipse">
            <a:avLst/>
          </a:prstGeom>
          <a:solidFill>
            <a:srgbClr val="0D9488"/>
          </a:solidFill>
          <a:ln/>
        </p:spPr>
      </p:sp>
      <p:sp>
        <p:nvSpPr>
          <p:cNvPr id="21" name="Text 19"/>
          <p:cNvSpPr/>
          <p:nvPr/>
        </p:nvSpPr>
        <p:spPr>
          <a:xfrm>
            <a:off x="6537960" y="43434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7132320" y="4343400"/>
            <a:ext cx="4206240" cy="502920"/>
          </a:xfrm>
          <a:prstGeom prst="rect">
            <a:avLst/>
          </a:prstGeom>
          <a:noFill/>
          <a:ln/>
        </p:spPr>
        <p:txBody>
          <a:bodyPr wrap="square" lIns="0" tIns="0" rIns="0" bIns="0"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Is the negative worth reporting?</a:t>
            </a:r>
            <a:endParaRPr lang="en-US" sz="1450" dirty="0"/>
          </a:p>
        </p:txBody>
      </p:sp>
      <p:sp>
        <p:nvSpPr>
          <p:cNvPr id="23" name="Text 21"/>
          <p:cNvSpPr/>
          <p:nvPr/>
        </p:nvSpPr>
        <p:spPr>
          <a:xfrm>
            <a:off x="6556248" y="4937760"/>
            <a:ext cx="4709160" cy="914400"/>
          </a:xfrm>
          <a:prstGeom prst="rect">
            <a:avLst/>
          </a:prstGeom>
          <a:noFill/>
          <a:ln/>
        </p:spPr>
        <p:txBody>
          <a:bodyPr wrap="square" lIns="0" tIns="0" rIns="0" bIns="0" rtlCol="0" anchor="ctr"/>
          <a:lstStyle/>
          <a:p>
            <a:pPr indent="0" marL="0">
              <a:lnSpc>
                <a:spcPct val="105000"/>
              </a:lnSpc>
              <a:buNone/>
            </a:pPr>
            <a:r>
              <a:rPr lang="en-US" sz="1200" dirty="0">
                <a:solidFill>
                  <a:srgbClr val="CBD5E1"/>
                </a:solidFill>
                <a:latin typeface="Calibri" pitchFamily="34" charset="0"/>
                <a:ea typeface="Calibri" pitchFamily="34" charset="-122"/>
                <a:cs typeface="Calibri" pitchFamily="34" charset="-120"/>
              </a:rPr>
              <a:t>Three controls say the average-state drift is recording, not learning. Worth publishing as a caution?</a:t>
            </a:r>
            <a:endParaRPr lang="en-US" sz="1200" dirty="0"/>
          </a:p>
        </p:txBody>
      </p:sp>
      <p:sp>
        <p:nvSpPr>
          <p:cNvPr id="24" name="Text 22"/>
          <p:cNvSpPr/>
          <p:nvPr/>
        </p:nvSpPr>
        <p:spPr>
          <a:xfrm>
            <a:off x="731520" y="6355080"/>
            <a:ext cx="10698480" cy="36576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All code, figures and per-animal results are in the repo.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HROC — Six-Animal Update</dc:title>
  <dc:subject>PptxGenJS Presentation</dc:subject>
  <dc:creator>Suchith Rao</dc:creator>
  <cp:lastModifiedBy>Suchith Rao</cp:lastModifiedBy>
  <cp:revision>1</cp:revision>
  <dcterms:created xsi:type="dcterms:W3CDTF">2026-08-05T14:47:45Z</dcterms:created>
  <dcterms:modified xsi:type="dcterms:W3CDTF">2026-08-05T14:47:45Z</dcterms:modified>
</cp:coreProperties>
</file>