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last time we went from one animal to four, and we ran the null control you suggested. Headline: the behaviour is solid, but the cortical drift did not survive the null control. I'll show you exactly what happened and what I think it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changed. We went to four animals and confirmed their conditioning directions from the logs. We got timestamps in, so we can do drift per day instead of per phase. And we ran your null control, which turned out to be the most important thing we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vocabulary. H over M is the reflex normalised by stimulus strength, which is the only valid way to measure it. Drift is how far the cortical representation moved. And the null control is your sham test, which is the centrepiece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works. Animal 11: H over M is flat through baseline then drops steadily after conditioning starts, down to about 0.6. Animal 9 does the same thing. This is textbook down-conditioning and it is the most solid result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you suggested and it was the right call. Take baseline-only data, pretend part of it was conditioning, run the same analysis. Nothing happened in that data so it should show zero drift. It doesn't. In three of four animals the sham drifts as much as the real thing, which means most of what we were calling a cortical effect is recording drift over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Red is the fake experiment on baseline-only data. It climbs just as high as the purple real-conditioning line. And look at the purple line itself, it rises during baseline and falls during the period when the animal was actually learning most. It runs opposite to the behaviour, which is the giveaway that it is not tracking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side by side. Behaviour is reproducible: down-conditioning works in 9 and 11, animal 10 is complicated by a forty-day recording gap, and animal 12's up-conditioning is a weak responder. The cortical drift is the opposite story, only animal 10 survives the null control. That inconsistency is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animal bucks the trend. In animal 10 the real drift is about four and a half times the sham, so the cortical change there is not explained by recording drift. That's worth chasing. But one out of four is a lead, not a result, and I don't want to build a story on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interpretation. In one animal, conditioning and recording drift are both slow changes over weeks, so they're mathematically tangled and no single-animal analysis can pull them apart. What's solid is the pipeline, the behaviour, and the control methodology. What's not solid is a conditioning-specific cortical effect, the up versus down contrast, or pooling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bar I want to hold us to. Five controls. We clear the M-wave one, and the null control only in one animal. Pre-stimulus excitability isn't built yet, we need a strong up-conditioned animal for the direction contrast, and nothing yet tracks the behavioural curve. If we clear all five, that's a real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Clean up per animal, retrain the encoder on everything, add the pre-stimulus control, chase animal 10, and get a strongly conditioned up animal. We're deliberately not rushing a draft, because it's better to clear the bar than to publish a confounded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 want your read on. Whether you buy the null-control interpretation. Whether animal 10 is worth chasing. Which drive animal is the best bet for a strong up-conditioning responder. And whether the five controls are the right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0149840" y="914400"/>
            <a:ext cx="1280160" cy="1280160"/>
          </a:xfrm>
          <a:prstGeom prst="ellipse">
            <a:avLst/>
          </a:prstGeom>
          <a:solidFill>
            <a:srgbClr val="6D28D9">
              <a:alpha val="45000"/>
            </a:srgbClr>
          </a:solidFill>
          <a:ln/>
        </p:spPr>
      </p:sp>
      <p:sp>
        <p:nvSpPr>
          <p:cNvPr id="3" name="Shape 1"/>
          <p:cNvSpPr/>
          <p:nvPr/>
        </p:nvSpPr>
        <p:spPr>
          <a:xfrm>
            <a:off x="10789920" y="1645920"/>
            <a:ext cx="868680" cy="868680"/>
          </a:xfrm>
          <a:prstGeom prst="ellipse">
            <a:avLst/>
          </a:prstGeom>
          <a:solidFill>
            <a:srgbClr val="0D9488">
              <a:alpha val="55000"/>
            </a:srgbClr>
          </a:solidFill>
          <a:ln/>
        </p:spPr>
      </p:sp>
      <p:sp>
        <p:nvSpPr>
          <p:cNvPr id="4" name="Text 2"/>
          <p:cNvSpPr/>
          <p:nvPr/>
        </p:nvSpPr>
        <p:spPr>
          <a:xfrm>
            <a:off x="731520" y="1463040"/>
            <a:ext cx="9144000" cy="36576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HROC · NCAN · DEEP-LEARNING TRACK</a:t>
            </a:r>
            <a:endParaRPr lang="en-US" sz="1400" dirty="0"/>
          </a:p>
        </p:txBody>
      </p:sp>
      <p:sp>
        <p:nvSpPr>
          <p:cNvPr id="5" name="Text 3"/>
          <p:cNvSpPr/>
          <p:nvPr/>
        </p:nvSpPr>
        <p:spPr>
          <a:xfrm>
            <a:off x="731520" y="1965960"/>
            <a:ext cx="10424160" cy="182880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Four animals in.</a:t>
            </a:r>
            <a:endParaRPr lang="en-US" sz="4400" dirty="0"/>
          </a:p>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What's real, and what isn't.</a:t>
            </a:r>
            <a:endParaRPr lang="en-US" sz="4400" dirty="0"/>
          </a:p>
        </p:txBody>
      </p:sp>
      <p:sp>
        <p:nvSpPr>
          <p:cNvPr id="6" name="Text 4"/>
          <p:cNvSpPr/>
          <p:nvPr/>
        </p:nvSpPr>
        <p:spPr>
          <a:xfrm>
            <a:off x="749808" y="3931920"/>
            <a:ext cx="10058400" cy="45720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Behaviour is solid. The cortical drift did not survive its own control.</a:t>
            </a:r>
            <a:endParaRPr lang="en-US" sz="1800" dirty="0"/>
          </a:p>
        </p:txBody>
      </p:sp>
      <p:sp>
        <p:nvSpPr>
          <p:cNvPr id="7" name="Text 5"/>
          <p:cNvSpPr/>
          <p:nvPr/>
        </p:nvSpPr>
        <p:spPr>
          <a:xfrm>
            <a:off x="749808" y="5943600"/>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Suchith Rao</a:t>
            </a:r>
            <a:pPr indent="0" marL="0">
              <a:buNone/>
            </a:pPr>
            <a:r>
              <a:rPr lang="en-US" sz="1500" dirty="0">
                <a:solidFill>
                  <a:srgbClr val="94A3B8"/>
                </a:solidFill>
                <a:latin typeface="Calibri" pitchFamily="34" charset="0"/>
                <a:ea typeface="Calibri" pitchFamily="34" charset="-122"/>
                <a:cs typeface="Calibri" pitchFamily="34" charset="-120"/>
              </a:rPr>
              <a:t>    •    for Dr. Carp    •    July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SINCE LAST MEETING</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What changed</a:t>
            </a:r>
            <a:endParaRPr lang="en-US" sz="3000" dirty="0"/>
          </a:p>
        </p:txBody>
      </p:sp>
      <p:sp>
        <p:nvSpPr>
          <p:cNvPr id="4" name="Shape 2"/>
          <p:cNvSpPr/>
          <p:nvPr/>
        </p:nvSpPr>
        <p:spPr>
          <a:xfrm>
            <a:off x="640080" y="1828800"/>
            <a:ext cx="10881360" cy="1325880"/>
          </a:xfrm>
          <a:prstGeom prst="roundRect">
            <a:avLst>
              <a:gd name="adj" fmla="val 620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914400" y="2258568"/>
            <a:ext cx="457200" cy="457200"/>
          </a:xfrm>
          <a:prstGeom prst="ellipse">
            <a:avLst/>
          </a:prstGeom>
          <a:solidFill>
            <a:srgbClr val="6D28D9"/>
          </a:solidFill>
          <a:ln/>
        </p:spPr>
      </p:sp>
      <p:sp>
        <p:nvSpPr>
          <p:cNvPr id="6" name="Text 4"/>
          <p:cNvSpPr/>
          <p:nvPr/>
        </p:nvSpPr>
        <p:spPr>
          <a:xfrm>
            <a:off x="914400" y="22585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54480" y="2103120"/>
            <a:ext cx="329184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4 animals processed</a:t>
            </a:r>
            <a:endParaRPr lang="en-US" sz="1700" dirty="0"/>
          </a:p>
        </p:txBody>
      </p:sp>
      <p:sp>
        <p:nvSpPr>
          <p:cNvPr id="8" name="Text 6"/>
          <p:cNvSpPr/>
          <p:nvPr/>
        </p:nvSpPr>
        <p:spPr>
          <a:xfrm>
            <a:off x="4937760" y="2057400"/>
            <a:ext cx="6309360" cy="86868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9, 10, 11 down-conditioned; 12 up. Directions read straight from the experimenters' logs.</a:t>
            </a:r>
            <a:endParaRPr lang="en-US" sz="1400" dirty="0"/>
          </a:p>
        </p:txBody>
      </p:sp>
      <p:sp>
        <p:nvSpPr>
          <p:cNvPr id="9" name="Shape 7"/>
          <p:cNvSpPr/>
          <p:nvPr/>
        </p:nvSpPr>
        <p:spPr>
          <a:xfrm>
            <a:off x="640080" y="3310128"/>
            <a:ext cx="10881360" cy="1325880"/>
          </a:xfrm>
          <a:prstGeom prst="roundRect">
            <a:avLst>
              <a:gd name="adj" fmla="val 620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Shape 8"/>
          <p:cNvSpPr/>
          <p:nvPr/>
        </p:nvSpPr>
        <p:spPr>
          <a:xfrm>
            <a:off x="914400" y="3739896"/>
            <a:ext cx="457200" cy="457200"/>
          </a:xfrm>
          <a:prstGeom prst="ellipse">
            <a:avLst/>
          </a:prstGeom>
          <a:solidFill>
            <a:srgbClr val="0D9488"/>
          </a:solidFill>
          <a:ln/>
        </p:spPr>
      </p:sp>
      <p:sp>
        <p:nvSpPr>
          <p:cNvPr id="11" name="Text 9"/>
          <p:cNvSpPr/>
          <p:nvPr/>
        </p:nvSpPr>
        <p:spPr>
          <a:xfrm>
            <a:off x="914400" y="37398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554480" y="3584448"/>
            <a:ext cx="329184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Per-day analysis</a:t>
            </a:r>
            <a:endParaRPr lang="en-US" sz="1700" dirty="0"/>
          </a:p>
        </p:txBody>
      </p:sp>
      <p:sp>
        <p:nvSpPr>
          <p:cNvPr id="13" name="Text 11"/>
          <p:cNvSpPr/>
          <p:nvPr/>
        </p:nvSpPr>
        <p:spPr>
          <a:xfrm>
            <a:off x="4937760" y="3538728"/>
            <a:ext cx="6309360" cy="86868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Timestamps now in the data, so drift is measured per day / 5-day block, not per phase.</a:t>
            </a:r>
            <a:endParaRPr lang="en-US" sz="1400" dirty="0"/>
          </a:p>
        </p:txBody>
      </p:sp>
      <p:sp>
        <p:nvSpPr>
          <p:cNvPr id="14" name="Shape 12"/>
          <p:cNvSpPr/>
          <p:nvPr/>
        </p:nvSpPr>
        <p:spPr>
          <a:xfrm>
            <a:off x="640080" y="4791456"/>
            <a:ext cx="10881360" cy="1325880"/>
          </a:xfrm>
          <a:prstGeom prst="roundRect">
            <a:avLst>
              <a:gd name="adj" fmla="val 620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5" name="Shape 13"/>
          <p:cNvSpPr/>
          <p:nvPr/>
        </p:nvSpPr>
        <p:spPr>
          <a:xfrm>
            <a:off x="914400" y="5221224"/>
            <a:ext cx="457200" cy="457200"/>
          </a:xfrm>
          <a:prstGeom prst="ellipse">
            <a:avLst/>
          </a:prstGeom>
          <a:solidFill>
            <a:srgbClr val="D97706"/>
          </a:solidFill>
          <a:ln/>
        </p:spPr>
      </p:sp>
      <p:sp>
        <p:nvSpPr>
          <p:cNvPr id="16" name="Text 14"/>
          <p:cNvSpPr/>
          <p:nvPr/>
        </p:nvSpPr>
        <p:spPr>
          <a:xfrm>
            <a:off x="914400" y="52212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54480" y="5065776"/>
            <a:ext cx="329184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The null control</a:t>
            </a:r>
            <a:endParaRPr lang="en-US" sz="1700" dirty="0"/>
          </a:p>
        </p:txBody>
      </p:sp>
      <p:sp>
        <p:nvSpPr>
          <p:cNvPr id="18" name="Text 16"/>
          <p:cNvSpPr/>
          <p:nvPr/>
        </p:nvSpPr>
        <p:spPr>
          <a:xfrm>
            <a:off x="4937760" y="5020056"/>
            <a:ext cx="6309360" cy="86868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Your sham test: split baseline-only data as a fake experiment and see if it 'drifts'.</a:t>
            </a:r>
            <a:endParaRPr lang="en-US" sz="1400" dirty="0"/>
          </a:p>
        </p:txBody>
      </p:sp>
      <p:sp>
        <p:nvSpPr>
          <p:cNvPr id="19" name="Text 17"/>
          <p:cNvSpPr/>
          <p:nvPr/>
        </p:nvSpPr>
        <p:spPr>
          <a:xfrm>
            <a:off x="658368" y="6263640"/>
            <a:ext cx="10058400" cy="365760"/>
          </a:xfrm>
          <a:prstGeom prst="rect">
            <a:avLst/>
          </a:prstGeom>
          <a:noFill/>
          <a:ln/>
        </p:spPr>
        <p:txBody>
          <a:bodyPr wrap="square" lIns="0" tIns="0" rIns="0" bIns="0" rtlCol="0" anchor="ctr"/>
          <a:lstStyle/>
          <a:p>
            <a:pPr indent="0" marL="0">
              <a:buNone/>
            </a:pPr>
            <a:r>
              <a:rPr lang="en-US" sz="1300" i="1" dirty="0">
                <a:solidFill>
                  <a:srgbClr val="6D28D9"/>
                </a:solidFill>
                <a:latin typeface="Calibri" pitchFamily="34" charset="0"/>
                <a:ea typeface="Calibri" pitchFamily="34" charset="-122"/>
                <a:cs typeface="Calibri" pitchFamily="34" charset="-120"/>
              </a:rPr>
              <a:t>~1.6 million trials decoded across the four animals.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PLAIN ENGLISH</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Three terms for the next few slides</a:t>
            </a:r>
            <a:endParaRPr lang="en-US" sz="3000" dirty="0"/>
          </a:p>
        </p:txBody>
      </p:sp>
      <p:sp>
        <p:nvSpPr>
          <p:cNvPr id="4" name="Shape 2"/>
          <p:cNvSpPr/>
          <p:nvPr/>
        </p:nvSpPr>
        <p:spPr>
          <a:xfrm>
            <a:off x="640080" y="1828800"/>
            <a:ext cx="10881360"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960120" y="2395728"/>
            <a:ext cx="219456" cy="219456"/>
          </a:xfrm>
          <a:prstGeom prst="ellipse">
            <a:avLst/>
          </a:prstGeom>
          <a:solidFill>
            <a:srgbClr val="6D28D9"/>
          </a:solidFill>
          <a:ln/>
        </p:spPr>
      </p:sp>
      <p:sp>
        <p:nvSpPr>
          <p:cNvPr id="6" name="Text 4"/>
          <p:cNvSpPr/>
          <p:nvPr/>
        </p:nvSpPr>
        <p:spPr>
          <a:xfrm>
            <a:off x="1371600" y="2121408"/>
            <a:ext cx="30175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H / M ratio</a:t>
            </a:r>
            <a:endParaRPr lang="en-US" sz="1800" dirty="0"/>
          </a:p>
        </p:txBody>
      </p:sp>
      <p:sp>
        <p:nvSpPr>
          <p:cNvPr id="7" name="Text 5"/>
          <p:cNvSpPr/>
          <p:nvPr/>
        </p:nvSpPr>
        <p:spPr>
          <a:xfrm>
            <a:off x="4480560" y="2057400"/>
            <a:ext cx="6766560" cy="91440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The reflex size divided by the direct muscle response. We never use raw reflex size, because it depends on how hard you stimulate.</a:t>
            </a:r>
            <a:endParaRPr lang="en-US" sz="1400" dirty="0"/>
          </a:p>
        </p:txBody>
      </p:sp>
      <p:sp>
        <p:nvSpPr>
          <p:cNvPr id="8" name="Shape 6"/>
          <p:cNvSpPr/>
          <p:nvPr/>
        </p:nvSpPr>
        <p:spPr>
          <a:xfrm>
            <a:off x="640080" y="3355848"/>
            <a:ext cx="10881360" cy="1371600"/>
          </a:xfrm>
          <a:prstGeom prst="roundRect">
            <a:avLst>
              <a:gd name="adj" fmla="val 6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9" name="Shape 7"/>
          <p:cNvSpPr/>
          <p:nvPr/>
        </p:nvSpPr>
        <p:spPr>
          <a:xfrm>
            <a:off x="960120" y="3922776"/>
            <a:ext cx="219456" cy="219456"/>
          </a:xfrm>
          <a:prstGeom prst="ellipse">
            <a:avLst/>
          </a:prstGeom>
          <a:solidFill>
            <a:srgbClr val="0D9488"/>
          </a:solidFill>
          <a:ln/>
        </p:spPr>
      </p:sp>
      <p:sp>
        <p:nvSpPr>
          <p:cNvPr id="10" name="Text 8"/>
          <p:cNvSpPr/>
          <p:nvPr/>
        </p:nvSpPr>
        <p:spPr>
          <a:xfrm>
            <a:off x="1371600" y="3648456"/>
            <a:ext cx="30175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Drift</a:t>
            </a:r>
            <a:endParaRPr lang="en-US" sz="1800" dirty="0"/>
          </a:p>
        </p:txBody>
      </p:sp>
      <p:sp>
        <p:nvSpPr>
          <p:cNvPr id="11" name="Text 9"/>
          <p:cNvSpPr/>
          <p:nvPr/>
        </p:nvSpPr>
        <p:spPr>
          <a:xfrm>
            <a:off x="4480560" y="3584448"/>
            <a:ext cx="6766560" cy="91440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How far the average brain state has moved from where it started at baseline. Bigger number means the representation changed more.</a:t>
            </a:r>
            <a:endParaRPr lang="en-US" sz="1400" dirty="0"/>
          </a:p>
        </p:txBody>
      </p:sp>
      <p:sp>
        <p:nvSpPr>
          <p:cNvPr id="12" name="Shape 10"/>
          <p:cNvSpPr/>
          <p:nvPr/>
        </p:nvSpPr>
        <p:spPr>
          <a:xfrm>
            <a:off x="640080" y="4882896"/>
            <a:ext cx="10881360" cy="1371600"/>
          </a:xfrm>
          <a:prstGeom prst="roundRect">
            <a:avLst>
              <a:gd name="adj" fmla="val 6000"/>
            </a:avLst>
          </a:prstGeom>
          <a:solidFill>
            <a:srgbClr val="FEF3E2"/>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3" name="Shape 11"/>
          <p:cNvSpPr/>
          <p:nvPr/>
        </p:nvSpPr>
        <p:spPr>
          <a:xfrm>
            <a:off x="960120" y="5449824"/>
            <a:ext cx="219456" cy="219456"/>
          </a:xfrm>
          <a:prstGeom prst="ellipse">
            <a:avLst/>
          </a:prstGeom>
          <a:solidFill>
            <a:srgbClr val="D97706"/>
          </a:solidFill>
          <a:ln/>
        </p:spPr>
      </p:sp>
      <p:sp>
        <p:nvSpPr>
          <p:cNvPr id="14" name="Text 12"/>
          <p:cNvSpPr/>
          <p:nvPr/>
        </p:nvSpPr>
        <p:spPr>
          <a:xfrm>
            <a:off x="1371600" y="5175504"/>
            <a:ext cx="30175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The null control</a:t>
            </a:r>
            <a:endParaRPr lang="en-US" sz="1800" dirty="0"/>
          </a:p>
        </p:txBody>
      </p:sp>
      <p:sp>
        <p:nvSpPr>
          <p:cNvPr id="15" name="Text 13"/>
          <p:cNvSpPr/>
          <p:nvPr/>
        </p:nvSpPr>
        <p:spPr>
          <a:xfrm>
            <a:off x="4480560" y="5111496"/>
            <a:ext cx="6766560" cy="914400"/>
          </a:xfrm>
          <a:prstGeom prst="rect">
            <a:avLst/>
          </a:prstGeom>
          <a:noFill/>
          <a:ln/>
        </p:spPr>
        <p:txBody>
          <a:bodyPr wrap="square" lIns="0" tIns="0" rIns="0" bIns="0" rtlCol="0" anchor="ctr"/>
          <a:lstStyle/>
          <a:p>
            <a:pPr indent="0" marL="0">
              <a:lnSpc>
                <a:spcPct val="104000"/>
              </a:lnSpc>
              <a:buNone/>
            </a:pPr>
            <a:r>
              <a:rPr lang="en-US" sz="1400" dirty="0">
                <a:solidFill>
                  <a:srgbClr val="64748B"/>
                </a:solidFill>
                <a:latin typeface="Calibri" pitchFamily="34" charset="0"/>
                <a:ea typeface="Calibri" pitchFamily="34" charset="-122"/>
                <a:cs typeface="Calibri" pitchFamily="34" charset="-120"/>
              </a:rPr>
              <a:t>Take baseline-only data, pretend half of it was 'conditioning', and run the same analysis. There was no real conditioning, so it should show ~zero drift.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RESULT 1 · THE BEHAVIOUR</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Down-conditioning worked</a:t>
            </a:r>
            <a:endParaRPr lang="en-US" sz="3000" dirty="0"/>
          </a:p>
        </p:txBody>
      </p:sp>
      <p:pic>
        <p:nvPicPr>
          <p:cNvPr id="4" name="Image 0" descr="outputs/animal11/confound/learning_curve.png">    </p:cNvPr>
          <p:cNvPicPr>
            <a:picLocks noChangeAspect="1"/>
          </p:cNvPicPr>
          <p:nvPr/>
        </p:nvPicPr>
        <p:blipFill>
          <a:blip r:embed="rId1"/>
          <a:srcRect l="0" r="0" t="0" b="0"/>
          <a:stretch/>
        </p:blipFill>
        <p:spPr>
          <a:xfrm>
            <a:off x="594360" y="1874520"/>
            <a:ext cx="7223760" cy="2552565"/>
          </a:xfrm>
          <a:prstGeom prst="rect">
            <a:avLst/>
          </a:prstGeom>
        </p:spPr>
      </p:pic>
      <p:sp>
        <p:nvSpPr>
          <p:cNvPr id="5" name="Shape 2"/>
          <p:cNvSpPr/>
          <p:nvPr/>
        </p:nvSpPr>
        <p:spPr>
          <a:xfrm>
            <a:off x="8046720" y="1965960"/>
            <a:ext cx="3474720" cy="3657600"/>
          </a:xfrm>
          <a:prstGeom prst="roundRect">
            <a:avLst>
              <a:gd name="adj" fmla="val 2368"/>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8275320" y="2194560"/>
            <a:ext cx="3017520" cy="32004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Animal 11</a:t>
            </a:r>
            <a:endParaRPr lang="en-US" sz="1500" dirty="0"/>
          </a:p>
        </p:txBody>
      </p:sp>
      <p:sp>
        <p:nvSpPr>
          <p:cNvPr id="7" name="Text 4"/>
          <p:cNvSpPr/>
          <p:nvPr/>
        </p:nvSpPr>
        <p:spPr>
          <a:xfrm>
            <a:off x="8275320" y="2606040"/>
            <a:ext cx="3063240" cy="1463040"/>
          </a:xfrm>
          <a:prstGeom prst="rect">
            <a:avLst/>
          </a:prstGeom>
          <a:noFill/>
          <a:ln/>
        </p:spPr>
        <p:txBody>
          <a:bodyPr wrap="square" lIns="0" tIns="0" rIns="0" bIns="0" rtlCol="0" anchor="ctr"/>
          <a:lstStyle/>
          <a:p>
            <a:pPr indent="0" marL="0">
              <a:lnSpc>
                <a:spcPct val="105000"/>
              </a:lnSpc>
              <a:buNone/>
            </a:pPr>
            <a:r>
              <a:rPr lang="en-US" sz="1400" dirty="0">
                <a:solidFill>
                  <a:srgbClr val="1E293B"/>
                </a:solidFill>
                <a:latin typeface="Calibri" pitchFamily="34" charset="0"/>
                <a:ea typeface="Calibri" pitchFamily="34" charset="-122"/>
                <a:cs typeface="Calibri" pitchFamily="34" charset="-120"/>
              </a:rPr>
              <a:t>H/M sits flat around 0.87 through baseline, then falls steadily to about 0.60 once conditioning starts. Animal 9 shows the same pattern.</a:t>
            </a:r>
            <a:endParaRPr lang="en-US" sz="1400" dirty="0"/>
          </a:p>
        </p:txBody>
      </p:sp>
      <p:sp>
        <p:nvSpPr>
          <p:cNvPr id="8" name="Text 5"/>
          <p:cNvSpPr/>
          <p:nvPr/>
        </p:nvSpPr>
        <p:spPr>
          <a:xfrm>
            <a:off x="8275320" y="4206240"/>
            <a:ext cx="3063240" cy="1097280"/>
          </a:xfrm>
          <a:prstGeom prst="rect">
            <a:avLst/>
          </a:prstGeom>
          <a:noFill/>
          <a:ln/>
        </p:spPr>
        <p:txBody>
          <a:bodyPr wrap="square" lIns="0" tIns="0" rIns="0" bIns="0" rtlCol="0" anchor="ctr"/>
          <a:lstStyle/>
          <a:p>
            <a:pPr indent="0" marL="0">
              <a:lnSpc>
                <a:spcPct val="105000"/>
              </a:lnSpc>
              <a:buNone/>
            </a:pPr>
            <a:r>
              <a:rPr lang="en-US" sz="1350" b="1" i="1" dirty="0">
                <a:solidFill>
                  <a:srgbClr val="6D28D9"/>
                </a:solidFill>
                <a:latin typeface="Calibri" pitchFamily="34" charset="0"/>
                <a:ea typeface="Calibri" pitchFamily="34" charset="-122"/>
                <a:cs typeface="Calibri" pitchFamily="34" charset="-120"/>
              </a:rPr>
              <a:t>This is the textbook curve, and it's the most solid thing we have.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D97706"/>
                </a:solidFill>
                <a:latin typeface="Calibri" pitchFamily="34" charset="0"/>
                <a:ea typeface="Calibri" pitchFamily="34" charset="-122"/>
                <a:cs typeface="Calibri" pitchFamily="34" charset="-120"/>
              </a:rPr>
              <a:t>RESULT 2 · YOUR SHAM TEST</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The null control, and why it matters</a:t>
            </a:r>
            <a:endParaRPr lang="en-US" sz="3000" dirty="0"/>
          </a:p>
        </p:txBody>
      </p:sp>
      <p:sp>
        <p:nvSpPr>
          <p:cNvPr id="4" name="Shape 2"/>
          <p:cNvSpPr/>
          <p:nvPr/>
        </p:nvSpPr>
        <p:spPr>
          <a:xfrm>
            <a:off x="640080" y="1828800"/>
            <a:ext cx="5349240" cy="3931920"/>
          </a:xfrm>
          <a:prstGeom prst="roundRect">
            <a:avLst>
              <a:gd name="adj" fmla="val 2093"/>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14400" y="2103120"/>
            <a:ext cx="457200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The idea</a:t>
            </a:r>
            <a:endParaRPr lang="en-US" sz="1600" dirty="0"/>
          </a:p>
        </p:txBody>
      </p:sp>
      <p:sp>
        <p:nvSpPr>
          <p:cNvPr id="6" name="Text 4"/>
          <p:cNvSpPr/>
          <p:nvPr/>
        </p:nvSpPr>
        <p:spPr>
          <a:xfrm>
            <a:off x="914400" y="2560320"/>
            <a:ext cx="4846320" cy="1645920"/>
          </a:xfrm>
          <a:prstGeom prst="rect">
            <a:avLst/>
          </a:prstGeom>
          <a:noFill/>
          <a:ln/>
        </p:spPr>
        <p:txBody>
          <a:bodyPr wrap="square" lIns="0" tIns="0" rIns="0" bIns="0" rtlCol="0" anchor="ctr"/>
          <a:lstStyle/>
          <a:p>
            <a:pPr indent="0" marL="0">
              <a:lnSpc>
                <a:spcPct val="105000"/>
              </a:lnSpc>
              <a:buNone/>
            </a:pPr>
            <a:r>
              <a:rPr lang="en-US" sz="1500" dirty="0">
                <a:solidFill>
                  <a:srgbClr val="1E293B"/>
                </a:solidFill>
                <a:latin typeface="Calibri" pitchFamily="34" charset="0"/>
                <a:ea typeface="Calibri" pitchFamily="34" charset="-122"/>
                <a:cs typeface="Calibri" pitchFamily="34" charset="-120"/>
              </a:rPr>
              <a:t>Take ONLY the baseline recordings, before any conditioning happened. Pretend the first part is 'baseline' and the rest is 'conditioning'. Run the identical drift analysis.</a:t>
            </a:r>
            <a:endParaRPr lang="en-US" sz="1500" dirty="0"/>
          </a:p>
        </p:txBody>
      </p:sp>
      <p:sp>
        <p:nvSpPr>
          <p:cNvPr id="7" name="Text 5"/>
          <p:cNvSpPr/>
          <p:nvPr/>
        </p:nvSpPr>
        <p:spPr>
          <a:xfrm>
            <a:off x="914400" y="4389120"/>
            <a:ext cx="4846320" cy="1097280"/>
          </a:xfrm>
          <a:prstGeom prst="rect">
            <a:avLst/>
          </a:prstGeom>
          <a:noFill/>
          <a:ln/>
        </p:spPr>
        <p:txBody>
          <a:bodyPr wrap="square" lIns="0" tIns="0" rIns="0" bIns="0" rtlCol="0" anchor="ctr"/>
          <a:lstStyle/>
          <a:p>
            <a:pPr indent="0" marL="0">
              <a:lnSpc>
                <a:spcPct val="105000"/>
              </a:lnSpc>
              <a:buNone/>
            </a:pPr>
            <a:r>
              <a:rPr lang="en-US" sz="1400" i="1" dirty="0">
                <a:solidFill>
                  <a:srgbClr val="64748B"/>
                </a:solidFill>
                <a:latin typeface="Calibri" pitchFamily="34" charset="0"/>
                <a:ea typeface="Calibri" pitchFamily="34" charset="-122"/>
                <a:cs typeface="Calibri" pitchFamily="34" charset="-120"/>
              </a:rPr>
              <a:t>Nothing happened in that data, so an honest method must report ~zero drift.</a:t>
            </a:r>
            <a:endParaRPr lang="en-US" sz="1400" dirty="0"/>
          </a:p>
        </p:txBody>
      </p:sp>
      <p:sp>
        <p:nvSpPr>
          <p:cNvPr id="8" name="Shape 6"/>
          <p:cNvSpPr/>
          <p:nvPr/>
        </p:nvSpPr>
        <p:spPr>
          <a:xfrm>
            <a:off x="6172200" y="1828800"/>
            <a:ext cx="5349240" cy="3931920"/>
          </a:xfrm>
          <a:prstGeom prst="roundRect">
            <a:avLst>
              <a:gd name="adj" fmla="val 2093"/>
            </a:avLst>
          </a:prstGeom>
          <a:solidFill>
            <a:srgbClr val="FEF3E2"/>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9" name="Text 7"/>
          <p:cNvSpPr/>
          <p:nvPr/>
        </p:nvSpPr>
        <p:spPr>
          <a:xfrm>
            <a:off x="6446520" y="2103120"/>
            <a:ext cx="4572000" cy="36576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What we found</a:t>
            </a:r>
            <a:endParaRPr lang="en-US" sz="1600" dirty="0"/>
          </a:p>
        </p:txBody>
      </p:sp>
      <p:sp>
        <p:nvSpPr>
          <p:cNvPr id="10" name="Text 8"/>
          <p:cNvSpPr/>
          <p:nvPr/>
        </p:nvSpPr>
        <p:spPr>
          <a:xfrm>
            <a:off x="6446520" y="2606040"/>
            <a:ext cx="4846320" cy="1097280"/>
          </a:xfrm>
          <a:prstGeom prst="rect">
            <a:avLst/>
          </a:prstGeom>
          <a:noFill/>
          <a:ln/>
        </p:spPr>
        <p:txBody>
          <a:bodyPr wrap="square" lIns="0" tIns="0" rIns="0" bIns="0" rtlCol="0" anchor="ctr"/>
          <a:lstStyle/>
          <a:p>
            <a:pPr indent="0" marL="0">
              <a:lnSpc>
                <a:spcPct val="105000"/>
              </a:lnSpc>
              <a:buNone/>
            </a:pPr>
            <a:r>
              <a:rPr lang="en-US" sz="1600" b="1" dirty="0">
                <a:solidFill>
                  <a:srgbClr val="1E293B"/>
                </a:solidFill>
                <a:latin typeface="Calibri" pitchFamily="34" charset="0"/>
                <a:ea typeface="Calibri" pitchFamily="34" charset="-122"/>
                <a:cs typeface="Calibri" pitchFamily="34" charset="-120"/>
              </a:rPr>
              <a:t>The sham 'drifts' just as much as real conditioning in 3 of the 4 animals.</a:t>
            </a:r>
            <a:endParaRPr lang="en-US" sz="1600" dirty="0"/>
          </a:p>
        </p:txBody>
      </p:sp>
      <p:sp>
        <p:nvSpPr>
          <p:cNvPr id="11" name="Text 9"/>
          <p:cNvSpPr/>
          <p:nvPr/>
        </p:nvSpPr>
        <p:spPr>
          <a:xfrm>
            <a:off x="6446520" y="3794760"/>
            <a:ext cx="4846320" cy="1371600"/>
          </a:xfrm>
          <a:prstGeom prst="rect">
            <a:avLst/>
          </a:prstGeom>
          <a:noFill/>
          <a:ln/>
        </p:spPr>
        <p:txBody>
          <a:bodyPr wrap="square" lIns="0" tIns="0" rIns="0" bIns="0" rtlCol="0" anchor="ctr"/>
          <a:lstStyle/>
          <a:p>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So most of what we were calling a cortical effect is slow drift in the recording itself over weeks, not learning.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D97706"/>
                </a:solidFill>
                <a:latin typeface="Calibri" pitchFamily="34" charset="0"/>
                <a:ea typeface="Calibri" pitchFamily="34" charset="-122"/>
                <a:cs typeface="Calibri" pitchFamily="34" charset="-120"/>
              </a:rPr>
              <a:t>THE NULL CONTROL, IN ONE PICTURE</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Animal 9: the sham drifts as much as the real thing</a:t>
            </a:r>
            <a:endParaRPr lang="en-US" sz="3000" dirty="0"/>
          </a:p>
        </p:txBody>
      </p:sp>
      <p:pic>
        <p:nvPicPr>
          <p:cNvPr id="4" name="Image 0" descr="outputs/drift_time/null_control.png">    </p:cNvPr>
          <p:cNvPicPr>
            <a:picLocks noChangeAspect="1"/>
          </p:cNvPicPr>
          <p:nvPr/>
        </p:nvPicPr>
        <p:blipFill>
          <a:blip r:embed="rId1"/>
          <a:srcRect l="0" r="0" t="0" b="0"/>
          <a:stretch/>
        </p:blipFill>
        <p:spPr>
          <a:xfrm>
            <a:off x="594360" y="1828800"/>
            <a:ext cx="6675120" cy="3708400"/>
          </a:xfrm>
          <a:prstGeom prst="rect">
            <a:avLst/>
          </a:prstGeom>
        </p:spPr>
      </p:pic>
      <p:sp>
        <p:nvSpPr>
          <p:cNvPr id="5" name="Shape 2"/>
          <p:cNvSpPr/>
          <p:nvPr/>
        </p:nvSpPr>
        <p:spPr>
          <a:xfrm>
            <a:off x="7772400" y="1965960"/>
            <a:ext cx="3749040" cy="3657600"/>
          </a:xfrm>
          <a:prstGeom prst="roundRect">
            <a:avLst>
              <a:gd name="adj" fmla="val 2250"/>
            </a:avLst>
          </a:prstGeom>
          <a:solidFill>
            <a:srgbClr val="FEF3E2"/>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8001000" y="2194560"/>
            <a:ext cx="3291840" cy="320040"/>
          </a:xfrm>
          <a:prstGeom prst="rect">
            <a:avLst/>
          </a:prstGeom>
          <a:noFill/>
          <a:ln/>
        </p:spPr>
        <p:txBody>
          <a:bodyPr wrap="square" lIns="0" tIns="0" rIns="0" bIns="0" rtlCol="0" anchor="ctr"/>
          <a:lstStyle/>
          <a:p>
            <a:pPr indent="0" marL="0">
              <a:buNone/>
            </a:pPr>
            <a:r>
              <a:rPr lang="en-US" sz="1450" b="1" dirty="0">
                <a:solidFill>
                  <a:srgbClr val="DC2626"/>
                </a:solidFill>
                <a:latin typeface="Calibri" pitchFamily="34" charset="0"/>
                <a:ea typeface="Calibri" pitchFamily="34" charset="-122"/>
                <a:cs typeface="Calibri" pitchFamily="34" charset="-120"/>
              </a:rPr>
              <a:t>Red = fake experiment</a:t>
            </a:r>
            <a:endParaRPr lang="en-US" sz="1450" dirty="0"/>
          </a:p>
        </p:txBody>
      </p:sp>
      <p:sp>
        <p:nvSpPr>
          <p:cNvPr id="7" name="Text 4"/>
          <p:cNvSpPr/>
          <p:nvPr/>
        </p:nvSpPr>
        <p:spPr>
          <a:xfrm>
            <a:off x="8001000" y="2606040"/>
            <a:ext cx="3337560" cy="1188720"/>
          </a:xfrm>
          <a:prstGeom prst="rect">
            <a:avLst/>
          </a:prstGeom>
          <a:noFill/>
          <a:ln/>
        </p:spPr>
        <p:txBody>
          <a:bodyPr wrap="square" lIns="0" tIns="0" rIns="0" bIns="0" rtlCol="0" anchor="ctr"/>
          <a:lstStyle/>
          <a:p>
            <a:pPr indent="0" marL="0">
              <a:lnSpc>
                <a:spcPct val="105000"/>
              </a:lnSpc>
              <a:buNone/>
            </a:pPr>
            <a:r>
              <a:rPr lang="en-US" sz="1400" dirty="0">
                <a:solidFill>
                  <a:srgbClr val="1E293B"/>
                </a:solidFill>
                <a:latin typeface="Calibri" pitchFamily="34" charset="0"/>
                <a:ea typeface="Calibri" pitchFamily="34" charset="-122"/>
                <a:cs typeface="Calibri" pitchFamily="34" charset="-120"/>
              </a:rPr>
              <a:t>Baseline-only data, no conditioning at all. It climbs as high as the purple real-conditioning line.</a:t>
            </a:r>
            <a:endParaRPr lang="en-US" sz="1400" dirty="0"/>
          </a:p>
        </p:txBody>
      </p:sp>
      <p:sp>
        <p:nvSpPr>
          <p:cNvPr id="8" name="Text 5"/>
          <p:cNvSpPr/>
          <p:nvPr/>
        </p:nvSpPr>
        <p:spPr>
          <a:xfrm>
            <a:off x="8001000" y="3931920"/>
            <a:ext cx="3337560" cy="1554480"/>
          </a:xfrm>
          <a:prstGeom prst="rect">
            <a:avLst/>
          </a:prstGeom>
          <a:noFill/>
          <a:ln/>
        </p:spPr>
        <p:txBody>
          <a:bodyPr wrap="square" lIns="0" tIns="0" rIns="0" bIns="0" rtlCol="0" anchor="ctr"/>
          <a:lstStyle/>
          <a:p>
            <a:pPr indent="0" marL="0">
              <a:lnSpc>
                <a:spcPct val="105000"/>
              </a:lnSpc>
              <a:buNone/>
            </a:pPr>
            <a:r>
              <a:rPr lang="en-US" sz="1350" i="1" dirty="0">
                <a:solidFill>
                  <a:srgbClr val="D97706"/>
                </a:solidFill>
                <a:latin typeface="Calibri" pitchFamily="34" charset="0"/>
                <a:ea typeface="Calibri" pitchFamily="34" charset="-122"/>
                <a:cs typeface="Calibri" pitchFamily="34" charset="-120"/>
              </a:rPr>
              <a:t>Also note the purple line rises during baseline and falls during the strongest learning. It runs opposite to the behaviour.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ALL FOUR ANIMALS</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The scorecard</a:t>
            </a:r>
            <a:endParaRPr lang="en-US" sz="3000" dirty="0"/>
          </a:p>
        </p:txBody>
      </p:sp>
      <p:sp>
        <p:nvSpPr>
          <p:cNvPr id="4" name="Text 2"/>
          <p:cNvSpPr/>
          <p:nvPr/>
        </p:nvSpPr>
        <p:spPr>
          <a:xfrm>
            <a:off x="914400" y="1874520"/>
            <a:ext cx="1463040" cy="36576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Animal</a:t>
            </a:r>
            <a:endParaRPr lang="en-US" sz="1300" dirty="0"/>
          </a:p>
        </p:txBody>
      </p:sp>
      <p:sp>
        <p:nvSpPr>
          <p:cNvPr id="5" name="Text 3"/>
          <p:cNvSpPr/>
          <p:nvPr/>
        </p:nvSpPr>
        <p:spPr>
          <a:xfrm>
            <a:off x="2468880" y="1874520"/>
            <a:ext cx="1645920" cy="36576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Direction</a:t>
            </a:r>
            <a:endParaRPr lang="en-US" sz="1300" dirty="0"/>
          </a:p>
        </p:txBody>
      </p:sp>
      <p:sp>
        <p:nvSpPr>
          <p:cNvPr id="6" name="Text 4"/>
          <p:cNvSpPr/>
          <p:nvPr/>
        </p:nvSpPr>
        <p:spPr>
          <a:xfrm>
            <a:off x="4297680" y="1874520"/>
            <a:ext cx="3840480" cy="36576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Behaviour</a:t>
            </a:r>
            <a:endParaRPr lang="en-US" sz="1300" dirty="0"/>
          </a:p>
        </p:txBody>
      </p:sp>
      <p:sp>
        <p:nvSpPr>
          <p:cNvPr id="7" name="Text 5"/>
          <p:cNvSpPr/>
          <p:nvPr/>
        </p:nvSpPr>
        <p:spPr>
          <a:xfrm>
            <a:off x="8686800" y="1874520"/>
            <a:ext cx="2560320" cy="36576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Null control</a:t>
            </a:r>
            <a:endParaRPr lang="en-US" sz="1300" dirty="0"/>
          </a:p>
        </p:txBody>
      </p:sp>
      <p:sp>
        <p:nvSpPr>
          <p:cNvPr id="8" name="Shape 6"/>
          <p:cNvSpPr/>
          <p:nvPr/>
        </p:nvSpPr>
        <p:spPr>
          <a:xfrm>
            <a:off x="640080" y="2331720"/>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9" name="Text 7"/>
          <p:cNvSpPr/>
          <p:nvPr/>
        </p:nvSpPr>
        <p:spPr>
          <a:xfrm>
            <a:off x="914400" y="2514600"/>
            <a:ext cx="1463040" cy="502920"/>
          </a:xfrm>
          <a:prstGeom prst="rect">
            <a:avLst/>
          </a:prstGeom>
          <a:noFill/>
          <a:ln/>
        </p:spPr>
        <p:txBody>
          <a:bodyPr wrap="square" lIns="0" tIns="0" rIns="0" bIns="0" rtlCol="0" anchor="ctr"/>
          <a:lstStyle/>
          <a:p>
            <a:pPr indent="0" marL="0">
              <a:buNone/>
            </a:pPr>
            <a:r>
              <a:rPr lang="en-US" sz="2000" b="1" dirty="0">
                <a:solidFill>
                  <a:srgbClr val="1E293B"/>
                </a:solidFill>
                <a:latin typeface="Cambria" pitchFamily="34" charset="0"/>
                <a:ea typeface="Cambria" pitchFamily="34" charset="-122"/>
                <a:cs typeface="Cambria" pitchFamily="34" charset="-120"/>
              </a:rPr>
              <a:t>A9</a:t>
            </a:r>
            <a:endParaRPr lang="en-US" sz="2000" dirty="0"/>
          </a:p>
        </p:txBody>
      </p:sp>
      <p:sp>
        <p:nvSpPr>
          <p:cNvPr id="10" name="Text 8"/>
          <p:cNvSpPr/>
          <p:nvPr/>
        </p:nvSpPr>
        <p:spPr>
          <a:xfrm>
            <a:off x="2468880" y="2514600"/>
            <a:ext cx="1645920" cy="50292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down</a:t>
            </a:r>
            <a:endParaRPr lang="en-US" sz="1500" dirty="0"/>
          </a:p>
        </p:txBody>
      </p:sp>
      <p:sp>
        <p:nvSpPr>
          <p:cNvPr id="11" name="Text 9"/>
          <p:cNvSpPr/>
          <p:nvPr/>
        </p:nvSpPr>
        <p:spPr>
          <a:xfrm>
            <a:off x="4297680" y="2514600"/>
            <a:ext cx="4206240" cy="502920"/>
          </a:xfrm>
          <a:prstGeom prst="rect">
            <a:avLst/>
          </a:prstGeom>
          <a:noFill/>
          <a:ln/>
        </p:spPr>
        <p:txBody>
          <a:bodyPr wrap="square" lIns="0" tIns="0" rIns="0" bIns="0" rtlCol="0" anchor="ctr"/>
          <a:lstStyle/>
          <a:p>
            <a:pPr indent="0" marL="0">
              <a:buNone/>
            </a:pPr>
            <a:r>
              <a:rPr lang="en-US" sz="1450" dirty="0">
                <a:solidFill>
                  <a:srgbClr val="16A34A"/>
                </a:solidFill>
                <a:latin typeface="Calibri" pitchFamily="34" charset="0"/>
                <a:ea typeface="Calibri" pitchFamily="34" charset="-122"/>
                <a:cs typeface="Calibri" pitchFamily="34" charset="-120"/>
              </a:rPr>
              <a:t>Worked (H/M falls)</a:t>
            </a:r>
            <a:endParaRPr lang="en-US" sz="1450" dirty="0"/>
          </a:p>
        </p:txBody>
      </p:sp>
      <p:sp>
        <p:nvSpPr>
          <p:cNvPr id="12" name="Text 10"/>
          <p:cNvSpPr/>
          <p:nvPr/>
        </p:nvSpPr>
        <p:spPr>
          <a:xfrm>
            <a:off x="8686800" y="2514600"/>
            <a:ext cx="2560320" cy="502920"/>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Fails</a:t>
            </a:r>
            <a:endParaRPr lang="en-US" sz="1500" dirty="0"/>
          </a:p>
        </p:txBody>
      </p:sp>
      <p:sp>
        <p:nvSpPr>
          <p:cNvPr id="13" name="Shape 11"/>
          <p:cNvSpPr/>
          <p:nvPr/>
        </p:nvSpPr>
        <p:spPr>
          <a:xfrm>
            <a:off x="640080" y="3319272"/>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4" name="Text 12"/>
          <p:cNvSpPr/>
          <p:nvPr/>
        </p:nvSpPr>
        <p:spPr>
          <a:xfrm>
            <a:off x="914400" y="3502152"/>
            <a:ext cx="1463040" cy="502920"/>
          </a:xfrm>
          <a:prstGeom prst="rect">
            <a:avLst/>
          </a:prstGeom>
          <a:noFill/>
          <a:ln/>
        </p:spPr>
        <p:txBody>
          <a:bodyPr wrap="square" lIns="0" tIns="0" rIns="0" bIns="0" rtlCol="0" anchor="ctr"/>
          <a:lstStyle/>
          <a:p>
            <a:pPr indent="0" marL="0">
              <a:buNone/>
            </a:pPr>
            <a:r>
              <a:rPr lang="en-US" sz="2000" b="1" dirty="0">
                <a:solidFill>
                  <a:srgbClr val="1E293B"/>
                </a:solidFill>
                <a:latin typeface="Cambria" pitchFamily="34" charset="0"/>
                <a:ea typeface="Cambria" pitchFamily="34" charset="-122"/>
                <a:cs typeface="Cambria" pitchFamily="34" charset="-120"/>
              </a:rPr>
              <a:t>A10</a:t>
            </a:r>
            <a:endParaRPr lang="en-US" sz="2000" dirty="0"/>
          </a:p>
        </p:txBody>
      </p:sp>
      <p:sp>
        <p:nvSpPr>
          <p:cNvPr id="15" name="Text 13"/>
          <p:cNvSpPr/>
          <p:nvPr/>
        </p:nvSpPr>
        <p:spPr>
          <a:xfrm>
            <a:off x="2468880" y="3502152"/>
            <a:ext cx="1645920" cy="50292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down</a:t>
            </a:r>
            <a:endParaRPr lang="en-US" sz="1500" dirty="0"/>
          </a:p>
        </p:txBody>
      </p:sp>
      <p:sp>
        <p:nvSpPr>
          <p:cNvPr id="16" name="Text 14"/>
          <p:cNvSpPr/>
          <p:nvPr/>
        </p:nvSpPr>
        <p:spPr>
          <a:xfrm>
            <a:off x="4297680" y="3502152"/>
            <a:ext cx="4206240" cy="502920"/>
          </a:xfrm>
          <a:prstGeom prst="rect">
            <a:avLst/>
          </a:prstGeom>
          <a:noFill/>
          <a:ln/>
        </p:spPr>
        <p:txBody>
          <a:bodyPr wrap="square" lIns="0" tIns="0" rIns="0" bIns="0" rtlCol="0" anchor="ctr"/>
          <a:lstStyle/>
          <a:p>
            <a:pPr indent="0" marL="0">
              <a:buNone/>
            </a:pPr>
            <a:r>
              <a:rPr lang="en-US" sz="1450" dirty="0">
                <a:solidFill>
                  <a:srgbClr val="D97706"/>
                </a:solidFill>
                <a:latin typeface="Calibri" pitchFamily="34" charset="0"/>
                <a:ea typeface="Calibri" pitchFamily="34" charset="-122"/>
                <a:cs typeface="Calibri" pitchFamily="34" charset="-120"/>
              </a:rPr>
              <a:t>Complicated (40-day gap)</a:t>
            </a:r>
            <a:endParaRPr lang="en-US" sz="1450" dirty="0"/>
          </a:p>
        </p:txBody>
      </p:sp>
      <p:sp>
        <p:nvSpPr>
          <p:cNvPr id="17" name="Text 15"/>
          <p:cNvSpPr/>
          <p:nvPr/>
        </p:nvSpPr>
        <p:spPr>
          <a:xfrm>
            <a:off x="8686800" y="3502152"/>
            <a:ext cx="2560320" cy="502920"/>
          </a:xfrm>
          <a:prstGeom prst="rect">
            <a:avLst/>
          </a:prstGeom>
          <a:noFill/>
          <a:ln/>
        </p:spPr>
        <p:txBody>
          <a:bodyPr wrap="square" lIns="0" tIns="0" rIns="0" bIns="0" rtlCol="0" anchor="ctr"/>
          <a:lstStyle/>
          <a:p>
            <a:pPr indent="0" marL="0">
              <a:buNone/>
            </a:pPr>
            <a:r>
              <a:rPr lang="en-US" sz="1500" b="1" dirty="0">
                <a:solidFill>
                  <a:srgbClr val="16A34A"/>
                </a:solidFill>
                <a:latin typeface="Calibri" pitchFamily="34" charset="0"/>
                <a:ea typeface="Calibri" pitchFamily="34" charset="-122"/>
                <a:cs typeface="Calibri" pitchFamily="34" charset="-120"/>
              </a:rPr>
              <a:t>PASSES</a:t>
            </a:r>
            <a:endParaRPr lang="en-US" sz="1500" dirty="0"/>
          </a:p>
        </p:txBody>
      </p:sp>
      <p:sp>
        <p:nvSpPr>
          <p:cNvPr id="18" name="Shape 16"/>
          <p:cNvSpPr/>
          <p:nvPr/>
        </p:nvSpPr>
        <p:spPr>
          <a:xfrm>
            <a:off x="640080" y="4306824"/>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9" name="Text 17"/>
          <p:cNvSpPr/>
          <p:nvPr/>
        </p:nvSpPr>
        <p:spPr>
          <a:xfrm>
            <a:off x="914400" y="4489704"/>
            <a:ext cx="1463040" cy="502920"/>
          </a:xfrm>
          <a:prstGeom prst="rect">
            <a:avLst/>
          </a:prstGeom>
          <a:noFill/>
          <a:ln/>
        </p:spPr>
        <p:txBody>
          <a:bodyPr wrap="square" lIns="0" tIns="0" rIns="0" bIns="0" rtlCol="0" anchor="ctr"/>
          <a:lstStyle/>
          <a:p>
            <a:pPr indent="0" marL="0">
              <a:buNone/>
            </a:pPr>
            <a:r>
              <a:rPr lang="en-US" sz="2000" b="1" dirty="0">
                <a:solidFill>
                  <a:srgbClr val="1E293B"/>
                </a:solidFill>
                <a:latin typeface="Cambria" pitchFamily="34" charset="0"/>
                <a:ea typeface="Cambria" pitchFamily="34" charset="-122"/>
                <a:cs typeface="Cambria" pitchFamily="34" charset="-120"/>
              </a:rPr>
              <a:t>A11</a:t>
            </a:r>
            <a:endParaRPr lang="en-US" sz="2000" dirty="0"/>
          </a:p>
        </p:txBody>
      </p:sp>
      <p:sp>
        <p:nvSpPr>
          <p:cNvPr id="20" name="Text 18"/>
          <p:cNvSpPr/>
          <p:nvPr/>
        </p:nvSpPr>
        <p:spPr>
          <a:xfrm>
            <a:off x="2468880" y="4489704"/>
            <a:ext cx="1645920" cy="50292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down</a:t>
            </a:r>
            <a:endParaRPr lang="en-US" sz="1500" dirty="0"/>
          </a:p>
        </p:txBody>
      </p:sp>
      <p:sp>
        <p:nvSpPr>
          <p:cNvPr id="21" name="Text 19"/>
          <p:cNvSpPr/>
          <p:nvPr/>
        </p:nvSpPr>
        <p:spPr>
          <a:xfrm>
            <a:off x="4297680" y="4489704"/>
            <a:ext cx="4206240" cy="502920"/>
          </a:xfrm>
          <a:prstGeom prst="rect">
            <a:avLst/>
          </a:prstGeom>
          <a:noFill/>
          <a:ln/>
        </p:spPr>
        <p:txBody>
          <a:bodyPr wrap="square" lIns="0" tIns="0" rIns="0" bIns="0" rtlCol="0" anchor="ctr"/>
          <a:lstStyle/>
          <a:p>
            <a:pPr indent="0" marL="0">
              <a:buNone/>
            </a:pPr>
            <a:r>
              <a:rPr lang="en-US" sz="1450" dirty="0">
                <a:solidFill>
                  <a:srgbClr val="16A34A"/>
                </a:solidFill>
                <a:latin typeface="Calibri" pitchFamily="34" charset="0"/>
                <a:ea typeface="Calibri" pitchFamily="34" charset="-122"/>
                <a:cs typeface="Calibri" pitchFamily="34" charset="-120"/>
              </a:rPr>
              <a:t>Worked (H/M falls)</a:t>
            </a:r>
            <a:endParaRPr lang="en-US" sz="1450" dirty="0"/>
          </a:p>
        </p:txBody>
      </p:sp>
      <p:sp>
        <p:nvSpPr>
          <p:cNvPr id="22" name="Text 20"/>
          <p:cNvSpPr/>
          <p:nvPr/>
        </p:nvSpPr>
        <p:spPr>
          <a:xfrm>
            <a:off x="8686800" y="4489704"/>
            <a:ext cx="2560320" cy="502920"/>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Fails</a:t>
            </a:r>
            <a:endParaRPr lang="en-US" sz="1500" dirty="0"/>
          </a:p>
        </p:txBody>
      </p:sp>
      <p:sp>
        <p:nvSpPr>
          <p:cNvPr id="23" name="Shape 21"/>
          <p:cNvSpPr/>
          <p:nvPr/>
        </p:nvSpPr>
        <p:spPr>
          <a:xfrm>
            <a:off x="640080" y="5294376"/>
            <a:ext cx="10881360"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4" name="Text 22"/>
          <p:cNvSpPr/>
          <p:nvPr/>
        </p:nvSpPr>
        <p:spPr>
          <a:xfrm>
            <a:off x="914400" y="5477256"/>
            <a:ext cx="1463040" cy="502920"/>
          </a:xfrm>
          <a:prstGeom prst="rect">
            <a:avLst/>
          </a:prstGeom>
          <a:noFill/>
          <a:ln/>
        </p:spPr>
        <p:txBody>
          <a:bodyPr wrap="square" lIns="0" tIns="0" rIns="0" bIns="0" rtlCol="0" anchor="ctr"/>
          <a:lstStyle/>
          <a:p>
            <a:pPr indent="0" marL="0">
              <a:buNone/>
            </a:pPr>
            <a:r>
              <a:rPr lang="en-US" sz="2000" b="1" dirty="0">
                <a:solidFill>
                  <a:srgbClr val="1E293B"/>
                </a:solidFill>
                <a:latin typeface="Cambria" pitchFamily="34" charset="0"/>
                <a:ea typeface="Cambria" pitchFamily="34" charset="-122"/>
                <a:cs typeface="Cambria" pitchFamily="34" charset="-120"/>
              </a:rPr>
              <a:t>A12</a:t>
            </a:r>
            <a:endParaRPr lang="en-US" sz="2000" dirty="0"/>
          </a:p>
        </p:txBody>
      </p:sp>
      <p:sp>
        <p:nvSpPr>
          <p:cNvPr id="25" name="Text 23"/>
          <p:cNvSpPr/>
          <p:nvPr/>
        </p:nvSpPr>
        <p:spPr>
          <a:xfrm>
            <a:off x="2468880" y="5477256"/>
            <a:ext cx="1645920" cy="502920"/>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up</a:t>
            </a:r>
            <a:endParaRPr lang="en-US" sz="1500" dirty="0"/>
          </a:p>
        </p:txBody>
      </p:sp>
      <p:sp>
        <p:nvSpPr>
          <p:cNvPr id="26" name="Text 24"/>
          <p:cNvSpPr/>
          <p:nvPr/>
        </p:nvSpPr>
        <p:spPr>
          <a:xfrm>
            <a:off x="4297680" y="5477256"/>
            <a:ext cx="4206240" cy="502920"/>
          </a:xfrm>
          <a:prstGeom prst="rect">
            <a:avLst/>
          </a:prstGeom>
          <a:noFill/>
          <a:ln/>
        </p:spPr>
        <p:txBody>
          <a:bodyPr wrap="square" lIns="0" tIns="0" rIns="0" bIns="0" rtlCol="0" anchor="ctr"/>
          <a:lstStyle/>
          <a:p>
            <a:pPr indent="0" marL="0">
              <a:buNone/>
            </a:pPr>
            <a:r>
              <a:rPr lang="en-US" sz="1450" dirty="0">
                <a:solidFill>
                  <a:srgbClr val="D97706"/>
                </a:solidFill>
                <a:latin typeface="Calibri" pitchFamily="34" charset="0"/>
                <a:ea typeface="Calibri" pitchFamily="34" charset="-122"/>
                <a:cs typeface="Calibri" pitchFamily="34" charset="-120"/>
              </a:rPr>
              <a:t>Weak responder</a:t>
            </a:r>
            <a:endParaRPr lang="en-US" sz="1450" dirty="0"/>
          </a:p>
        </p:txBody>
      </p:sp>
      <p:sp>
        <p:nvSpPr>
          <p:cNvPr id="27" name="Text 25"/>
          <p:cNvSpPr/>
          <p:nvPr/>
        </p:nvSpPr>
        <p:spPr>
          <a:xfrm>
            <a:off x="8686800" y="5477256"/>
            <a:ext cx="2560320" cy="502920"/>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Fails</a:t>
            </a:r>
            <a:endParaRPr lang="en-US" sz="1500" dirty="0"/>
          </a:p>
        </p:txBody>
      </p:sp>
      <p:sp>
        <p:nvSpPr>
          <p:cNvPr id="28" name="Text 26"/>
          <p:cNvSpPr/>
          <p:nvPr/>
        </p:nvSpPr>
        <p:spPr>
          <a:xfrm>
            <a:off x="658368" y="6355080"/>
            <a:ext cx="10881360" cy="365760"/>
          </a:xfrm>
          <a:prstGeom prst="rect">
            <a:avLst/>
          </a:prstGeom>
          <a:noFill/>
          <a:ln/>
        </p:spPr>
        <p:txBody>
          <a:bodyPr wrap="square" lIns="0" tIns="0" rIns="0" bIns="0" rtlCol="0" anchor="ctr"/>
          <a:lstStyle/>
          <a:p>
            <a:pPr indent="0" marL="0">
              <a:buNone/>
            </a:pPr>
            <a:r>
              <a:rPr lang="en-US" sz="1350" i="1" dirty="0">
                <a:solidFill>
                  <a:srgbClr val="1E293B"/>
                </a:solidFill>
                <a:latin typeface="Calibri" pitchFamily="34" charset="0"/>
                <a:ea typeface="Calibri" pitchFamily="34" charset="-122"/>
                <a:cs typeface="Calibri" pitchFamily="34" charset="-120"/>
              </a:rPr>
              <a:t>Down-conditioning is reproducible. The cortical drift is not — only one animal survives its own control.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16A34A"/>
                </a:solidFill>
                <a:latin typeface="Calibri" pitchFamily="34" charset="0"/>
                <a:ea typeface="Calibri" pitchFamily="34" charset="-122"/>
                <a:cs typeface="Calibri" pitchFamily="34" charset="-120"/>
              </a:rPr>
              <a:t>THE ONE EXCEPTION</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Animal 10 passed the null control</a:t>
            </a:r>
            <a:endParaRPr lang="en-US" sz="3000" dirty="0"/>
          </a:p>
        </p:txBody>
      </p:sp>
      <p:pic>
        <p:nvPicPr>
          <p:cNvPr id="4" name="Image 0" descr="outputs/animal10/drift/null_control.png">    </p:cNvPr>
          <p:cNvPicPr>
            <a:picLocks noChangeAspect="1"/>
          </p:cNvPicPr>
          <p:nvPr/>
        </p:nvPicPr>
        <p:blipFill>
          <a:blip r:embed="rId1"/>
          <a:srcRect l="0" r="0" t="0" b="0"/>
          <a:stretch/>
        </p:blipFill>
        <p:spPr>
          <a:xfrm>
            <a:off x="594360" y="1828800"/>
            <a:ext cx="6675120" cy="3708400"/>
          </a:xfrm>
          <a:prstGeom prst="rect">
            <a:avLst/>
          </a:prstGeom>
        </p:spPr>
      </p:pic>
      <p:sp>
        <p:nvSpPr>
          <p:cNvPr id="5" name="Shape 2"/>
          <p:cNvSpPr/>
          <p:nvPr/>
        </p:nvSpPr>
        <p:spPr>
          <a:xfrm>
            <a:off x="7772400" y="1965960"/>
            <a:ext cx="3749040" cy="3657600"/>
          </a:xfrm>
          <a:prstGeom prst="roundRect">
            <a:avLst>
              <a:gd name="adj" fmla="val 2250"/>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8001000" y="2194560"/>
            <a:ext cx="3291840" cy="411480"/>
          </a:xfrm>
          <a:prstGeom prst="rect">
            <a:avLst/>
          </a:prstGeom>
          <a:noFill/>
          <a:ln/>
        </p:spPr>
        <p:txBody>
          <a:bodyPr wrap="square" lIns="0" tIns="0" rIns="0" bIns="0" rtlCol="0" anchor="ctr"/>
          <a:lstStyle/>
          <a:p>
            <a:pPr indent="0" marL="0">
              <a:buNone/>
            </a:pPr>
            <a:r>
              <a:rPr lang="en-US" sz="2000" b="1" dirty="0">
                <a:solidFill>
                  <a:srgbClr val="16A34A"/>
                </a:solidFill>
                <a:latin typeface="Cambria" pitchFamily="34" charset="0"/>
                <a:ea typeface="Cambria" pitchFamily="34" charset="-122"/>
                <a:cs typeface="Cambria" pitchFamily="34" charset="-120"/>
              </a:rPr>
              <a:t>Real 30.6  vs  sham 6.7</a:t>
            </a:r>
            <a:endParaRPr lang="en-US" sz="2000" dirty="0"/>
          </a:p>
        </p:txBody>
      </p:sp>
      <p:sp>
        <p:nvSpPr>
          <p:cNvPr id="7" name="Text 4"/>
          <p:cNvSpPr/>
          <p:nvPr/>
        </p:nvSpPr>
        <p:spPr>
          <a:xfrm>
            <a:off x="8001000" y="2743200"/>
            <a:ext cx="3337560" cy="1554480"/>
          </a:xfrm>
          <a:prstGeom prst="rect">
            <a:avLst/>
          </a:prstGeom>
          <a:noFill/>
          <a:ln/>
        </p:spPr>
        <p:txBody>
          <a:bodyPr wrap="square" lIns="0" tIns="0" rIns="0" bIns="0" rtlCol="0" anchor="ctr"/>
          <a:lstStyle/>
          <a:p>
            <a:pPr indent="0" marL="0">
              <a:lnSpc>
                <a:spcPct val="105000"/>
              </a:lnSpc>
              <a:buNone/>
            </a:pPr>
            <a:r>
              <a:rPr lang="en-US" sz="1400" dirty="0">
                <a:solidFill>
                  <a:srgbClr val="1E293B"/>
                </a:solidFill>
                <a:latin typeface="Calibri" pitchFamily="34" charset="0"/>
                <a:ea typeface="Calibri" pitchFamily="34" charset="-122"/>
                <a:cs typeface="Calibri" pitchFamily="34" charset="-120"/>
              </a:rPr>
              <a:t>Here the real conditioning drift is about 4.6x the sham. This is the one animal where the cortical change is not explained by recording drift.</a:t>
            </a:r>
            <a:endParaRPr lang="en-US" sz="1400" dirty="0"/>
          </a:p>
        </p:txBody>
      </p:sp>
      <p:sp>
        <p:nvSpPr>
          <p:cNvPr id="8" name="Text 5"/>
          <p:cNvSpPr/>
          <p:nvPr/>
        </p:nvSpPr>
        <p:spPr>
          <a:xfrm>
            <a:off x="8001000" y="4434840"/>
            <a:ext cx="3337560" cy="1097280"/>
          </a:xfrm>
          <a:prstGeom prst="rect">
            <a:avLst/>
          </a:prstGeom>
          <a:noFill/>
          <a:ln/>
        </p:spPr>
        <p:txBody>
          <a:bodyPr wrap="square" lIns="0" tIns="0" rIns="0" bIns="0" rtlCol="0" anchor="ctr"/>
          <a:lstStyle/>
          <a:p>
            <a:pPr indent="0" marL="0">
              <a:lnSpc>
                <a:spcPct val="105000"/>
              </a:lnSpc>
              <a:buNone/>
            </a:pPr>
            <a:r>
              <a:rPr lang="en-US" sz="1350" b="1" i="1" dirty="0">
                <a:solidFill>
                  <a:srgbClr val="16A34A"/>
                </a:solidFill>
                <a:latin typeface="Calibri" pitchFamily="34" charset="0"/>
                <a:ea typeface="Calibri" pitchFamily="34" charset="-122"/>
                <a:cs typeface="Calibri" pitchFamily="34" charset="-120"/>
              </a:rPr>
              <a:t>Worth chasing. But one animal out of four is a lead, not a result.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INTERPRETATION</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Why one animal can't settle this</a:t>
            </a:r>
            <a:endParaRPr lang="en-US" sz="3000" dirty="0"/>
          </a:p>
        </p:txBody>
      </p:sp>
      <p:sp>
        <p:nvSpPr>
          <p:cNvPr id="4" name="Shape 2"/>
          <p:cNvSpPr/>
          <p:nvPr/>
        </p:nvSpPr>
        <p:spPr>
          <a:xfrm>
            <a:off x="640080" y="1828800"/>
            <a:ext cx="10881360" cy="1737360"/>
          </a:xfrm>
          <a:prstGeom prst="roundRect">
            <a:avLst>
              <a:gd name="adj" fmla="val 4737"/>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60120" y="2057400"/>
            <a:ext cx="10241280" cy="1280160"/>
          </a:xfrm>
          <a:prstGeom prst="rect">
            <a:avLst/>
          </a:prstGeom>
          <a:noFill/>
          <a:ln/>
        </p:spPr>
        <p:txBody>
          <a:bodyPr wrap="square" lIns="0" tIns="0" rIns="0" bIns="0" rtlCol="0" anchor="ctr"/>
          <a:lstStyle/>
          <a:p>
            <a:pPr indent="0" marL="0">
              <a:lnSpc>
                <a:spcPct val="106000"/>
              </a:lnSpc>
              <a:buNone/>
            </a:pPr>
            <a:r>
              <a:rPr lang="en-US" sz="1700" dirty="0">
                <a:solidFill>
                  <a:srgbClr val="1E293B"/>
                </a:solidFill>
                <a:latin typeface="Calibri" pitchFamily="34" charset="0"/>
                <a:ea typeface="Calibri" pitchFamily="34" charset="-122"/>
                <a:cs typeface="Calibri" pitchFamily="34" charset="-120"/>
              </a:rPr>
              <a:t>In a single animal, conditioning and recording drift are both slow changes over weeks. They are mathematically tangled, so no single-animal analysis can separate them.</a:t>
            </a:r>
            <a:endParaRPr lang="en-US" sz="1700" dirty="0"/>
          </a:p>
        </p:txBody>
      </p:sp>
      <p:sp>
        <p:nvSpPr>
          <p:cNvPr id="6" name="Shape 4"/>
          <p:cNvSpPr/>
          <p:nvPr/>
        </p:nvSpPr>
        <p:spPr>
          <a:xfrm>
            <a:off x="640080" y="3749040"/>
            <a:ext cx="5349240" cy="2377440"/>
          </a:xfrm>
          <a:prstGeom prst="roundRect">
            <a:avLst>
              <a:gd name="adj" fmla="val 3462"/>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7" name="Text 5"/>
          <p:cNvSpPr/>
          <p:nvPr/>
        </p:nvSpPr>
        <p:spPr>
          <a:xfrm>
            <a:off x="914400" y="3977640"/>
            <a:ext cx="4572000" cy="365760"/>
          </a:xfrm>
          <a:prstGeom prst="rect">
            <a:avLst/>
          </a:prstGeom>
          <a:noFill/>
          <a:ln/>
        </p:spPr>
        <p:txBody>
          <a:bodyPr wrap="square" lIns="0" tIns="0" rIns="0" bIns="0" rtlCol="0" anchor="ctr"/>
          <a:lstStyle/>
          <a:p>
            <a:pPr indent="0" marL="0">
              <a:buNone/>
            </a:pPr>
            <a:r>
              <a:rPr lang="en-US" sz="1500" b="1" dirty="0">
                <a:solidFill>
                  <a:srgbClr val="16A34A"/>
                </a:solidFill>
                <a:latin typeface="Calibri" pitchFamily="34" charset="0"/>
                <a:ea typeface="Calibri" pitchFamily="34" charset="-122"/>
                <a:cs typeface="Calibri" pitchFamily="34" charset="-120"/>
              </a:rPr>
              <a:t>What is solid</a:t>
            </a:r>
            <a:endParaRPr lang="en-US" sz="1500" dirty="0"/>
          </a:p>
        </p:txBody>
      </p:sp>
      <p:sp>
        <p:nvSpPr>
          <p:cNvPr id="8" name="Text 6"/>
          <p:cNvSpPr/>
          <p:nvPr/>
        </p:nvSpPr>
        <p:spPr>
          <a:xfrm>
            <a:off x="914400" y="4389120"/>
            <a:ext cx="4846320" cy="155448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Decoding + pipeline across 4 animals</a:t>
            </a:r>
            <a:endParaRPr lang="en-US" sz="1400" dirty="0"/>
          </a:p>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Down-conditioning quantified with H/M</a:t>
            </a:r>
            <a:endParaRPr lang="en-US" sz="1400" dirty="0"/>
          </a:p>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The control methodology itself</a:t>
            </a:r>
            <a:endParaRPr lang="en-US" sz="1400" dirty="0"/>
          </a:p>
        </p:txBody>
      </p:sp>
      <p:sp>
        <p:nvSpPr>
          <p:cNvPr id="9" name="Shape 7"/>
          <p:cNvSpPr/>
          <p:nvPr/>
        </p:nvSpPr>
        <p:spPr>
          <a:xfrm>
            <a:off x="6172200" y="3749040"/>
            <a:ext cx="5349240" cy="2377440"/>
          </a:xfrm>
          <a:prstGeom prst="roundRect">
            <a:avLst>
              <a:gd name="adj" fmla="val 3462"/>
            </a:avLst>
          </a:prstGeom>
          <a:solidFill>
            <a:srgbClr val="FEF3E2"/>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Text 8"/>
          <p:cNvSpPr/>
          <p:nvPr/>
        </p:nvSpPr>
        <p:spPr>
          <a:xfrm>
            <a:off x="6446520" y="3977640"/>
            <a:ext cx="4572000"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What is not</a:t>
            </a:r>
            <a:endParaRPr lang="en-US" sz="1500" dirty="0"/>
          </a:p>
        </p:txBody>
      </p:sp>
      <p:sp>
        <p:nvSpPr>
          <p:cNvPr id="11" name="Text 9"/>
          <p:cNvSpPr/>
          <p:nvPr/>
        </p:nvSpPr>
        <p:spPr>
          <a:xfrm>
            <a:off x="6446520" y="4389120"/>
            <a:ext cx="4846320" cy="155448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 conditioning-specific cortical drift</a:t>
            </a:r>
            <a:endParaRPr lang="en-US" sz="1400" dirty="0"/>
          </a:p>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Any up-vs-down cortical contrast</a:t>
            </a:r>
            <a:endParaRPr lang="en-US" sz="1400" dirty="0"/>
          </a:p>
          <a:p>
            <a:pPr marL="342900" indent="-342900">
              <a:lnSpc>
                <a:spcPct val="105000"/>
              </a:lnSpc>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Pooling animals (results disagree)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6D28D9"/>
                </a:solidFill>
                <a:latin typeface="Calibri" pitchFamily="34" charset="0"/>
                <a:ea typeface="Calibri" pitchFamily="34" charset="-122"/>
                <a:cs typeface="Calibri" pitchFamily="34" charset="-120"/>
              </a:rPr>
              <a:t>THE BAR</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What would make a cortical claim believable</a:t>
            </a:r>
            <a:endParaRPr lang="en-US" sz="3000" dirty="0"/>
          </a:p>
        </p:txBody>
      </p:sp>
      <p:sp>
        <p:nvSpPr>
          <p:cNvPr id="4" name="Text 2"/>
          <p:cNvSpPr/>
          <p:nvPr/>
        </p:nvSpPr>
        <p:spPr>
          <a:xfrm>
            <a:off x="640080" y="1600200"/>
            <a:ext cx="1088136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cortical signature has to survive all five of these. Right now we clearly pass one.</a:t>
            </a:r>
            <a:endParaRPr lang="en-US" sz="1600" dirty="0"/>
          </a:p>
        </p:txBody>
      </p:sp>
      <p:sp>
        <p:nvSpPr>
          <p:cNvPr id="5" name="Shape 3"/>
          <p:cNvSpPr/>
          <p:nvPr/>
        </p:nvSpPr>
        <p:spPr>
          <a:xfrm>
            <a:off x="640080" y="224028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Shape 4"/>
          <p:cNvSpPr/>
          <p:nvPr/>
        </p:nvSpPr>
        <p:spPr>
          <a:xfrm>
            <a:off x="896112" y="2395728"/>
            <a:ext cx="457200" cy="457200"/>
          </a:xfrm>
          <a:prstGeom prst="ellipse">
            <a:avLst/>
          </a:prstGeom>
          <a:solidFill>
            <a:srgbClr val="D97706"/>
          </a:solidFill>
          <a:ln/>
        </p:spPr>
      </p:sp>
      <p:sp>
        <p:nvSpPr>
          <p:cNvPr id="7" name="Text 5"/>
          <p:cNvSpPr/>
          <p:nvPr/>
        </p:nvSpPr>
        <p:spPr>
          <a:xfrm>
            <a:off x="896112" y="239572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536192" y="2359152"/>
            <a:ext cx="274320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Null control</a:t>
            </a:r>
            <a:endParaRPr lang="en-US" sz="1500" dirty="0"/>
          </a:p>
        </p:txBody>
      </p:sp>
      <p:sp>
        <p:nvSpPr>
          <p:cNvPr id="9" name="Text 7"/>
          <p:cNvSpPr/>
          <p:nvPr/>
        </p:nvSpPr>
        <p:spPr>
          <a:xfrm>
            <a:off x="4389120" y="2359152"/>
            <a:ext cx="40233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sham on baseline shows ~zero</a:t>
            </a:r>
            <a:endParaRPr lang="en-US" sz="1350" dirty="0"/>
          </a:p>
        </p:txBody>
      </p:sp>
      <p:sp>
        <p:nvSpPr>
          <p:cNvPr id="10" name="Text 8"/>
          <p:cNvSpPr/>
          <p:nvPr/>
        </p:nvSpPr>
        <p:spPr>
          <a:xfrm>
            <a:off x="8595360" y="2359152"/>
            <a:ext cx="2651760" cy="548640"/>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only 1 of 4</a:t>
            </a:r>
            <a:endParaRPr lang="en-US" sz="1350" dirty="0"/>
          </a:p>
        </p:txBody>
      </p:sp>
      <p:sp>
        <p:nvSpPr>
          <p:cNvPr id="11" name="Shape 9"/>
          <p:cNvSpPr/>
          <p:nvPr/>
        </p:nvSpPr>
        <p:spPr>
          <a:xfrm>
            <a:off x="640080" y="310896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2" name="Shape 10"/>
          <p:cNvSpPr/>
          <p:nvPr/>
        </p:nvSpPr>
        <p:spPr>
          <a:xfrm>
            <a:off x="896112" y="3264408"/>
            <a:ext cx="457200" cy="457200"/>
          </a:xfrm>
          <a:prstGeom prst="ellipse">
            <a:avLst/>
          </a:prstGeom>
          <a:solidFill>
            <a:srgbClr val="16A34A"/>
          </a:solidFill>
          <a:ln/>
        </p:spPr>
      </p:sp>
      <p:sp>
        <p:nvSpPr>
          <p:cNvPr id="13" name="Text 11"/>
          <p:cNvSpPr/>
          <p:nvPr/>
        </p:nvSpPr>
        <p:spPr>
          <a:xfrm>
            <a:off x="896112" y="32644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1536192" y="3227832"/>
            <a:ext cx="274320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M-wave control</a:t>
            </a:r>
            <a:endParaRPr lang="en-US" sz="1500" dirty="0"/>
          </a:p>
        </p:txBody>
      </p:sp>
      <p:sp>
        <p:nvSpPr>
          <p:cNvPr id="15" name="Text 13"/>
          <p:cNvSpPr/>
          <p:nvPr/>
        </p:nvSpPr>
        <p:spPr>
          <a:xfrm>
            <a:off x="4389120" y="3227832"/>
            <a:ext cx="40233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not driven by stimulus size</a:t>
            </a:r>
            <a:endParaRPr lang="en-US" sz="1350" dirty="0"/>
          </a:p>
        </p:txBody>
      </p:sp>
      <p:sp>
        <p:nvSpPr>
          <p:cNvPr id="16" name="Text 14"/>
          <p:cNvSpPr/>
          <p:nvPr/>
        </p:nvSpPr>
        <p:spPr>
          <a:xfrm>
            <a:off x="8595360" y="3227832"/>
            <a:ext cx="2651760" cy="548640"/>
          </a:xfrm>
          <a:prstGeom prst="rect">
            <a:avLst/>
          </a:prstGeom>
          <a:noFill/>
          <a:ln/>
        </p:spPr>
        <p:txBody>
          <a:bodyPr wrap="square" lIns="0" tIns="0" rIns="0" bIns="0" rtlCol="0" anchor="ctr"/>
          <a:lstStyle/>
          <a:p>
            <a:pPr indent="0" marL="0">
              <a:buNone/>
            </a:pPr>
            <a:r>
              <a:rPr lang="en-US" sz="1350" b="1" dirty="0">
                <a:solidFill>
                  <a:srgbClr val="16A34A"/>
                </a:solidFill>
                <a:latin typeface="Calibri" pitchFamily="34" charset="0"/>
                <a:ea typeface="Calibri" pitchFamily="34" charset="-122"/>
                <a:cs typeface="Calibri" pitchFamily="34" charset="-120"/>
              </a:rPr>
              <a:t>cleared</a:t>
            </a:r>
            <a:endParaRPr lang="en-US" sz="1350" dirty="0"/>
          </a:p>
        </p:txBody>
      </p:sp>
      <p:sp>
        <p:nvSpPr>
          <p:cNvPr id="17" name="Shape 15"/>
          <p:cNvSpPr/>
          <p:nvPr/>
        </p:nvSpPr>
        <p:spPr>
          <a:xfrm>
            <a:off x="640080" y="397764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8" name="Shape 16"/>
          <p:cNvSpPr/>
          <p:nvPr/>
        </p:nvSpPr>
        <p:spPr>
          <a:xfrm>
            <a:off x="896112" y="4133088"/>
            <a:ext cx="457200" cy="457200"/>
          </a:xfrm>
          <a:prstGeom prst="ellipse">
            <a:avLst/>
          </a:prstGeom>
          <a:solidFill>
            <a:srgbClr val="64748B"/>
          </a:solidFill>
          <a:ln/>
        </p:spPr>
      </p:sp>
      <p:sp>
        <p:nvSpPr>
          <p:cNvPr id="19" name="Text 17"/>
          <p:cNvSpPr/>
          <p:nvPr/>
        </p:nvSpPr>
        <p:spPr>
          <a:xfrm>
            <a:off x="896112" y="41330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p:cNvSpPr/>
          <p:nvPr/>
        </p:nvSpPr>
        <p:spPr>
          <a:xfrm>
            <a:off x="1536192" y="4096512"/>
            <a:ext cx="274320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Pre-stimulus control</a:t>
            </a:r>
            <a:endParaRPr lang="en-US" sz="1500" dirty="0"/>
          </a:p>
        </p:txBody>
      </p:sp>
      <p:sp>
        <p:nvSpPr>
          <p:cNvPr id="21" name="Text 19"/>
          <p:cNvSpPr/>
          <p:nvPr/>
        </p:nvSpPr>
        <p:spPr>
          <a:xfrm>
            <a:off x="4389120" y="4096512"/>
            <a:ext cx="40233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not just arousal / background</a:t>
            </a:r>
            <a:endParaRPr lang="en-US" sz="1350" dirty="0"/>
          </a:p>
        </p:txBody>
      </p:sp>
      <p:sp>
        <p:nvSpPr>
          <p:cNvPr id="22" name="Text 20"/>
          <p:cNvSpPr/>
          <p:nvPr/>
        </p:nvSpPr>
        <p:spPr>
          <a:xfrm>
            <a:off x="8595360" y="4096512"/>
            <a:ext cx="2651760" cy="548640"/>
          </a:xfrm>
          <a:prstGeom prst="rect">
            <a:avLst/>
          </a:prstGeom>
          <a:noFill/>
          <a:ln/>
        </p:spPr>
        <p:txBody>
          <a:bodyPr wrap="square" lIns="0" tIns="0" rIns="0" bIns="0" rtlCol="0" anchor="ctr"/>
          <a:lstStyle/>
          <a:p>
            <a:pPr indent="0" marL="0">
              <a:buNone/>
            </a:pPr>
            <a:r>
              <a:rPr lang="en-US" sz="1350" b="1" dirty="0">
                <a:solidFill>
                  <a:srgbClr val="64748B"/>
                </a:solidFill>
                <a:latin typeface="Calibri" pitchFamily="34" charset="0"/>
                <a:ea typeface="Calibri" pitchFamily="34" charset="-122"/>
                <a:cs typeface="Calibri" pitchFamily="34" charset="-120"/>
              </a:rPr>
              <a:t>not built yet</a:t>
            </a:r>
            <a:endParaRPr lang="en-US" sz="1350" dirty="0"/>
          </a:p>
        </p:txBody>
      </p:sp>
      <p:sp>
        <p:nvSpPr>
          <p:cNvPr id="23" name="Shape 21"/>
          <p:cNvSpPr/>
          <p:nvPr/>
        </p:nvSpPr>
        <p:spPr>
          <a:xfrm>
            <a:off x="640080" y="484632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4" name="Shape 22"/>
          <p:cNvSpPr/>
          <p:nvPr/>
        </p:nvSpPr>
        <p:spPr>
          <a:xfrm>
            <a:off x="896112" y="5001768"/>
            <a:ext cx="457200" cy="457200"/>
          </a:xfrm>
          <a:prstGeom prst="ellipse">
            <a:avLst/>
          </a:prstGeom>
          <a:solidFill>
            <a:srgbClr val="D97706"/>
          </a:solidFill>
          <a:ln/>
        </p:spPr>
      </p:sp>
      <p:sp>
        <p:nvSpPr>
          <p:cNvPr id="25" name="Text 23"/>
          <p:cNvSpPr/>
          <p:nvPr/>
        </p:nvSpPr>
        <p:spPr>
          <a:xfrm>
            <a:off x="896112" y="50017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6" name="Text 24"/>
          <p:cNvSpPr/>
          <p:nvPr/>
        </p:nvSpPr>
        <p:spPr>
          <a:xfrm>
            <a:off x="1536192" y="4965192"/>
            <a:ext cx="274320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Direction contrast</a:t>
            </a:r>
            <a:endParaRPr lang="en-US" sz="1500" dirty="0"/>
          </a:p>
        </p:txBody>
      </p:sp>
      <p:sp>
        <p:nvSpPr>
          <p:cNvPr id="27" name="Text 25"/>
          <p:cNvSpPr/>
          <p:nvPr/>
        </p:nvSpPr>
        <p:spPr>
          <a:xfrm>
            <a:off x="4389120" y="4965192"/>
            <a:ext cx="40233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up and down differ or flip</a:t>
            </a:r>
            <a:endParaRPr lang="en-US" sz="1350" dirty="0"/>
          </a:p>
        </p:txBody>
      </p:sp>
      <p:sp>
        <p:nvSpPr>
          <p:cNvPr id="28" name="Text 26"/>
          <p:cNvSpPr/>
          <p:nvPr/>
        </p:nvSpPr>
        <p:spPr>
          <a:xfrm>
            <a:off x="8595360" y="4965192"/>
            <a:ext cx="2651760" cy="548640"/>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need a strong up animal</a:t>
            </a:r>
            <a:endParaRPr lang="en-US" sz="1350" dirty="0"/>
          </a:p>
        </p:txBody>
      </p:sp>
      <p:sp>
        <p:nvSpPr>
          <p:cNvPr id="29" name="Shape 27"/>
          <p:cNvSpPr/>
          <p:nvPr/>
        </p:nvSpPr>
        <p:spPr>
          <a:xfrm>
            <a:off x="640080" y="571500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30" name="Shape 28"/>
          <p:cNvSpPr/>
          <p:nvPr/>
        </p:nvSpPr>
        <p:spPr>
          <a:xfrm>
            <a:off x="896112" y="5870448"/>
            <a:ext cx="457200" cy="457200"/>
          </a:xfrm>
          <a:prstGeom prst="ellipse">
            <a:avLst/>
          </a:prstGeom>
          <a:solidFill>
            <a:srgbClr val="D97706"/>
          </a:solidFill>
          <a:ln/>
        </p:spPr>
      </p:sp>
      <p:sp>
        <p:nvSpPr>
          <p:cNvPr id="31" name="Text 29"/>
          <p:cNvSpPr/>
          <p:nvPr/>
        </p:nvSpPr>
        <p:spPr>
          <a:xfrm>
            <a:off x="896112" y="58704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32" name="Text 30"/>
          <p:cNvSpPr/>
          <p:nvPr/>
        </p:nvSpPr>
        <p:spPr>
          <a:xfrm>
            <a:off x="1536192" y="5833872"/>
            <a:ext cx="274320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Tracks behaviour</a:t>
            </a:r>
            <a:endParaRPr lang="en-US" sz="1500" dirty="0"/>
          </a:p>
        </p:txBody>
      </p:sp>
      <p:sp>
        <p:nvSpPr>
          <p:cNvPr id="33" name="Text 31"/>
          <p:cNvSpPr/>
          <p:nvPr/>
        </p:nvSpPr>
        <p:spPr>
          <a:xfrm>
            <a:off x="4389120" y="5833872"/>
            <a:ext cx="40233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follows the H/M learning curve</a:t>
            </a:r>
            <a:endParaRPr lang="en-US" sz="1350" dirty="0"/>
          </a:p>
        </p:txBody>
      </p:sp>
      <p:sp>
        <p:nvSpPr>
          <p:cNvPr id="34" name="Text 32"/>
          <p:cNvSpPr/>
          <p:nvPr/>
        </p:nvSpPr>
        <p:spPr>
          <a:xfrm>
            <a:off x="8595360" y="5833872"/>
            <a:ext cx="2651760" cy="548640"/>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not yet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PLAN</a:t>
            </a:r>
            <a:endParaRPr lang="en-US" sz="1250" dirty="0"/>
          </a:p>
        </p:txBody>
      </p:sp>
      <p:sp>
        <p:nvSpPr>
          <p:cNvPr id="3" name="Text 1"/>
          <p:cNvSpPr/>
          <p:nvPr/>
        </p:nvSpPr>
        <p:spPr>
          <a:xfrm>
            <a:off x="640080" y="457200"/>
            <a:ext cx="10972800" cy="685800"/>
          </a:xfrm>
          <a:prstGeom prst="rect">
            <a:avLst/>
          </a:prstGeom>
          <a:noFill/>
          <a:ln/>
        </p:spPr>
        <p:txBody>
          <a:bodyPr wrap="square" lIns="0" tIns="0" rIns="0" bIns="0"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Next few weeks</a:t>
            </a:r>
            <a:endParaRPr lang="en-US" sz="3000" dirty="0"/>
          </a:p>
        </p:txBody>
      </p:sp>
      <p:sp>
        <p:nvSpPr>
          <p:cNvPr id="4" name="Shape 2"/>
          <p:cNvSpPr/>
          <p:nvPr/>
        </p:nvSpPr>
        <p:spPr>
          <a:xfrm>
            <a:off x="640080" y="1965960"/>
            <a:ext cx="10881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896112" y="2148840"/>
            <a:ext cx="457200" cy="457200"/>
          </a:xfrm>
          <a:prstGeom prst="ellipse">
            <a:avLst/>
          </a:prstGeom>
          <a:solidFill>
            <a:srgbClr val="6D28D9"/>
          </a:solidFill>
          <a:ln/>
        </p:spPr>
      </p:sp>
      <p:sp>
        <p:nvSpPr>
          <p:cNvPr id="6" name="Text 4"/>
          <p:cNvSpPr/>
          <p:nvPr/>
        </p:nvSpPr>
        <p:spPr>
          <a:xfrm>
            <a:off x="896112" y="21488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36192" y="2103120"/>
            <a:ext cx="356616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Per-animal clean-up</a:t>
            </a:r>
            <a:endParaRPr lang="en-US" sz="1500" dirty="0"/>
          </a:p>
        </p:txBody>
      </p:sp>
      <p:sp>
        <p:nvSpPr>
          <p:cNvPr id="8" name="Text 6"/>
          <p:cNvSpPr/>
          <p:nvPr/>
        </p:nvSpPr>
        <p:spPr>
          <a:xfrm>
            <a:off x="5212080" y="2103120"/>
            <a:ext cx="60350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Handle recording gaps, set M/H windows from each animal's own average.</a:t>
            </a:r>
            <a:endParaRPr lang="en-US" sz="1350" dirty="0"/>
          </a:p>
        </p:txBody>
      </p:sp>
      <p:sp>
        <p:nvSpPr>
          <p:cNvPr id="9" name="Shape 7"/>
          <p:cNvSpPr/>
          <p:nvPr/>
        </p:nvSpPr>
        <p:spPr>
          <a:xfrm>
            <a:off x="640080" y="2880360"/>
            <a:ext cx="10881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Shape 8"/>
          <p:cNvSpPr/>
          <p:nvPr/>
        </p:nvSpPr>
        <p:spPr>
          <a:xfrm>
            <a:off x="896112" y="3063240"/>
            <a:ext cx="457200" cy="457200"/>
          </a:xfrm>
          <a:prstGeom prst="ellipse">
            <a:avLst/>
          </a:prstGeom>
          <a:solidFill>
            <a:srgbClr val="6D28D9"/>
          </a:solidFill>
          <a:ln/>
        </p:spPr>
      </p:sp>
      <p:sp>
        <p:nvSpPr>
          <p:cNvPr id="11" name="Text 9"/>
          <p:cNvSpPr/>
          <p:nvPr/>
        </p:nvSpPr>
        <p:spPr>
          <a:xfrm>
            <a:off x="896112" y="30632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536192" y="3017520"/>
            <a:ext cx="356616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Pooled encoder</a:t>
            </a:r>
            <a:endParaRPr lang="en-US" sz="1500" dirty="0"/>
          </a:p>
        </p:txBody>
      </p:sp>
      <p:sp>
        <p:nvSpPr>
          <p:cNvPr id="13" name="Text 11"/>
          <p:cNvSpPr/>
          <p:nvPr/>
        </p:nvSpPr>
        <p:spPr>
          <a:xfrm>
            <a:off x="5212080" y="3017520"/>
            <a:ext cx="60350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Retrain the representation on all animals, not just animal 9.</a:t>
            </a:r>
            <a:endParaRPr lang="en-US" sz="1350" dirty="0"/>
          </a:p>
        </p:txBody>
      </p:sp>
      <p:sp>
        <p:nvSpPr>
          <p:cNvPr id="14" name="Shape 12"/>
          <p:cNvSpPr/>
          <p:nvPr/>
        </p:nvSpPr>
        <p:spPr>
          <a:xfrm>
            <a:off x="640080" y="3794760"/>
            <a:ext cx="10881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5" name="Shape 13"/>
          <p:cNvSpPr/>
          <p:nvPr/>
        </p:nvSpPr>
        <p:spPr>
          <a:xfrm>
            <a:off x="896112" y="3977640"/>
            <a:ext cx="457200" cy="457200"/>
          </a:xfrm>
          <a:prstGeom prst="ellipse">
            <a:avLst/>
          </a:prstGeom>
          <a:solidFill>
            <a:srgbClr val="6D28D9"/>
          </a:solidFill>
          <a:ln/>
        </p:spPr>
      </p:sp>
      <p:sp>
        <p:nvSpPr>
          <p:cNvPr id="16" name="Text 14"/>
          <p:cNvSpPr/>
          <p:nvPr/>
        </p:nvSpPr>
        <p:spPr>
          <a:xfrm>
            <a:off x="896112" y="3977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36192" y="3931920"/>
            <a:ext cx="356616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Pre-stimulus control</a:t>
            </a:r>
            <a:endParaRPr lang="en-US" sz="1500" dirty="0"/>
          </a:p>
        </p:txBody>
      </p:sp>
      <p:sp>
        <p:nvSpPr>
          <p:cNvPr id="18" name="Text 16"/>
          <p:cNvSpPr/>
          <p:nvPr/>
        </p:nvSpPr>
        <p:spPr>
          <a:xfrm>
            <a:off x="5212080" y="3931920"/>
            <a:ext cx="60350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Add background excitability alongside the M-wave.</a:t>
            </a:r>
            <a:endParaRPr lang="en-US" sz="1350" dirty="0"/>
          </a:p>
        </p:txBody>
      </p:sp>
      <p:sp>
        <p:nvSpPr>
          <p:cNvPr id="19" name="Shape 17"/>
          <p:cNvSpPr/>
          <p:nvPr/>
        </p:nvSpPr>
        <p:spPr>
          <a:xfrm>
            <a:off x="640080" y="4709160"/>
            <a:ext cx="10881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0" name="Shape 18"/>
          <p:cNvSpPr/>
          <p:nvPr/>
        </p:nvSpPr>
        <p:spPr>
          <a:xfrm>
            <a:off x="896112" y="4892040"/>
            <a:ext cx="457200" cy="457200"/>
          </a:xfrm>
          <a:prstGeom prst="ellipse">
            <a:avLst/>
          </a:prstGeom>
          <a:solidFill>
            <a:srgbClr val="0D9488"/>
          </a:solidFill>
          <a:ln/>
        </p:spPr>
      </p:sp>
      <p:sp>
        <p:nvSpPr>
          <p:cNvPr id="21" name="Text 19"/>
          <p:cNvSpPr/>
          <p:nvPr/>
        </p:nvSpPr>
        <p:spPr>
          <a:xfrm>
            <a:off x="896112" y="48920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1536192" y="4846320"/>
            <a:ext cx="356616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Chase animal 10</a:t>
            </a:r>
            <a:endParaRPr lang="en-US" sz="1500" dirty="0"/>
          </a:p>
        </p:txBody>
      </p:sp>
      <p:sp>
        <p:nvSpPr>
          <p:cNvPr id="23" name="Text 21"/>
          <p:cNvSpPr/>
          <p:nvPr/>
        </p:nvSpPr>
        <p:spPr>
          <a:xfrm>
            <a:off x="5212080" y="4846320"/>
            <a:ext cx="60350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Is its surviving drift real, or luck?</a:t>
            </a:r>
            <a:endParaRPr lang="en-US" sz="1350" dirty="0"/>
          </a:p>
        </p:txBody>
      </p:sp>
      <p:sp>
        <p:nvSpPr>
          <p:cNvPr id="24" name="Shape 22"/>
          <p:cNvSpPr/>
          <p:nvPr/>
        </p:nvSpPr>
        <p:spPr>
          <a:xfrm>
            <a:off x="640080" y="5623560"/>
            <a:ext cx="10881360" cy="82296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5" name="Shape 23"/>
          <p:cNvSpPr/>
          <p:nvPr/>
        </p:nvSpPr>
        <p:spPr>
          <a:xfrm>
            <a:off x="896112" y="5806440"/>
            <a:ext cx="457200" cy="457200"/>
          </a:xfrm>
          <a:prstGeom prst="ellipse">
            <a:avLst/>
          </a:prstGeom>
          <a:solidFill>
            <a:srgbClr val="0D9488"/>
          </a:solidFill>
          <a:ln/>
        </p:spPr>
      </p:sp>
      <p:sp>
        <p:nvSpPr>
          <p:cNvPr id="26" name="Text 24"/>
          <p:cNvSpPr/>
          <p:nvPr/>
        </p:nvSpPr>
        <p:spPr>
          <a:xfrm>
            <a:off x="896112" y="58064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5"/>
          <p:cNvSpPr/>
          <p:nvPr/>
        </p:nvSpPr>
        <p:spPr>
          <a:xfrm>
            <a:off x="1536192" y="5760720"/>
            <a:ext cx="356616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 strong up animal</a:t>
            </a:r>
            <a:endParaRPr lang="en-US" sz="1500" dirty="0"/>
          </a:p>
        </p:txBody>
      </p:sp>
      <p:sp>
        <p:nvSpPr>
          <p:cNvPr id="28" name="Text 26"/>
          <p:cNvSpPr/>
          <p:nvPr/>
        </p:nvSpPr>
        <p:spPr>
          <a:xfrm>
            <a:off x="5212080" y="5760720"/>
            <a:ext cx="60350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single highest-value thing to add.</a:t>
            </a:r>
            <a:endParaRPr lang="en-US" sz="1350" dirty="0"/>
          </a:p>
        </p:txBody>
      </p:sp>
      <p:sp>
        <p:nvSpPr>
          <p:cNvPr id="29" name="Text 27"/>
          <p:cNvSpPr/>
          <p:nvPr/>
        </p:nvSpPr>
        <p:spPr>
          <a:xfrm>
            <a:off x="658368" y="6400800"/>
            <a:ext cx="10881360" cy="365760"/>
          </a:xfrm>
          <a:prstGeom prst="rect">
            <a:avLst/>
          </a:prstGeom>
          <a:noFill/>
          <a:ln/>
        </p:spPr>
        <p:txBody>
          <a:bodyPr wrap="square" lIns="0" tIns="0" rIns="0" bIns="0" rtlCol="0" anchor="ctr"/>
          <a:lstStyle/>
          <a:p>
            <a:pPr indent="0" marL="0">
              <a:buNone/>
            </a:pPr>
            <a:r>
              <a:rPr lang="en-US" sz="1350" i="1" dirty="0">
                <a:solidFill>
                  <a:srgbClr val="6D28D9"/>
                </a:solidFill>
                <a:latin typeface="Calibri" pitchFamily="34" charset="0"/>
                <a:ea typeface="Calibri" pitchFamily="34" charset="-122"/>
                <a:cs typeface="Calibri" pitchFamily="34" charset="-120"/>
              </a:rPr>
              <a:t>We're deliberately not rushing a draft. Better to clear the bar than publish a confounded effect.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548640"/>
            <a:ext cx="10058400" cy="36576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WHERE I NEED YOUR READ</a:t>
            </a:r>
            <a:endParaRPr lang="en-US" sz="1400" dirty="0"/>
          </a:p>
        </p:txBody>
      </p:sp>
      <p:sp>
        <p:nvSpPr>
          <p:cNvPr id="3" name="Text 1"/>
          <p:cNvSpPr/>
          <p:nvPr/>
        </p:nvSpPr>
        <p:spPr>
          <a:xfrm>
            <a:off x="731520" y="96012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questions</a:t>
            </a:r>
            <a:endParaRPr lang="en-US" sz="3000" dirty="0"/>
          </a:p>
        </p:txBody>
      </p:sp>
      <p:sp>
        <p:nvSpPr>
          <p:cNvPr id="4" name="Shape 2"/>
          <p:cNvSpPr/>
          <p:nvPr/>
        </p:nvSpPr>
        <p:spPr>
          <a:xfrm>
            <a:off x="731520" y="1920240"/>
            <a:ext cx="5257800" cy="1874520"/>
          </a:xfrm>
          <a:prstGeom prst="roundRect">
            <a:avLst>
              <a:gd name="adj" fmla="val 4390"/>
            </a:avLst>
          </a:prstGeom>
          <a:solidFill>
            <a:srgbClr val="1E293B"/>
          </a:solidFill>
          <a:ln w="12700">
            <a:solidFill>
              <a:srgbClr val="334155"/>
            </a:solidFill>
            <a:prstDash val="solid"/>
          </a:ln>
        </p:spPr>
      </p:sp>
      <p:sp>
        <p:nvSpPr>
          <p:cNvPr id="5" name="Shape 3"/>
          <p:cNvSpPr/>
          <p:nvPr/>
        </p:nvSpPr>
        <p:spPr>
          <a:xfrm>
            <a:off x="1005840" y="2194560"/>
            <a:ext cx="457200" cy="457200"/>
          </a:xfrm>
          <a:prstGeom prst="ellipse">
            <a:avLst/>
          </a:prstGeom>
          <a:solidFill>
            <a:srgbClr val="6D28D9"/>
          </a:solidFill>
          <a:ln/>
        </p:spPr>
      </p:sp>
      <p:sp>
        <p:nvSpPr>
          <p:cNvPr id="6" name="Text 4"/>
          <p:cNvSpPr/>
          <p:nvPr/>
        </p:nvSpPr>
        <p:spPr>
          <a:xfrm>
            <a:off x="1005840"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2212848"/>
            <a:ext cx="4206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Is the null-control read right?</a:t>
            </a:r>
            <a:endParaRPr lang="en-US" sz="1550" dirty="0"/>
          </a:p>
        </p:txBody>
      </p:sp>
      <p:sp>
        <p:nvSpPr>
          <p:cNvPr id="8" name="Text 6"/>
          <p:cNvSpPr/>
          <p:nvPr/>
        </p:nvSpPr>
        <p:spPr>
          <a:xfrm>
            <a:off x="1024128" y="2761488"/>
            <a:ext cx="4709160" cy="914400"/>
          </a:xfrm>
          <a:prstGeom prst="rect">
            <a:avLst/>
          </a:prstGeom>
          <a:noFill/>
          <a:ln/>
        </p:spPr>
        <p:txBody>
          <a:bodyPr wrap="square" lIns="0" tIns="0" rIns="0" bIns="0" rtlCol="0" anchor="ctr"/>
          <a:lstStyle/>
          <a:p>
            <a:pPr indent="0" marL="0">
              <a:lnSpc>
                <a:spcPct val="105000"/>
              </a:lnSpc>
              <a:buNone/>
            </a:pPr>
            <a:r>
              <a:rPr lang="en-US" sz="1250" dirty="0">
                <a:solidFill>
                  <a:srgbClr val="CBD5E1"/>
                </a:solidFill>
                <a:latin typeface="Calibri" pitchFamily="34" charset="0"/>
                <a:ea typeface="Calibri" pitchFamily="34" charset="-122"/>
                <a:cs typeface="Calibri" pitchFamily="34" charset="-120"/>
              </a:rPr>
              <a:t>Baseline sham drifts as much as conditioning. Does that convince you the drift is recording, not learning?</a:t>
            </a:r>
            <a:endParaRPr lang="en-US" sz="1250" dirty="0"/>
          </a:p>
        </p:txBody>
      </p:sp>
      <p:sp>
        <p:nvSpPr>
          <p:cNvPr id="9" name="Shape 7"/>
          <p:cNvSpPr/>
          <p:nvPr/>
        </p:nvSpPr>
        <p:spPr>
          <a:xfrm>
            <a:off x="6263640" y="1920240"/>
            <a:ext cx="5257800" cy="1874520"/>
          </a:xfrm>
          <a:prstGeom prst="roundRect">
            <a:avLst>
              <a:gd name="adj" fmla="val 4390"/>
            </a:avLst>
          </a:prstGeom>
          <a:solidFill>
            <a:srgbClr val="1E293B"/>
          </a:solidFill>
          <a:ln w="12700">
            <a:solidFill>
              <a:srgbClr val="334155"/>
            </a:solidFill>
            <a:prstDash val="solid"/>
          </a:ln>
        </p:spPr>
      </p:sp>
      <p:sp>
        <p:nvSpPr>
          <p:cNvPr id="10" name="Shape 8"/>
          <p:cNvSpPr/>
          <p:nvPr/>
        </p:nvSpPr>
        <p:spPr>
          <a:xfrm>
            <a:off x="6537960" y="2194560"/>
            <a:ext cx="457200" cy="457200"/>
          </a:xfrm>
          <a:prstGeom prst="ellipse">
            <a:avLst/>
          </a:prstGeom>
          <a:solidFill>
            <a:srgbClr val="6D28D9"/>
          </a:solidFill>
          <a:ln/>
        </p:spPr>
      </p:sp>
      <p:sp>
        <p:nvSpPr>
          <p:cNvPr id="11" name="Text 9"/>
          <p:cNvSpPr/>
          <p:nvPr/>
        </p:nvSpPr>
        <p:spPr>
          <a:xfrm>
            <a:off x="6537960"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7132320" y="2212848"/>
            <a:ext cx="4206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Animal 10</a:t>
            </a:r>
            <a:endParaRPr lang="en-US" sz="1550" dirty="0"/>
          </a:p>
        </p:txBody>
      </p:sp>
      <p:sp>
        <p:nvSpPr>
          <p:cNvPr id="13" name="Text 11"/>
          <p:cNvSpPr/>
          <p:nvPr/>
        </p:nvSpPr>
        <p:spPr>
          <a:xfrm>
            <a:off x="6556248" y="2761488"/>
            <a:ext cx="4709160" cy="914400"/>
          </a:xfrm>
          <a:prstGeom prst="rect">
            <a:avLst/>
          </a:prstGeom>
          <a:noFill/>
          <a:ln/>
        </p:spPr>
        <p:txBody>
          <a:bodyPr wrap="square" lIns="0" tIns="0" rIns="0" bIns="0" rtlCol="0" anchor="ctr"/>
          <a:lstStyle/>
          <a:p>
            <a:pPr indent="0" marL="0">
              <a:lnSpc>
                <a:spcPct val="105000"/>
              </a:lnSpc>
              <a:buNone/>
            </a:pPr>
            <a:r>
              <a:rPr lang="en-US" sz="1250" dirty="0">
                <a:solidFill>
                  <a:srgbClr val="CBD5E1"/>
                </a:solidFill>
                <a:latin typeface="Calibri" pitchFamily="34" charset="0"/>
                <a:ea typeface="Calibri" pitchFamily="34" charset="-122"/>
                <a:cs typeface="Calibri" pitchFamily="34" charset="-120"/>
              </a:rPr>
              <a:t>It passed. Worth chasing, or likely a fluke given 3 of 4 failed?</a:t>
            </a:r>
            <a:endParaRPr lang="en-US" sz="1250" dirty="0"/>
          </a:p>
        </p:txBody>
      </p:sp>
      <p:sp>
        <p:nvSpPr>
          <p:cNvPr id="14" name="Shape 12"/>
          <p:cNvSpPr/>
          <p:nvPr/>
        </p:nvSpPr>
        <p:spPr>
          <a:xfrm>
            <a:off x="731520" y="4069080"/>
            <a:ext cx="5257800" cy="1874520"/>
          </a:xfrm>
          <a:prstGeom prst="roundRect">
            <a:avLst>
              <a:gd name="adj" fmla="val 4390"/>
            </a:avLst>
          </a:prstGeom>
          <a:solidFill>
            <a:srgbClr val="1E293B"/>
          </a:solidFill>
          <a:ln w="12700">
            <a:solidFill>
              <a:srgbClr val="334155"/>
            </a:solidFill>
            <a:prstDash val="solid"/>
          </a:ln>
        </p:spPr>
      </p:sp>
      <p:sp>
        <p:nvSpPr>
          <p:cNvPr id="15" name="Shape 13"/>
          <p:cNvSpPr/>
          <p:nvPr/>
        </p:nvSpPr>
        <p:spPr>
          <a:xfrm>
            <a:off x="1005840" y="4343400"/>
            <a:ext cx="457200" cy="457200"/>
          </a:xfrm>
          <a:prstGeom prst="ellipse">
            <a:avLst/>
          </a:prstGeom>
          <a:solidFill>
            <a:srgbClr val="0D9488"/>
          </a:solidFill>
          <a:ln/>
        </p:spPr>
      </p:sp>
      <p:sp>
        <p:nvSpPr>
          <p:cNvPr id="16" name="Text 14"/>
          <p:cNvSpPr/>
          <p:nvPr/>
        </p:nvSpPr>
        <p:spPr>
          <a:xfrm>
            <a:off x="1005840" y="4343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600200" y="4361688"/>
            <a:ext cx="4206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 strong up animal</a:t>
            </a:r>
            <a:endParaRPr lang="en-US" sz="1550" dirty="0"/>
          </a:p>
        </p:txBody>
      </p:sp>
      <p:sp>
        <p:nvSpPr>
          <p:cNvPr id="18" name="Text 16"/>
          <p:cNvSpPr/>
          <p:nvPr/>
        </p:nvSpPr>
        <p:spPr>
          <a:xfrm>
            <a:off x="1024128" y="4910328"/>
            <a:ext cx="4709160" cy="914400"/>
          </a:xfrm>
          <a:prstGeom prst="rect">
            <a:avLst/>
          </a:prstGeom>
          <a:noFill/>
          <a:ln/>
        </p:spPr>
        <p:txBody>
          <a:bodyPr wrap="square" lIns="0" tIns="0" rIns="0" bIns="0" rtlCol="0" anchor="ctr"/>
          <a:lstStyle/>
          <a:p>
            <a:pPr indent="0" marL="0">
              <a:lnSpc>
                <a:spcPct val="105000"/>
              </a:lnSpc>
              <a:buNone/>
            </a:pPr>
            <a:r>
              <a:rPr lang="en-US" sz="1250" dirty="0">
                <a:solidFill>
                  <a:srgbClr val="CBD5E1"/>
                </a:solidFill>
                <a:latin typeface="Calibri" pitchFamily="34" charset="0"/>
                <a:ea typeface="Calibri" pitchFamily="34" charset="-122"/>
                <a:cs typeface="Calibri" pitchFamily="34" charset="-120"/>
              </a:rPr>
              <a:t>Which animal in the drive is most likely a solid up-conditioning responder?</a:t>
            </a:r>
            <a:endParaRPr lang="en-US" sz="1250" dirty="0"/>
          </a:p>
        </p:txBody>
      </p:sp>
      <p:sp>
        <p:nvSpPr>
          <p:cNvPr id="19" name="Shape 17"/>
          <p:cNvSpPr/>
          <p:nvPr/>
        </p:nvSpPr>
        <p:spPr>
          <a:xfrm>
            <a:off x="6263640" y="4069080"/>
            <a:ext cx="5257800" cy="1874520"/>
          </a:xfrm>
          <a:prstGeom prst="roundRect">
            <a:avLst>
              <a:gd name="adj" fmla="val 4390"/>
            </a:avLst>
          </a:prstGeom>
          <a:solidFill>
            <a:srgbClr val="1E293B"/>
          </a:solidFill>
          <a:ln w="12700">
            <a:solidFill>
              <a:srgbClr val="334155"/>
            </a:solidFill>
            <a:prstDash val="solid"/>
          </a:ln>
        </p:spPr>
      </p:sp>
      <p:sp>
        <p:nvSpPr>
          <p:cNvPr id="20" name="Shape 18"/>
          <p:cNvSpPr/>
          <p:nvPr/>
        </p:nvSpPr>
        <p:spPr>
          <a:xfrm>
            <a:off x="6537960" y="4343400"/>
            <a:ext cx="457200" cy="457200"/>
          </a:xfrm>
          <a:prstGeom prst="ellipse">
            <a:avLst/>
          </a:prstGeom>
          <a:solidFill>
            <a:srgbClr val="0D9488"/>
          </a:solidFill>
          <a:ln/>
        </p:spPr>
      </p:sp>
      <p:sp>
        <p:nvSpPr>
          <p:cNvPr id="21" name="Text 19"/>
          <p:cNvSpPr/>
          <p:nvPr/>
        </p:nvSpPr>
        <p:spPr>
          <a:xfrm>
            <a:off x="6537960" y="4343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132320" y="4361688"/>
            <a:ext cx="420624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bar</a:t>
            </a:r>
            <a:endParaRPr lang="en-US" sz="1550" dirty="0"/>
          </a:p>
        </p:txBody>
      </p:sp>
      <p:sp>
        <p:nvSpPr>
          <p:cNvPr id="23" name="Text 21"/>
          <p:cNvSpPr/>
          <p:nvPr/>
        </p:nvSpPr>
        <p:spPr>
          <a:xfrm>
            <a:off x="6556248" y="4910328"/>
            <a:ext cx="4709160" cy="914400"/>
          </a:xfrm>
          <a:prstGeom prst="rect">
            <a:avLst/>
          </a:prstGeom>
          <a:noFill/>
          <a:ln/>
        </p:spPr>
        <p:txBody>
          <a:bodyPr wrap="square" lIns="0" tIns="0" rIns="0" bIns="0" rtlCol="0" anchor="ctr"/>
          <a:lstStyle/>
          <a:p>
            <a:pPr indent="0" marL="0">
              <a:lnSpc>
                <a:spcPct val="105000"/>
              </a:lnSpc>
              <a:buNone/>
            </a:pPr>
            <a:r>
              <a:rPr lang="en-US" sz="1250" dirty="0">
                <a:solidFill>
                  <a:srgbClr val="CBD5E1"/>
                </a:solidFill>
                <a:latin typeface="Calibri" pitchFamily="34" charset="0"/>
                <a:ea typeface="Calibri" pitchFamily="34" charset="-122"/>
                <a:cs typeface="Calibri" pitchFamily="34" charset="-120"/>
              </a:rPr>
              <a:t>Are the five controls the right bar, or would you add or drop one?</a:t>
            </a:r>
            <a:endParaRPr lang="en-US" sz="1250" dirty="0"/>
          </a:p>
        </p:txBody>
      </p:sp>
      <p:sp>
        <p:nvSpPr>
          <p:cNvPr id="24" name="Text 22"/>
          <p:cNvSpPr/>
          <p:nvPr/>
        </p:nvSpPr>
        <p:spPr>
          <a:xfrm>
            <a:off x="731520" y="6355080"/>
            <a:ext cx="10698480" cy="36576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Everything (code, figures, per-animal results) is in the repo.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HROC — Four-Animal Findings</dc:title>
  <dc:subject>PptxGenJS Presentation</dc:subject>
  <dc:creator>Suchith Rao</dc:creator>
  <cp:lastModifiedBy>Suchith Rao</cp:lastModifiedBy>
  <cp:revision>1</cp:revision>
  <dcterms:created xsi:type="dcterms:W3CDTF">2026-07-22T14:33:01Z</dcterms:created>
  <dcterms:modified xsi:type="dcterms:W3CDTF">2026-07-22T14:33:01Z</dcterms:modified>
</cp:coreProperties>
</file>