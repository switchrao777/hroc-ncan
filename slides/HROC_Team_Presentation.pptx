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for having us. We're the machine-learning side of this project. Over the summer we took the archived paired EMG and ECoG recordings and asked one question: on any given trial, does the brain signal tell us anything about how big the reflex is going to be? I'll walk through what the data is, how we built the analysis, what we found — including one thing that didn't work — and where we think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What the question is and what was already known. What the data actually is. How we built the analysis, including the model and the workflow, since I gather that part is of interest. What we found, which includes one result that didn't survive. And where we think it goes from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anyone not close to this work: a small shock to the leg nerve produces a reflex in the soleus. The rat is rewarded when that reflex is bigger, or smaller, than a threshold. Over weeks it shifts, and twenty percent counts as success. What's already known from Chad Boulay's paper is that cortical activity influences reflex size. Our question is whether you can see that on a single trial, and whether the relationship itself changes with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bring machine learning to this at all. The usual approach is to decide in advance which features of the trace might matter and measure those — but whatever you didn't think of, you don't measure. Instead we let a network learn its own description of each trace with no labels, then test what it can predict. The precedent is BrainBERT, out of MIT and used widely for human intracranial work: learn a general representation of neural signal first, then apply it downstream. Ours is a much smaller model because we have one channel and a thirty millisecond window rather than a full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before anything else. Every shock gives one trial — thirty milliseconds at five kilohertz, two channels recorded simultaneously. The spike at zero is the stimulus artifact. The bump at two to four milliseconds is the M-wave, the nerve firing the muscle directly. The bump at six to nine is the H-reflex, which went down to the spinal cord and back. That's the one conditioning changes. This particular figure is the average of two hundred eighty thousand trials from one animal.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problem, and it took a while. We were given the tables and a decoder script that documented the byte order as big-endian. Decoded that way every trial is noise — no M-wave, no reflex. The files are actually little-endian. It's one flag. But the reason we trusted the fix wasn't that the output looked plausible; it's that the M-wave and H-reflex landed at exactly the latencies the experimenter had typed into the log back in 2006 — MR interval two to four, HR interval six to nine. The data confirmed the notes and the notes confirmed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animals, three trained down and three up, forty-five to two hundred ten days each. Worth explaining how we chose them, because it saved us a lot of time. The log files are a few hundred kilobytes; the signal data is four gigabytes an animal. The experimenter raises the reward threshold whenever the rat starts beating it — so the threshold history is a written record of how the animal was doing. We read only the logs, then downloaded signal data for the ones that had learned. We also dropped animal twelve: its pre-stimulus cortical signal is under three microvolts against a hundred-plus in the others, so that electrode was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data flow. Recover the old tables into a local database. Decode each trial into two channels of microvolts. Store as Zarr, which is a chunked array format that lets us read two point seven million trials without loading them into memory. Measure the physiology. Learn the representation. Then test it against controls. Four gigabytes in per animal, about three hundred megabytes out, and once it's set up it's two commands per animal.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and it's simpler than it sounds. On the left, one trial of brain signal — a hundred and fifty numbers. The encoder squeezes that down to forty-eight numbers. The decoder tries to rebuild the original from just those forty-eight. We train it by penalising the difference between the rebuild and the original. The important part is the bottleneck: to rebuild the trace from only forty-eight numbers, those numbers have to capture the trace's real structure rather than its noise. And crucially, nobody tells it what to look for. We never show it an H-reflex, a label, or a training phase. So the forty-eight numbers are whatever the signal's own structure demands, not the features we assumed mattered. After training we freeze it and use it purely as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details. Six hundred thousand trials pooled across five animals, twelve passes, about four minutes on a laptop GPU — these are small models. Reconstruction error halves and flattens. The trap we had to avoid: if you pool animals naively, the model learns to tell the animals apart, because they have different electrodes and different amplitudes. That's a recording artefact wearing a biology costume. So we standardise each animal separately before pooling. And the reason we train one model across all animals rather than one each: separate models would describe each brain in its own private vocabulary and you could never compare them. One shared model means a given pattern means the same thing in animal three as in animal eleven — which is what makes the group comparisons later legitimate.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in case it's useful. MariaDB for the archives, Zarr and NumPy for the arrays, PyTorch for the model running on Apple Silicon, scikit-learn and SciPy for the statistics, and matplotlib for figures. All Python, all open source, nothing exotic. Day to day the loop was: read the animal's log, load it, convert, look at the averaged trace to check the decode, run the analyses, commit the figures. Every figure in this talk regenerates from a single command — none of them were hand-edited, which matters when a number changes and six figures have to change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matters because getting it wrong cost us a result. A bigger shock makes a bigger reflex with no learning involved, and across these recordings the delivered stimulus roughly quadrupled. Early on that made one of our findings come out backwards. The fix is that the M-wave sits in the same trace and reflects only the stimulus, so it's a per-trial receipt. Dr Carp added the second one: the reflex also depends on how active the muscle already was, so we measure the twenty milliseconds before each shock. Every number from here on has both corrections applied.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lead with behaviour because it's the check that has to pass before anything else counts. Each animal is aligned to its own training start day. Up-trained animals rise, down-trained fall. Three of five clear the twenty percent criterion in the trained direction, and the two that don't come back later as a negative control. And again — this is after removing stimulus and background, so it isn't the stimulus creeping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hard part, and I want to be direct about it. Two things change slowly over the same weeks: the animal's learning, and the chronically implanted electrode. On the left, both curves go up. On the right is what the recording actually gives you — one curve, with no way to split it. Inside a single animal both are smooth functions of time, so no amount of analysis separates them. That's a limitation of the design rather than the data, and it shaped everything we did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approach was the obvious one: measure how far the average brain state moves across training. It does move, and it looked convincing. But three tests say that movement is the recording rather than the animal. If you take baseline-only data and pretend half of it was training, it moves just as much, in five of six animals. If you shuffle which trial belongs to which day, nothing moves — so the measure itself is fine. And electrode drift doesn't care which direction you trained the animal, and there's no difference between the up and down groups. Two of those three were Dr Carp's suggestions, and they changed our conclusion. I'd rather show you this than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rather than keep fighting that confound, we changed the question. Instead of asking whether the average moved, we ask whether the brain can predict this particular trial's reflex. Here's the design, and it's the part I'd most like your reaction to. The top bar is the whole recording, with colour showing the electrode slowly changing. We chop it into five-day windows. Inside one window we train on four fifths of the trials and test on the held-out fifth. Within five days the electrode is essentially fixed, and whatever drift remains moves the training and test trials together, so it cancels. Drift can move an average. It cannot invent a trial-by-trial relationship inside five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don't just look at whether the prediction is good in absolute terms, because there's no natural yardstick for that. Instead each window is judged against itself: take the same trials, shuffle which reflex goes with which brain signal, and run the identical analysis. Same numbers, wrong pairings, so any real relationship is destroyed. If the real version doesn't beat the shuffled one, there was nothing there. We do that in all hundred and one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finding. In ninety-nine of a hundred and one windows the real data beat its own shuffled version, and it holds in all five animals. On the statistics I want to be careful. Counting each window as independent would badly overstate it, because windows within an animal share an electrode and an animal. Counting the animal as the unit of analysis gives t of three point eight one on four degrees of freedom, p equals nought point nought one nine. So the effect is small in size but almost never absent — and I'd argue reliability is the more meaningful property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Carp asked us to split the variance up, and this is the answer. The stimulus dominates at forty-seven percent. Background is one. About half is still unexplained, which is normal for single-trial physiology. The brain on its own looks like twenty-one percent, but almost all of that overlaps with the stimulus, because the stimulus drives both the cortical response and the reflex. Only the part that survives once the other two are in the model — about two percent — counts as a genuine cortical contribution. That's a small number and I don't want to oversell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everything we tried to kill the result with. Five it survives, two it fails, and the two failures are what told us the average-state approach was the wrong question. Most of these were suggested by Dr Carp. If anyone here can think of something we haven't tried, that's genuinely the most useful thing I could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objection is that both channels are recorded simultaneously, so maybe the cortical electrode is just picking up muscle. Dr Carp suggested the test: correlate cortical power against muscle power and see how much they move together. Muscle artefact lives at high frequency, so that's where contamination would show. Above a hundred hertz the correlation is plus nought point nought six — essentially zero. The low bands are slightly negative. And the cortical signal marginally leads the muscle, which is the acceptable direction. So we don't think this is contamination, though I'd welcome a better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thread I think is most promising, and it was Dr Carp's suggestion. Animals differ in how much they learned, and two failed outright — those become a built-in negative control. The correlation between how much an animal learned and how much its cortical coupling changed is plus nought point seven one, and the two that failed show no increase. With five animals that's a direction rather than a result. Five more animals are downloaded and ready to process, and that's what would settle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new thread, which came out of talking with Dr Carp. The reward threshold is adjusted by hand, day by day — raised when the rat is beating the task, lowered when it's struggling. That's effectively a staircase procedure, and it's a record of how hard the task was for that animal, written down independently of anything we measure from the electrodes. Right now our scaling result correlates two things measured from the same electrodes, which share noise. If cortical coupling instead tracks a behavioural record kept by hand at the time, that's a much harder result to dismiss. We'd like to build that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becomes a paper, we think there are three pieces. The method — a reproducible pipeline that recovers a twenty-year-old archive and learns a representation from it on a laptop, which is useful to anyone with old chronic recordings on a shelf. The finding — cortical activity carries a small but highly reliable single-trial signal about reflex size, which extends Chad's work from a population relationship to a single-trial one. And the warning — the intuitive drift analysis produces a convincing result that three controls reject, and we'd want to save the next group from spending months on it. We'd aim at a machine-learning venue, framed as an extension of the existing cortical-spinal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might matter, and I want to be careful not to oversell. If cortex predicts the reflex before the fact, conditioning protocols could in principle adapt trial by trial rather than day by day. Roughly a third of animals, and of people, don't respond to conditioning — a cortical readout might show why, early. And reflex conditioning is already used clinically after spinal cord injury, so any handle on the cortical side is a handle on individualising it. All three depend on the effect being bigger and more reliable than what we can currently show. We're not there. But that's the direction that makes it worth getting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next. Five more animals are downloaded and ready, which takes us from five to about ten and is what powers the scaling test. Then frequency-resolved coupling, to see which bands carry the information — that sharpens both the finding and the contamination argument. The reward-criterion measure as an independent behavioural record. And then writing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we'd value your input on. Whether a two percent unique contribution is worth reporting. Whether the within-window design convinces you the electrode isn't producing it. What else could produce this that we haven't excluded. And whether the negative result is worth publishing as a warning. Everything is on GitHub — code, every figure, and a six-page write-up.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620"/>
        </a:solidFill>
      </p:bgPr>
    </p:bg>
    <p:spTree>
      <p:nvGrpSpPr>
        <p:cNvPr id="1" name=""/>
        <p:cNvGrpSpPr/>
        <p:nvPr/>
      </p:nvGrpSpPr>
      <p:grpSpPr>
        <a:xfrm>
          <a:off x="0" y="0"/>
          <a:ext cx="0" cy="0"/>
          <a:chOff x="0" y="0"/>
          <a:chExt cx="0" cy="0"/>
        </a:xfrm>
      </p:grpSpPr>
      <p:sp>
        <p:nvSpPr>
          <p:cNvPr id="2" name="Shape 0"/>
          <p:cNvSpPr/>
          <p:nvPr/>
        </p:nvSpPr>
        <p:spPr>
          <a:xfrm>
            <a:off x="9966960" y="1005840"/>
            <a:ext cx="1463040" cy="1463040"/>
          </a:xfrm>
          <a:prstGeom prst="ellipse">
            <a:avLst/>
          </a:prstGeom>
          <a:solidFill>
            <a:srgbClr val="15718F">
              <a:alpha val="48000"/>
            </a:srgbClr>
          </a:solidFill>
          <a:ln/>
        </p:spPr>
      </p:sp>
      <p:sp>
        <p:nvSpPr>
          <p:cNvPr id="3" name="Shape 1"/>
          <p:cNvSpPr/>
          <p:nvPr/>
        </p:nvSpPr>
        <p:spPr>
          <a:xfrm>
            <a:off x="10744200" y="1874520"/>
            <a:ext cx="960120" cy="960120"/>
          </a:xfrm>
          <a:prstGeom prst="ellipse">
            <a:avLst/>
          </a:prstGeom>
          <a:solidFill>
            <a:srgbClr val="B4671A">
              <a:alpha val="52000"/>
            </a:srgbClr>
          </a:solidFill>
          <a:ln/>
        </p:spPr>
      </p:sp>
      <p:sp>
        <p:nvSpPr>
          <p:cNvPr id="4" name="Text 2"/>
          <p:cNvSpPr/>
          <p:nvPr/>
        </p:nvSpPr>
        <p:spPr>
          <a:xfrm>
            <a:off x="777240" y="1371600"/>
            <a:ext cx="9144000" cy="365760"/>
          </a:xfrm>
          <a:prstGeom prst="rect">
            <a:avLst/>
          </a:prstGeom>
          <a:noFill/>
          <a:ln/>
        </p:spPr>
        <p:txBody>
          <a:bodyPr wrap="square" lIns="0" tIns="0" rIns="0" bIns="0" rtlCol="0" anchor="ctr"/>
          <a:lstStyle/>
          <a:p>
            <a:pPr indent="0" marL="0">
              <a:buNone/>
            </a:pPr>
            <a:r>
              <a:rPr lang="en-US" sz="1300" b="1" spc="300" kern="0" dirty="0">
                <a:solidFill>
                  <a:srgbClr val="7FB8C9"/>
                </a:solidFill>
                <a:latin typeface="Calibri" pitchFamily="34" charset="0"/>
                <a:ea typeface="Calibri" pitchFamily="34" charset="-122"/>
                <a:cs typeface="Calibri" pitchFamily="34" charset="-120"/>
              </a:rPr>
              <a:t>NCAN · WADSWORTH CENTER · SUMMER 2026</a:t>
            </a:r>
            <a:endParaRPr lang="en-US" sz="1300" dirty="0"/>
          </a:p>
        </p:txBody>
      </p:sp>
      <p:sp>
        <p:nvSpPr>
          <p:cNvPr id="5" name="Text 3"/>
          <p:cNvSpPr/>
          <p:nvPr/>
        </p:nvSpPr>
        <p:spPr>
          <a:xfrm>
            <a:off x="777240" y="1828800"/>
            <a:ext cx="10332720" cy="1828800"/>
          </a:xfrm>
          <a:prstGeom prst="rect">
            <a:avLst/>
          </a:prstGeom>
          <a:noFill/>
          <a:ln/>
        </p:spPr>
        <p:txBody>
          <a:bodyPr wrap="square" lIns="0" tIns="0" rIns="0" bIns="0" rtlCol="0" anchor="ctr"/>
          <a:lstStyle/>
          <a:p>
            <a:pPr indent="0" marL="0">
              <a:lnSpc>
                <a:spcPct val="98000"/>
              </a:lnSpc>
              <a:buNone/>
            </a:pPr>
            <a:r>
              <a:rPr lang="en-US" sz="4100" b="1" dirty="0">
                <a:solidFill>
                  <a:srgbClr val="FFFFFF"/>
                </a:solidFill>
                <a:latin typeface="Cambria" pitchFamily="34" charset="0"/>
                <a:ea typeface="Cambria" pitchFamily="34" charset="-122"/>
                <a:cs typeface="Cambria" pitchFamily="34" charset="-120"/>
              </a:rPr>
              <a:t>Can the brain tell us</a:t>
            </a:r>
            <a:endParaRPr lang="en-US" sz="4100" dirty="0"/>
          </a:p>
          <a:p>
            <a:pPr indent="0" marL="0">
              <a:lnSpc>
                <a:spcPct val="98000"/>
              </a:lnSpc>
              <a:buNone/>
            </a:pPr>
            <a:r>
              <a:rPr lang="en-US" sz="4100" b="1" dirty="0">
                <a:solidFill>
                  <a:srgbClr val="FFFFFF"/>
                </a:solidFill>
                <a:latin typeface="Cambria" pitchFamily="34" charset="0"/>
                <a:ea typeface="Cambria" pitchFamily="34" charset="-122"/>
                <a:cs typeface="Cambria" pitchFamily="34" charset="-120"/>
              </a:rPr>
              <a:t>how big the reflex will be?</a:t>
            </a:r>
            <a:endParaRPr lang="en-US" sz="4100" dirty="0"/>
          </a:p>
        </p:txBody>
      </p:sp>
      <p:sp>
        <p:nvSpPr>
          <p:cNvPr id="6" name="Text 4"/>
          <p:cNvSpPr/>
          <p:nvPr/>
        </p:nvSpPr>
        <p:spPr>
          <a:xfrm>
            <a:off x="795528" y="3840480"/>
            <a:ext cx="10058400" cy="457200"/>
          </a:xfrm>
          <a:prstGeom prst="rect">
            <a:avLst/>
          </a:prstGeom>
          <a:noFill/>
          <a:ln/>
        </p:spPr>
        <p:txBody>
          <a:bodyPr wrap="square" lIns="0" tIns="0" rIns="0" bIns="0" rtlCol="0" anchor="ctr"/>
          <a:lstStyle/>
          <a:p>
            <a:pPr indent="0" marL="0">
              <a:buNone/>
            </a:pPr>
            <a:r>
              <a:rPr lang="en-US" sz="1750" dirty="0">
                <a:solidFill>
                  <a:srgbClr val="C3D0DA"/>
                </a:solidFill>
                <a:latin typeface="Calibri" pitchFamily="34" charset="0"/>
                <a:ea typeface="Calibri" pitchFamily="34" charset="-122"/>
                <a:cs typeface="Calibri" pitchFamily="34" charset="-120"/>
              </a:rPr>
              <a:t>Machine learning on 2.7 million trials of twenty-year-old neural recordings.</a:t>
            </a:r>
            <a:endParaRPr lang="en-US" sz="1750" dirty="0"/>
          </a:p>
        </p:txBody>
      </p:sp>
      <p:sp>
        <p:nvSpPr>
          <p:cNvPr id="7" name="Text 5"/>
          <p:cNvSpPr/>
          <p:nvPr/>
        </p:nvSpPr>
        <p:spPr>
          <a:xfrm>
            <a:off x="795528" y="5989320"/>
            <a:ext cx="10058400" cy="365760"/>
          </a:xfrm>
          <a:prstGeom prst="rect">
            <a:avLst/>
          </a:prstGeom>
          <a:noFill/>
          <a:ln/>
        </p:spPr>
        <p:txBody>
          <a:bodyPr wrap="square" lIns="0" tIns="0" rIns="0" bIns="0" rtlCol="0" anchor="ctr"/>
          <a:lstStyle/>
          <a:p>
            <a:pPr indent="0" marL="0">
              <a:buNone/>
            </a:pPr>
            <a:r>
              <a:rPr lang="en-US" sz="1400" dirty="0">
                <a:solidFill>
                  <a:srgbClr val="8B9AA6"/>
                </a:solidFill>
                <a:latin typeface="Calibri" pitchFamily="34" charset="0"/>
                <a:ea typeface="Calibri" pitchFamily="34" charset="-122"/>
                <a:cs typeface="Calibri" pitchFamily="34" charset="-120"/>
              </a:rPr>
              <a:t>Suchith Rao  ·  Tarun Senthil          with Dr. Jonathan Carp and Teresa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9AA8B4"/>
                </a:solidFill>
                <a:latin typeface="Calibri" pitchFamily="34" charset="0"/>
                <a:ea typeface="Calibri" pitchFamily="34" charset="-122"/>
                <a:cs typeface="Calibri" pitchFamily="34" charset="-120"/>
              </a:rPr>
              <a:t>WHAT WE'LL COVER</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Roadmap</a:t>
            </a:r>
            <a:endParaRPr lang="en-US" sz="3000" dirty="0"/>
          </a:p>
        </p:txBody>
      </p:sp>
      <p:sp>
        <p:nvSpPr>
          <p:cNvPr id="4" name="Shape 2"/>
          <p:cNvSpPr/>
          <p:nvPr/>
        </p:nvSpPr>
        <p:spPr>
          <a:xfrm>
            <a:off x="685800" y="1828800"/>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60120" y="2039112"/>
            <a:ext cx="457200" cy="457200"/>
          </a:xfrm>
          <a:prstGeom prst="ellipse">
            <a:avLst/>
          </a:prstGeom>
          <a:solidFill>
            <a:srgbClr val="15718F"/>
          </a:solidFill>
          <a:ln/>
        </p:spPr>
      </p:sp>
      <p:sp>
        <p:nvSpPr>
          <p:cNvPr id="6" name="Text 4"/>
          <p:cNvSpPr/>
          <p:nvPr/>
        </p:nvSpPr>
        <p:spPr>
          <a:xfrm>
            <a:off x="960120" y="2039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72768" y="1956816"/>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The question</a:t>
            </a:r>
            <a:endParaRPr lang="en-US" sz="1900" dirty="0"/>
          </a:p>
        </p:txBody>
      </p:sp>
      <p:sp>
        <p:nvSpPr>
          <p:cNvPr id="8" name="Text 6"/>
          <p:cNvSpPr/>
          <p:nvPr/>
        </p:nvSpPr>
        <p:spPr>
          <a:xfrm>
            <a:off x="4663440" y="1956816"/>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what conditioning is, and what was already known</a:t>
            </a:r>
            <a:endParaRPr lang="en-US" sz="1350" dirty="0"/>
          </a:p>
        </p:txBody>
      </p:sp>
      <p:sp>
        <p:nvSpPr>
          <p:cNvPr id="9" name="Shape 7"/>
          <p:cNvSpPr/>
          <p:nvPr/>
        </p:nvSpPr>
        <p:spPr>
          <a:xfrm>
            <a:off x="685800" y="2807208"/>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960120" y="3017520"/>
            <a:ext cx="457200" cy="457200"/>
          </a:xfrm>
          <a:prstGeom prst="ellipse">
            <a:avLst/>
          </a:prstGeom>
          <a:solidFill>
            <a:srgbClr val="B4671A"/>
          </a:solidFill>
          <a:ln/>
        </p:spPr>
      </p:sp>
      <p:sp>
        <p:nvSpPr>
          <p:cNvPr id="11" name="Text 9"/>
          <p:cNvSpPr/>
          <p:nvPr/>
        </p:nvSpPr>
        <p:spPr>
          <a:xfrm>
            <a:off x="96012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72768" y="2935224"/>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The data</a:t>
            </a:r>
            <a:endParaRPr lang="en-US" sz="1900" dirty="0"/>
          </a:p>
        </p:txBody>
      </p:sp>
      <p:sp>
        <p:nvSpPr>
          <p:cNvPr id="13" name="Text 11"/>
          <p:cNvSpPr/>
          <p:nvPr/>
        </p:nvSpPr>
        <p:spPr>
          <a:xfrm>
            <a:off x="4663440" y="2935224"/>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one trial, six animals, and a broken decoder</a:t>
            </a:r>
            <a:endParaRPr lang="en-US" sz="1350" dirty="0"/>
          </a:p>
        </p:txBody>
      </p:sp>
      <p:sp>
        <p:nvSpPr>
          <p:cNvPr id="14" name="Shape 12"/>
          <p:cNvSpPr/>
          <p:nvPr/>
        </p:nvSpPr>
        <p:spPr>
          <a:xfrm>
            <a:off x="685800" y="3785616"/>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960120" y="3995928"/>
            <a:ext cx="457200" cy="457200"/>
          </a:xfrm>
          <a:prstGeom prst="ellipse">
            <a:avLst/>
          </a:prstGeom>
          <a:solidFill>
            <a:srgbClr val="6B4E8F"/>
          </a:solidFill>
          <a:ln/>
        </p:spPr>
      </p:sp>
      <p:sp>
        <p:nvSpPr>
          <p:cNvPr id="16" name="Text 14"/>
          <p:cNvSpPr/>
          <p:nvPr/>
        </p:nvSpPr>
        <p:spPr>
          <a:xfrm>
            <a:off x="960120" y="39959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72768" y="3913632"/>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How we built it</a:t>
            </a:r>
            <a:endParaRPr lang="en-US" sz="1900" dirty="0"/>
          </a:p>
        </p:txBody>
      </p:sp>
      <p:sp>
        <p:nvSpPr>
          <p:cNvPr id="18" name="Text 16"/>
          <p:cNvSpPr/>
          <p:nvPr/>
        </p:nvSpPr>
        <p:spPr>
          <a:xfrm>
            <a:off x="4663440" y="3913632"/>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the model, the stack, the daily workflow</a:t>
            </a:r>
            <a:endParaRPr lang="en-US" sz="1350" dirty="0"/>
          </a:p>
        </p:txBody>
      </p:sp>
      <p:sp>
        <p:nvSpPr>
          <p:cNvPr id="19" name="Shape 17"/>
          <p:cNvSpPr/>
          <p:nvPr/>
        </p:nvSpPr>
        <p:spPr>
          <a:xfrm>
            <a:off x="685800" y="4764024"/>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Shape 18"/>
          <p:cNvSpPr/>
          <p:nvPr/>
        </p:nvSpPr>
        <p:spPr>
          <a:xfrm>
            <a:off x="960120" y="4974336"/>
            <a:ext cx="457200" cy="457200"/>
          </a:xfrm>
          <a:prstGeom prst="ellipse">
            <a:avLst/>
          </a:prstGeom>
          <a:solidFill>
            <a:srgbClr val="3B6E43"/>
          </a:solidFill>
          <a:ln/>
        </p:spPr>
      </p:sp>
      <p:sp>
        <p:nvSpPr>
          <p:cNvPr id="21" name="Text 19"/>
          <p:cNvSpPr/>
          <p:nvPr/>
        </p:nvSpPr>
        <p:spPr>
          <a:xfrm>
            <a:off x="960120" y="49743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572768" y="4892040"/>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What we found</a:t>
            </a:r>
            <a:endParaRPr lang="en-US" sz="1900" dirty="0"/>
          </a:p>
        </p:txBody>
      </p:sp>
      <p:sp>
        <p:nvSpPr>
          <p:cNvPr id="23" name="Text 21"/>
          <p:cNvSpPr/>
          <p:nvPr/>
        </p:nvSpPr>
        <p:spPr>
          <a:xfrm>
            <a:off x="4663440" y="4892040"/>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two results, one negative, and the controls</a:t>
            </a:r>
            <a:endParaRPr lang="en-US" sz="1350" dirty="0"/>
          </a:p>
        </p:txBody>
      </p:sp>
      <p:sp>
        <p:nvSpPr>
          <p:cNvPr id="24" name="Shape 22"/>
          <p:cNvSpPr/>
          <p:nvPr/>
        </p:nvSpPr>
        <p:spPr>
          <a:xfrm>
            <a:off x="685800" y="5742432"/>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5" name="Shape 23"/>
          <p:cNvSpPr/>
          <p:nvPr/>
        </p:nvSpPr>
        <p:spPr>
          <a:xfrm>
            <a:off x="960120" y="5952744"/>
            <a:ext cx="457200" cy="457200"/>
          </a:xfrm>
          <a:prstGeom prst="ellipse">
            <a:avLst/>
          </a:prstGeom>
          <a:solidFill>
            <a:srgbClr val="15718F"/>
          </a:solidFill>
          <a:ln/>
        </p:spPr>
      </p:sp>
      <p:sp>
        <p:nvSpPr>
          <p:cNvPr id="26" name="Text 24"/>
          <p:cNvSpPr/>
          <p:nvPr/>
        </p:nvSpPr>
        <p:spPr>
          <a:xfrm>
            <a:off x="960120" y="59527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1572768" y="5870448"/>
            <a:ext cx="2926080" cy="59436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Where it goes</a:t>
            </a:r>
            <a:endParaRPr lang="en-US" sz="1900" dirty="0"/>
          </a:p>
        </p:txBody>
      </p:sp>
      <p:sp>
        <p:nvSpPr>
          <p:cNvPr id="28" name="Text 26"/>
          <p:cNvSpPr/>
          <p:nvPr/>
        </p:nvSpPr>
        <p:spPr>
          <a:xfrm>
            <a:off x="4663440" y="5870448"/>
            <a:ext cx="6583680" cy="594360"/>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what we'd publish, and what it's useful for</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1 · THE QUESTION</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the animals are doing</a:t>
            </a:r>
            <a:endParaRPr lang="en-US" sz="3000" dirty="0"/>
          </a:p>
        </p:txBody>
      </p:sp>
      <p:sp>
        <p:nvSpPr>
          <p:cNvPr id="4" name="Shape 2"/>
          <p:cNvSpPr/>
          <p:nvPr/>
        </p:nvSpPr>
        <p:spPr>
          <a:xfrm>
            <a:off x="685800" y="2011680"/>
            <a:ext cx="3566160" cy="2880360"/>
          </a:xfrm>
          <a:prstGeom prst="roundRect">
            <a:avLst>
              <a:gd name="adj" fmla="val 254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78408" y="2331720"/>
            <a:ext cx="475488" cy="475488"/>
          </a:xfrm>
          <a:prstGeom prst="ellipse">
            <a:avLst/>
          </a:prstGeom>
          <a:solidFill>
            <a:srgbClr val="B4671A"/>
          </a:solidFill>
          <a:ln/>
        </p:spPr>
      </p:sp>
      <p:sp>
        <p:nvSpPr>
          <p:cNvPr id="6" name="Text 4"/>
          <p:cNvSpPr/>
          <p:nvPr/>
        </p:nvSpPr>
        <p:spPr>
          <a:xfrm>
            <a:off x="978408" y="23317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978408" y="2971800"/>
            <a:ext cx="3017520" cy="457200"/>
          </a:xfrm>
          <a:prstGeom prst="rect">
            <a:avLst/>
          </a:prstGeom>
          <a:noFill/>
          <a:ln/>
        </p:spPr>
        <p:txBody>
          <a:bodyPr wrap="square" lIns="0" tIns="0" rIns="0" bIns="0" rtlCol="0" anchor="ctr"/>
          <a:lstStyle/>
          <a:p>
            <a:pPr indent="0" marL="0">
              <a:buNone/>
            </a:pPr>
            <a:r>
              <a:rPr lang="en-US" sz="2100" b="1" dirty="0">
                <a:solidFill>
                  <a:srgbClr val="14212E"/>
                </a:solidFill>
                <a:latin typeface="Cambria" pitchFamily="34" charset="0"/>
                <a:ea typeface="Cambria" pitchFamily="34" charset="-122"/>
                <a:cs typeface="Cambria" pitchFamily="34" charset="-120"/>
              </a:rPr>
              <a:t>The reflex</a:t>
            </a:r>
            <a:endParaRPr lang="en-US" sz="2100" dirty="0"/>
          </a:p>
        </p:txBody>
      </p:sp>
      <p:sp>
        <p:nvSpPr>
          <p:cNvPr id="8" name="Text 6"/>
          <p:cNvSpPr/>
          <p:nvPr/>
        </p:nvSpPr>
        <p:spPr>
          <a:xfrm>
            <a:off x="978408" y="3520440"/>
            <a:ext cx="3017520" cy="1234440"/>
          </a:xfrm>
          <a:prstGeom prst="rect">
            <a:avLst/>
          </a:prstGeom>
          <a:noFill/>
          <a:ln/>
        </p:spPr>
        <p:txBody>
          <a:bodyPr wrap="square" lIns="0" tIns="0" rIns="0" bIns="0" rtlCol="0" anchor="ctr"/>
          <a:lstStyle/>
          <a:p>
            <a:pPr indent="0" marL="0">
              <a:lnSpc>
                <a:spcPct val="108000"/>
              </a:lnSpc>
              <a:buNone/>
            </a:pPr>
            <a:r>
              <a:rPr lang="en-US" sz="1350" dirty="0">
                <a:solidFill>
                  <a:srgbClr val="5A6B7B"/>
                </a:solidFill>
                <a:latin typeface="Calibri" pitchFamily="34" charset="0"/>
                <a:ea typeface="Calibri" pitchFamily="34" charset="-122"/>
                <a:cs typeface="Calibri" pitchFamily="34" charset="-120"/>
              </a:rPr>
              <a:t>A small shock to the leg nerve produces a reflex in the soleus muscle. Its size is what we measure.</a:t>
            </a:r>
            <a:endParaRPr lang="en-US" sz="1350" dirty="0"/>
          </a:p>
        </p:txBody>
      </p:sp>
      <p:sp>
        <p:nvSpPr>
          <p:cNvPr id="9" name="Shape 7"/>
          <p:cNvSpPr/>
          <p:nvPr/>
        </p:nvSpPr>
        <p:spPr>
          <a:xfrm>
            <a:off x="4416552" y="2011680"/>
            <a:ext cx="3566160" cy="2880360"/>
          </a:xfrm>
          <a:prstGeom prst="roundRect">
            <a:avLst>
              <a:gd name="adj" fmla="val 254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4709160" y="2331720"/>
            <a:ext cx="475488" cy="475488"/>
          </a:xfrm>
          <a:prstGeom prst="ellipse">
            <a:avLst/>
          </a:prstGeom>
          <a:solidFill>
            <a:srgbClr val="15718F"/>
          </a:solidFill>
          <a:ln/>
        </p:spPr>
      </p:sp>
      <p:sp>
        <p:nvSpPr>
          <p:cNvPr id="11" name="Text 9"/>
          <p:cNvSpPr/>
          <p:nvPr/>
        </p:nvSpPr>
        <p:spPr>
          <a:xfrm>
            <a:off x="4709160" y="23317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4709160" y="2971800"/>
            <a:ext cx="3017520" cy="457200"/>
          </a:xfrm>
          <a:prstGeom prst="rect">
            <a:avLst/>
          </a:prstGeom>
          <a:noFill/>
          <a:ln/>
        </p:spPr>
        <p:txBody>
          <a:bodyPr wrap="square" lIns="0" tIns="0" rIns="0" bIns="0" rtlCol="0" anchor="ctr"/>
          <a:lstStyle/>
          <a:p>
            <a:pPr indent="0" marL="0">
              <a:buNone/>
            </a:pPr>
            <a:r>
              <a:rPr lang="en-US" sz="2100" b="1" dirty="0">
                <a:solidFill>
                  <a:srgbClr val="14212E"/>
                </a:solidFill>
                <a:latin typeface="Cambria" pitchFamily="34" charset="0"/>
                <a:ea typeface="Cambria" pitchFamily="34" charset="-122"/>
                <a:cs typeface="Cambria" pitchFamily="34" charset="-120"/>
              </a:rPr>
              <a:t>The training</a:t>
            </a:r>
            <a:endParaRPr lang="en-US" sz="2100" dirty="0"/>
          </a:p>
        </p:txBody>
      </p:sp>
      <p:sp>
        <p:nvSpPr>
          <p:cNvPr id="13" name="Text 11"/>
          <p:cNvSpPr/>
          <p:nvPr/>
        </p:nvSpPr>
        <p:spPr>
          <a:xfrm>
            <a:off x="4709160" y="3520440"/>
            <a:ext cx="3017520" cy="1234440"/>
          </a:xfrm>
          <a:prstGeom prst="rect">
            <a:avLst/>
          </a:prstGeom>
          <a:noFill/>
          <a:ln/>
        </p:spPr>
        <p:txBody>
          <a:bodyPr wrap="square" lIns="0" tIns="0" rIns="0" bIns="0" rtlCol="0" anchor="ctr"/>
          <a:lstStyle/>
          <a:p>
            <a:pPr indent="0" marL="0">
              <a:lnSpc>
                <a:spcPct val="108000"/>
              </a:lnSpc>
              <a:buNone/>
            </a:pPr>
            <a:r>
              <a:rPr lang="en-US" sz="1350" dirty="0">
                <a:solidFill>
                  <a:srgbClr val="5A6B7B"/>
                </a:solidFill>
                <a:latin typeface="Calibri" pitchFamily="34" charset="0"/>
                <a:ea typeface="Calibri" pitchFamily="34" charset="-122"/>
                <a:cs typeface="Calibri" pitchFamily="34" charset="-120"/>
              </a:rPr>
              <a:t>The rat is rewarded whenever that reflex is bigger than a threshold — or smaller, depending on the group.</a:t>
            </a:r>
            <a:endParaRPr lang="en-US" sz="1350" dirty="0"/>
          </a:p>
        </p:txBody>
      </p:sp>
      <p:sp>
        <p:nvSpPr>
          <p:cNvPr id="14" name="Shape 12"/>
          <p:cNvSpPr/>
          <p:nvPr/>
        </p:nvSpPr>
        <p:spPr>
          <a:xfrm>
            <a:off x="8147304" y="2011680"/>
            <a:ext cx="3566160" cy="2880360"/>
          </a:xfrm>
          <a:prstGeom prst="roundRect">
            <a:avLst>
              <a:gd name="adj" fmla="val 254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8439912" y="2331720"/>
            <a:ext cx="475488" cy="475488"/>
          </a:xfrm>
          <a:prstGeom prst="ellipse">
            <a:avLst/>
          </a:prstGeom>
          <a:solidFill>
            <a:srgbClr val="3B6E43"/>
          </a:solidFill>
          <a:ln/>
        </p:spPr>
      </p:sp>
      <p:sp>
        <p:nvSpPr>
          <p:cNvPr id="16" name="Text 14"/>
          <p:cNvSpPr/>
          <p:nvPr/>
        </p:nvSpPr>
        <p:spPr>
          <a:xfrm>
            <a:off x="8439912" y="23317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439912" y="2971800"/>
            <a:ext cx="3017520" cy="457200"/>
          </a:xfrm>
          <a:prstGeom prst="rect">
            <a:avLst/>
          </a:prstGeom>
          <a:noFill/>
          <a:ln/>
        </p:spPr>
        <p:txBody>
          <a:bodyPr wrap="square" lIns="0" tIns="0" rIns="0" bIns="0" rtlCol="0" anchor="ctr"/>
          <a:lstStyle/>
          <a:p>
            <a:pPr indent="0" marL="0">
              <a:buNone/>
            </a:pPr>
            <a:r>
              <a:rPr lang="en-US" sz="2100" b="1" dirty="0">
                <a:solidFill>
                  <a:srgbClr val="14212E"/>
                </a:solidFill>
                <a:latin typeface="Cambria" pitchFamily="34" charset="0"/>
                <a:ea typeface="Cambria" pitchFamily="34" charset="-122"/>
                <a:cs typeface="Cambria" pitchFamily="34" charset="-120"/>
              </a:rPr>
              <a:t>The learning</a:t>
            </a:r>
            <a:endParaRPr lang="en-US" sz="2100" dirty="0"/>
          </a:p>
        </p:txBody>
      </p:sp>
      <p:sp>
        <p:nvSpPr>
          <p:cNvPr id="18" name="Text 16"/>
          <p:cNvSpPr/>
          <p:nvPr/>
        </p:nvSpPr>
        <p:spPr>
          <a:xfrm>
            <a:off x="8439912" y="3520440"/>
            <a:ext cx="3017520" cy="1234440"/>
          </a:xfrm>
          <a:prstGeom prst="rect">
            <a:avLst/>
          </a:prstGeom>
          <a:noFill/>
          <a:ln/>
        </p:spPr>
        <p:txBody>
          <a:bodyPr wrap="square" lIns="0" tIns="0" rIns="0" bIns="0" rtlCol="0" anchor="ctr"/>
          <a:lstStyle/>
          <a:p>
            <a:pPr indent="0" marL="0">
              <a:lnSpc>
                <a:spcPct val="108000"/>
              </a:lnSpc>
              <a:buNone/>
            </a:pPr>
            <a:r>
              <a:rPr lang="en-US" sz="1350" dirty="0">
                <a:solidFill>
                  <a:srgbClr val="5A6B7B"/>
                </a:solidFill>
                <a:latin typeface="Calibri" pitchFamily="34" charset="0"/>
                <a:ea typeface="Calibri" pitchFamily="34" charset="-122"/>
                <a:cs typeface="Calibri" pitchFamily="34" charset="-120"/>
              </a:rPr>
              <a:t>Over weeks the reflex shifts in the trained direction. A 20% change counts as success, and the change is in the spinal cord.</a:t>
            </a:r>
            <a:endParaRPr lang="en-US" sz="1350" dirty="0"/>
          </a:p>
        </p:txBody>
      </p:sp>
      <p:sp>
        <p:nvSpPr>
          <p:cNvPr id="19" name="Shape 17"/>
          <p:cNvSpPr/>
          <p:nvPr/>
        </p:nvSpPr>
        <p:spPr>
          <a:xfrm>
            <a:off x="685800" y="5120640"/>
            <a:ext cx="10881360" cy="914400"/>
          </a:xfrm>
          <a:prstGeom prst="roundRect">
            <a:avLst>
              <a:gd name="adj" fmla="val 8000"/>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1005840" y="5285232"/>
            <a:ext cx="10241280" cy="59436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Already known:  </a:t>
            </a:r>
            <a:pPr indent="0" marL="0">
              <a:buNone/>
            </a:pPr>
            <a:r>
              <a:rPr lang="en-US" sz="1400" dirty="0">
                <a:solidFill>
                  <a:srgbClr val="14212E"/>
                </a:solidFill>
                <a:latin typeface="Calibri" pitchFamily="34" charset="0"/>
                <a:ea typeface="Calibri" pitchFamily="34" charset="-122"/>
                <a:cs typeface="Calibri" pitchFamily="34" charset="-120"/>
              </a:rPr>
              <a:t>cortical activity influences reflex size (Boulay, Chen &amp; Wolpaw, 2015).      </a:t>
            </a:r>
            <a:pPr indent="0" marL="0">
              <a:buNone/>
            </a:pPr>
            <a:r>
              <a:rPr lang="en-US" sz="1400" b="1" dirty="0">
                <a:solidFill>
                  <a:srgbClr val="15718F"/>
                </a:solidFill>
                <a:latin typeface="Calibri" pitchFamily="34" charset="0"/>
                <a:ea typeface="Calibri" pitchFamily="34" charset="-122"/>
                <a:cs typeface="Calibri" pitchFamily="34" charset="-120"/>
              </a:rPr>
              <a:t>Our question:  </a:t>
            </a:r>
            <a:pPr indent="0" marL="0">
              <a:buNone/>
            </a:pPr>
            <a:r>
              <a:rPr lang="en-US" sz="1400" dirty="0">
                <a:solidFill>
                  <a:srgbClr val="14212E"/>
                </a:solidFill>
                <a:latin typeface="Calibri" pitchFamily="34" charset="0"/>
                <a:ea typeface="Calibri" pitchFamily="34" charset="-122"/>
                <a:cs typeface="Calibri" pitchFamily="34" charset="-120"/>
              </a:rPr>
              <a:t>is it visible on a single trial, and does it change as the animal learns?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1 · THE QUESTION</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Why bring machine learning to this</a:t>
            </a:r>
            <a:endParaRPr lang="en-US" sz="3000" dirty="0"/>
          </a:p>
        </p:txBody>
      </p:sp>
      <p:sp>
        <p:nvSpPr>
          <p:cNvPr id="4" name="Shape 2"/>
          <p:cNvSpPr/>
          <p:nvPr/>
        </p:nvSpPr>
        <p:spPr>
          <a:xfrm>
            <a:off x="685800" y="1965960"/>
            <a:ext cx="5349240" cy="2377440"/>
          </a:xfrm>
          <a:prstGeom prst="roundRect">
            <a:avLst>
              <a:gd name="adj" fmla="val 3077"/>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76272"/>
            <a:ext cx="4572000" cy="320040"/>
          </a:xfrm>
          <a:prstGeom prst="rect">
            <a:avLst/>
          </a:prstGeom>
          <a:noFill/>
          <a:ln/>
        </p:spPr>
        <p:txBody>
          <a:bodyPr wrap="square" lIns="0" tIns="0" rIns="0" bIns="0" rtlCol="0" anchor="ctr"/>
          <a:lstStyle/>
          <a:p>
            <a:pPr indent="0" marL="0">
              <a:buNone/>
            </a:pPr>
            <a:r>
              <a:rPr lang="en-US" sz="1450" b="1" dirty="0">
                <a:solidFill>
                  <a:srgbClr val="5A6B7B"/>
                </a:solidFill>
                <a:latin typeface="Calibri" pitchFamily="34" charset="0"/>
                <a:ea typeface="Calibri" pitchFamily="34" charset="-122"/>
                <a:cs typeface="Calibri" pitchFamily="34" charset="-120"/>
              </a:rPr>
              <a:t>The usual approach</a:t>
            </a:r>
            <a:endParaRPr lang="en-US" sz="1450" dirty="0"/>
          </a:p>
        </p:txBody>
      </p:sp>
      <p:sp>
        <p:nvSpPr>
          <p:cNvPr id="6" name="Text 4"/>
          <p:cNvSpPr/>
          <p:nvPr/>
        </p:nvSpPr>
        <p:spPr>
          <a:xfrm>
            <a:off x="960120" y="2560320"/>
            <a:ext cx="4846320" cy="109728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Decide in advance which features of the brain trace might matter — a peak here, a band of power there — then measure those.</a:t>
            </a:r>
            <a:endParaRPr lang="en-US" sz="1400" dirty="0"/>
          </a:p>
        </p:txBody>
      </p:sp>
      <p:sp>
        <p:nvSpPr>
          <p:cNvPr id="7" name="Text 5"/>
          <p:cNvSpPr/>
          <p:nvPr/>
        </p:nvSpPr>
        <p:spPr>
          <a:xfrm>
            <a:off x="960120" y="3749040"/>
            <a:ext cx="4846320" cy="457200"/>
          </a:xfrm>
          <a:prstGeom prst="rect">
            <a:avLst/>
          </a:prstGeom>
          <a:noFill/>
          <a:ln/>
        </p:spPr>
        <p:txBody>
          <a:bodyPr wrap="square" lIns="0" tIns="0" rIns="0" bIns="0" rtlCol="0" anchor="ctr"/>
          <a:lstStyle/>
          <a:p>
            <a:pPr indent="0" marL="0">
              <a:buNone/>
            </a:pPr>
            <a:r>
              <a:rPr lang="en-US" sz="1250" i="1" dirty="0">
                <a:solidFill>
                  <a:srgbClr val="A44430"/>
                </a:solidFill>
                <a:latin typeface="Calibri" pitchFamily="34" charset="0"/>
                <a:ea typeface="Calibri" pitchFamily="34" charset="-122"/>
                <a:cs typeface="Calibri" pitchFamily="34" charset="-120"/>
              </a:rPr>
              <a:t>Whatever you didn't think of, you don't measure.</a:t>
            </a:r>
            <a:endParaRPr lang="en-US" sz="1250" dirty="0"/>
          </a:p>
        </p:txBody>
      </p:sp>
      <p:sp>
        <p:nvSpPr>
          <p:cNvPr id="8" name="Shape 6"/>
          <p:cNvSpPr/>
          <p:nvPr/>
        </p:nvSpPr>
        <p:spPr>
          <a:xfrm>
            <a:off x="6217920" y="1965960"/>
            <a:ext cx="5349240" cy="2377440"/>
          </a:xfrm>
          <a:prstGeom prst="roundRect">
            <a:avLst>
              <a:gd name="adj" fmla="val 3077"/>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6492240" y="2176272"/>
            <a:ext cx="45720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What we did instead</a:t>
            </a:r>
            <a:endParaRPr lang="en-US" sz="1450" dirty="0"/>
          </a:p>
        </p:txBody>
      </p:sp>
      <p:sp>
        <p:nvSpPr>
          <p:cNvPr id="10" name="Text 8"/>
          <p:cNvSpPr/>
          <p:nvPr/>
        </p:nvSpPr>
        <p:spPr>
          <a:xfrm>
            <a:off x="6492240" y="2560320"/>
            <a:ext cx="4846320" cy="118872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Let a network learn its own compact description of each trace, with no labels and no assumptions, then test what that description can predict.</a:t>
            </a:r>
            <a:endParaRPr lang="en-US" sz="1400" dirty="0"/>
          </a:p>
        </p:txBody>
      </p:sp>
      <p:sp>
        <p:nvSpPr>
          <p:cNvPr id="11" name="Text 9"/>
          <p:cNvSpPr/>
          <p:nvPr/>
        </p:nvSpPr>
        <p:spPr>
          <a:xfrm>
            <a:off x="6492240" y="3794760"/>
            <a:ext cx="4846320" cy="457200"/>
          </a:xfrm>
          <a:prstGeom prst="rect">
            <a:avLst/>
          </a:prstGeom>
          <a:noFill/>
          <a:ln/>
        </p:spPr>
        <p:txBody>
          <a:bodyPr wrap="square" lIns="0" tIns="0" rIns="0" bIns="0" rtlCol="0" anchor="ctr"/>
          <a:lstStyle/>
          <a:p>
            <a:pPr indent="0" marL="0">
              <a:buNone/>
            </a:pPr>
            <a:r>
              <a:rPr lang="en-US" sz="1250" i="1" dirty="0">
                <a:solidFill>
                  <a:srgbClr val="15718F"/>
                </a:solidFill>
                <a:latin typeface="Calibri" pitchFamily="34" charset="0"/>
                <a:ea typeface="Calibri" pitchFamily="34" charset="-122"/>
                <a:cs typeface="Calibri" pitchFamily="34" charset="-120"/>
              </a:rPr>
              <a:t>With 2.7 million trials, that is tractable.</a:t>
            </a:r>
            <a:endParaRPr lang="en-US" sz="1250" dirty="0"/>
          </a:p>
        </p:txBody>
      </p:sp>
      <p:sp>
        <p:nvSpPr>
          <p:cNvPr id="12" name="Shape 10"/>
          <p:cNvSpPr/>
          <p:nvPr/>
        </p:nvSpPr>
        <p:spPr>
          <a:xfrm>
            <a:off x="685800" y="4617720"/>
            <a:ext cx="10881360" cy="1371600"/>
          </a:xfrm>
          <a:prstGeom prst="roundRect">
            <a:avLst>
              <a:gd name="adj" fmla="val 5333"/>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4800600"/>
            <a:ext cx="5486400" cy="320040"/>
          </a:xfrm>
          <a:prstGeom prst="rect">
            <a:avLst/>
          </a:prstGeom>
          <a:noFill/>
          <a:ln/>
        </p:spPr>
        <p:txBody>
          <a:bodyPr wrap="square" lIns="0" tIns="0" rIns="0" bIns="0" rtlCol="0" anchor="ctr"/>
          <a:lstStyle/>
          <a:p>
            <a:pPr indent="0" marL="0">
              <a:buNone/>
            </a:pPr>
            <a:r>
              <a:rPr lang="en-US" sz="1400" b="1" dirty="0">
                <a:solidFill>
                  <a:srgbClr val="6B4E8F"/>
                </a:solidFill>
                <a:latin typeface="Calibri" pitchFamily="34" charset="0"/>
                <a:ea typeface="Calibri" pitchFamily="34" charset="-122"/>
                <a:cs typeface="Calibri" pitchFamily="34" charset="-120"/>
              </a:rPr>
              <a:t>The precedent</a:t>
            </a:r>
            <a:endParaRPr lang="en-US" sz="1400" dirty="0"/>
          </a:p>
        </p:txBody>
      </p:sp>
      <p:sp>
        <p:nvSpPr>
          <p:cNvPr id="14" name="Text 12"/>
          <p:cNvSpPr/>
          <p:nvPr/>
        </p:nvSpPr>
        <p:spPr>
          <a:xfrm>
            <a:off x="1005840" y="5138928"/>
            <a:ext cx="10241280" cy="77724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This mirrors what BrainBERT did for human intracranial recordings — learn a general representation of neural signal first, without labels, then use it for whatever downstream question you have. We use a much smaller model, because we have one channel and a 30 ms window rather than a whole electrode array.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2 · THE DATA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a single trial looks like</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500" dirty="0">
                <a:solidFill>
                  <a:srgbClr val="5A6B7B"/>
                </a:solidFill>
                <a:latin typeface="Calibri" pitchFamily="34" charset="0"/>
                <a:ea typeface="Calibri" pitchFamily="34" charset="-122"/>
                <a:cs typeface="Calibri" pitchFamily="34" charset="-120"/>
              </a:rPr>
              <a:t>Every shock produces one trial: a 30-millisecond window, two electrodes recorded at the same moment.</a:t>
            </a:r>
            <a:endParaRPr lang="en-US" sz="1500" dirty="0"/>
          </a:p>
        </p:txBody>
      </p:sp>
      <p:pic>
        <p:nvPicPr>
          <p:cNvPr id="5" name="Image 0" descr="/Users/suchithrao/Downloads/hroc-training/outputs/validate/avg_emg.png">    </p:cNvPr>
          <p:cNvPicPr>
            <a:picLocks noChangeAspect="1"/>
          </p:cNvPicPr>
          <p:nvPr/>
        </p:nvPicPr>
        <p:blipFill>
          <a:blip r:embed="rId1"/>
          <a:srcRect l="0" r="0" t="0" b="0"/>
          <a:stretch/>
        </p:blipFill>
        <p:spPr>
          <a:xfrm>
            <a:off x="685800" y="2148840"/>
            <a:ext cx="6400800" cy="3200400"/>
          </a:xfrm>
          <a:prstGeom prst="rect">
            <a:avLst/>
          </a:prstGeom>
        </p:spPr>
      </p:pic>
      <p:sp>
        <p:nvSpPr>
          <p:cNvPr id="6" name="Shape 3"/>
          <p:cNvSpPr/>
          <p:nvPr/>
        </p:nvSpPr>
        <p:spPr>
          <a:xfrm>
            <a:off x="7680960" y="2194560"/>
            <a:ext cx="3886200" cy="3200400"/>
          </a:xfrm>
          <a:prstGeom prst="roundRect">
            <a:avLst>
              <a:gd name="adj" fmla="val 2286"/>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7" name="Text 4"/>
          <p:cNvSpPr/>
          <p:nvPr/>
        </p:nvSpPr>
        <p:spPr>
          <a:xfrm>
            <a:off x="7955280" y="2395728"/>
            <a:ext cx="3291840" cy="320040"/>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Reading the trace</a:t>
            </a:r>
            <a:endParaRPr lang="en-US" sz="1400" dirty="0"/>
          </a:p>
        </p:txBody>
      </p:sp>
      <p:sp>
        <p:nvSpPr>
          <p:cNvPr id="8" name="Shape 5"/>
          <p:cNvSpPr/>
          <p:nvPr/>
        </p:nvSpPr>
        <p:spPr>
          <a:xfrm>
            <a:off x="7991856" y="2926080"/>
            <a:ext cx="155448" cy="155448"/>
          </a:xfrm>
          <a:prstGeom prst="ellipse">
            <a:avLst/>
          </a:prstGeom>
          <a:solidFill>
            <a:srgbClr val="9AA8B4"/>
          </a:solidFill>
          <a:ln/>
        </p:spPr>
      </p:sp>
      <p:sp>
        <p:nvSpPr>
          <p:cNvPr id="9" name="Text 6"/>
          <p:cNvSpPr/>
          <p:nvPr/>
        </p:nvSpPr>
        <p:spPr>
          <a:xfrm>
            <a:off x="8247888" y="2807208"/>
            <a:ext cx="3017520" cy="301752"/>
          </a:xfrm>
          <a:prstGeom prst="rect">
            <a:avLst/>
          </a:prstGeom>
          <a:noFill/>
          <a:ln/>
        </p:spPr>
        <p:txBody>
          <a:bodyPr wrap="square" lIns="0" tIns="0" rIns="0" bIns="0" rtlCol="0" anchor="ctr"/>
          <a:lstStyle/>
          <a:p>
            <a:pPr indent="0" marL="0">
              <a:buNone/>
            </a:pPr>
            <a:r>
              <a:rPr lang="en-US" sz="1250" b="1" dirty="0">
                <a:solidFill>
                  <a:srgbClr val="14212E"/>
                </a:solidFill>
                <a:latin typeface="Calibri" pitchFamily="34" charset="0"/>
                <a:ea typeface="Calibri" pitchFamily="34" charset="-122"/>
                <a:cs typeface="Calibri" pitchFamily="34" charset="-120"/>
              </a:rPr>
              <a:t>The spike at zero</a:t>
            </a:r>
            <a:endParaRPr lang="en-US" sz="1250" dirty="0"/>
          </a:p>
        </p:txBody>
      </p:sp>
      <p:sp>
        <p:nvSpPr>
          <p:cNvPr id="10" name="Text 7"/>
          <p:cNvSpPr/>
          <p:nvPr/>
        </p:nvSpPr>
        <p:spPr>
          <a:xfrm>
            <a:off x="8247888" y="3099816"/>
            <a:ext cx="3063240" cy="621792"/>
          </a:xfrm>
          <a:prstGeom prst="rect">
            <a:avLst/>
          </a:prstGeom>
          <a:noFill/>
          <a:ln/>
        </p:spPr>
        <p:txBody>
          <a:bodyPr wrap="square" lIns="0" tIns="0" rIns="0" bIns="0" rtlCol="0" anchor="ctr"/>
          <a:lstStyle/>
          <a:p>
            <a:pPr indent="0" marL="0">
              <a:lnSpc>
                <a:spcPct val="105000"/>
              </a:lnSpc>
              <a:buNone/>
            </a:pPr>
            <a:r>
              <a:rPr lang="en-US" sz="1150" dirty="0">
                <a:solidFill>
                  <a:srgbClr val="5A6B7B"/>
                </a:solidFill>
                <a:latin typeface="Calibri" pitchFamily="34" charset="0"/>
                <a:ea typeface="Calibri" pitchFamily="34" charset="-122"/>
                <a:cs typeface="Calibri" pitchFamily="34" charset="-120"/>
              </a:rPr>
              <a:t>the stimulus itself — an electrical artifact</a:t>
            </a:r>
            <a:endParaRPr lang="en-US" sz="1150" dirty="0"/>
          </a:p>
        </p:txBody>
      </p:sp>
      <p:sp>
        <p:nvSpPr>
          <p:cNvPr id="11" name="Shape 8"/>
          <p:cNvSpPr/>
          <p:nvPr/>
        </p:nvSpPr>
        <p:spPr>
          <a:xfrm>
            <a:off x="7991856" y="3858768"/>
            <a:ext cx="155448" cy="155448"/>
          </a:xfrm>
          <a:prstGeom prst="ellipse">
            <a:avLst/>
          </a:prstGeom>
          <a:solidFill>
            <a:srgbClr val="B4671A"/>
          </a:solidFill>
          <a:ln/>
        </p:spPr>
      </p:sp>
      <p:sp>
        <p:nvSpPr>
          <p:cNvPr id="12" name="Text 9"/>
          <p:cNvSpPr/>
          <p:nvPr/>
        </p:nvSpPr>
        <p:spPr>
          <a:xfrm>
            <a:off x="8247888" y="3739896"/>
            <a:ext cx="3017520" cy="301752"/>
          </a:xfrm>
          <a:prstGeom prst="rect">
            <a:avLst/>
          </a:prstGeom>
          <a:noFill/>
          <a:ln/>
        </p:spPr>
        <p:txBody>
          <a:bodyPr wrap="square" lIns="0" tIns="0" rIns="0" bIns="0" rtlCol="0" anchor="ctr"/>
          <a:lstStyle/>
          <a:p>
            <a:pPr indent="0" marL="0">
              <a:buNone/>
            </a:pPr>
            <a:r>
              <a:rPr lang="en-US" sz="1250" b="1" dirty="0">
                <a:solidFill>
                  <a:srgbClr val="14212E"/>
                </a:solidFill>
                <a:latin typeface="Calibri" pitchFamily="34" charset="0"/>
                <a:ea typeface="Calibri" pitchFamily="34" charset="-122"/>
                <a:cs typeface="Calibri" pitchFamily="34" charset="-120"/>
              </a:rPr>
              <a:t>M-wave, 2–4 ms</a:t>
            </a:r>
            <a:endParaRPr lang="en-US" sz="1250" dirty="0"/>
          </a:p>
        </p:txBody>
      </p:sp>
      <p:sp>
        <p:nvSpPr>
          <p:cNvPr id="13" name="Text 10"/>
          <p:cNvSpPr/>
          <p:nvPr/>
        </p:nvSpPr>
        <p:spPr>
          <a:xfrm>
            <a:off x="8247888" y="4032504"/>
            <a:ext cx="3063240" cy="621792"/>
          </a:xfrm>
          <a:prstGeom prst="rect">
            <a:avLst/>
          </a:prstGeom>
          <a:noFill/>
          <a:ln/>
        </p:spPr>
        <p:txBody>
          <a:bodyPr wrap="square" lIns="0" tIns="0" rIns="0" bIns="0" rtlCol="0" anchor="ctr"/>
          <a:lstStyle/>
          <a:p>
            <a:pPr indent="0" marL="0">
              <a:lnSpc>
                <a:spcPct val="105000"/>
              </a:lnSpc>
              <a:buNone/>
            </a:pPr>
            <a:r>
              <a:rPr lang="en-US" sz="1150" dirty="0">
                <a:solidFill>
                  <a:srgbClr val="5A6B7B"/>
                </a:solidFill>
                <a:latin typeface="Calibri" pitchFamily="34" charset="0"/>
                <a:ea typeface="Calibri" pitchFamily="34" charset="-122"/>
                <a:cs typeface="Calibri" pitchFamily="34" charset="-120"/>
              </a:rPr>
              <a:t>the nerve firing the muscle directly</a:t>
            </a:r>
            <a:endParaRPr lang="en-US" sz="1150" dirty="0"/>
          </a:p>
        </p:txBody>
      </p:sp>
      <p:sp>
        <p:nvSpPr>
          <p:cNvPr id="14" name="Shape 11"/>
          <p:cNvSpPr/>
          <p:nvPr/>
        </p:nvSpPr>
        <p:spPr>
          <a:xfrm>
            <a:off x="7991856" y="4791456"/>
            <a:ext cx="155448" cy="155448"/>
          </a:xfrm>
          <a:prstGeom prst="ellipse">
            <a:avLst/>
          </a:prstGeom>
          <a:solidFill>
            <a:srgbClr val="15718F"/>
          </a:solidFill>
          <a:ln/>
        </p:spPr>
      </p:sp>
      <p:sp>
        <p:nvSpPr>
          <p:cNvPr id="15" name="Text 12"/>
          <p:cNvSpPr/>
          <p:nvPr/>
        </p:nvSpPr>
        <p:spPr>
          <a:xfrm>
            <a:off x="8247888" y="4672584"/>
            <a:ext cx="3017520" cy="301752"/>
          </a:xfrm>
          <a:prstGeom prst="rect">
            <a:avLst/>
          </a:prstGeom>
          <a:noFill/>
          <a:ln/>
        </p:spPr>
        <p:txBody>
          <a:bodyPr wrap="square" lIns="0" tIns="0" rIns="0" bIns="0" rtlCol="0" anchor="ctr"/>
          <a:lstStyle/>
          <a:p>
            <a:pPr indent="0" marL="0">
              <a:buNone/>
            </a:pPr>
            <a:r>
              <a:rPr lang="en-US" sz="1250" b="1" dirty="0">
                <a:solidFill>
                  <a:srgbClr val="14212E"/>
                </a:solidFill>
                <a:latin typeface="Calibri" pitchFamily="34" charset="0"/>
                <a:ea typeface="Calibri" pitchFamily="34" charset="-122"/>
                <a:cs typeface="Calibri" pitchFamily="34" charset="-120"/>
              </a:rPr>
              <a:t>H-reflex, 6–9 ms</a:t>
            </a:r>
            <a:endParaRPr lang="en-US" sz="1250" dirty="0"/>
          </a:p>
        </p:txBody>
      </p:sp>
      <p:sp>
        <p:nvSpPr>
          <p:cNvPr id="16" name="Text 13"/>
          <p:cNvSpPr/>
          <p:nvPr/>
        </p:nvSpPr>
        <p:spPr>
          <a:xfrm>
            <a:off x="8247888" y="4965192"/>
            <a:ext cx="3063240" cy="621792"/>
          </a:xfrm>
          <a:prstGeom prst="rect">
            <a:avLst/>
          </a:prstGeom>
          <a:noFill/>
          <a:ln/>
        </p:spPr>
        <p:txBody>
          <a:bodyPr wrap="square" lIns="0" tIns="0" rIns="0" bIns="0" rtlCol="0" anchor="ctr"/>
          <a:lstStyle/>
          <a:p>
            <a:pPr indent="0" marL="0">
              <a:lnSpc>
                <a:spcPct val="105000"/>
              </a:lnSpc>
              <a:buNone/>
            </a:pPr>
            <a:r>
              <a:rPr lang="en-US" sz="1150" dirty="0">
                <a:solidFill>
                  <a:srgbClr val="5A6B7B"/>
                </a:solidFill>
                <a:latin typeface="Calibri" pitchFamily="34" charset="0"/>
                <a:ea typeface="Calibri" pitchFamily="34" charset="-122"/>
                <a:cs typeface="Calibri" pitchFamily="34" charset="-120"/>
              </a:rPr>
              <a:t>the signal that travelled to the spinal cord and back — this is what conditioning changes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2 · THE DATA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First problem: the archive would not decode</a:t>
            </a:r>
            <a:endParaRPr lang="en-US" sz="3000" dirty="0"/>
          </a:p>
        </p:txBody>
      </p:sp>
      <p:sp>
        <p:nvSpPr>
          <p:cNvPr id="4" name="Shape 2"/>
          <p:cNvSpPr/>
          <p:nvPr/>
        </p:nvSpPr>
        <p:spPr>
          <a:xfrm>
            <a:off x="685800" y="2011680"/>
            <a:ext cx="3566160" cy="2651760"/>
          </a:xfrm>
          <a:prstGeom prst="roundRect">
            <a:avLst>
              <a:gd name="adj" fmla="val 2759"/>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78408" y="2240280"/>
            <a:ext cx="3017520" cy="411480"/>
          </a:xfrm>
          <a:prstGeom prst="rect">
            <a:avLst/>
          </a:prstGeom>
          <a:noFill/>
          <a:ln/>
        </p:spPr>
        <p:txBody>
          <a:bodyPr wrap="square" lIns="0" tIns="0" rIns="0" bIns="0" rtlCol="0" anchor="ctr"/>
          <a:lstStyle/>
          <a:p>
            <a:pPr indent="0" marL="0">
              <a:buNone/>
            </a:pPr>
            <a:r>
              <a:rPr lang="en-US" sz="1450" b="1" dirty="0">
                <a:solidFill>
                  <a:srgbClr val="5A6B7B"/>
                </a:solidFill>
                <a:latin typeface="Calibri" pitchFamily="34" charset="0"/>
                <a:ea typeface="Calibri" pitchFamily="34" charset="-122"/>
                <a:cs typeface="Calibri" pitchFamily="34" charset="-120"/>
              </a:rPr>
              <a:t>What we were given</a:t>
            </a:r>
            <a:endParaRPr lang="en-US" sz="1450" dirty="0"/>
          </a:p>
        </p:txBody>
      </p:sp>
      <p:sp>
        <p:nvSpPr>
          <p:cNvPr id="6" name="Text 4"/>
          <p:cNvSpPr/>
          <p:nvPr/>
        </p:nvSpPr>
        <p:spPr>
          <a:xfrm>
            <a:off x="978408" y="2743200"/>
            <a:ext cx="3017520" cy="1645920"/>
          </a:xfrm>
          <a:prstGeom prst="rect">
            <a:avLst/>
          </a:prstGeom>
          <a:noFill/>
          <a:ln/>
        </p:spPr>
        <p:txBody>
          <a:bodyPr wrap="square" lIns="0" tIns="0" rIns="0" bIns="0" rtlCol="0" anchor="ctr"/>
          <a:lstStyle/>
          <a:p>
            <a:pPr indent="0" marL="0">
              <a:lnSpc>
                <a:spcPct val="108000"/>
              </a:lnSpc>
              <a:buNone/>
            </a:pPr>
            <a:r>
              <a:rPr lang="en-US" sz="1350" dirty="0">
                <a:solidFill>
                  <a:srgbClr val="14212E"/>
                </a:solidFill>
                <a:latin typeface="Calibri" pitchFamily="34" charset="0"/>
                <a:ea typeface="Calibri" pitchFamily="34" charset="-122"/>
                <a:cs typeface="Calibri" pitchFamily="34" charset="-120"/>
              </a:rPr>
              <a:t>2006 MySQL tables and a decoder script. The script documented the byte order as big-endian.</a:t>
            </a:r>
            <a:endParaRPr lang="en-US" sz="1350" dirty="0"/>
          </a:p>
        </p:txBody>
      </p:sp>
      <p:sp>
        <p:nvSpPr>
          <p:cNvPr id="7" name="Shape 5"/>
          <p:cNvSpPr/>
          <p:nvPr/>
        </p:nvSpPr>
        <p:spPr>
          <a:xfrm>
            <a:off x="4416552" y="2011680"/>
            <a:ext cx="3566160" cy="2651760"/>
          </a:xfrm>
          <a:prstGeom prst="roundRect">
            <a:avLst>
              <a:gd name="adj" fmla="val 2759"/>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4709160" y="2240280"/>
            <a:ext cx="3017520" cy="411480"/>
          </a:xfrm>
          <a:prstGeom prst="rect">
            <a:avLst/>
          </a:prstGeom>
          <a:noFill/>
          <a:ln/>
        </p:spPr>
        <p:txBody>
          <a:bodyPr wrap="square" lIns="0" tIns="0" rIns="0" bIns="0" rtlCol="0" anchor="ctr"/>
          <a:lstStyle/>
          <a:p>
            <a:pPr indent="0" marL="0">
              <a:buNone/>
            </a:pPr>
            <a:r>
              <a:rPr lang="en-US" sz="1450" b="1" dirty="0">
                <a:solidFill>
                  <a:srgbClr val="A44430"/>
                </a:solidFill>
                <a:latin typeface="Calibri" pitchFamily="34" charset="0"/>
                <a:ea typeface="Calibri" pitchFamily="34" charset="-122"/>
                <a:cs typeface="Calibri" pitchFamily="34" charset="-120"/>
              </a:rPr>
              <a:t>What happened</a:t>
            </a:r>
            <a:endParaRPr lang="en-US" sz="1450" dirty="0"/>
          </a:p>
        </p:txBody>
      </p:sp>
      <p:sp>
        <p:nvSpPr>
          <p:cNvPr id="9" name="Text 7"/>
          <p:cNvSpPr/>
          <p:nvPr/>
        </p:nvSpPr>
        <p:spPr>
          <a:xfrm>
            <a:off x="4709160" y="2743200"/>
            <a:ext cx="3017520" cy="1645920"/>
          </a:xfrm>
          <a:prstGeom prst="rect">
            <a:avLst/>
          </a:prstGeom>
          <a:noFill/>
          <a:ln/>
        </p:spPr>
        <p:txBody>
          <a:bodyPr wrap="square" lIns="0" tIns="0" rIns="0" bIns="0" rtlCol="0" anchor="ctr"/>
          <a:lstStyle/>
          <a:p>
            <a:pPr indent="0" marL="0">
              <a:lnSpc>
                <a:spcPct val="108000"/>
              </a:lnSpc>
              <a:buNone/>
            </a:pPr>
            <a:r>
              <a:rPr lang="en-US" sz="1350" dirty="0">
                <a:solidFill>
                  <a:srgbClr val="14212E"/>
                </a:solidFill>
                <a:latin typeface="Calibri" pitchFamily="34" charset="0"/>
                <a:ea typeface="Calibri" pitchFamily="34" charset="-122"/>
                <a:cs typeface="Calibri" pitchFamily="34" charset="-120"/>
              </a:rPr>
              <a:t>Decoded as documented, every trial came out as noise. No M-wave, no reflex, nothing.</a:t>
            </a:r>
            <a:endParaRPr lang="en-US" sz="1350" dirty="0"/>
          </a:p>
        </p:txBody>
      </p:sp>
      <p:sp>
        <p:nvSpPr>
          <p:cNvPr id="10" name="Shape 8"/>
          <p:cNvSpPr/>
          <p:nvPr/>
        </p:nvSpPr>
        <p:spPr>
          <a:xfrm>
            <a:off x="8147304" y="2011680"/>
            <a:ext cx="3566160" cy="2651760"/>
          </a:xfrm>
          <a:prstGeom prst="roundRect">
            <a:avLst>
              <a:gd name="adj" fmla="val 2759"/>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Text 9"/>
          <p:cNvSpPr/>
          <p:nvPr/>
        </p:nvSpPr>
        <p:spPr>
          <a:xfrm>
            <a:off x="8439912" y="2240280"/>
            <a:ext cx="3017520" cy="411480"/>
          </a:xfrm>
          <a:prstGeom prst="rect">
            <a:avLst/>
          </a:prstGeom>
          <a:noFill/>
          <a:ln/>
        </p:spPr>
        <p:txBody>
          <a:bodyPr wrap="square" lIns="0" tIns="0" rIns="0" bIns="0" rtlCol="0" anchor="ctr"/>
          <a:lstStyle/>
          <a:p>
            <a:pPr indent="0" marL="0">
              <a:buNone/>
            </a:pPr>
            <a:r>
              <a:rPr lang="en-US" sz="1450" b="1" dirty="0">
                <a:solidFill>
                  <a:srgbClr val="3B6E43"/>
                </a:solidFill>
                <a:latin typeface="Calibri" pitchFamily="34" charset="0"/>
                <a:ea typeface="Calibri" pitchFamily="34" charset="-122"/>
                <a:cs typeface="Calibri" pitchFamily="34" charset="-120"/>
              </a:rPr>
              <a:t>What was wrong</a:t>
            </a:r>
            <a:endParaRPr lang="en-US" sz="1450" dirty="0"/>
          </a:p>
        </p:txBody>
      </p:sp>
      <p:sp>
        <p:nvSpPr>
          <p:cNvPr id="12" name="Text 10"/>
          <p:cNvSpPr/>
          <p:nvPr/>
        </p:nvSpPr>
        <p:spPr>
          <a:xfrm>
            <a:off x="8439912" y="2743200"/>
            <a:ext cx="3017520" cy="1645920"/>
          </a:xfrm>
          <a:prstGeom prst="rect">
            <a:avLst/>
          </a:prstGeom>
          <a:noFill/>
          <a:ln/>
        </p:spPr>
        <p:txBody>
          <a:bodyPr wrap="square" lIns="0" tIns="0" rIns="0" bIns="0" rtlCol="0" anchor="ctr"/>
          <a:lstStyle/>
          <a:p>
            <a:pPr indent="0" marL="0">
              <a:lnSpc>
                <a:spcPct val="108000"/>
              </a:lnSpc>
              <a:buNone/>
            </a:pPr>
            <a:r>
              <a:rPr lang="en-US" sz="1350" dirty="0">
                <a:solidFill>
                  <a:srgbClr val="14212E"/>
                </a:solidFill>
                <a:latin typeface="Calibri" pitchFamily="34" charset="0"/>
                <a:ea typeface="Calibri" pitchFamily="34" charset="-122"/>
                <a:cs typeface="Calibri" pitchFamily="34" charset="-120"/>
              </a:rPr>
              <a:t>The files are little-endian. One flag. Flip it and the physiology appears exactly where the experimenters' own notes said it would.</a:t>
            </a:r>
            <a:endParaRPr lang="en-US" sz="1350" dirty="0"/>
          </a:p>
        </p:txBody>
      </p:sp>
      <p:sp>
        <p:nvSpPr>
          <p:cNvPr id="13" name="Shape 11"/>
          <p:cNvSpPr/>
          <p:nvPr/>
        </p:nvSpPr>
        <p:spPr>
          <a:xfrm>
            <a:off x="685800" y="4892040"/>
            <a:ext cx="10881360" cy="1234440"/>
          </a:xfrm>
          <a:prstGeom prst="roundRect">
            <a:avLst>
              <a:gd name="adj" fmla="val 5926"/>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51560" y="5074920"/>
            <a:ext cx="7315200" cy="320040"/>
          </a:xfrm>
          <a:prstGeom prst="rect">
            <a:avLst/>
          </a:prstGeom>
          <a:noFill/>
          <a:ln/>
        </p:spPr>
        <p:txBody>
          <a:bodyPr wrap="square" lIns="0" tIns="0" rIns="0" bIns="0" rtlCol="0" anchor="ctr"/>
          <a:lstStyle/>
          <a:p>
            <a:pPr indent="0" marL="0">
              <a:buNone/>
            </a:pPr>
            <a:r>
              <a:rPr lang="en-US" sz="1400" b="1" dirty="0">
                <a:solidFill>
                  <a:srgbClr val="7FB8C9"/>
                </a:solidFill>
                <a:latin typeface="Calibri" pitchFamily="34" charset="0"/>
                <a:ea typeface="Calibri" pitchFamily="34" charset="-122"/>
                <a:cs typeface="Calibri" pitchFamily="34" charset="-120"/>
              </a:rPr>
              <a:t>How we knew we had it right</a:t>
            </a:r>
            <a:endParaRPr lang="en-US" sz="1400" dirty="0"/>
          </a:p>
        </p:txBody>
      </p:sp>
      <p:sp>
        <p:nvSpPr>
          <p:cNvPr id="15" name="Text 13"/>
          <p:cNvSpPr/>
          <p:nvPr/>
        </p:nvSpPr>
        <p:spPr>
          <a:xfrm>
            <a:off x="1051560" y="5413248"/>
            <a:ext cx="10149840" cy="640080"/>
          </a:xfrm>
          <a:prstGeom prst="rect">
            <a:avLst/>
          </a:prstGeom>
          <a:noFill/>
          <a:ln/>
        </p:spPr>
        <p:txBody>
          <a:bodyPr wrap="square" lIns="0" tIns="0" rIns="0" bIns="0" rtlCol="0" anchor="ctr"/>
          <a:lstStyle/>
          <a:p>
            <a:pPr indent="0" marL="0">
              <a:lnSpc>
                <a:spcPct val="106000"/>
              </a:lnSpc>
              <a:buNone/>
            </a:pPr>
            <a:r>
              <a:rPr lang="en-US" sz="1350" dirty="0">
                <a:solidFill>
                  <a:srgbClr val="D5DFE7"/>
                </a:solidFill>
                <a:latin typeface="Calibri" pitchFamily="34" charset="0"/>
                <a:ea typeface="Calibri" pitchFamily="34" charset="-122"/>
                <a:cs typeface="Calibri" pitchFamily="34" charset="-120"/>
              </a:rPr>
              <a:t>Not because it looked plausible — because the M-wave and H-reflex landed at exactly the latencies the experimenter had typed into the log in 2006: “MR interval 2-4; HR interval 6-9”. The data confirmed the notes and the notes confirmed the data.</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2 · THE DATA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Six animals, 2.7 million trials</a:t>
            </a:r>
            <a:endParaRPr lang="en-US" sz="3000" dirty="0"/>
          </a:p>
        </p:txBody>
      </p:sp>
      <p:sp>
        <p:nvSpPr>
          <p:cNvPr id="4" name="Shape 2"/>
          <p:cNvSpPr/>
          <p:nvPr/>
        </p:nvSpPr>
        <p:spPr>
          <a:xfrm>
            <a:off x="68580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685800" y="2084832"/>
            <a:ext cx="2651760" cy="777240"/>
          </a:xfrm>
          <a:prstGeom prst="rect">
            <a:avLst/>
          </a:prstGeom>
          <a:noFill/>
          <a:ln/>
        </p:spPr>
        <p:txBody>
          <a:bodyPr wrap="square" lIns="0" tIns="0" rIns="0" bIns="0" rtlCol="0" anchor="ctr"/>
          <a:lstStyle/>
          <a:p>
            <a:pPr algn="ctr" indent="0" marL="0">
              <a:buNone/>
            </a:pPr>
            <a:r>
              <a:rPr lang="en-US" sz="3300" b="1" dirty="0">
                <a:solidFill>
                  <a:srgbClr val="15718F"/>
                </a:solidFill>
                <a:latin typeface="Cambria" pitchFamily="34" charset="0"/>
                <a:ea typeface="Cambria" pitchFamily="34" charset="-122"/>
                <a:cs typeface="Cambria" pitchFamily="34" charset="-120"/>
              </a:rPr>
              <a:t>2.7M</a:t>
            </a:r>
            <a:endParaRPr lang="en-US" sz="3300" dirty="0"/>
          </a:p>
        </p:txBody>
      </p:sp>
      <p:sp>
        <p:nvSpPr>
          <p:cNvPr id="6" name="Text 4"/>
          <p:cNvSpPr/>
          <p:nvPr/>
        </p:nvSpPr>
        <p:spPr>
          <a:xfrm>
            <a:off x="685800" y="2852928"/>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trials decoded</a:t>
            </a:r>
            <a:endParaRPr lang="en-US" sz="1250" dirty="0"/>
          </a:p>
        </p:txBody>
      </p:sp>
      <p:sp>
        <p:nvSpPr>
          <p:cNvPr id="7" name="Shape 5"/>
          <p:cNvSpPr/>
          <p:nvPr/>
        </p:nvSpPr>
        <p:spPr>
          <a:xfrm>
            <a:off x="347472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3474720" y="2084832"/>
            <a:ext cx="2651760" cy="777240"/>
          </a:xfrm>
          <a:prstGeom prst="rect">
            <a:avLst/>
          </a:prstGeom>
          <a:noFill/>
          <a:ln/>
        </p:spPr>
        <p:txBody>
          <a:bodyPr wrap="square" lIns="0" tIns="0" rIns="0" bIns="0" rtlCol="0" anchor="ctr"/>
          <a:lstStyle/>
          <a:p>
            <a:pPr algn="ctr" indent="0" marL="0">
              <a:buNone/>
            </a:pPr>
            <a:r>
              <a:rPr lang="en-US" sz="3300" b="1" dirty="0">
                <a:solidFill>
                  <a:srgbClr val="15718F"/>
                </a:solidFill>
                <a:latin typeface="Cambria" pitchFamily="34" charset="0"/>
                <a:ea typeface="Cambria" pitchFamily="34" charset="-122"/>
                <a:cs typeface="Cambria" pitchFamily="34" charset="-120"/>
              </a:rPr>
              <a:t>6</a:t>
            </a:r>
            <a:endParaRPr lang="en-US" sz="3300" dirty="0"/>
          </a:p>
        </p:txBody>
      </p:sp>
      <p:sp>
        <p:nvSpPr>
          <p:cNvPr id="9" name="Text 7"/>
          <p:cNvSpPr/>
          <p:nvPr/>
        </p:nvSpPr>
        <p:spPr>
          <a:xfrm>
            <a:off x="3474720" y="2852928"/>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animals</a:t>
            </a:r>
            <a:endParaRPr lang="en-US" sz="1250" dirty="0"/>
          </a:p>
        </p:txBody>
      </p:sp>
      <p:sp>
        <p:nvSpPr>
          <p:cNvPr id="10" name="Shape 8"/>
          <p:cNvSpPr/>
          <p:nvPr/>
        </p:nvSpPr>
        <p:spPr>
          <a:xfrm>
            <a:off x="626364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Text 9"/>
          <p:cNvSpPr/>
          <p:nvPr/>
        </p:nvSpPr>
        <p:spPr>
          <a:xfrm>
            <a:off x="6263640" y="2084832"/>
            <a:ext cx="2651760" cy="777240"/>
          </a:xfrm>
          <a:prstGeom prst="rect">
            <a:avLst/>
          </a:prstGeom>
          <a:noFill/>
          <a:ln/>
        </p:spPr>
        <p:txBody>
          <a:bodyPr wrap="square" lIns="0" tIns="0" rIns="0" bIns="0" rtlCol="0" anchor="ctr"/>
          <a:lstStyle/>
          <a:p>
            <a:pPr algn="ctr" indent="0" marL="0">
              <a:buNone/>
            </a:pPr>
            <a:r>
              <a:rPr lang="en-US" sz="3300" b="1" dirty="0">
                <a:solidFill>
                  <a:srgbClr val="B4671A"/>
                </a:solidFill>
                <a:latin typeface="Cambria" pitchFamily="34" charset="0"/>
                <a:ea typeface="Cambria" pitchFamily="34" charset="-122"/>
                <a:cs typeface="Cambria" pitchFamily="34" charset="-120"/>
              </a:rPr>
              <a:t>3 / 3</a:t>
            </a:r>
            <a:endParaRPr lang="en-US" sz="3300" dirty="0"/>
          </a:p>
        </p:txBody>
      </p:sp>
      <p:sp>
        <p:nvSpPr>
          <p:cNvPr id="12" name="Text 10"/>
          <p:cNvSpPr/>
          <p:nvPr/>
        </p:nvSpPr>
        <p:spPr>
          <a:xfrm>
            <a:off x="6263640" y="2852928"/>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down / up</a:t>
            </a:r>
            <a:endParaRPr lang="en-US" sz="1250" dirty="0"/>
          </a:p>
        </p:txBody>
      </p:sp>
      <p:sp>
        <p:nvSpPr>
          <p:cNvPr id="13" name="Shape 11"/>
          <p:cNvSpPr/>
          <p:nvPr/>
        </p:nvSpPr>
        <p:spPr>
          <a:xfrm>
            <a:off x="905256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9052560" y="2084832"/>
            <a:ext cx="2651760" cy="777240"/>
          </a:xfrm>
          <a:prstGeom prst="rect">
            <a:avLst/>
          </a:prstGeom>
          <a:noFill/>
          <a:ln/>
        </p:spPr>
        <p:txBody>
          <a:bodyPr wrap="square" lIns="0" tIns="0" rIns="0" bIns="0" rtlCol="0" anchor="ctr"/>
          <a:lstStyle/>
          <a:p>
            <a:pPr algn="ctr" indent="0" marL="0">
              <a:buNone/>
            </a:pPr>
            <a:r>
              <a:rPr lang="en-US" sz="3300" b="1" dirty="0">
                <a:solidFill>
                  <a:srgbClr val="3B6E43"/>
                </a:solidFill>
                <a:latin typeface="Cambria" pitchFamily="34" charset="0"/>
                <a:ea typeface="Cambria" pitchFamily="34" charset="-122"/>
                <a:cs typeface="Cambria" pitchFamily="34" charset="-120"/>
              </a:rPr>
              <a:t>45–210</a:t>
            </a:r>
            <a:endParaRPr lang="en-US" sz="3300" dirty="0"/>
          </a:p>
        </p:txBody>
      </p:sp>
      <p:sp>
        <p:nvSpPr>
          <p:cNvPr id="15" name="Text 13"/>
          <p:cNvSpPr/>
          <p:nvPr/>
        </p:nvSpPr>
        <p:spPr>
          <a:xfrm>
            <a:off x="9052560" y="2852928"/>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days each</a:t>
            </a:r>
            <a:endParaRPr lang="en-US" sz="1250" dirty="0"/>
          </a:p>
        </p:txBody>
      </p:sp>
      <p:sp>
        <p:nvSpPr>
          <p:cNvPr id="16" name="Shape 14"/>
          <p:cNvSpPr/>
          <p:nvPr/>
        </p:nvSpPr>
        <p:spPr>
          <a:xfrm>
            <a:off x="685800" y="3794760"/>
            <a:ext cx="10881360" cy="1417320"/>
          </a:xfrm>
          <a:prstGeom prst="roundRect">
            <a:avLst>
              <a:gd name="adj" fmla="val 5161"/>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3977640"/>
            <a:ext cx="82296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Choosing which animals to download, without downloading them</a:t>
            </a:r>
            <a:endParaRPr lang="en-US" sz="1450" dirty="0"/>
          </a:p>
        </p:txBody>
      </p:sp>
      <p:sp>
        <p:nvSpPr>
          <p:cNvPr id="18" name="Text 16"/>
          <p:cNvSpPr/>
          <p:nvPr/>
        </p:nvSpPr>
        <p:spPr>
          <a:xfrm>
            <a:off x="1005840" y="4315968"/>
            <a:ext cx="10241280" cy="82296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The log files are a few hundred kilobytes; the signal data is four gigabytes an animal. The experimenter raises the reward threshold whenever the rat starts beating it, so the threshold history is a written record of how the animal was doing. We read only the logs, then downloaded signal data for the animals that had actually learned.</a:t>
            </a:r>
            <a:endParaRPr lang="en-US" sz="1350" dirty="0"/>
          </a:p>
        </p:txBody>
      </p:sp>
      <p:sp>
        <p:nvSpPr>
          <p:cNvPr id="19" name="Shape 17"/>
          <p:cNvSpPr/>
          <p:nvPr/>
        </p:nvSpPr>
        <p:spPr>
          <a:xfrm>
            <a:off x="685800" y="5394960"/>
            <a:ext cx="10881360" cy="822960"/>
          </a:xfrm>
          <a:prstGeom prst="roundRect">
            <a:avLst>
              <a:gd name="adj" fmla="val 8889"/>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1005840" y="5532120"/>
            <a:ext cx="10241280" cy="548640"/>
          </a:xfrm>
          <a:prstGeom prst="rect">
            <a:avLst/>
          </a:prstGeom>
          <a:noFill/>
          <a:ln/>
        </p:spPr>
        <p:txBody>
          <a:bodyPr wrap="square" lIns="0" tIns="0" rIns="0" bIns="0" rtlCol="0" anchor="ctr"/>
          <a:lstStyle/>
          <a:p>
            <a:pPr indent="0" marL="0">
              <a:buNone/>
            </a:pPr>
            <a:r>
              <a:rPr lang="en-US" sz="1350" b="1" dirty="0">
                <a:solidFill>
                  <a:srgbClr val="B4671A"/>
                </a:solidFill>
                <a:latin typeface="Calibri" pitchFamily="34" charset="0"/>
                <a:ea typeface="Calibri" pitchFamily="34" charset="-122"/>
                <a:cs typeface="Calibri" pitchFamily="34" charset="-120"/>
              </a:rPr>
              <a:t>One animal excluded.  </a:t>
            </a:r>
            <a:pPr indent="0" marL="0">
              <a:buNone/>
            </a:pPr>
            <a:r>
              <a:rPr lang="en-US" sz="1350" dirty="0">
                <a:solidFill>
                  <a:srgbClr val="14212E"/>
                </a:solidFill>
                <a:latin typeface="Calibri" pitchFamily="34" charset="0"/>
                <a:ea typeface="Calibri" pitchFamily="34" charset="-122"/>
                <a:cs typeface="Calibri" pitchFamily="34" charset="-120"/>
              </a:rPr>
              <a:t>A12's pre-stimulus cortical signal is 2.8 µV against 106–128 µV in the others — that electrode was dead.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pipeline, end to end</a:t>
            </a:r>
            <a:endParaRPr lang="en-US" sz="3000" dirty="0"/>
          </a:p>
        </p:txBody>
      </p:sp>
      <p:pic>
        <p:nvPicPr>
          <p:cNvPr id="4" name="Image 0" descr="/Users/suchithrao/Downloads/hroc-training/outputs/diagrams/pipeline.png">    </p:cNvPr>
          <p:cNvPicPr>
            <a:picLocks noChangeAspect="1"/>
          </p:cNvPicPr>
          <p:nvPr/>
        </p:nvPicPr>
        <p:blipFill>
          <a:blip r:embed="rId1"/>
          <a:srcRect l="0" r="0" t="0" b="0"/>
          <a:stretch/>
        </p:blipFill>
        <p:spPr>
          <a:xfrm>
            <a:off x="685800" y="1874520"/>
            <a:ext cx="10881360" cy="368859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the model actually is</a:t>
            </a:r>
            <a:endParaRPr lang="en-US" sz="3000" dirty="0"/>
          </a:p>
        </p:txBody>
      </p:sp>
      <p:pic>
        <p:nvPicPr>
          <p:cNvPr id="4" name="Image 0" descr="/Users/suchithrao/Downloads/hroc-training/outputs/diagrams/autoencoder.png">    </p:cNvPr>
          <p:cNvPicPr>
            <a:picLocks noChangeAspect="1"/>
          </p:cNvPicPr>
          <p:nvPr/>
        </p:nvPicPr>
        <p:blipFill>
          <a:blip r:embed="rId1"/>
          <a:srcRect l="0" r="0" t="0" b="0"/>
          <a:stretch/>
        </p:blipFill>
        <p:spPr>
          <a:xfrm>
            <a:off x="1147572" y="1783080"/>
            <a:ext cx="9957816" cy="411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Training it, and the one trap we avoided</a:t>
            </a:r>
            <a:endParaRPr lang="en-US" sz="3000" dirty="0"/>
          </a:p>
        </p:txBody>
      </p:sp>
      <p:sp>
        <p:nvSpPr>
          <p:cNvPr id="4" name="Shape 2"/>
          <p:cNvSpPr/>
          <p:nvPr/>
        </p:nvSpPr>
        <p:spPr>
          <a:xfrm>
            <a:off x="685800" y="1920240"/>
            <a:ext cx="5349240" cy="2148840"/>
          </a:xfrm>
          <a:prstGeom prst="roundRect">
            <a:avLst>
              <a:gd name="adj" fmla="val 3404"/>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21408"/>
            <a:ext cx="4572000" cy="320040"/>
          </a:xfrm>
          <a:prstGeom prst="rect">
            <a:avLst/>
          </a:prstGeom>
          <a:noFill/>
          <a:ln/>
        </p:spPr>
        <p:txBody>
          <a:bodyPr wrap="square" lIns="0" tIns="0" rIns="0" bIns="0" rtlCol="0" anchor="ctr"/>
          <a:lstStyle/>
          <a:p>
            <a:pPr indent="0" marL="0">
              <a:buNone/>
            </a:pPr>
            <a:r>
              <a:rPr lang="en-US" sz="1450" b="1" dirty="0">
                <a:solidFill>
                  <a:srgbClr val="6B4E8F"/>
                </a:solidFill>
                <a:latin typeface="Calibri" pitchFamily="34" charset="0"/>
                <a:ea typeface="Calibri" pitchFamily="34" charset="-122"/>
                <a:cs typeface="Calibri" pitchFamily="34" charset="-120"/>
              </a:rPr>
              <a:t>How it was trained</a:t>
            </a:r>
            <a:endParaRPr lang="en-US" sz="1450" dirty="0"/>
          </a:p>
        </p:txBody>
      </p:sp>
      <p:sp>
        <p:nvSpPr>
          <p:cNvPr id="6" name="Text 4"/>
          <p:cNvSpPr/>
          <p:nvPr/>
        </p:nvSpPr>
        <p:spPr>
          <a:xfrm>
            <a:off x="960120" y="2514600"/>
            <a:ext cx="1828800" cy="29260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600,000</a:t>
            </a:r>
            <a:endParaRPr lang="en-US" sz="1300" dirty="0"/>
          </a:p>
        </p:txBody>
      </p:sp>
      <p:sp>
        <p:nvSpPr>
          <p:cNvPr id="7" name="Text 5"/>
          <p:cNvSpPr/>
          <p:nvPr/>
        </p:nvSpPr>
        <p:spPr>
          <a:xfrm>
            <a:off x="2834640" y="2514600"/>
            <a:ext cx="3017520" cy="292608"/>
          </a:xfrm>
          <a:prstGeom prst="rect">
            <a:avLst/>
          </a:prstGeom>
          <a:noFill/>
          <a:ln/>
        </p:spPr>
        <p:txBody>
          <a:bodyPr wrap="square" lIns="0" tIns="0" rIns="0" bIns="0" rtlCol="0" anchor="ctr"/>
          <a:lstStyle/>
          <a:p>
            <a:pPr indent="0" marL="0">
              <a:buNone/>
            </a:pPr>
            <a:r>
              <a:rPr lang="en-US" sz="1250" dirty="0">
                <a:solidFill>
                  <a:srgbClr val="5A6B7B"/>
                </a:solidFill>
                <a:latin typeface="Calibri" pitchFamily="34" charset="0"/>
                <a:ea typeface="Calibri" pitchFamily="34" charset="-122"/>
                <a:cs typeface="Calibri" pitchFamily="34" charset="-120"/>
              </a:rPr>
              <a:t>trials pooled across five animals</a:t>
            </a:r>
            <a:endParaRPr lang="en-US" sz="1250" dirty="0"/>
          </a:p>
        </p:txBody>
      </p:sp>
      <p:sp>
        <p:nvSpPr>
          <p:cNvPr id="8" name="Text 6"/>
          <p:cNvSpPr/>
          <p:nvPr/>
        </p:nvSpPr>
        <p:spPr>
          <a:xfrm>
            <a:off x="960120" y="2898648"/>
            <a:ext cx="1828800" cy="29260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12</a:t>
            </a:r>
            <a:endParaRPr lang="en-US" sz="1300" dirty="0"/>
          </a:p>
        </p:txBody>
      </p:sp>
      <p:sp>
        <p:nvSpPr>
          <p:cNvPr id="9" name="Text 7"/>
          <p:cNvSpPr/>
          <p:nvPr/>
        </p:nvSpPr>
        <p:spPr>
          <a:xfrm>
            <a:off x="2834640" y="2898648"/>
            <a:ext cx="3017520" cy="292608"/>
          </a:xfrm>
          <a:prstGeom prst="rect">
            <a:avLst/>
          </a:prstGeom>
          <a:noFill/>
          <a:ln/>
        </p:spPr>
        <p:txBody>
          <a:bodyPr wrap="square" lIns="0" tIns="0" rIns="0" bIns="0" rtlCol="0" anchor="ctr"/>
          <a:lstStyle/>
          <a:p>
            <a:pPr indent="0" marL="0">
              <a:buNone/>
            </a:pPr>
            <a:r>
              <a:rPr lang="en-US" sz="1250" dirty="0">
                <a:solidFill>
                  <a:srgbClr val="5A6B7B"/>
                </a:solidFill>
                <a:latin typeface="Calibri" pitchFamily="34" charset="0"/>
                <a:ea typeface="Calibri" pitchFamily="34" charset="-122"/>
                <a:cs typeface="Calibri" pitchFamily="34" charset="-120"/>
              </a:rPr>
              <a:t>passes through the data</a:t>
            </a:r>
            <a:endParaRPr lang="en-US" sz="1250" dirty="0"/>
          </a:p>
        </p:txBody>
      </p:sp>
      <p:sp>
        <p:nvSpPr>
          <p:cNvPr id="10" name="Text 8"/>
          <p:cNvSpPr/>
          <p:nvPr/>
        </p:nvSpPr>
        <p:spPr>
          <a:xfrm>
            <a:off x="960120" y="3282696"/>
            <a:ext cx="1828800" cy="29260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~4 min</a:t>
            </a:r>
            <a:endParaRPr lang="en-US" sz="1300" dirty="0"/>
          </a:p>
        </p:txBody>
      </p:sp>
      <p:sp>
        <p:nvSpPr>
          <p:cNvPr id="11" name="Text 9"/>
          <p:cNvSpPr/>
          <p:nvPr/>
        </p:nvSpPr>
        <p:spPr>
          <a:xfrm>
            <a:off x="2834640" y="3282696"/>
            <a:ext cx="3017520" cy="292608"/>
          </a:xfrm>
          <a:prstGeom prst="rect">
            <a:avLst/>
          </a:prstGeom>
          <a:noFill/>
          <a:ln/>
        </p:spPr>
        <p:txBody>
          <a:bodyPr wrap="square" lIns="0" tIns="0" rIns="0" bIns="0" rtlCol="0" anchor="ctr"/>
          <a:lstStyle/>
          <a:p>
            <a:pPr indent="0" marL="0">
              <a:buNone/>
            </a:pPr>
            <a:r>
              <a:rPr lang="en-US" sz="1250" dirty="0">
                <a:solidFill>
                  <a:srgbClr val="5A6B7B"/>
                </a:solidFill>
                <a:latin typeface="Calibri" pitchFamily="34" charset="0"/>
                <a:ea typeface="Calibri" pitchFamily="34" charset="-122"/>
                <a:cs typeface="Calibri" pitchFamily="34" charset="-120"/>
              </a:rPr>
              <a:t>on a laptop GPU</a:t>
            </a:r>
            <a:endParaRPr lang="en-US" sz="1250" dirty="0"/>
          </a:p>
        </p:txBody>
      </p:sp>
      <p:sp>
        <p:nvSpPr>
          <p:cNvPr id="12" name="Text 10"/>
          <p:cNvSpPr/>
          <p:nvPr/>
        </p:nvSpPr>
        <p:spPr>
          <a:xfrm>
            <a:off x="960120" y="3666744"/>
            <a:ext cx="1828800" cy="29260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0.0149 → 0.0070</a:t>
            </a:r>
            <a:endParaRPr lang="en-US" sz="1300" dirty="0"/>
          </a:p>
        </p:txBody>
      </p:sp>
      <p:sp>
        <p:nvSpPr>
          <p:cNvPr id="13" name="Text 11"/>
          <p:cNvSpPr/>
          <p:nvPr/>
        </p:nvSpPr>
        <p:spPr>
          <a:xfrm>
            <a:off x="2834640" y="3666744"/>
            <a:ext cx="3017520" cy="292608"/>
          </a:xfrm>
          <a:prstGeom prst="rect">
            <a:avLst/>
          </a:prstGeom>
          <a:noFill/>
          <a:ln/>
        </p:spPr>
        <p:txBody>
          <a:bodyPr wrap="square" lIns="0" tIns="0" rIns="0" bIns="0" rtlCol="0" anchor="ctr"/>
          <a:lstStyle/>
          <a:p>
            <a:pPr indent="0" marL="0">
              <a:buNone/>
            </a:pPr>
            <a:r>
              <a:rPr lang="en-US" sz="1250" dirty="0">
                <a:solidFill>
                  <a:srgbClr val="5A6B7B"/>
                </a:solidFill>
                <a:latin typeface="Calibri" pitchFamily="34" charset="0"/>
                <a:ea typeface="Calibri" pitchFamily="34" charset="-122"/>
                <a:cs typeface="Calibri" pitchFamily="34" charset="-120"/>
              </a:rPr>
              <a:t>reconstruction error</a:t>
            </a:r>
            <a:endParaRPr lang="en-US" sz="1250" dirty="0"/>
          </a:p>
        </p:txBody>
      </p:sp>
      <p:sp>
        <p:nvSpPr>
          <p:cNvPr id="14" name="Shape 12"/>
          <p:cNvSpPr/>
          <p:nvPr/>
        </p:nvSpPr>
        <p:spPr>
          <a:xfrm>
            <a:off x="6217920" y="1920240"/>
            <a:ext cx="5349240" cy="2148840"/>
          </a:xfrm>
          <a:prstGeom prst="roundRect">
            <a:avLst>
              <a:gd name="adj" fmla="val 3404"/>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Text 13"/>
          <p:cNvSpPr/>
          <p:nvPr/>
        </p:nvSpPr>
        <p:spPr>
          <a:xfrm>
            <a:off x="6492240" y="2121408"/>
            <a:ext cx="4572000" cy="320040"/>
          </a:xfrm>
          <a:prstGeom prst="rect">
            <a:avLst/>
          </a:prstGeom>
          <a:noFill/>
          <a:ln/>
        </p:spPr>
        <p:txBody>
          <a:bodyPr wrap="square" lIns="0" tIns="0" rIns="0" bIns="0" rtlCol="0" anchor="ctr"/>
          <a:lstStyle/>
          <a:p>
            <a:pPr indent="0" marL="0">
              <a:buNone/>
            </a:pPr>
            <a:r>
              <a:rPr lang="en-US" sz="1450" b="1" dirty="0">
                <a:solidFill>
                  <a:srgbClr val="B4671A"/>
                </a:solidFill>
                <a:latin typeface="Calibri" pitchFamily="34" charset="0"/>
                <a:ea typeface="Calibri" pitchFamily="34" charset="-122"/>
                <a:cs typeface="Calibri" pitchFamily="34" charset="-120"/>
              </a:rPr>
              <a:t>The trap</a:t>
            </a:r>
            <a:endParaRPr lang="en-US" sz="1450" dirty="0"/>
          </a:p>
        </p:txBody>
      </p:sp>
      <p:sp>
        <p:nvSpPr>
          <p:cNvPr id="16" name="Text 14"/>
          <p:cNvSpPr/>
          <p:nvPr/>
        </p:nvSpPr>
        <p:spPr>
          <a:xfrm>
            <a:off x="6492240" y="2514600"/>
            <a:ext cx="4846320" cy="114300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Pool several animals naively and the model learns to tell the animals apart — different electrodes, different amplitudes. That is a recording artefact wearing a biology costume.</a:t>
            </a:r>
            <a:endParaRPr lang="en-US" sz="1350" dirty="0"/>
          </a:p>
        </p:txBody>
      </p:sp>
      <p:sp>
        <p:nvSpPr>
          <p:cNvPr id="17" name="Text 15"/>
          <p:cNvSpPr/>
          <p:nvPr/>
        </p:nvSpPr>
        <p:spPr>
          <a:xfrm>
            <a:off x="6492240" y="3675888"/>
            <a:ext cx="4846320" cy="320040"/>
          </a:xfrm>
          <a:prstGeom prst="rect">
            <a:avLst/>
          </a:prstGeom>
          <a:noFill/>
          <a:ln/>
        </p:spPr>
        <p:txBody>
          <a:bodyPr wrap="square" lIns="0" tIns="0" rIns="0" bIns="0" rtlCol="0" anchor="ctr"/>
          <a:lstStyle/>
          <a:p>
            <a:pPr indent="0" marL="0">
              <a:buNone/>
            </a:pPr>
            <a:r>
              <a:rPr lang="en-US" sz="1250" b="1" i="1" dirty="0">
                <a:solidFill>
                  <a:srgbClr val="3B6E43"/>
                </a:solidFill>
                <a:latin typeface="Calibri" pitchFamily="34" charset="0"/>
                <a:ea typeface="Calibri" pitchFamily="34" charset="-122"/>
                <a:cs typeface="Calibri" pitchFamily="34" charset="-120"/>
              </a:rPr>
              <a:t>Fix: standardise every animal separately before pooling.</a:t>
            </a:r>
            <a:endParaRPr lang="en-US" sz="1250" dirty="0"/>
          </a:p>
        </p:txBody>
      </p:sp>
      <p:sp>
        <p:nvSpPr>
          <p:cNvPr id="18" name="Shape 16"/>
          <p:cNvSpPr/>
          <p:nvPr/>
        </p:nvSpPr>
        <p:spPr>
          <a:xfrm>
            <a:off x="685800" y="4297680"/>
            <a:ext cx="10881360" cy="1737360"/>
          </a:xfrm>
          <a:prstGeom prst="roundRect">
            <a:avLst>
              <a:gd name="adj" fmla="val 4211"/>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9" name="Text 17"/>
          <p:cNvSpPr/>
          <p:nvPr/>
        </p:nvSpPr>
        <p:spPr>
          <a:xfrm>
            <a:off x="1005840" y="4480560"/>
            <a:ext cx="8229600" cy="32004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Why one model across all animals, rather than one per animal</a:t>
            </a:r>
            <a:endParaRPr lang="en-US" sz="1400" dirty="0"/>
          </a:p>
        </p:txBody>
      </p:sp>
      <p:sp>
        <p:nvSpPr>
          <p:cNvPr id="20" name="Text 18"/>
          <p:cNvSpPr/>
          <p:nvPr/>
        </p:nvSpPr>
        <p:spPr>
          <a:xfrm>
            <a:off x="1005840" y="4828032"/>
            <a:ext cx="10241280" cy="1051560"/>
          </a:xfrm>
          <a:prstGeom prst="rect">
            <a:avLst/>
          </a:prstGeom>
          <a:noFill/>
          <a:ln/>
        </p:spPr>
        <p:txBody>
          <a:bodyPr wrap="square" lIns="0" tIns="0" rIns="0" bIns="0" rtlCol="0" anchor="ctr"/>
          <a:lstStyle/>
          <a:p>
            <a:pPr indent="0" marL="0">
              <a:lnSpc>
                <a:spcPct val="107000"/>
              </a:lnSpc>
              <a:buNone/>
            </a:pPr>
            <a:r>
              <a:rPr lang="en-US" sz="1350" dirty="0">
                <a:solidFill>
                  <a:srgbClr val="14212E"/>
                </a:solidFill>
                <a:latin typeface="Calibri" pitchFamily="34" charset="0"/>
                <a:ea typeface="Calibri" pitchFamily="34" charset="-122"/>
                <a:cs typeface="Calibri" pitchFamily="34" charset="-120"/>
              </a:rPr>
              <a:t>A separate model per animal would describe each brain in its own private vocabulary, and you could never compare them. Training one model on all of them forces a shared vocabulary — so “this pattern of cortical activity” means the same thing in animal 3 as it does in animal 11. That is what makes the group comparisons later in the talk legitimate.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Tech stack and daily workflow</a:t>
            </a:r>
            <a:endParaRPr lang="en-US" sz="3000" dirty="0"/>
          </a:p>
        </p:txBody>
      </p:sp>
      <p:pic>
        <p:nvPicPr>
          <p:cNvPr id="4" name="Image 0" descr="/Users/suchithrao/Downloads/hroc-training/outputs/diagrams/stack.png">    </p:cNvPr>
          <p:cNvPicPr>
            <a:picLocks noChangeAspect="1"/>
          </p:cNvPicPr>
          <p:nvPr/>
        </p:nvPicPr>
        <p:blipFill>
          <a:blip r:embed="rId1"/>
          <a:srcRect l="0" r="0" t="0" b="0"/>
          <a:stretch/>
        </p:blipFill>
        <p:spPr>
          <a:xfrm>
            <a:off x="685800" y="1828800"/>
            <a:ext cx="10881360" cy="384500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3 · HOW WE BUILT IT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Why reflex size alone tells you nothing</a:t>
            </a:r>
            <a:endParaRPr lang="en-US" sz="3000" dirty="0"/>
          </a:p>
        </p:txBody>
      </p:sp>
      <p:sp>
        <p:nvSpPr>
          <p:cNvPr id="4" name="Shape 2"/>
          <p:cNvSpPr/>
          <p:nvPr/>
        </p:nvSpPr>
        <p:spPr>
          <a:xfrm>
            <a:off x="685800" y="1920240"/>
            <a:ext cx="5349240" cy="2240280"/>
          </a:xfrm>
          <a:prstGeom prst="roundRect">
            <a:avLst>
              <a:gd name="adj" fmla="val 3265"/>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21408"/>
            <a:ext cx="4572000" cy="320040"/>
          </a:xfrm>
          <a:prstGeom prst="rect">
            <a:avLst/>
          </a:prstGeom>
          <a:noFill/>
          <a:ln/>
        </p:spPr>
        <p:txBody>
          <a:bodyPr wrap="square" lIns="0" tIns="0" rIns="0" bIns="0" rtlCol="0" anchor="ctr"/>
          <a:lstStyle/>
          <a:p>
            <a:pPr indent="0" marL="0">
              <a:buNone/>
            </a:pPr>
            <a:r>
              <a:rPr lang="en-US" sz="1450" b="1" dirty="0">
                <a:solidFill>
                  <a:srgbClr val="B4671A"/>
                </a:solidFill>
                <a:latin typeface="Calibri" pitchFamily="34" charset="0"/>
                <a:ea typeface="Calibri" pitchFamily="34" charset="-122"/>
                <a:cs typeface="Calibri" pitchFamily="34" charset="-120"/>
              </a:rPr>
              <a:t>The problem</a:t>
            </a:r>
            <a:endParaRPr lang="en-US" sz="1450" dirty="0"/>
          </a:p>
        </p:txBody>
      </p:sp>
      <p:sp>
        <p:nvSpPr>
          <p:cNvPr id="6" name="Text 4"/>
          <p:cNvSpPr/>
          <p:nvPr/>
        </p:nvSpPr>
        <p:spPr>
          <a:xfrm>
            <a:off x="960120" y="2514600"/>
            <a:ext cx="4846320" cy="105156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A bigger shock makes a bigger reflex — no learning required. Across these recordings the delivered stimulus roughly quadrupled.</a:t>
            </a:r>
            <a:endParaRPr lang="en-US" sz="1400" dirty="0"/>
          </a:p>
        </p:txBody>
      </p:sp>
      <p:sp>
        <p:nvSpPr>
          <p:cNvPr id="7" name="Text 5"/>
          <p:cNvSpPr/>
          <p:nvPr/>
        </p:nvSpPr>
        <p:spPr>
          <a:xfrm>
            <a:off x="960120" y="3611880"/>
            <a:ext cx="4846320" cy="45720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Early on this made one of our results come out backwards.</a:t>
            </a:r>
            <a:endParaRPr lang="en-US" sz="1250" dirty="0"/>
          </a:p>
        </p:txBody>
      </p:sp>
      <p:sp>
        <p:nvSpPr>
          <p:cNvPr id="8" name="Shape 6"/>
          <p:cNvSpPr/>
          <p:nvPr/>
        </p:nvSpPr>
        <p:spPr>
          <a:xfrm>
            <a:off x="6217920" y="1920240"/>
            <a:ext cx="5349240" cy="2240280"/>
          </a:xfrm>
          <a:prstGeom prst="roundRect">
            <a:avLst>
              <a:gd name="adj" fmla="val 3265"/>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6492240" y="2121408"/>
            <a:ext cx="45720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The fix</a:t>
            </a:r>
            <a:endParaRPr lang="en-US" sz="1450" dirty="0"/>
          </a:p>
        </p:txBody>
      </p:sp>
      <p:sp>
        <p:nvSpPr>
          <p:cNvPr id="10" name="Text 8"/>
          <p:cNvSpPr/>
          <p:nvPr/>
        </p:nvSpPr>
        <p:spPr>
          <a:xfrm>
            <a:off x="6492240" y="2514600"/>
            <a:ext cx="4846320" cy="118872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The M-wave sits in the same trace and reflects only the stimulus. It is a per-trial receipt for how much shock arrived. We remove its influence from every measure.</a:t>
            </a:r>
            <a:endParaRPr lang="en-US" sz="1400" dirty="0"/>
          </a:p>
        </p:txBody>
      </p:sp>
      <p:sp>
        <p:nvSpPr>
          <p:cNvPr id="11" name="Shape 9"/>
          <p:cNvSpPr/>
          <p:nvPr/>
        </p:nvSpPr>
        <p:spPr>
          <a:xfrm>
            <a:off x="685800" y="4389120"/>
            <a:ext cx="10881360" cy="960120"/>
          </a:xfrm>
          <a:prstGeom prst="roundRect">
            <a:avLst>
              <a:gd name="adj" fmla="val 7619"/>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2" name="Text 10"/>
          <p:cNvSpPr/>
          <p:nvPr/>
        </p:nvSpPr>
        <p:spPr>
          <a:xfrm>
            <a:off x="1005840" y="4553712"/>
            <a:ext cx="10241280" cy="640080"/>
          </a:xfrm>
          <a:prstGeom prst="rect">
            <a:avLst/>
          </a:prstGeom>
          <a:noFill/>
          <a:ln/>
        </p:spPr>
        <p:txBody>
          <a:bodyPr wrap="square" lIns="0" tIns="0" rIns="0" bIns="0" rtlCol="0" anchor="ctr"/>
          <a:lstStyle/>
          <a:p>
            <a:pPr indent="0" marL="0">
              <a:lnSpc>
                <a:spcPct val="106000"/>
              </a:lnSpc>
              <a:buNone/>
            </a:pPr>
            <a:r>
              <a:rPr lang="en-US" sz="1400" b="1" dirty="0">
                <a:solidFill>
                  <a:srgbClr val="15718F"/>
                </a:solidFill>
                <a:latin typeface="Calibri" pitchFamily="34" charset="0"/>
                <a:ea typeface="Calibri" pitchFamily="34" charset="-122"/>
                <a:cs typeface="Calibri" pitchFamily="34" charset="-120"/>
              </a:rPr>
              <a:t>Dr. Carp's addition:  </a:t>
            </a:r>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the reflex also depends on how active the muscle already was. We now measure the 20 ms before each shock and remove that too.</a:t>
            </a:r>
            <a:endParaRPr lang="en-US" sz="1400" dirty="0"/>
          </a:p>
        </p:txBody>
      </p:sp>
      <p:sp>
        <p:nvSpPr>
          <p:cNvPr id="13" name="Shape 11"/>
          <p:cNvSpPr/>
          <p:nvPr/>
        </p:nvSpPr>
        <p:spPr>
          <a:xfrm>
            <a:off x="685800" y="5532120"/>
            <a:ext cx="10881360" cy="685800"/>
          </a:xfrm>
          <a:prstGeom prst="roundRect">
            <a:avLst>
              <a:gd name="adj" fmla="val 10667"/>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51560" y="5650992"/>
            <a:ext cx="1014984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Every number in the rest of this talk has both corrections applied.</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3B6E43"/>
                </a:solidFill>
                <a:latin typeface="Calibri" pitchFamily="34" charset="0"/>
                <a:ea typeface="Calibri" pitchFamily="34" charset="-122"/>
                <a:cs typeface="Calibri" pitchFamily="34" charset="-120"/>
              </a:rPr>
              <a:t>PART 4 · RESULT ONE</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Conditioning works, in both directions</a:t>
            </a:r>
            <a:endParaRPr lang="en-US" sz="3000" dirty="0"/>
          </a:p>
        </p:txBody>
      </p:sp>
      <p:pic>
        <p:nvPicPr>
          <p:cNvPr id="4" name="Image 0" descr="/Users/suchithrao/Downloads/hroc-training/outputs/updown/updown_contrast.png">    </p:cNvPr>
          <p:cNvPicPr>
            <a:picLocks noChangeAspect="1"/>
          </p:cNvPicPr>
          <p:nvPr/>
        </p:nvPicPr>
        <p:blipFill>
          <a:blip r:embed="rId1"/>
          <a:srcRect l="0" r="0" t="0" b="0"/>
          <a:stretch/>
        </p:blipFill>
        <p:spPr>
          <a:xfrm>
            <a:off x="566928" y="1920240"/>
            <a:ext cx="6858000" cy="2637692"/>
          </a:xfrm>
          <a:prstGeom prst="rect">
            <a:avLst/>
          </a:prstGeom>
        </p:spPr>
      </p:pic>
      <p:sp>
        <p:nvSpPr>
          <p:cNvPr id="5" name="Shape 2"/>
          <p:cNvSpPr/>
          <p:nvPr/>
        </p:nvSpPr>
        <p:spPr>
          <a:xfrm>
            <a:off x="7635240" y="2057400"/>
            <a:ext cx="3931920" cy="3566160"/>
          </a:xfrm>
          <a:prstGeom prst="roundRect">
            <a:avLst>
              <a:gd name="adj" fmla="val 2051"/>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909560" y="2267712"/>
            <a:ext cx="3383280" cy="320040"/>
          </a:xfrm>
          <a:prstGeom prst="rect">
            <a:avLst/>
          </a:prstGeom>
          <a:noFill/>
          <a:ln/>
        </p:spPr>
        <p:txBody>
          <a:bodyPr wrap="square" lIns="0" tIns="0" rIns="0" bIns="0" rtlCol="0" anchor="ctr"/>
          <a:lstStyle/>
          <a:p>
            <a:pPr indent="0" marL="0">
              <a:buNone/>
            </a:pPr>
            <a:r>
              <a:rPr lang="en-US" sz="1400" b="1" dirty="0">
                <a:solidFill>
                  <a:srgbClr val="3B6E43"/>
                </a:solidFill>
                <a:latin typeface="Calibri" pitchFamily="34" charset="0"/>
                <a:ea typeface="Calibri" pitchFamily="34" charset="-122"/>
                <a:cs typeface="Calibri" pitchFamily="34" charset="-120"/>
              </a:rPr>
              <a:t>The positive control</a:t>
            </a:r>
            <a:endParaRPr lang="en-US" sz="1400" dirty="0"/>
          </a:p>
        </p:txBody>
      </p:sp>
      <p:sp>
        <p:nvSpPr>
          <p:cNvPr id="7" name="Text 4"/>
          <p:cNvSpPr/>
          <p:nvPr/>
        </p:nvSpPr>
        <p:spPr>
          <a:xfrm>
            <a:off x="7909560" y="2651760"/>
            <a:ext cx="3429000" cy="105156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Each animal is lined up to its own training start day. Up-trained animals (red) rise; down-trained (blue) fall.</a:t>
            </a:r>
            <a:endParaRPr lang="en-US" sz="1350" dirty="0"/>
          </a:p>
        </p:txBody>
      </p:sp>
      <p:sp>
        <p:nvSpPr>
          <p:cNvPr id="8" name="Text 5"/>
          <p:cNvSpPr/>
          <p:nvPr/>
        </p:nvSpPr>
        <p:spPr>
          <a:xfrm>
            <a:off x="7909560" y="3794760"/>
            <a:ext cx="3429000" cy="731520"/>
          </a:xfrm>
          <a:prstGeom prst="rect">
            <a:avLst/>
          </a:prstGeom>
          <a:noFill/>
          <a:ln/>
        </p:spPr>
        <p:txBody>
          <a:bodyPr wrap="square" lIns="0" tIns="0" rIns="0" bIns="0" rtlCol="0" anchor="ctr"/>
          <a:lstStyle/>
          <a:p>
            <a:pPr indent="0" marL="0">
              <a:lnSpc>
                <a:spcPct val="106000"/>
              </a:lnSpc>
              <a:buNone/>
            </a:pPr>
            <a:r>
              <a:rPr lang="en-US" sz="1350" b="1" dirty="0">
                <a:solidFill>
                  <a:srgbClr val="14212E"/>
                </a:solidFill>
                <a:latin typeface="Calibri" pitchFamily="34" charset="0"/>
                <a:ea typeface="Calibri" pitchFamily="34" charset="-122"/>
                <a:cs typeface="Calibri" pitchFamily="34" charset="-120"/>
              </a:rPr>
              <a:t>Three of five clear the 20% criterion in the trained direction.</a:t>
            </a:r>
            <a:endParaRPr lang="en-US" sz="1350" dirty="0"/>
          </a:p>
        </p:txBody>
      </p:sp>
      <p:sp>
        <p:nvSpPr>
          <p:cNvPr id="9" name="Text 6"/>
          <p:cNvSpPr/>
          <p:nvPr/>
        </p:nvSpPr>
        <p:spPr>
          <a:xfrm>
            <a:off x="7909560" y="4617720"/>
            <a:ext cx="3429000" cy="685800"/>
          </a:xfrm>
          <a:prstGeom prst="rect">
            <a:avLst/>
          </a:prstGeom>
          <a:noFill/>
          <a:ln/>
        </p:spPr>
        <p:txBody>
          <a:bodyPr wrap="square" lIns="0" tIns="0" rIns="0" bIns="0" rtlCol="0" anchor="ctr"/>
          <a:lstStyle/>
          <a:p>
            <a:pPr indent="0" marL="0">
              <a:lnSpc>
                <a:spcPct val="105000"/>
              </a:lnSpc>
              <a:buNone/>
            </a:pPr>
            <a:r>
              <a:rPr lang="en-US" sz="1200" i="1" dirty="0">
                <a:solidFill>
                  <a:srgbClr val="5A6B7B"/>
                </a:solidFill>
                <a:latin typeface="Calibri" pitchFamily="34" charset="0"/>
                <a:ea typeface="Calibri" pitchFamily="34" charset="-122"/>
                <a:cs typeface="Calibri" pitchFamily="34" charset="-120"/>
              </a:rPr>
              <a:t>The two that don't become a built-in control later 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PART 4 · THE HARD PART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Two things change slowly over the same weeks</a:t>
            </a:r>
            <a:endParaRPr lang="en-US" sz="3000" dirty="0"/>
          </a:p>
        </p:txBody>
      </p:sp>
      <p:pic>
        <p:nvPicPr>
          <p:cNvPr id="4" name="Image 0" descr="/Users/suchithrao/Downloads/hroc-training/outputs/diagrams/drift_problem.png">    </p:cNvPr>
          <p:cNvPicPr>
            <a:picLocks noChangeAspect="1"/>
          </p:cNvPicPr>
          <p:nvPr/>
        </p:nvPicPr>
        <p:blipFill>
          <a:blip r:embed="rId1"/>
          <a:srcRect l="0" r="0" t="0" b="0"/>
          <a:stretch/>
        </p:blipFill>
        <p:spPr>
          <a:xfrm>
            <a:off x="1220724" y="1874520"/>
            <a:ext cx="9811512" cy="3383280"/>
          </a:xfrm>
          <a:prstGeom prst="rect">
            <a:avLst/>
          </a:prstGeom>
        </p:spPr>
      </p:pic>
      <p:sp>
        <p:nvSpPr>
          <p:cNvPr id="5" name="Shape 2"/>
          <p:cNvSpPr/>
          <p:nvPr/>
        </p:nvSpPr>
        <p:spPr>
          <a:xfrm>
            <a:off x="685800" y="5486400"/>
            <a:ext cx="10881360" cy="868680"/>
          </a:xfrm>
          <a:prstGeom prst="roundRect">
            <a:avLst>
              <a:gd name="adj" fmla="val 8421"/>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1051560" y="5650992"/>
            <a:ext cx="10149840" cy="54864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This is a limit of the study design, not of the data — and it shaped everything we did next.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A44430"/>
                </a:solidFill>
                <a:latin typeface="Calibri" pitchFamily="34" charset="0"/>
                <a:ea typeface="Calibri" pitchFamily="34" charset="-122"/>
                <a:cs typeface="Calibri" pitchFamily="34" charset="-120"/>
              </a:rPr>
              <a:t>PART 4 · RESULT TWO, A NEGATIVE</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Our first approach did not survive its controls</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500" dirty="0">
                <a:solidFill>
                  <a:srgbClr val="5A6B7B"/>
                </a:solidFill>
                <a:latin typeface="Calibri" pitchFamily="34" charset="0"/>
                <a:ea typeface="Calibri" pitchFamily="34" charset="-122"/>
                <a:cs typeface="Calibri" pitchFamily="34" charset="-120"/>
              </a:rPr>
              <a:t>We measured how far the average brain state moved across training. It moves — but three tests say the movement is the recording, not the animal.</a:t>
            </a:r>
            <a:endParaRPr lang="en-US" sz="1500" dirty="0"/>
          </a:p>
        </p:txBody>
      </p:sp>
      <p:sp>
        <p:nvSpPr>
          <p:cNvPr id="5" name="Shape 3"/>
          <p:cNvSpPr/>
          <p:nvPr/>
        </p:nvSpPr>
        <p:spPr>
          <a:xfrm>
            <a:off x="685800" y="2514600"/>
            <a:ext cx="10881360" cy="1051560"/>
          </a:xfrm>
          <a:prstGeom prst="roundRect">
            <a:avLst>
              <a:gd name="adj" fmla="val 695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4"/>
          <p:cNvSpPr/>
          <p:nvPr/>
        </p:nvSpPr>
        <p:spPr>
          <a:xfrm>
            <a:off x="1005840" y="2651760"/>
            <a:ext cx="3931920" cy="777240"/>
          </a:xfrm>
          <a:prstGeom prst="rect">
            <a:avLst/>
          </a:prstGeom>
          <a:noFill/>
          <a:ln/>
        </p:spPr>
        <p:txBody>
          <a:bodyPr wrap="square" lIns="0" tIns="0" rIns="0" bIns="0" rtlCol="0" anchor="ctr"/>
          <a:lstStyle/>
          <a:p>
            <a:pPr indent="0" marL="0">
              <a:lnSpc>
                <a:spcPct val="105000"/>
              </a:lnSpc>
              <a:buNone/>
            </a:pPr>
            <a:r>
              <a:rPr lang="en-US" sz="1350" b="1" dirty="0">
                <a:solidFill>
                  <a:srgbClr val="14212E"/>
                </a:solidFill>
                <a:latin typeface="Calibri" pitchFamily="34" charset="0"/>
                <a:ea typeface="Calibri" pitchFamily="34" charset="-122"/>
                <a:cs typeface="Calibri" pitchFamily="34" charset="-120"/>
              </a:rPr>
              <a:t>Take baseline-only data and pretend half was training</a:t>
            </a:r>
            <a:endParaRPr lang="en-US" sz="1350" dirty="0"/>
          </a:p>
        </p:txBody>
      </p:sp>
      <p:sp>
        <p:nvSpPr>
          <p:cNvPr id="7" name="Text 5"/>
          <p:cNvSpPr/>
          <p:nvPr/>
        </p:nvSpPr>
        <p:spPr>
          <a:xfrm>
            <a:off x="5120640" y="2651760"/>
            <a:ext cx="3291840" cy="777240"/>
          </a:xfrm>
          <a:prstGeom prst="rect">
            <a:avLst/>
          </a:prstGeom>
          <a:noFill/>
          <a:ln/>
        </p:spPr>
        <p:txBody>
          <a:bodyPr wrap="square" lIns="0" tIns="0" rIns="0" bIns="0" rtlCol="0" anchor="ctr"/>
          <a:lstStyle/>
          <a:p>
            <a:pPr indent="0" marL="0">
              <a:lnSpc>
                <a:spcPct val="105000"/>
              </a:lnSpc>
              <a:buNone/>
            </a:pPr>
            <a:r>
              <a:rPr lang="en-US" sz="1200" dirty="0">
                <a:solidFill>
                  <a:srgbClr val="5A6B7B"/>
                </a:solidFill>
                <a:latin typeface="Calibri" pitchFamily="34" charset="0"/>
                <a:ea typeface="Calibri" pitchFamily="34" charset="-122"/>
                <a:cs typeface="Calibri" pitchFamily="34" charset="-120"/>
              </a:rPr>
              <a:t>Nothing happened, so it should show no movement</a:t>
            </a:r>
            <a:endParaRPr lang="en-US" sz="1200" dirty="0"/>
          </a:p>
        </p:txBody>
      </p:sp>
      <p:sp>
        <p:nvSpPr>
          <p:cNvPr id="8" name="Text 6"/>
          <p:cNvSpPr/>
          <p:nvPr/>
        </p:nvSpPr>
        <p:spPr>
          <a:xfrm>
            <a:off x="8595360" y="2651760"/>
            <a:ext cx="2743200" cy="777240"/>
          </a:xfrm>
          <a:prstGeom prst="rect">
            <a:avLst/>
          </a:prstGeom>
          <a:noFill/>
          <a:ln/>
        </p:spPr>
        <p:txBody>
          <a:bodyPr wrap="square" lIns="0" tIns="0" rIns="0" bIns="0" rtlCol="0" anchor="ctr"/>
          <a:lstStyle/>
          <a:p>
            <a:pPr indent="0" marL="0">
              <a:lnSpc>
                <a:spcPct val="105000"/>
              </a:lnSpc>
              <a:buNone/>
            </a:pPr>
            <a:r>
              <a:rPr lang="en-US" sz="1250" b="1" dirty="0">
                <a:solidFill>
                  <a:srgbClr val="A44430"/>
                </a:solidFill>
                <a:latin typeface="Calibri" pitchFamily="34" charset="0"/>
                <a:ea typeface="Calibri" pitchFamily="34" charset="-122"/>
                <a:cs typeface="Calibri" pitchFamily="34" charset="-120"/>
              </a:rPr>
              <a:t>Moves just as much — 5 of 6 animals</a:t>
            </a:r>
            <a:endParaRPr lang="en-US" sz="1250" dirty="0"/>
          </a:p>
        </p:txBody>
      </p:sp>
      <p:sp>
        <p:nvSpPr>
          <p:cNvPr id="9" name="Shape 7"/>
          <p:cNvSpPr/>
          <p:nvPr/>
        </p:nvSpPr>
        <p:spPr>
          <a:xfrm>
            <a:off x="685800" y="3675888"/>
            <a:ext cx="10881360" cy="1051560"/>
          </a:xfrm>
          <a:prstGeom prst="roundRect">
            <a:avLst>
              <a:gd name="adj" fmla="val 695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Text 8"/>
          <p:cNvSpPr/>
          <p:nvPr/>
        </p:nvSpPr>
        <p:spPr>
          <a:xfrm>
            <a:off x="1005840" y="3813048"/>
            <a:ext cx="3931920" cy="777240"/>
          </a:xfrm>
          <a:prstGeom prst="rect">
            <a:avLst/>
          </a:prstGeom>
          <a:noFill/>
          <a:ln/>
        </p:spPr>
        <p:txBody>
          <a:bodyPr wrap="square" lIns="0" tIns="0" rIns="0" bIns="0" rtlCol="0" anchor="ctr"/>
          <a:lstStyle/>
          <a:p>
            <a:pPr indent="0" marL="0">
              <a:lnSpc>
                <a:spcPct val="105000"/>
              </a:lnSpc>
              <a:buNone/>
            </a:pPr>
            <a:r>
              <a:rPr lang="en-US" sz="1350" b="1" dirty="0">
                <a:solidFill>
                  <a:srgbClr val="14212E"/>
                </a:solidFill>
                <a:latin typeface="Calibri" pitchFamily="34" charset="0"/>
                <a:ea typeface="Calibri" pitchFamily="34" charset="-122"/>
                <a:cs typeface="Calibri" pitchFamily="34" charset="-120"/>
              </a:rPr>
              <a:t>Shuffle which trial belongs to which day</a:t>
            </a:r>
            <a:endParaRPr lang="en-US" sz="1350" dirty="0"/>
          </a:p>
        </p:txBody>
      </p:sp>
      <p:sp>
        <p:nvSpPr>
          <p:cNvPr id="11" name="Text 9"/>
          <p:cNvSpPr/>
          <p:nvPr/>
        </p:nvSpPr>
        <p:spPr>
          <a:xfrm>
            <a:off x="5120640" y="3813048"/>
            <a:ext cx="3291840" cy="777240"/>
          </a:xfrm>
          <a:prstGeom prst="rect">
            <a:avLst/>
          </a:prstGeom>
          <a:noFill/>
          <a:ln/>
        </p:spPr>
        <p:txBody>
          <a:bodyPr wrap="square" lIns="0" tIns="0" rIns="0" bIns="0" rtlCol="0" anchor="ctr"/>
          <a:lstStyle/>
          <a:p>
            <a:pPr indent="0" marL="0">
              <a:lnSpc>
                <a:spcPct val="105000"/>
              </a:lnSpc>
              <a:buNone/>
            </a:pPr>
            <a:r>
              <a:rPr lang="en-US" sz="1200" dirty="0">
                <a:solidFill>
                  <a:srgbClr val="5A6B7B"/>
                </a:solidFill>
                <a:latin typeface="Calibri" pitchFamily="34" charset="0"/>
                <a:ea typeface="Calibri" pitchFamily="34" charset="-122"/>
                <a:cs typeface="Calibri" pitchFamily="34" charset="-120"/>
              </a:rPr>
              <a:t>Keeps the numbers, destroys the timeline</a:t>
            </a:r>
            <a:endParaRPr lang="en-US" sz="1200" dirty="0"/>
          </a:p>
        </p:txBody>
      </p:sp>
      <p:sp>
        <p:nvSpPr>
          <p:cNvPr id="12" name="Text 10"/>
          <p:cNvSpPr/>
          <p:nvPr/>
        </p:nvSpPr>
        <p:spPr>
          <a:xfrm>
            <a:off x="8595360" y="3813048"/>
            <a:ext cx="2743200" cy="777240"/>
          </a:xfrm>
          <a:prstGeom prst="rect">
            <a:avLst/>
          </a:prstGeom>
          <a:noFill/>
          <a:ln/>
        </p:spPr>
        <p:txBody>
          <a:bodyPr wrap="square" lIns="0" tIns="0" rIns="0" bIns="0" rtlCol="0" anchor="ctr"/>
          <a:lstStyle/>
          <a:p>
            <a:pPr indent="0" marL="0">
              <a:lnSpc>
                <a:spcPct val="105000"/>
              </a:lnSpc>
              <a:buNone/>
            </a:pPr>
            <a:r>
              <a:rPr lang="en-US" sz="1250" b="1" dirty="0">
                <a:solidFill>
                  <a:srgbClr val="3B6E43"/>
                </a:solidFill>
                <a:latin typeface="Calibri" pitchFamily="34" charset="0"/>
                <a:ea typeface="Calibri" pitchFamily="34" charset="-122"/>
                <a:cs typeface="Calibri" pitchFamily="34" charset="-120"/>
              </a:rPr>
              <a:t>No movement — the measure itself is sound</a:t>
            </a:r>
            <a:endParaRPr lang="en-US" sz="1250" dirty="0"/>
          </a:p>
        </p:txBody>
      </p:sp>
      <p:sp>
        <p:nvSpPr>
          <p:cNvPr id="13" name="Shape 11"/>
          <p:cNvSpPr/>
          <p:nvPr/>
        </p:nvSpPr>
        <p:spPr>
          <a:xfrm>
            <a:off x="685800" y="4837176"/>
            <a:ext cx="10881360" cy="1051560"/>
          </a:xfrm>
          <a:prstGeom prst="roundRect">
            <a:avLst>
              <a:gd name="adj" fmla="val 695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05840" y="4974336"/>
            <a:ext cx="3931920" cy="777240"/>
          </a:xfrm>
          <a:prstGeom prst="rect">
            <a:avLst/>
          </a:prstGeom>
          <a:noFill/>
          <a:ln/>
        </p:spPr>
        <p:txBody>
          <a:bodyPr wrap="square" lIns="0" tIns="0" rIns="0" bIns="0" rtlCol="0" anchor="ctr"/>
          <a:lstStyle/>
          <a:p>
            <a:pPr indent="0" marL="0">
              <a:lnSpc>
                <a:spcPct val="105000"/>
              </a:lnSpc>
              <a:buNone/>
            </a:pPr>
            <a:r>
              <a:rPr lang="en-US" sz="1350" b="1" dirty="0">
                <a:solidFill>
                  <a:srgbClr val="14212E"/>
                </a:solidFill>
                <a:latin typeface="Calibri" pitchFamily="34" charset="0"/>
                <a:ea typeface="Calibri" pitchFamily="34" charset="-122"/>
                <a:cs typeface="Calibri" pitchFamily="34" charset="-120"/>
              </a:rPr>
              <a:t>Compare animals trained up against trained down</a:t>
            </a:r>
            <a:endParaRPr lang="en-US" sz="1350" dirty="0"/>
          </a:p>
        </p:txBody>
      </p:sp>
      <p:sp>
        <p:nvSpPr>
          <p:cNvPr id="15" name="Text 13"/>
          <p:cNvSpPr/>
          <p:nvPr/>
        </p:nvSpPr>
        <p:spPr>
          <a:xfrm>
            <a:off x="5120640" y="4974336"/>
            <a:ext cx="3291840" cy="777240"/>
          </a:xfrm>
          <a:prstGeom prst="rect">
            <a:avLst/>
          </a:prstGeom>
          <a:noFill/>
          <a:ln/>
        </p:spPr>
        <p:txBody>
          <a:bodyPr wrap="square" lIns="0" tIns="0" rIns="0" bIns="0" rtlCol="0" anchor="ctr"/>
          <a:lstStyle/>
          <a:p>
            <a:pPr indent="0" marL="0">
              <a:lnSpc>
                <a:spcPct val="105000"/>
              </a:lnSpc>
              <a:buNone/>
            </a:pPr>
            <a:r>
              <a:rPr lang="en-US" sz="1200" dirty="0">
                <a:solidFill>
                  <a:srgbClr val="5A6B7B"/>
                </a:solidFill>
                <a:latin typeface="Calibri" pitchFamily="34" charset="0"/>
                <a:ea typeface="Calibri" pitchFamily="34" charset="-122"/>
                <a:cs typeface="Calibri" pitchFamily="34" charset="-120"/>
              </a:rPr>
              <a:t>Electrode drift doesn't care which way you trained</a:t>
            </a:r>
            <a:endParaRPr lang="en-US" sz="1200" dirty="0"/>
          </a:p>
        </p:txBody>
      </p:sp>
      <p:sp>
        <p:nvSpPr>
          <p:cNvPr id="16" name="Text 14"/>
          <p:cNvSpPr/>
          <p:nvPr/>
        </p:nvSpPr>
        <p:spPr>
          <a:xfrm>
            <a:off x="8595360" y="4974336"/>
            <a:ext cx="2743200" cy="777240"/>
          </a:xfrm>
          <a:prstGeom prst="rect">
            <a:avLst/>
          </a:prstGeom>
          <a:noFill/>
          <a:ln/>
        </p:spPr>
        <p:txBody>
          <a:bodyPr wrap="square" lIns="0" tIns="0" rIns="0" bIns="0" rtlCol="0" anchor="ctr"/>
          <a:lstStyle/>
          <a:p>
            <a:pPr indent="0" marL="0">
              <a:lnSpc>
                <a:spcPct val="105000"/>
              </a:lnSpc>
              <a:buNone/>
            </a:pPr>
            <a:r>
              <a:rPr lang="en-US" sz="1250" b="1" dirty="0">
                <a:solidFill>
                  <a:srgbClr val="A44430"/>
                </a:solidFill>
                <a:latin typeface="Calibri" pitchFamily="34" charset="0"/>
                <a:ea typeface="Calibri" pitchFamily="34" charset="-122"/>
                <a:cs typeface="Calibri" pitchFamily="34" charset="-120"/>
              </a:rPr>
              <a:t>No difference between the groups</a:t>
            </a:r>
            <a:endParaRPr lang="en-US" sz="1250" dirty="0"/>
          </a:p>
        </p:txBody>
      </p:sp>
      <p:sp>
        <p:nvSpPr>
          <p:cNvPr id="17" name="Text 15"/>
          <p:cNvSpPr/>
          <p:nvPr/>
        </p:nvSpPr>
        <p:spPr>
          <a:xfrm>
            <a:off x="704088" y="6172200"/>
            <a:ext cx="10881360" cy="32004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Two of these three were Dr. Carp's suggestions. They changed our conclusion.</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4 · THE IDEA</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So we asked a question drift cannot fake</a:t>
            </a:r>
            <a:endParaRPr lang="en-US" sz="3000" dirty="0"/>
          </a:p>
        </p:txBody>
      </p:sp>
      <p:sp>
        <p:nvSpPr>
          <p:cNvPr id="4" name="Shape 2"/>
          <p:cNvSpPr/>
          <p:nvPr/>
        </p:nvSpPr>
        <p:spPr>
          <a:xfrm>
            <a:off x="685800" y="1874520"/>
            <a:ext cx="5349240" cy="1463040"/>
          </a:xfrm>
          <a:prstGeom prst="roundRect">
            <a:avLst>
              <a:gd name="adj" fmla="val 5000"/>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029968"/>
            <a:ext cx="4572000" cy="274320"/>
          </a:xfrm>
          <a:prstGeom prst="rect">
            <a:avLst/>
          </a:prstGeom>
          <a:noFill/>
          <a:ln/>
        </p:spPr>
        <p:txBody>
          <a:bodyPr wrap="square" lIns="0" tIns="0" rIns="0" bIns="0" rtlCol="0" anchor="ctr"/>
          <a:lstStyle/>
          <a:p>
            <a:pPr indent="0" marL="0">
              <a:buNone/>
            </a:pPr>
            <a:r>
              <a:rPr lang="en-US" sz="1250" b="1" dirty="0">
                <a:solidFill>
                  <a:srgbClr val="9AA8B4"/>
                </a:solidFill>
                <a:latin typeface="Calibri" pitchFamily="34" charset="0"/>
                <a:ea typeface="Calibri" pitchFamily="34" charset="-122"/>
                <a:cs typeface="Calibri" pitchFamily="34" charset="-120"/>
              </a:rPr>
              <a:t>Instead of</a:t>
            </a:r>
            <a:endParaRPr lang="en-US" sz="1250" dirty="0"/>
          </a:p>
        </p:txBody>
      </p:sp>
      <p:sp>
        <p:nvSpPr>
          <p:cNvPr id="6" name="Text 4"/>
          <p:cNvSpPr/>
          <p:nvPr/>
        </p:nvSpPr>
        <p:spPr>
          <a:xfrm>
            <a:off x="960120" y="2331720"/>
            <a:ext cx="4846320" cy="822960"/>
          </a:xfrm>
          <a:prstGeom prst="rect">
            <a:avLst/>
          </a:prstGeom>
          <a:noFill/>
          <a:ln/>
        </p:spPr>
        <p:txBody>
          <a:bodyPr wrap="square" lIns="0" tIns="0" rIns="0" bIns="0" rtlCol="0" anchor="ctr"/>
          <a:lstStyle/>
          <a:p>
            <a:pPr indent="0" marL="0">
              <a:lnSpc>
                <a:spcPct val="105000"/>
              </a:lnSpc>
              <a:buNone/>
            </a:pPr>
            <a:r>
              <a:rPr lang="en-US" sz="1700" i="1" dirty="0">
                <a:solidFill>
                  <a:srgbClr val="5A6B7B"/>
                </a:solidFill>
                <a:latin typeface="Cambria" pitchFamily="34" charset="0"/>
                <a:ea typeface="Cambria" pitchFamily="34" charset="-122"/>
                <a:cs typeface="Cambria" pitchFamily="34" charset="-120"/>
              </a:rPr>
              <a:t>“Did the average brain state move over weeks?”</a:t>
            </a:r>
            <a:endParaRPr lang="en-US" sz="1700" dirty="0"/>
          </a:p>
        </p:txBody>
      </p:sp>
      <p:sp>
        <p:nvSpPr>
          <p:cNvPr id="7" name="Shape 5"/>
          <p:cNvSpPr/>
          <p:nvPr/>
        </p:nvSpPr>
        <p:spPr>
          <a:xfrm>
            <a:off x="6217920" y="1874520"/>
            <a:ext cx="5349240" cy="1463040"/>
          </a:xfrm>
          <a:prstGeom prst="roundRect">
            <a:avLst>
              <a:gd name="adj" fmla="val 5000"/>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6492240" y="2029968"/>
            <a:ext cx="4572000" cy="274320"/>
          </a:xfrm>
          <a:prstGeom prst="rect">
            <a:avLst/>
          </a:prstGeom>
          <a:noFill/>
          <a:ln/>
        </p:spPr>
        <p:txBody>
          <a:bodyPr wrap="square" lIns="0" tIns="0" rIns="0" bIns="0" rtlCol="0" anchor="ctr"/>
          <a:lstStyle/>
          <a:p>
            <a:pPr indent="0" marL="0">
              <a:buNone/>
            </a:pPr>
            <a:r>
              <a:rPr lang="en-US" sz="1250" b="1" dirty="0">
                <a:solidFill>
                  <a:srgbClr val="15718F"/>
                </a:solidFill>
                <a:latin typeface="Calibri" pitchFamily="34" charset="0"/>
                <a:ea typeface="Calibri" pitchFamily="34" charset="-122"/>
                <a:cs typeface="Calibri" pitchFamily="34" charset="-120"/>
              </a:rPr>
              <a:t>We ask</a:t>
            </a:r>
            <a:endParaRPr lang="en-US" sz="1250" dirty="0"/>
          </a:p>
        </p:txBody>
      </p:sp>
      <p:sp>
        <p:nvSpPr>
          <p:cNvPr id="9" name="Text 7"/>
          <p:cNvSpPr/>
          <p:nvPr/>
        </p:nvSpPr>
        <p:spPr>
          <a:xfrm>
            <a:off x="6492240" y="2331720"/>
            <a:ext cx="4846320" cy="822960"/>
          </a:xfrm>
          <a:prstGeom prst="rect">
            <a:avLst/>
          </a:prstGeom>
          <a:noFill/>
          <a:ln/>
        </p:spPr>
        <p:txBody>
          <a:bodyPr wrap="square" lIns="0" tIns="0" rIns="0" bIns="0" rtlCol="0" anchor="ctr"/>
          <a:lstStyle/>
          <a:p>
            <a:pPr indent="0" marL="0">
              <a:lnSpc>
                <a:spcPct val="105000"/>
              </a:lnSpc>
              <a:buNone/>
            </a:pPr>
            <a:r>
              <a:rPr lang="en-US" sz="1800" b="1" i="1" dirty="0">
                <a:solidFill>
                  <a:srgbClr val="15718F"/>
                </a:solidFill>
                <a:latin typeface="Cambria" pitchFamily="34" charset="0"/>
                <a:ea typeface="Cambria" pitchFamily="34" charset="-122"/>
                <a:cs typeface="Cambria" pitchFamily="34" charset="-120"/>
              </a:rPr>
              <a:t>“Can the brain predict this trial's reflex?”</a:t>
            </a:r>
            <a:endParaRPr lang="en-US" sz="1800" dirty="0"/>
          </a:p>
        </p:txBody>
      </p:sp>
      <p:pic>
        <p:nvPicPr>
          <p:cNvPr id="10" name="Image 0" descr="/Users/suchithrao/Downloads/hroc-training/outputs/diagrams/within_block.png">    </p:cNvPr>
          <p:cNvPicPr>
            <a:picLocks noChangeAspect="1"/>
          </p:cNvPicPr>
          <p:nvPr/>
        </p:nvPicPr>
        <p:blipFill>
          <a:blip r:embed="rId1"/>
          <a:srcRect l="0" r="0" t="0" b="0"/>
          <a:stretch/>
        </p:blipFill>
        <p:spPr>
          <a:xfrm>
            <a:off x="2161642" y="3520440"/>
            <a:ext cx="7929677" cy="292608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4 · THE CONTROL</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And each window is judged against itself</a:t>
            </a:r>
            <a:endParaRPr lang="en-US" sz="3000" dirty="0"/>
          </a:p>
        </p:txBody>
      </p:sp>
      <p:pic>
        <p:nvPicPr>
          <p:cNvPr id="4" name="Image 0" descr="/Users/suchithrao/Downloads/hroc-training/outputs/diagrams/shuffle.png">    </p:cNvPr>
          <p:cNvPicPr>
            <a:picLocks noChangeAspect="1"/>
          </p:cNvPicPr>
          <p:nvPr/>
        </p:nvPicPr>
        <p:blipFill>
          <a:blip r:embed="rId1"/>
          <a:srcRect l="0" r="0" t="0" b="0"/>
          <a:stretch/>
        </p:blipFill>
        <p:spPr>
          <a:xfrm>
            <a:off x="955548" y="1920240"/>
            <a:ext cx="10341864" cy="3566160"/>
          </a:xfrm>
          <a:prstGeom prst="rect">
            <a:avLst/>
          </a:prstGeom>
        </p:spPr>
      </p:pic>
      <p:sp>
        <p:nvSpPr>
          <p:cNvPr id="5" name="Shape 2"/>
          <p:cNvSpPr/>
          <p:nvPr/>
        </p:nvSpPr>
        <p:spPr>
          <a:xfrm>
            <a:off x="685800" y="5623560"/>
            <a:ext cx="10881360" cy="777240"/>
          </a:xfrm>
          <a:prstGeom prst="roundRect">
            <a:avLst>
              <a:gd name="adj" fmla="val 9412"/>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1005840" y="5742432"/>
            <a:ext cx="10241280" cy="548640"/>
          </a:xfrm>
          <a:prstGeom prst="rect">
            <a:avLst/>
          </a:prstGeom>
          <a:noFill/>
          <a:ln/>
        </p:spPr>
        <p:txBody>
          <a:bodyPr wrap="square" lIns="0" tIns="0" rIns="0" bIns="0" rtlCol="0" anchor="ctr"/>
          <a:lstStyle/>
          <a:p>
            <a:pPr indent="0" marL="0">
              <a:buNone/>
            </a:pPr>
            <a:r>
              <a:rPr lang="en-US" sz="1350" dirty="0">
                <a:solidFill>
                  <a:srgbClr val="14212E"/>
                </a:solidFill>
                <a:latin typeface="Calibri" pitchFamily="34" charset="0"/>
                <a:ea typeface="Calibri" pitchFamily="34" charset="-122"/>
                <a:cs typeface="Calibri" pitchFamily="34" charset="-120"/>
              </a:rPr>
              <a:t>We repeat this in all 101 windows across five animals. A window only counts if the real data beats its own shuffled twin.</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3B6E43"/>
                </a:solidFill>
                <a:latin typeface="Calibri" pitchFamily="34" charset="0"/>
                <a:ea typeface="Calibri" pitchFamily="34" charset="-122"/>
                <a:cs typeface="Calibri" pitchFamily="34" charset="-120"/>
              </a:rPr>
              <a:t>PART 4 · RESULT THREE, THE FINDING</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brain does carry a signal about the reflex</a:t>
            </a:r>
            <a:endParaRPr lang="en-US" sz="3000" dirty="0"/>
          </a:p>
        </p:txBody>
      </p:sp>
      <p:pic>
        <p:nvPicPr>
          <p:cNvPr id="4" name="Image 0" descr="/Users/suchithrao/Downloads/hroc-training/outputs/coupling/coupling_group.png">    </p:cNvPr>
          <p:cNvPicPr>
            <a:picLocks noChangeAspect="1"/>
          </p:cNvPicPr>
          <p:nvPr/>
        </p:nvPicPr>
        <p:blipFill>
          <a:blip r:embed="rId1"/>
          <a:srcRect l="0" r="0" t="0" b="0"/>
          <a:stretch/>
        </p:blipFill>
        <p:spPr>
          <a:xfrm>
            <a:off x="566928" y="1920240"/>
            <a:ext cx="6327648" cy="3657600"/>
          </a:xfrm>
          <a:prstGeom prst="rect">
            <a:avLst/>
          </a:prstGeom>
        </p:spPr>
      </p:pic>
      <p:sp>
        <p:nvSpPr>
          <p:cNvPr id="5" name="Shape 2"/>
          <p:cNvSpPr/>
          <p:nvPr/>
        </p:nvSpPr>
        <p:spPr>
          <a:xfrm>
            <a:off x="7498080" y="2011680"/>
            <a:ext cx="4069080" cy="3657600"/>
          </a:xfrm>
          <a:prstGeom prst="roundRect">
            <a:avLst>
              <a:gd name="adj" fmla="val 2000"/>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772400" y="2212848"/>
            <a:ext cx="3566160" cy="548640"/>
          </a:xfrm>
          <a:prstGeom prst="rect">
            <a:avLst/>
          </a:prstGeom>
          <a:noFill/>
          <a:ln/>
        </p:spPr>
        <p:txBody>
          <a:bodyPr wrap="square" lIns="0" tIns="0" rIns="0" bIns="0" rtlCol="0" anchor="ctr"/>
          <a:lstStyle/>
          <a:p>
            <a:pPr indent="0" marL="0">
              <a:buNone/>
            </a:pPr>
            <a:r>
              <a:rPr lang="en-US" sz="3100" b="1" dirty="0">
                <a:solidFill>
                  <a:srgbClr val="3B6E43"/>
                </a:solidFill>
                <a:latin typeface="Cambria" pitchFamily="34" charset="0"/>
                <a:ea typeface="Cambria" pitchFamily="34" charset="-122"/>
                <a:cs typeface="Cambria" pitchFamily="34" charset="-120"/>
              </a:rPr>
              <a:t>99 of 101</a:t>
            </a:r>
            <a:endParaRPr lang="en-US" sz="3100" dirty="0"/>
          </a:p>
        </p:txBody>
      </p:sp>
      <p:sp>
        <p:nvSpPr>
          <p:cNvPr id="7" name="Text 4"/>
          <p:cNvSpPr/>
          <p:nvPr/>
        </p:nvSpPr>
        <p:spPr>
          <a:xfrm>
            <a:off x="7772400" y="2788920"/>
            <a:ext cx="3566160" cy="640080"/>
          </a:xfrm>
          <a:prstGeom prst="rect">
            <a:avLst/>
          </a:prstGeom>
          <a:noFill/>
          <a:ln/>
        </p:spPr>
        <p:txBody>
          <a:bodyPr wrap="square" lIns="0" tIns="0" rIns="0" bIns="0" rtlCol="0" anchor="ctr"/>
          <a:lstStyle/>
          <a:p>
            <a:pPr indent="0" marL="0">
              <a:lnSpc>
                <a:spcPct val="105000"/>
              </a:lnSpc>
              <a:buNone/>
            </a:pPr>
            <a:r>
              <a:rPr lang="en-US" sz="1250" dirty="0">
                <a:solidFill>
                  <a:srgbClr val="5A6B7B"/>
                </a:solidFill>
                <a:latin typeface="Calibri" pitchFamily="34" charset="0"/>
                <a:ea typeface="Calibri" pitchFamily="34" charset="-122"/>
                <a:cs typeface="Calibri" pitchFamily="34" charset="-120"/>
              </a:rPr>
              <a:t>windows where the real data beat its own shuffled version</a:t>
            </a:r>
            <a:endParaRPr lang="en-US" sz="1250" dirty="0"/>
          </a:p>
        </p:txBody>
      </p:sp>
      <p:sp>
        <p:nvSpPr>
          <p:cNvPr id="8" name="Text 5"/>
          <p:cNvSpPr/>
          <p:nvPr/>
        </p:nvSpPr>
        <p:spPr>
          <a:xfrm>
            <a:off x="7772400" y="3520440"/>
            <a:ext cx="3566160" cy="320040"/>
          </a:xfrm>
          <a:prstGeom prst="rect">
            <a:avLst/>
          </a:prstGeom>
          <a:noFill/>
          <a:ln/>
        </p:spPr>
        <p:txBody>
          <a:bodyPr wrap="square" lIns="0" tIns="0" rIns="0" bIns="0" rtlCol="0" anchor="ctr"/>
          <a:lstStyle/>
          <a:p>
            <a:pPr indent="0" marL="0">
              <a:buNone/>
            </a:pPr>
            <a:r>
              <a:rPr lang="en-US" sz="1350" b="1" dirty="0">
                <a:solidFill>
                  <a:srgbClr val="14212E"/>
                </a:solidFill>
                <a:latin typeface="Calibri" pitchFamily="34" charset="0"/>
                <a:ea typeface="Calibri" pitchFamily="34" charset="-122"/>
                <a:cs typeface="Calibri" pitchFamily="34" charset="-120"/>
              </a:rPr>
              <a:t>Present in all five animals.</a:t>
            </a:r>
            <a:endParaRPr lang="en-US" sz="1350" dirty="0"/>
          </a:p>
        </p:txBody>
      </p:sp>
      <p:sp>
        <p:nvSpPr>
          <p:cNvPr id="9" name="Text 6"/>
          <p:cNvSpPr/>
          <p:nvPr/>
        </p:nvSpPr>
        <p:spPr>
          <a:xfrm>
            <a:off x="7772400" y="3931920"/>
            <a:ext cx="3566160" cy="29260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Counting the animal as the unit of analysis:</a:t>
            </a:r>
            <a:endParaRPr lang="en-US" sz="1200" dirty="0"/>
          </a:p>
        </p:txBody>
      </p:sp>
      <p:sp>
        <p:nvSpPr>
          <p:cNvPr id="10" name="Text 7"/>
          <p:cNvSpPr/>
          <p:nvPr/>
        </p:nvSpPr>
        <p:spPr>
          <a:xfrm>
            <a:off x="7772400" y="4224528"/>
            <a:ext cx="3566160" cy="365760"/>
          </a:xfrm>
          <a:prstGeom prst="rect">
            <a:avLst/>
          </a:prstGeom>
          <a:noFill/>
          <a:ln/>
        </p:spPr>
        <p:txBody>
          <a:bodyPr wrap="square" lIns="0" tIns="0" rIns="0" bIns="0" rtlCol="0" anchor="ctr"/>
          <a:lstStyle/>
          <a:p>
            <a:pPr indent="0" marL="0">
              <a:buNone/>
            </a:pPr>
            <a:r>
              <a:rPr lang="en-US" sz="1500" b="1" dirty="0">
                <a:solidFill>
                  <a:srgbClr val="14212E"/>
                </a:solidFill>
                <a:latin typeface="Calibri" pitchFamily="34" charset="0"/>
                <a:ea typeface="Calibri" pitchFamily="34" charset="-122"/>
                <a:cs typeface="Calibri" pitchFamily="34" charset="-120"/>
              </a:rPr>
              <a:t>t(4) = 3.81,  p = 0.019</a:t>
            </a:r>
            <a:endParaRPr lang="en-US" sz="1500" dirty="0"/>
          </a:p>
        </p:txBody>
      </p:sp>
      <p:sp>
        <p:nvSpPr>
          <p:cNvPr id="11" name="Text 8"/>
          <p:cNvSpPr/>
          <p:nvPr/>
        </p:nvSpPr>
        <p:spPr>
          <a:xfrm>
            <a:off x="7772400" y="4846320"/>
            <a:ext cx="3566160" cy="548640"/>
          </a:xfrm>
          <a:prstGeom prst="rect">
            <a:avLst/>
          </a:prstGeom>
          <a:noFill/>
          <a:ln/>
        </p:spPr>
        <p:txBody>
          <a:bodyPr wrap="square" lIns="0" tIns="0" rIns="0" bIns="0" rtlCol="0" anchor="ctr"/>
          <a:lstStyle/>
          <a:p>
            <a:pPr indent="0" marL="0">
              <a:lnSpc>
                <a:spcPct val="105000"/>
              </a:lnSpc>
              <a:buNone/>
            </a:pPr>
            <a:r>
              <a:rPr lang="en-US" sz="1250" i="1" dirty="0">
                <a:solidFill>
                  <a:srgbClr val="3B6E43"/>
                </a:solidFill>
                <a:latin typeface="Calibri" pitchFamily="34" charset="0"/>
                <a:ea typeface="Calibri" pitchFamily="34" charset="-122"/>
                <a:cs typeface="Calibri" pitchFamily="34" charset="-120"/>
              </a:rPr>
              <a:t>Small in size, but almost never absent.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9AA8B4"/>
                </a:solidFill>
                <a:latin typeface="Calibri" pitchFamily="34" charset="0"/>
                <a:ea typeface="Calibri" pitchFamily="34" charset="-122"/>
                <a:cs typeface="Calibri" pitchFamily="34" charset="-120"/>
              </a:rPr>
              <a:t>PART 4 · IN PROPORTION</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How much does the brain actually explain?</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500" dirty="0">
                <a:solidFill>
                  <a:srgbClr val="5A6B7B"/>
                </a:solidFill>
                <a:latin typeface="Calibri" pitchFamily="34" charset="0"/>
                <a:ea typeface="Calibri" pitchFamily="34" charset="-122"/>
                <a:cs typeface="Calibri" pitchFamily="34" charset="-120"/>
              </a:rPr>
              <a:t>Dr. Carp asked us to split the variance up. The stimulus dominates, and the brain overlaps with it heavily.</a:t>
            </a:r>
            <a:endParaRPr lang="en-US" sz="1500" dirty="0"/>
          </a:p>
        </p:txBody>
      </p:sp>
      <p:pic>
        <p:nvPicPr>
          <p:cNvPr id="5" name="Image 0" descr="/Users/suchithrao/Downloads/hroc-training/outputs/diagrams/variance.png">    </p:cNvPr>
          <p:cNvPicPr>
            <a:picLocks noChangeAspect="1"/>
          </p:cNvPicPr>
          <p:nvPr/>
        </p:nvPicPr>
        <p:blipFill>
          <a:blip r:embed="rId1"/>
          <a:srcRect l="0" r="0" t="0" b="0"/>
          <a:stretch/>
        </p:blipFill>
        <p:spPr>
          <a:xfrm>
            <a:off x="685800" y="2240280"/>
            <a:ext cx="10881360" cy="2615712"/>
          </a:xfrm>
          <a:prstGeom prst="rect">
            <a:avLst/>
          </a:prstGeom>
        </p:spPr>
      </p:pic>
      <p:sp>
        <p:nvSpPr>
          <p:cNvPr id="6" name="Shape 3"/>
          <p:cNvSpPr/>
          <p:nvPr/>
        </p:nvSpPr>
        <p:spPr>
          <a:xfrm>
            <a:off x="685800" y="5074920"/>
            <a:ext cx="10881360" cy="1234440"/>
          </a:xfrm>
          <a:prstGeom prst="roundRect">
            <a:avLst>
              <a:gd name="adj" fmla="val 5926"/>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7" name="Text 4"/>
          <p:cNvSpPr/>
          <p:nvPr/>
        </p:nvSpPr>
        <p:spPr>
          <a:xfrm>
            <a:off x="1005840" y="5230368"/>
            <a:ext cx="7315200" cy="32004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Why the brain's own 21% collapses to 2%</a:t>
            </a:r>
            <a:endParaRPr lang="en-US" sz="1400" dirty="0"/>
          </a:p>
        </p:txBody>
      </p:sp>
      <p:sp>
        <p:nvSpPr>
          <p:cNvPr id="8" name="Text 5"/>
          <p:cNvSpPr/>
          <p:nvPr/>
        </p:nvSpPr>
        <p:spPr>
          <a:xfrm>
            <a:off x="1005840" y="5559552"/>
            <a:ext cx="10241280" cy="68580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The stimulus drives both the cortical evoked response and the reflex, so most of what the brain appears to explain is the stimulus wearing a different hat. Only the part that survives once stimulus and background are already in the model counts as a genuine cortical contribution.</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4 · RIGOUR</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Everything we tried to kill it with</a:t>
            </a:r>
            <a:endParaRPr lang="en-US" sz="3000" dirty="0"/>
          </a:p>
        </p:txBody>
      </p:sp>
      <p:sp>
        <p:nvSpPr>
          <p:cNvPr id="4" name="Shape 2"/>
          <p:cNvSpPr/>
          <p:nvPr/>
        </p:nvSpPr>
        <p:spPr>
          <a:xfrm>
            <a:off x="685800" y="1920240"/>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1005840" y="1965960"/>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Baseline sham</a:t>
            </a:r>
            <a:endParaRPr lang="en-US" sz="1300" dirty="0"/>
          </a:p>
        </p:txBody>
      </p:sp>
      <p:sp>
        <p:nvSpPr>
          <p:cNvPr id="6" name="Text 4"/>
          <p:cNvSpPr/>
          <p:nvPr/>
        </p:nvSpPr>
        <p:spPr>
          <a:xfrm>
            <a:off x="4206240" y="1965960"/>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Pretend part of the baseline was training</a:t>
            </a:r>
            <a:endParaRPr lang="en-US" sz="1200" dirty="0"/>
          </a:p>
        </p:txBody>
      </p:sp>
      <p:sp>
        <p:nvSpPr>
          <p:cNvPr id="7" name="Text 5"/>
          <p:cNvSpPr/>
          <p:nvPr/>
        </p:nvSpPr>
        <p:spPr>
          <a:xfrm>
            <a:off x="8961120" y="1965960"/>
            <a:ext cx="2377440" cy="475488"/>
          </a:xfrm>
          <a:prstGeom prst="rect">
            <a:avLst/>
          </a:prstGeom>
          <a:noFill/>
          <a:ln/>
        </p:spPr>
        <p:txBody>
          <a:bodyPr wrap="square" lIns="0" tIns="0" rIns="0" bIns="0" rtlCol="0" anchor="ctr"/>
          <a:lstStyle/>
          <a:p>
            <a:pPr indent="0" marL="0">
              <a:buNone/>
            </a:pPr>
            <a:r>
              <a:rPr lang="en-US" sz="1250" b="1" dirty="0">
                <a:solidFill>
                  <a:srgbClr val="A44430"/>
                </a:solidFill>
                <a:latin typeface="Calibri" pitchFamily="34" charset="0"/>
                <a:ea typeface="Calibri" pitchFamily="34" charset="-122"/>
                <a:cs typeface="Calibri" pitchFamily="34" charset="-120"/>
              </a:rPr>
              <a:t>drift fails</a:t>
            </a:r>
            <a:endParaRPr lang="en-US" sz="1250" dirty="0"/>
          </a:p>
        </p:txBody>
      </p:sp>
      <p:sp>
        <p:nvSpPr>
          <p:cNvPr id="8" name="Shape 6"/>
          <p:cNvSpPr/>
          <p:nvPr/>
        </p:nvSpPr>
        <p:spPr>
          <a:xfrm>
            <a:off x="685800" y="2569464"/>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1005840" y="2615184"/>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Shuffled trial order</a:t>
            </a:r>
            <a:endParaRPr lang="en-US" sz="1300" dirty="0"/>
          </a:p>
        </p:txBody>
      </p:sp>
      <p:sp>
        <p:nvSpPr>
          <p:cNvPr id="10" name="Text 8"/>
          <p:cNvSpPr/>
          <p:nvPr/>
        </p:nvSpPr>
        <p:spPr>
          <a:xfrm>
            <a:off x="4206240" y="2615184"/>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Keep the numbers, destroy the timeline</a:t>
            </a:r>
            <a:endParaRPr lang="en-US" sz="1200" dirty="0"/>
          </a:p>
        </p:txBody>
      </p:sp>
      <p:sp>
        <p:nvSpPr>
          <p:cNvPr id="11" name="Text 9"/>
          <p:cNvSpPr/>
          <p:nvPr/>
        </p:nvSpPr>
        <p:spPr>
          <a:xfrm>
            <a:off x="8961120" y="2615184"/>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null ≈ 0</a:t>
            </a:r>
            <a:endParaRPr lang="en-US" sz="1250" dirty="0"/>
          </a:p>
        </p:txBody>
      </p:sp>
      <p:sp>
        <p:nvSpPr>
          <p:cNvPr id="12" name="Shape 10"/>
          <p:cNvSpPr/>
          <p:nvPr/>
        </p:nvSpPr>
        <p:spPr>
          <a:xfrm>
            <a:off x="685800" y="3218688"/>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3264408"/>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Stimulus strength</a:t>
            </a:r>
            <a:endParaRPr lang="en-US" sz="1300" dirty="0"/>
          </a:p>
        </p:txBody>
      </p:sp>
      <p:sp>
        <p:nvSpPr>
          <p:cNvPr id="14" name="Text 12"/>
          <p:cNvSpPr/>
          <p:nvPr/>
        </p:nvSpPr>
        <p:spPr>
          <a:xfrm>
            <a:off x="4206240" y="3264408"/>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it just how hard we shocked?</a:t>
            </a:r>
            <a:endParaRPr lang="en-US" sz="1200" dirty="0"/>
          </a:p>
        </p:txBody>
      </p:sp>
      <p:sp>
        <p:nvSpPr>
          <p:cNvPr id="15" name="Text 13"/>
          <p:cNvSpPr/>
          <p:nvPr/>
        </p:nvSpPr>
        <p:spPr>
          <a:xfrm>
            <a:off x="8961120" y="3264408"/>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survives</a:t>
            </a:r>
            <a:endParaRPr lang="en-US" sz="1250" dirty="0"/>
          </a:p>
        </p:txBody>
      </p:sp>
      <p:sp>
        <p:nvSpPr>
          <p:cNvPr id="16" name="Shape 14"/>
          <p:cNvSpPr/>
          <p:nvPr/>
        </p:nvSpPr>
        <p:spPr>
          <a:xfrm>
            <a:off x="685800" y="3867912"/>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3913632"/>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Pre-stimulus background</a:t>
            </a:r>
            <a:endParaRPr lang="en-US" sz="1300" dirty="0"/>
          </a:p>
        </p:txBody>
      </p:sp>
      <p:sp>
        <p:nvSpPr>
          <p:cNvPr id="18" name="Text 16"/>
          <p:cNvSpPr/>
          <p:nvPr/>
        </p:nvSpPr>
        <p:spPr>
          <a:xfrm>
            <a:off x="4206240" y="3913632"/>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it muscle tone rather than brain?</a:t>
            </a:r>
            <a:endParaRPr lang="en-US" sz="1200" dirty="0"/>
          </a:p>
        </p:txBody>
      </p:sp>
      <p:sp>
        <p:nvSpPr>
          <p:cNvPr id="19" name="Text 17"/>
          <p:cNvSpPr/>
          <p:nvPr/>
        </p:nvSpPr>
        <p:spPr>
          <a:xfrm>
            <a:off x="8961120" y="3913632"/>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survives</a:t>
            </a:r>
            <a:endParaRPr lang="en-US" sz="1250" dirty="0"/>
          </a:p>
        </p:txBody>
      </p:sp>
      <p:sp>
        <p:nvSpPr>
          <p:cNvPr id="20" name="Shape 18"/>
          <p:cNvSpPr/>
          <p:nvPr/>
        </p:nvSpPr>
        <p:spPr>
          <a:xfrm>
            <a:off x="685800" y="4517136"/>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1" name="Text 19"/>
          <p:cNvSpPr/>
          <p:nvPr/>
        </p:nvSpPr>
        <p:spPr>
          <a:xfrm>
            <a:off x="1005840" y="4562856"/>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Within-window testing</a:t>
            </a:r>
            <a:endParaRPr lang="en-US" sz="1300" dirty="0"/>
          </a:p>
        </p:txBody>
      </p:sp>
      <p:sp>
        <p:nvSpPr>
          <p:cNvPr id="22" name="Text 20"/>
          <p:cNvSpPr/>
          <p:nvPr/>
        </p:nvSpPr>
        <p:spPr>
          <a:xfrm>
            <a:off x="4206240" y="4562856"/>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Could electrode drift manufacture it?</a:t>
            </a:r>
            <a:endParaRPr lang="en-US" sz="1200" dirty="0"/>
          </a:p>
        </p:txBody>
      </p:sp>
      <p:sp>
        <p:nvSpPr>
          <p:cNvPr id="23" name="Text 21"/>
          <p:cNvSpPr/>
          <p:nvPr/>
        </p:nvSpPr>
        <p:spPr>
          <a:xfrm>
            <a:off x="8961120" y="4562856"/>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drift cancels</a:t>
            </a:r>
            <a:endParaRPr lang="en-US" sz="1250" dirty="0"/>
          </a:p>
        </p:txBody>
      </p:sp>
      <p:sp>
        <p:nvSpPr>
          <p:cNvPr id="24" name="Shape 22"/>
          <p:cNvSpPr/>
          <p:nvPr/>
        </p:nvSpPr>
        <p:spPr>
          <a:xfrm>
            <a:off x="685800" y="5166360"/>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5" name="Text 23"/>
          <p:cNvSpPr/>
          <p:nvPr/>
        </p:nvSpPr>
        <p:spPr>
          <a:xfrm>
            <a:off x="1005840" y="5212080"/>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Muscle crosstalk</a:t>
            </a:r>
            <a:endParaRPr lang="en-US" sz="1300" dirty="0"/>
          </a:p>
        </p:txBody>
      </p:sp>
      <p:sp>
        <p:nvSpPr>
          <p:cNvPr id="26" name="Text 24"/>
          <p:cNvSpPr/>
          <p:nvPr/>
        </p:nvSpPr>
        <p:spPr>
          <a:xfrm>
            <a:off x="4206240" y="5212080"/>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the brain electrode picking up EMG?</a:t>
            </a:r>
            <a:endParaRPr lang="en-US" sz="1200" dirty="0"/>
          </a:p>
        </p:txBody>
      </p:sp>
      <p:sp>
        <p:nvSpPr>
          <p:cNvPr id="27" name="Text 25"/>
          <p:cNvSpPr/>
          <p:nvPr/>
        </p:nvSpPr>
        <p:spPr>
          <a:xfrm>
            <a:off x="8961120" y="5212080"/>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r = +0.06</a:t>
            </a:r>
            <a:endParaRPr lang="en-US" sz="1250" dirty="0"/>
          </a:p>
        </p:txBody>
      </p:sp>
      <p:sp>
        <p:nvSpPr>
          <p:cNvPr id="28" name="Shape 26"/>
          <p:cNvSpPr/>
          <p:nvPr/>
        </p:nvSpPr>
        <p:spPr>
          <a:xfrm>
            <a:off x="685800" y="5815584"/>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9" name="Text 27"/>
          <p:cNvSpPr/>
          <p:nvPr/>
        </p:nvSpPr>
        <p:spPr>
          <a:xfrm>
            <a:off x="1005840" y="5861304"/>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Up versus down</a:t>
            </a:r>
            <a:endParaRPr lang="en-US" sz="1300" dirty="0"/>
          </a:p>
        </p:txBody>
      </p:sp>
      <p:sp>
        <p:nvSpPr>
          <p:cNvPr id="30" name="Text 28"/>
          <p:cNvSpPr/>
          <p:nvPr/>
        </p:nvSpPr>
        <p:spPr>
          <a:xfrm>
            <a:off x="4206240" y="5861304"/>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Does it depend on training direction?</a:t>
            </a:r>
            <a:endParaRPr lang="en-US" sz="1200" dirty="0"/>
          </a:p>
        </p:txBody>
      </p:sp>
      <p:sp>
        <p:nvSpPr>
          <p:cNvPr id="31" name="Text 29"/>
          <p:cNvSpPr/>
          <p:nvPr/>
        </p:nvSpPr>
        <p:spPr>
          <a:xfrm>
            <a:off x="8961120" y="5861304"/>
            <a:ext cx="2377440" cy="475488"/>
          </a:xfrm>
          <a:prstGeom prst="rect">
            <a:avLst/>
          </a:prstGeom>
          <a:noFill/>
          <a:ln/>
        </p:spPr>
        <p:txBody>
          <a:bodyPr wrap="square" lIns="0" tIns="0" rIns="0" bIns="0" rtlCol="0" anchor="ctr"/>
          <a:lstStyle/>
          <a:p>
            <a:pPr indent="0" marL="0">
              <a:buNone/>
            </a:pPr>
            <a:r>
              <a:rPr lang="en-US" sz="1250" b="1" dirty="0">
                <a:solidFill>
                  <a:srgbClr val="A44430"/>
                </a:solidFill>
                <a:latin typeface="Calibri" pitchFamily="34" charset="0"/>
                <a:ea typeface="Calibri" pitchFamily="34" charset="-122"/>
                <a:cs typeface="Calibri" pitchFamily="34" charset="-120"/>
              </a:rPr>
              <a:t>no difference</a:t>
            </a:r>
            <a:endParaRPr lang="en-US" sz="1250" dirty="0"/>
          </a:p>
        </p:txBody>
      </p:sp>
      <p:sp>
        <p:nvSpPr>
          <p:cNvPr id="32" name="Shape 30"/>
          <p:cNvSpPr/>
          <p:nvPr/>
        </p:nvSpPr>
        <p:spPr>
          <a:xfrm>
            <a:off x="685800" y="6446520"/>
            <a:ext cx="10881360" cy="0"/>
          </a:xfrm>
          <a:prstGeom prst="roundRect">
            <a:avLst>
              <a:gd name="adj" fmla="val Infinity"/>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33" name="Text 31"/>
          <p:cNvSpPr/>
          <p:nvPr/>
        </p:nvSpPr>
        <p:spPr>
          <a:xfrm>
            <a:off x="704088" y="6419088"/>
            <a:ext cx="10881360" cy="32004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Five it survives, two it fails — and the two failures are what told us the average-state approach was the wrong question.</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4 · THE OBVIOUS OBJECTION</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Is the brain electrode just picking up muscle?</a:t>
            </a:r>
            <a:endParaRPr lang="en-US" sz="3000" dirty="0"/>
          </a:p>
        </p:txBody>
      </p:sp>
      <p:pic>
        <p:nvPicPr>
          <p:cNvPr id="4" name="Image 0" descr="/Users/suchithrao/Downloads/hroc-training/outputs/verify/verification.png">    </p:cNvPr>
          <p:cNvPicPr>
            <a:picLocks noChangeAspect="1"/>
          </p:cNvPicPr>
          <p:nvPr/>
        </p:nvPicPr>
        <p:blipFill>
          <a:blip r:embed="rId1"/>
          <a:srcRect l="0" r="0" t="0" b="0"/>
          <a:stretch/>
        </p:blipFill>
        <p:spPr>
          <a:xfrm>
            <a:off x="566928" y="1965960"/>
            <a:ext cx="6858000" cy="2637692"/>
          </a:xfrm>
          <a:prstGeom prst="rect">
            <a:avLst/>
          </a:prstGeom>
        </p:spPr>
      </p:pic>
      <p:sp>
        <p:nvSpPr>
          <p:cNvPr id="5" name="Shape 2"/>
          <p:cNvSpPr/>
          <p:nvPr/>
        </p:nvSpPr>
        <p:spPr>
          <a:xfrm>
            <a:off x="7589520" y="2057400"/>
            <a:ext cx="3977640" cy="3520440"/>
          </a:xfrm>
          <a:prstGeom prst="roundRect">
            <a:avLst>
              <a:gd name="adj" fmla="val 2078"/>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863840" y="2267712"/>
            <a:ext cx="3383280" cy="32004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The test</a:t>
            </a:r>
            <a:endParaRPr lang="en-US" sz="1400" dirty="0"/>
          </a:p>
        </p:txBody>
      </p:sp>
      <p:sp>
        <p:nvSpPr>
          <p:cNvPr id="7" name="Text 4"/>
          <p:cNvSpPr/>
          <p:nvPr/>
        </p:nvSpPr>
        <p:spPr>
          <a:xfrm>
            <a:off x="7863840" y="2651760"/>
            <a:ext cx="3429000" cy="141732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Both channels record at once, so the cortical electrode could in principle be registering muscle activity. Muscle artefact lives at high frequency, so that is where contamination would appear.</a:t>
            </a:r>
            <a:endParaRPr lang="en-US" sz="1300" dirty="0"/>
          </a:p>
        </p:txBody>
      </p:sp>
      <p:sp>
        <p:nvSpPr>
          <p:cNvPr id="8" name="Text 5"/>
          <p:cNvSpPr/>
          <p:nvPr/>
        </p:nvSpPr>
        <p:spPr>
          <a:xfrm>
            <a:off x="7863840" y="4160520"/>
            <a:ext cx="3429000" cy="365760"/>
          </a:xfrm>
          <a:prstGeom prst="rect">
            <a:avLst/>
          </a:prstGeom>
          <a:noFill/>
          <a:ln/>
        </p:spPr>
        <p:txBody>
          <a:bodyPr wrap="square" lIns="0" tIns="0" rIns="0" bIns="0" rtlCol="0" anchor="ctr"/>
          <a:lstStyle/>
          <a:p>
            <a:pPr indent="0" marL="0">
              <a:buNone/>
            </a:pPr>
            <a:r>
              <a:rPr lang="en-US" sz="1500" b="1" dirty="0">
                <a:solidFill>
                  <a:srgbClr val="3B6E43"/>
                </a:solidFill>
                <a:latin typeface="Calibri" pitchFamily="34" charset="0"/>
                <a:ea typeface="Calibri" pitchFamily="34" charset="-122"/>
                <a:cs typeface="Calibri" pitchFamily="34" charset="-120"/>
              </a:rPr>
              <a:t>Above 100 Hz:  r = +0.06</a:t>
            </a:r>
            <a:endParaRPr lang="en-US" sz="1500" dirty="0"/>
          </a:p>
        </p:txBody>
      </p:sp>
      <p:sp>
        <p:nvSpPr>
          <p:cNvPr id="9" name="Text 6"/>
          <p:cNvSpPr/>
          <p:nvPr/>
        </p:nvSpPr>
        <p:spPr>
          <a:xfrm>
            <a:off x="7863840" y="4572000"/>
            <a:ext cx="3429000" cy="914400"/>
          </a:xfrm>
          <a:prstGeom prst="rect">
            <a:avLst/>
          </a:prstGeom>
          <a:noFill/>
          <a:ln/>
        </p:spPr>
        <p:txBody>
          <a:bodyPr wrap="square" lIns="0" tIns="0" rIns="0" bIns="0" rtlCol="0" anchor="ctr"/>
          <a:lstStyle/>
          <a:p>
            <a:pPr indent="0" marL="0">
              <a:lnSpc>
                <a:spcPct val="105000"/>
              </a:lnSpc>
              <a:buNone/>
            </a:pPr>
            <a:r>
              <a:rPr lang="en-US" sz="1200" i="1" dirty="0">
                <a:solidFill>
                  <a:srgbClr val="5A6B7B"/>
                </a:solidFill>
                <a:latin typeface="Calibri" pitchFamily="34" charset="0"/>
                <a:ea typeface="Calibri" pitchFamily="34" charset="-122"/>
                <a:cs typeface="Calibri" pitchFamily="34" charset="-120"/>
              </a:rPr>
              <a:t>Essentially zero, and the low bands are slightly negative. The cortical signal also marginally leads the muscle, which is the acceptable direction.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5 · THE MOST PROMISING THREAD</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Does it scale with how much they learned?</a:t>
            </a:r>
            <a:endParaRPr lang="en-US" sz="3000" dirty="0"/>
          </a:p>
        </p:txBody>
      </p:sp>
      <p:pic>
        <p:nvPicPr>
          <p:cNvPr id="4" name="Image 0" descr="/Users/suchithrao/Downloads/hroc-training/outputs/scaling/scaling.png">    </p:cNvPr>
          <p:cNvPicPr>
            <a:picLocks noChangeAspect="1"/>
          </p:cNvPicPr>
          <p:nvPr/>
        </p:nvPicPr>
        <p:blipFill>
          <a:blip r:embed="rId1"/>
          <a:srcRect l="0" r="0" t="0" b="0"/>
          <a:stretch/>
        </p:blipFill>
        <p:spPr>
          <a:xfrm>
            <a:off x="566928" y="1965960"/>
            <a:ext cx="6675120" cy="2567354"/>
          </a:xfrm>
          <a:prstGeom prst="rect">
            <a:avLst/>
          </a:prstGeom>
        </p:spPr>
      </p:pic>
      <p:sp>
        <p:nvSpPr>
          <p:cNvPr id="5" name="Shape 2"/>
          <p:cNvSpPr/>
          <p:nvPr/>
        </p:nvSpPr>
        <p:spPr>
          <a:xfrm>
            <a:off x="7452360" y="2057400"/>
            <a:ext cx="4114800" cy="3337560"/>
          </a:xfrm>
          <a:prstGeom prst="roundRect">
            <a:avLst>
              <a:gd name="adj" fmla="val 2192"/>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726680" y="2267712"/>
            <a:ext cx="3566160" cy="502920"/>
          </a:xfrm>
          <a:prstGeom prst="rect">
            <a:avLst/>
          </a:prstGeom>
          <a:noFill/>
          <a:ln/>
        </p:spPr>
        <p:txBody>
          <a:bodyPr wrap="square" lIns="0" tIns="0" rIns="0" bIns="0" rtlCol="0" anchor="ctr"/>
          <a:lstStyle/>
          <a:p>
            <a:pPr indent="0" marL="0">
              <a:buNone/>
            </a:pPr>
            <a:r>
              <a:rPr lang="en-US" sz="2800" b="1" dirty="0">
                <a:solidFill>
                  <a:srgbClr val="15718F"/>
                </a:solidFill>
                <a:latin typeface="Cambria" pitchFamily="34" charset="0"/>
                <a:ea typeface="Cambria" pitchFamily="34" charset="-122"/>
                <a:cs typeface="Cambria" pitchFamily="34" charset="-120"/>
              </a:rPr>
              <a:t>r = +0.71</a:t>
            </a:r>
            <a:endParaRPr lang="en-US" sz="2800" dirty="0"/>
          </a:p>
        </p:txBody>
      </p:sp>
      <p:sp>
        <p:nvSpPr>
          <p:cNvPr id="7" name="Text 4"/>
          <p:cNvSpPr/>
          <p:nvPr/>
        </p:nvSpPr>
        <p:spPr>
          <a:xfrm>
            <a:off x="7726680" y="2816352"/>
            <a:ext cx="3566160" cy="73152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between how much an animal learned and how much its cortical coupling changed</a:t>
            </a:r>
            <a:endParaRPr lang="en-US" sz="1300" dirty="0"/>
          </a:p>
        </p:txBody>
      </p:sp>
      <p:sp>
        <p:nvSpPr>
          <p:cNvPr id="8" name="Text 5"/>
          <p:cNvSpPr/>
          <p:nvPr/>
        </p:nvSpPr>
        <p:spPr>
          <a:xfrm>
            <a:off x="7726680" y="3611880"/>
            <a:ext cx="3566160" cy="822960"/>
          </a:xfrm>
          <a:prstGeom prst="rect">
            <a:avLst/>
          </a:prstGeom>
          <a:noFill/>
          <a:ln/>
        </p:spPr>
        <p:txBody>
          <a:bodyPr wrap="square" lIns="0" tIns="0" rIns="0" bIns="0" rtlCol="0" anchor="ctr"/>
          <a:lstStyle/>
          <a:p>
            <a:pPr indent="0" marL="0">
              <a:lnSpc>
                <a:spcPct val="106000"/>
              </a:lnSpc>
              <a:buNone/>
            </a:pPr>
            <a:r>
              <a:rPr lang="en-US" sz="1250" dirty="0">
                <a:solidFill>
                  <a:srgbClr val="5A6B7B"/>
                </a:solidFill>
                <a:latin typeface="Calibri" pitchFamily="34" charset="0"/>
                <a:ea typeface="Calibri" pitchFamily="34" charset="-122"/>
                <a:cs typeface="Calibri" pitchFamily="34" charset="-120"/>
              </a:rPr>
              <a:t>The two animals that failed to learn show no increase — a built-in negative control.</a:t>
            </a:r>
            <a:endParaRPr lang="en-US" sz="1250" dirty="0"/>
          </a:p>
        </p:txBody>
      </p:sp>
      <p:sp>
        <p:nvSpPr>
          <p:cNvPr id="9" name="Text 6"/>
          <p:cNvSpPr/>
          <p:nvPr/>
        </p:nvSpPr>
        <p:spPr>
          <a:xfrm>
            <a:off x="7726680" y="4526280"/>
            <a:ext cx="3566160" cy="777240"/>
          </a:xfrm>
          <a:prstGeom prst="rect">
            <a:avLst/>
          </a:prstGeom>
          <a:noFill/>
          <a:ln/>
        </p:spPr>
        <p:txBody>
          <a:bodyPr wrap="square" lIns="0" tIns="0" rIns="0" bIns="0" rtlCol="0" anchor="ctr"/>
          <a:lstStyle/>
          <a:p>
            <a:pPr indent="0" marL="0">
              <a:lnSpc>
                <a:spcPct val="106000"/>
              </a:lnSpc>
              <a:buNone/>
            </a:pPr>
            <a:r>
              <a:rPr lang="en-US" sz="1250" b="1" i="1" dirty="0">
                <a:solidFill>
                  <a:srgbClr val="B4671A"/>
                </a:solidFill>
                <a:latin typeface="Calibri" pitchFamily="34" charset="0"/>
                <a:ea typeface="Calibri" pitchFamily="34" charset="-122"/>
                <a:cs typeface="Calibri" pitchFamily="34" charset="-120"/>
              </a:rPr>
              <a:t>With five animals this is a direction, not a result. Five more are ready to process.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6B4E8F"/>
                </a:solidFill>
                <a:latin typeface="Calibri" pitchFamily="34" charset="0"/>
                <a:ea typeface="Calibri" pitchFamily="34" charset="-122"/>
                <a:cs typeface="Calibri" pitchFamily="34" charset="-120"/>
              </a:rPr>
              <a:t>PART 5 · A NEW THREAD</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metadata may be a measurement</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500" dirty="0">
                <a:solidFill>
                  <a:srgbClr val="5A6B7B"/>
                </a:solidFill>
                <a:latin typeface="Calibri" pitchFamily="34" charset="0"/>
                <a:ea typeface="Calibri" pitchFamily="34" charset="-122"/>
                <a:cs typeface="Calibri" pitchFamily="34" charset="-120"/>
              </a:rPr>
              <a:t>An idea that came out of the last meeting, and one we think is worth pursuing.</a:t>
            </a:r>
            <a:endParaRPr lang="en-US" sz="1500" dirty="0"/>
          </a:p>
        </p:txBody>
      </p:sp>
      <p:sp>
        <p:nvSpPr>
          <p:cNvPr id="5" name="Shape 3"/>
          <p:cNvSpPr/>
          <p:nvPr/>
        </p:nvSpPr>
        <p:spPr>
          <a:xfrm>
            <a:off x="685800" y="2240280"/>
            <a:ext cx="5349240" cy="2286000"/>
          </a:xfrm>
          <a:prstGeom prst="roundRect">
            <a:avLst>
              <a:gd name="adj" fmla="val 3200"/>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4"/>
          <p:cNvSpPr/>
          <p:nvPr/>
        </p:nvSpPr>
        <p:spPr>
          <a:xfrm>
            <a:off x="960120" y="2450592"/>
            <a:ext cx="4572000" cy="320040"/>
          </a:xfrm>
          <a:prstGeom prst="rect">
            <a:avLst/>
          </a:prstGeom>
          <a:noFill/>
          <a:ln/>
        </p:spPr>
        <p:txBody>
          <a:bodyPr wrap="square" lIns="0" tIns="0" rIns="0" bIns="0" rtlCol="0" anchor="ctr"/>
          <a:lstStyle/>
          <a:p>
            <a:pPr indent="0" marL="0">
              <a:buNone/>
            </a:pPr>
            <a:r>
              <a:rPr lang="en-US" sz="1450" b="1" dirty="0">
                <a:solidFill>
                  <a:srgbClr val="6B4E8F"/>
                </a:solidFill>
                <a:latin typeface="Calibri" pitchFamily="34" charset="0"/>
                <a:ea typeface="Calibri" pitchFamily="34" charset="-122"/>
                <a:cs typeface="Calibri" pitchFamily="34" charset="-120"/>
              </a:rPr>
              <a:t>What the reward threshold is</a:t>
            </a:r>
            <a:endParaRPr lang="en-US" sz="1450" dirty="0"/>
          </a:p>
        </p:txBody>
      </p:sp>
      <p:sp>
        <p:nvSpPr>
          <p:cNvPr id="7" name="Text 5"/>
          <p:cNvSpPr/>
          <p:nvPr/>
        </p:nvSpPr>
        <p:spPr>
          <a:xfrm>
            <a:off x="960120" y="2834640"/>
            <a:ext cx="4846320" cy="118872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The experimenter raises it when the rat is beating the task and lowers it when the rat is struggling. It is adjusted by hand, day by day, across the whole experiment.</a:t>
            </a:r>
            <a:endParaRPr lang="en-US" sz="1350" dirty="0"/>
          </a:p>
        </p:txBody>
      </p:sp>
      <p:sp>
        <p:nvSpPr>
          <p:cNvPr id="8" name="Text 6"/>
          <p:cNvSpPr/>
          <p:nvPr/>
        </p:nvSpPr>
        <p:spPr>
          <a:xfrm>
            <a:off x="960120" y="4069080"/>
            <a:ext cx="4846320" cy="36576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It is, in effect, a staircase procedure.</a:t>
            </a:r>
            <a:endParaRPr lang="en-US" sz="1250" dirty="0"/>
          </a:p>
        </p:txBody>
      </p:sp>
      <p:sp>
        <p:nvSpPr>
          <p:cNvPr id="9" name="Shape 7"/>
          <p:cNvSpPr/>
          <p:nvPr/>
        </p:nvSpPr>
        <p:spPr>
          <a:xfrm>
            <a:off x="6217920" y="2240280"/>
            <a:ext cx="5349240" cy="2286000"/>
          </a:xfrm>
          <a:prstGeom prst="roundRect">
            <a:avLst>
              <a:gd name="adj" fmla="val 3200"/>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Text 8"/>
          <p:cNvSpPr/>
          <p:nvPr/>
        </p:nvSpPr>
        <p:spPr>
          <a:xfrm>
            <a:off x="6492240" y="2450592"/>
            <a:ext cx="45720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Why that is interesting</a:t>
            </a:r>
            <a:endParaRPr lang="en-US" sz="1450" dirty="0"/>
          </a:p>
        </p:txBody>
      </p:sp>
      <p:sp>
        <p:nvSpPr>
          <p:cNvPr id="11" name="Text 9"/>
          <p:cNvSpPr/>
          <p:nvPr/>
        </p:nvSpPr>
        <p:spPr>
          <a:xfrm>
            <a:off x="6492240" y="2834640"/>
            <a:ext cx="4846320" cy="123444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It is a record of how hard the task was for that animal — its engagement and effort — written down independently of anything we measure from the electrodes.</a:t>
            </a:r>
            <a:endParaRPr lang="en-US" sz="1350" dirty="0"/>
          </a:p>
        </p:txBody>
      </p:sp>
      <p:sp>
        <p:nvSpPr>
          <p:cNvPr id="12" name="Text 10"/>
          <p:cNvSpPr/>
          <p:nvPr/>
        </p:nvSpPr>
        <p:spPr>
          <a:xfrm>
            <a:off x="6492240" y="4114800"/>
            <a:ext cx="4846320" cy="365760"/>
          </a:xfrm>
          <a:prstGeom prst="rect">
            <a:avLst/>
          </a:prstGeom>
          <a:noFill/>
          <a:ln/>
        </p:spPr>
        <p:txBody>
          <a:bodyPr wrap="square" lIns="0" tIns="0" rIns="0" bIns="0" rtlCol="0" anchor="ctr"/>
          <a:lstStyle/>
          <a:p>
            <a:pPr indent="0" marL="0">
              <a:buNone/>
            </a:pPr>
            <a:r>
              <a:rPr lang="en-US" sz="1250" b="1" i="1" dirty="0">
                <a:solidFill>
                  <a:srgbClr val="3B6E43"/>
                </a:solidFill>
                <a:latin typeface="Calibri" pitchFamily="34" charset="0"/>
                <a:ea typeface="Calibri" pitchFamily="34" charset="-122"/>
                <a:cs typeface="Calibri" pitchFamily="34" charset="-120"/>
              </a:rPr>
              <a:t>No shared noise with our signal processing.</a:t>
            </a:r>
            <a:endParaRPr lang="en-US" sz="1250" dirty="0"/>
          </a:p>
        </p:txBody>
      </p:sp>
      <p:sp>
        <p:nvSpPr>
          <p:cNvPr id="13" name="Shape 11"/>
          <p:cNvSpPr/>
          <p:nvPr/>
        </p:nvSpPr>
        <p:spPr>
          <a:xfrm>
            <a:off x="685800" y="4754880"/>
            <a:ext cx="10881360" cy="1417320"/>
          </a:xfrm>
          <a:prstGeom prst="roundRect">
            <a:avLst>
              <a:gd name="adj" fmla="val 5161"/>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51560" y="4937760"/>
            <a:ext cx="101498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Right now our scaling result correlates two things measured from the same electrodes.</a:t>
            </a:r>
            <a:endParaRPr lang="en-US" sz="1400" dirty="0"/>
          </a:p>
        </p:txBody>
      </p:sp>
      <p:sp>
        <p:nvSpPr>
          <p:cNvPr id="15" name="Text 13"/>
          <p:cNvSpPr/>
          <p:nvPr/>
        </p:nvSpPr>
        <p:spPr>
          <a:xfrm>
            <a:off x="1051560" y="5349240"/>
            <a:ext cx="10149840" cy="685800"/>
          </a:xfrm>
          <a:prstGeom prst="rect">
            <a:avLst/>
          </a:prstGeom>
          <a:noFill/>
          <a:ln/>
        </p:spPr>
        <p:txBody>
          <a:bodyPr wrap="square" lIns="0" tIns="0" rIns="0" bIns="0" rtlCol="0" anchor="ctr"/>
          <a:lstStyle/>
          <a:p>
            <a:pPr indent="0" marL="0">
              <a:lnSpc>
                <a:spcPct val="106000"/>
              </a:lnSpc>
              <a:buNone/>
            </a:pPr>
            <a:r>
              <a:rPr lang="en-US" sz="1350" dirty="0">
                <a:solidFill>
                  <a:srgbClr val="D5DFE7"/>
                </a:solidFill>
                <a:latin typeface="Calibri" pitchFamily="34" charset="0"/>
                <a:ea typeface="Calibri" pitchFamily="34" charset="-122"/>
                <a:cs typeface="Calibri" pitchFamily="34" charset="-120"/>
              </a:rPr>
              <a:t>If cortical coupling instead tracks a behavioural record kept by hand at the time, that is a far harder result to dismiss. We would like to build this next.</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5 · WHAT WE WOULD WRITE</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Three things worth writing up</a:t>
            </a:r>
            <a:endParaRPr lang="en-US" sz="3000" dirty="0"/>
          </a:p>
        </p:txBody>
      </p:sp>
      <p:sp>
        <p:nvSpPr>
          <p:cNvPr id="4" name="Shape 2"/>
          <p:cNvSpPr/>
          <p:nvPr/>
        </p:nvSpPr>
        <p:spPr>
          <a:xfrm>
            <a:off x="685800" y="1965960"/>
            <a:ext cx="10881360" cy="1325880"/>
          </a:xfrm>
          <a:prstGeom prst="roundRect">
            <a:avLst>
              <a:gd name="adj" fmla="val 551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1005840" y="2130552"/>
            <a:ext cx="2103120" cy="457200"/>
          </a:xfrm>
          <a:prstGeom prst="rect">
            <a:avLst/>
          </a:prstGeom>
          <a:noFill/>
          <a:ln/>
        </p:spPr>
        <p:txBody>
          <a:bodyPr wrap="square" lIns="0" tIns="0" rIns="0" bIns="0" rtlCol="0" anchor="ctr"/>
          <a:lstStyle/>
          <a:p>
            <a:pPr indent="0" marL="0">
              <a:buNone/>
            </a:pPr>
            <a:r>
              <a:rPr lang="en-US" sz="1900" b="1" dirty="0">
                <a:solidFill>
                  <a:srgbClr val="15718F"/>
                </a:solidFill>
                <a:latin typeface="Cambria" pitchFamily="34" charset="0"/>
                <a:ea typeface="Cambria" pitchFamily="34" charset="-122"/>
                <a:cs typeface="Cambria" pitchFamily="34" charset="-120"/>
              </a:rPr>
              <a:t>The method</a:t>
            </a:r>
            <a:endParaRPr lang="en-US" sz="1900" dirty="0"/>
          </a:p>
        </p:txBody>
      </p:sp>
      <p:sp>
        <p:nvSpPr>
          <p:cNvPr id="6" name="Text 4"/>
          <p:cNvSpPr/>
          <p:nvPr/>
        </p:nvSpPr>
        <p:spPr>
          <a:xfrm>
            <a:off x="3200400" y="2103120"/>
            <a:ext cx="4754880" cy="105156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A reproducible pipeline that recovers a twenty-year-old archive and learns a representation from it, on a laptop.</a:t>
            </a:r>
            <a:endParaRPr lang="en-US" sz="1300" dirty="0"/>
          </a:p>
        </p:txBody>
      </p:sp>
      <p:sp>
        <p:nvSpPr>
          <p:cNvPr id="7" name="Text 5"/>
          <p:cNvSpPr/>
          <p:nvPr/>
        </p:nvSpPr>
        <p:spPr>
          <a:xfrm>
            <a:off x="8183880" y="2103120"/>
            <a:ext cx="3108960" cy="1051560"/>
          </a:xfrm>
          <a:prstGeom prst="rect">
            <a:avLst/>
          </a:prstGeom>
          <a:noFill/>
          <a:ln/>
        </p:spPr>
        <p:txBody>
          <a:bodyPr wrap="square" lIns="0" tIns="0" rIns="0" bIns="0" rtlCol="0" anchor="ctr"/>
          <a:lstStyle/>
          <a:p>
            <a:pPr indent="0" marL="0">
              <a:lnSpc>
                <a:spcPct val="106000"/>
              </a:lnSpc>
              <a:buNone/>
            </a:pPr>
            <a:r>
              <a:rPr lang="en-US" sz="1200" i="1" dirty="0">
                <a:solidFill>
                  <a:srgbClr val="5A6B7B"/>
                </a:solidFill>
                <a:latin typeface="Calibri" pitchFamily="34" charset="0"/>
                <a:ea typeface="Calibri" pitchFamily="34" charset="-122"/>
                <a:cs typeface="Calibri" pitchFamily="34" charset="-120"/>
              </a:rPr>
              <a:t>Useful to anyone with old chronic recordings sitting on a shelf.</a:t>
            </a:r>
            <a:endParaRPr lang="en-US" sz="1200" dirty="0"/>
          </a:p>
        </p:txBody>
      </p:sp>
      <p:sp>
        <p:nvSpPr>
          <p:cNvPr id="8" name="Shape 6"/>
          <p:cNvSpPr/>
          <p:nvPr/>
        </p:nvSpPr>
        <p:spPr>
          <a:xfrm>
            <a:off x="685800" y="3401568"/>
            <a:ext cx="10881360" cy="1325880"/>
          </a:xfrm>
          <a:prstGeom prst="roundRect">
            <a:avLst>
              <a:gd name="adj" fmla="val 551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1005840" y="3566160"/>
            <a:ext cx="2103120" cy="457200"/>
          </a:xfrm>
          <a:prstGeom prst="rect">
            <a:avLst/>
          </a:prstGeom>
          <a:noFill/>
          <a:ln/>
        </p:spPr>
        <p:txBody>
          <a:bodyPr wrap="square" lIns="0" tIns="0" rIns="0" bIns="0" rtlCol="0" anchor="ctr"/>
          <a:lstStyle/>
          <a:p>
            <a:pPr indent="0" marL="0">
              <a:buNone/>
            </a:pPr>
            <a:r>
              <a:rPr lang="en-US" sz="1900" b="1" dirty="0">
                <a:solidFill>
                  <a:srgbClr val="3B6E43"/>
                </a:solidFill>
                <a:latin typeface="Cambria" pitchFamily="34" charset="0"/>
                <a:ea typeface="Cambria" pitchFamily="34" charset="-122"/>
                <a:cs typeface="Cambria" pitchFamily="34" charset="-120"/>
              </a:rPr>
              <a:t>The finding</a:t>
            </a:r>
            <a:endParaRPr lang="en-US" sz="1900" dirty="0"/>
          </a:p>
        </p:txBody>
      </p:sp>
      <p:sp>
        <p:nvSpPr>
          <p:cNvPr id="10" name="Text 8"/>
          <p:cNvSpPr/>
          <p:nvPr/>
        </p:nvSpPr>
        <p:spPr>
          <a:xfrm>
            <a:off x="3200400" y="3538728"/>
            <a:ext cx="4754880" cy="105156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Cortical activity carries a small, highly reliable single-trial signal about reflex size, independent of stimulus and excitability.</a:t>
            </a:r>
            <a:endParaRPr lang="en-US" sz="1300" dirty="0"/>
          </a:p>
        </p:txBody>
      </p:sp>
      <p:sp>
        <p:nvSpPr>
          <p:cNvPr id="11" name="Text 9"/>
          <p:cNvSpPr/>
          <p:nvPr/>
        </p:nvSpPr>
        <p:spPr>
          <a:xfrm>
            <a:off x="8183880" y="3538728"/>
            <a:ext cx="3108960" cy="1051560"/>
          </a:xfrm>
          <a:prstGeom prst="rect">
            <a:avLst/>
          </a:prstGeom>
          <a:noFill/>
          <a:ln/>
        </p:spPr>
        <p:txBody>
          <a:bodyPr wrap="square" lIns="0" tIns="0" rIns="0" bIns="0" rtlCol="0" anchor="ctr"/>
          <a:lstStyle/>
          <a:p>
            <a:pPr indent="0" marL="0">
              <a:lnSpc>
                <a:spcPct val="106000"/>
              </a:lnSpc>
              <a:buNone/>
            </a:pPr>
            <a:r>
              <a:rPr lang="en-US" sz="1200" i="1" dirty="0">
                <a:solidFill>
                  <a:srgbClr val="5A6B7B"/>
                </a:solidFill>
                <a:latin typeface="Calibri" pitchFamily="34" charset="0"/>
                <a:ea typeface="Calibri" pitchFamily="34" charset="-122"/>
                <a:cs typeface="Calibri" pitchFamily="34" charset="-120"/>
              </a:rPr>
              <a:t>Extends Boulay et al. from a population relationship to a single-trial one.</a:t>
            </a:r>
            <a:endParaRPr lang="en-US" sz="1200" dirty="0"/>
          </a:p>
        </p:txBody>
      </p:sp>
      <p:sp>
        <p:nvSpPr>
          <p:cNvPr id="12" name="Shape 10"/>
          <p:cNvSpPr/>
          <p:nvPr/>
        </p:nvSpPr>
        <p:spPr>
          <a:xfrm>
            <a:off x="685800" y="4837176"/>
            <a:ext cx="10881360" cy="1325880"/>
          </a:xfrm>
          <a:prstGeom prst="roundRect">
            <a:avLst>
              <a:gd name="adj" fmla="val 551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5001768"/>
            <a:ext cx="2103120" cy="457200"/>
          </a:xfrm>
          <a:prstGeom prst="rect">
            <a:avLst/>
          </a:prstGeom>
          <a:noFill/>
          <a:ln/>
        </p:spPr>
        <p:txBody>
          <a:bodyPr wrap="square" lIns="0" tIns="0" rIns="0" bIns="0" rtlCol="0" anchor="ctr"/>
          <a:lstStyle/>
          <a:p>
            <a:pPr indent="0" marL="0">
              <a:buNone/>
            </a:pPr>
            <a:r>
              <a:rPr lang="en-US" sz="1900" b="1" dirty="0">
                <a:solidFill>
                  <a:srgbClr val="B4671A"/>
                </a:solidFill>
                <a:latin typeface="Cambria" pitchFamily="34" charset="0"/>
                <a:ea typeface="Cambria" pitchFamily="34" charset="-122"/>
                <a:cs typeface="Cambria" pitchFamily="34" charset="-120"/>
              </a:rPr>
              <a:t>The warning</a:t>
            </a:r>
            <a:endParaRPr lang="en-US" sz="1900" dirty="0"/>
          </a:p>
        </p:txBody>
      </p:sp>
      <p:sp>
        <p:nvSpPr>
          <p:cNvPr id="14" name="Text 12"/>
          <p:cNvSpPr/>
          <p:nvPr/>
        </p:nvSpPr>
        <p:spPr>
          <a:xfrm>
            <a:off x="3200400" y="4974336"/>
            <a:ext cx="4754880" cy="105156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The intuitive drift analysis produces a convincing result that three controls reject.</a:t>
            </a:r>
            <a:endParaRPr lang="en-US" sz="1300" dirty="0"/>
          </a:p>
        </p:txBody>
      </p:sp>
      <p:sp>
        <p:nvSpPr>
          <p:cNvPr id="15" name="Text 13"/>
          <p:cNvSpPr/>
          <p:nvPr/>
        </p:nvSpPr>
        <p:spPr>
          <a:xfrm>
            <a:off x="8183880" y="4974336"/>
            <a:ext cx="3108960" cy="1051560"/>
          </a:xfrm>
          <a:prstGeom prst="rect">
            <a:avLst/>
          </a:prstGeom>
          <a:noFill/>
          <a:ln/>
        </p:spPr>
        <p:txBody>
          <a:bodyPr wrap="square" lIns="0" tIns="0" rIns="0" bIns="0" rtlCol="0" anchor="ctr"/>
          <a:lstStyle/>
          <a:p>
            <a:pPr indent="0" marL="0">
              <a:lnSpc>
                <a:spcPct val="106000"/>
              </a:lnSpc>
              <a:buNone/>
            </a:pPr>
            <a:r>
              <a:rPr lang="en-US" sz="1200" i="1" dirty="0">
                <a:solidFill>
                  <a:srgbClr val="5A6B7B"/>
                </a:solidFill>
                <a:latin typeface="Calibri" pitchFamily="34" charset="0"/>
                <a:ea typeface="Calibri" pitchFamily="34" charset="-122"/>
                <a:cs typeface="Calibri" pitchFamily="34" charset="-120"/>
              </a:rPr>
              <a:t>We would want to save the next group from spending months on it.</a:t>
            </a:r>
            <a:endParaRPr lang="en-US" sz="1200" dirty="0"/>
          </a:p>
        </p:txBody>
      </p:sp>
      <p:sp>
        <p:nvSpPr>
          <p:cNvPr id="16" name="Shape 14"/>
          <p:cNvSpPr/>
          <p:nvPr/>
        </p:nvSpPr>
        <p:spPr>
          <a:xfrm>
            <a:off x="685800" y="6309360"/>
            <a:ext cx="10881360" cy="0"/>
          </a:xfrm>
          <a:prstGeom prst="roundRect">
            <a:avLst>
              <a:gd name="adj" fmla="val Infinity"/>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704088" y="6291072"/>
            <a:ext cx="10881360" cy="320040"/>
          </a:xfrm>
          <a:prstGeom prst="rect">
            <a:avLst/>
          </a:prstGeom>
          <a:noFill/>
          <a:ln/>
        </p:spPr>
        <p:txBody>
          <a:bodyPr wrap="square" lIns="0" tIns="0" rIns="0" bIns="0" rtlCol="0" anchor="ctr"/>
          <a:lstStyle/>
          <a:p>
            <a:pPr indent="0" marL="0">
              <a:buNone/>
            </a:pPr>
            <a:r>
              <a:rPr lang="en-US" sz="1250" i="1" dirty="0">
                <a:solidFill>
                  <a:srgbClr val="15718F"/>
                </a:solidFill>
                <a:latin typeface="Calibri" pitchFamily="34" charset="0"/>
                <a:ea typeface="Calibri" pitchFamily="34" charset="-122"/>
                <a:cs typeface="Calibri" pitchFamily="34" charset="-120"/>
              </a:rPr>
              <a:t>Target: a machine-learning venue, framed as an extension of the existing cortical–spinal work.</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PART 5 · WHY IT MIGHT MATTER</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Where a single-trial cortical readout could help</a:t>
            </a:r>
            <a:endParaRPr lang="en-US" sz="3000" dirty="0"/>
          </a:p>
        </p:txBody>
      </p:sp>
      <p:sp>
        <p:nvSpPr>
          <p:cNvPr id="4" name="Shape 2"/>
          <p:cNvSpPr/>
          <p:nvPr/>
        </p:nvSpPr>
        <p:spPr>
          <a:xfrm>
            <a:off x="685800"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78408" y="2377440"/>
            <a:ext cx="457200" cy="54864"/>
          </a:xfrm>
          <a:prstGeom prst="rect">
            <a:avLst/>
          </a:prstGeom>
          <a:solidFill>
            <a:srgbClr val="15718F"/>
          </a:solidFill>
          <a:ln/>
        </p:spPr>
      </p:sp>
      <p:sp>
        <p:nvSpPr>
          <p:cNvPr id="6" name="Text 4"/>
          <p:cNvSpPr/>
          <p:nvPr/>
        </p:nvSpPr>
        <p:spPr>
          <a:xfrm>
            <a:off x="978408" y="2606040"/>
            <a:ext cx="3017520" cy="777240"/>
          </a:xfrm>
          <a:prstGeom prst="rect">
            <a:avLst/>
          </a:prstGeom>
          <a:noFill/>
          <a:ln/>
        </p:spPr>
        <p:txBody>
          <a:bodyPr wrap="square" lIns="0" tIns="0" rIns="0" bIns="0" rtlCol="0" anchor="ctr"/>
          <a:lstStyle/>
          <a:p>
            <a:pPr indent="0" marL="0">
              <a:lnSpc>
                <a:spcPct val="100000"/>
              </a:lnSpc>
              <a:buNone/>
            </a:pPr>
            <a:r>
              <a:rPr lang="en-US" sz="2000" b="1" dirty="0">
                <a:solidFill>
                  <a:srgbClr val="14212E"/>
                </a:solidFill>
                <a:latin typeface="Cambria" pitchFamily="34" charset="0"/>
                <a:ea typeface="Cambria" pitchFamily="34" charset="-122"/>
                <a:cs typeface="Cambria" pitchFamily="34" charset="-120"/>
              </a:rPr>
              <a:t>Closing the loop</a:t>
            </a:r>
            <a:endParaRPr lang="en-US" sz="2000" dirty="0"/>
          </a:p>
        </p:txBody>
      </p:sp>
      <p:sp>
        <p:nvSpPr>
          <p:cNvPr id="7" name="Text 5"/>
          <p:cNvSpPr/>
          <p:nvPr/>
        </p:nvSpPr>
        <p:spPr>
          <a:xfrm>
            <a:off x="978408" y="3520440"/>
            <a:ext cx="3017520" cy="1234440"/>
          </a:xfrm>
          <a:prstGeom prst="rect">
            <a:avLst/>
          </a:prstGeom>
          <a:noFill/>
          <a:ln/>
        </p:spPr>
        <p:txBody>
          <a:bodyPr wrap="square" lIns="0" tIns="0" rIns="0" bIns="0" rtlCol="0" anchor="ctr"/>
          <a:lstStyle/>
          <a:p>
            <a:pPr indent="0" marL="0">
              <a:lnSpc>
                <a:spcPct val="108000"/>
              </a:lnSpc>
              <a:buNone/>
            </a:pPr>
            <a:r>
              <a:rPr lang="en-US" sz="1300" dirty="0">
                <a:solidFill>
                  <a:srgbClr val="5A6B7B"/>
                </a:solidFill>
                <a:latin typeface="Calibri" pitchFamily="34" charset="0"/>
                <a:ea typeface="Calibri" pitchFamily="34" charset="-122"/>
                <a:cs typeface="Calibri" pitchFamily="34" charset="-120"/>
              </a:rPr>
              <a:t>If cortex predicts the reflex before the fact, conditioning protocols could adapt trial by trial rather than day by day.</a:t>
            </a:r>
            <a:endParaRPr lang="en-US" sz="1300" dirty="0"/>
          </a:p>
        </p:txBody>
      </p:sp>
      <p:sp>
        <p:nvSpPr>
          <p:cNvPr id="8" name="Shape 6"/>
          <p:cNvSpPr/>
          <p:nvPr/>
        </p:nvSpPr>
        <p:spPr>
          <a:xfrm>
            <a:off x="4416552"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Shape 7"/>
          <p:cNvSpPr/>
          <p:nvPr/>
        </p:nvSpPr>
        <p:spPr>
          <a:xfrm>
            <a:off x="4709160" y="2377440"/>
            <a:ext cx="457200" cy="54864"/>
          </a:xfrm>
          <a:prstGeom prst="rect">
            <a:avLst/>
          </a:prstGeom>
          <a:solidFill>
            <a:srgbClr val="3B6E43"/>
          </a:solidFill>
          <a:ln/>
        </p:spPr>
      </p:sp>
      <p:sp>
        <p:nvSpPr>
          <p:cNvPr id="10" name="Text 8"/>
          <p:cNvSpPr/>
          <p:nvPr/>
        </p:nvSpPr>
        <p:spPr>
          <a:xfrm>
            <a:off x="4709160" y="2606040"/>
            <a:ext cx="3017520" cy="777240"/>
          </a:xfrm>
          <a:prstGeom prst="rect">
            <a:avLst/>
          </a:prstGeom>
          <a:noFill/>
          <a:ln/>
        </p:spPr>
        <p:txBody>
          <a:bodyPr wrap="square" lIns="0" tIns="0" rIns="0" bIns="0" rtlCol="0" anchor="ctr"/>
          <a:lstStyle/>
          <a:p>
            <a:pPr indent="0" marL="0">
              <a:lnSpc>
                <a:spcPct val="100000"/>
              </a:lnSpc>
              <a:buNone/>
            </a:pPr>
            <a:r>
              <a:rPr lang="en-US" sz="2000" b="1" dirty="0">
                <a:solidFill>
                  <a:srgbClr val="14212E"/>
                </a:solidFill>
                <a:latin typeface="Cambria" pitchFamily="34" charset="0"/>
                <a:ea typeface="Cambria" pitchFamily="34" charset="-122"/>
                <a:cs typeface="Cambria" pitchFamily="34" charset="-120"/>
              </a:rPr>
              <a:t>Understanding who responds</a:t>
            </a:r>
            <a:endParaRPr lang="en-US" sz="2000" dirty="0"/>
          </a:p>
        </p:txBody>
      </p:sp>
      <p:sp>
        <p:nvSpPr>
          <p:cNvPr id="11" name="Text 9"/>
          <p:cNvSpPr/>
          <p:nvPr/>
        </p:nvSpPr>
        <p:spPr>
          <a:xfrm>
            <a:off x="4709160" y="3520440"/>
            <a:ext cx="3017520" cy="1234440"/>
          </a:xfrm>
          <a:prstGeom prst="rect">
            <a:avLst/>
          </a:prstGeom>
          <a:noFill/>
          <a:ln/>
        </p:spPr>
        <p:txBody>
          <a:bodyPr wrap="square" lIns="0" tIns="0" rIns="0" bIns="0" rtlCol="0" anchor="ctr"/>
          <a:lstStyle/>
          <a:p>
            <a:pPr indent="0" marL="0">
              <a:lnSpc>
                <a:spcPct val="108000"/>
              </a:lnSpc>
              <a:buNone/>
            </a:pPr>
            <a:r>
              <a:rPr lang="en-US" sz="1300" dirty="0">
                <a:solidFill>
                  <a:srgbClr val="5A6B7B"/>
                </a:solidFill>
                <a:latin typeface="Calibri" pitchFamily="34" charset="0"/>
                <a:ea typeface="Calibri" pitchFamily="34" charset="-122"/>
                <a:cs typeface="Calibri" pitchFamily="34" charset="-120"/>
              </a:rPr>
              <a:t>Roughly a third of animals — and people — don't respond to conditioning. A cortical readout might show why, early.</a:t>
            </a:r>
            <a:endParaRPr lang="en-US" sz="1300" dirty="0"/>
          </a:p>
        </p:txBody>
      </p:sp>
      <p:sp>
        <p:nvSpPr>
          <p:cNvPr id="12" name="Shape 10"/>
          <p:cNvSpPr/>
          <p:nvPr/>
        </p:nvSpPr>
        <p:spPr>
          <a:xfrm>
            <a:off x="8147304"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Shape 11"/>
          <p:cNvSpPr/>
          <p:nvPr/>
        </p:nvSpPr>
        <p:spPr>
          <a:xfrm>
            <a:off x="8439912" y="2377440"/>
            <a:ext cx="457200" cy="54864"/>
          </a:xfrm>
          <a:prstGeom prst="rect">
            <a:avLst/>
          </a:prstGeom>
          <a:solidFill>
            <a:srgbClr val="6B4E8F"/>
          </a:solidFill>
          <a:ln/>
        </p:spPr>
      </p:sp>
      <p:sp>
        <p:nvSpPr>
          <p:cNvPr id="14" name="Text 12"/>
          <p:cNvSpPr/>
          <p:nvPr/>
        </p:nvSpPr>
        <p:spPr>
          <a:xfrm>
            <a:off x="8439912" y="2606040"/>
            <a:ext cx="3017520" cy="777240"/>
          </a:xfrm>
          <a:prstGeom prst="rect">
            <a:avLst/>
          </a:prstGeom>
          <a:noFill/>
          <a:ln/>
        </p:spPr>
        <p:txBody>
          <a:bodyPr wrap="square" lIns="0" tIns="0" rIns="0" bIns="0" rtlCol="0" anchor="ctr"/>
          <a:lstStyle/>
          <a:p>
            <a:pPr indent="0" marL="0">
              <a:lnSpc>
                <a:spcPct val="100000"/>
              </a:lnSpc>
              <a:buNone/>
            </a:pPr>
            <a:r>
              <a:rPr lang="en-US" sz="2000" b="1" dirty="0">
                <a:solidFill>
                  <a:srgbClr val="14212E"/>
                </a:solidFill>
                <a:latin typeface="Cambria" pitchFamily="34" charset="0"/>
                <a:ea typeface="Cambria" pitchFamily="34" charset="-122"/>
                <a:cs typeface="Cambria" pitchFamily="34" charset="-120"/>
              </a:rPr>
              <a:t>Rehabilitation</a:t>
            </a:r>
            <a:endParaRPr lang="en-US" sz="2000" dirty="0"/>
          </a:p>
        </p:txBody>
      </p:sp>
      <p:sp>
        <p:nvSpPr>
          <p:cNvPr id="15" name="Text 13"/>
          <p:cNvSpPr/>
          <p:nvPr/>
        </p:nvSpPr>
        <p:spPr>
          <a:xfrm>
            <a:off x="8439912" y="3520440"/>
            <a:ext cx="3017520" cy="1234440"/>
          </a:xfrm>
          <a:prstGeom prst="rect">
            <a:avLst/>
          </a:prstGeom>
          <a:noFill/>
          <a:ln/>
        </p:spPr>
        <p:txBody>
          <a:bodyPr wrap="square" lIns="0" tIns="0" rIns="0" bIns="0" rtlCol="0" anchor="ctr"/>
          <a:lstStyle/>
          <a:p>
            <a:pPr indent="0" marL="0">
              <a:lnSpc>
                <a:spcPct val="108000"/>
              </a:lnSpc>
              <a:buNone/>
            </a:pPr>
            <a:r>
              <a:rPr lang="en-US" sz="1300" dirty="0">
                <a:solidFill>
                  <a:srgbClr val="5A6B7B"/>
                </a:solidFill>
                <a:latin typeface="Calibri" pitchFamily="34" charset="0"/>
                <a:ea typeface="Calibri" pitchFamily="34" charset="-122"/>
                <a:cs typeface="Calibri" pitchFamily="34" charset="-120"/>
              </a:rPr>
              <a:t>Reflex conditioning is already used clinically after spinal cord injury. Any handle on the cortical side is a handle on individualising it.</a:t>
            </a:r>
            <a:endParaRPr lang="en-US" sz="1300" dirty="0"/>
          </a:p>
        </p:txBody>
      </p:sp>
      <p:sp>
        <p:nvSpPr>
          <p:cNvPr id="16" name="Shape 14"/>
          <p:cNvSpPr/>
          <p:nvPr/>
        </p:nvSpPr>
        <p:spPr>
          <a:xfrm>
            <a:off x="685800" y="5166360"/>
            <a:ext cx="10881360" cy="960120"/>
          </a:xfrm>
          <a:prstGeom prst="roundRect">
            <a:avLst>
              <a:gd name="adj" fmla="val 7619"/>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5321808"/>
            <a:ext cx="10241280" cy="64008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All three depend on the effect being larger and more reliable than what we can currently demonstrate. We are not there yet — but this is the direction that would make it worth getting there.</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150" b="1" spc="320" kern="0" dirty="0">
                <a:solidFill>
                  <a:srgbClr val="3B6E43"/>
                </a:solidFill>
                <a:latin typeface="Calibri" pitchFamily="34" charset="0"/>
                <a:ea typeface="Calibri" pitchFamily="34" charset="-122"/>
                <a:cs typeface="Calibri" pitchFamily="34" charset="-120"/>
              </a:rPr>
              <a:t>PART 5 · NEXT</a:t>
            </a:r>
            <a:endParaRPr lang="en-US" sz="115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happens next</a:t>
            </a:r>
            <a:endParaRPr lang="en-US" sz="3000" dirty="0"/>
          </a:p>
        </p:txBody>
      </p:sp>
      <p:sp>
        <p:nvSpPr>
          <p:cNvPr id="4" name="Shape 2"/>
          <p:cNvSpPr/>
          <p:nvPr/>
        </p:nvSpPr>
        <p:spPr>
          <a:xfrm>
            <a:off x="685800" y="1965960"/>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60120" y="2167128"/>
            <a:ext cx="438912" cy="438912"/>
          </a:xfrm>
          <a:prstGeom prst="ellipse">
            <a:avLst/>
          </a:prstGeom>
          <a:solidFill>
            <a:srgbClr val="15718F"/>
          </a:solidFill>
          <a:ln/>
        </p:spPr>
      </p:sp>
      <p:sp>
        <p:nvSpPr>
          <p:cNvPr id="6" name="Text 4"/>
          <p:cNvSpPr/>
          <p:nvPr/>
        </p:nvSpPr>
        <p:spPr>
          <a:xfrm>
            <a:off x="960120" y="216712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36192" y="2093976"/>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Process the remaining animals</a:t>
            </a:r>
            <a:endParaRPr lang="en-US" sz="1400" dirty="0"/>
          </a:p>
        </p:txBody>
      </p:sp>
      <p:sp>
        <p:nvSpPr>
          <p:cNvPr id="8" name="Text 6"/>
          <p:cNvSpPr/>
          <p:nvPr/>
        </p:nvSpPr>
        <p:spPr>
          <a:xfrm>
            <a:off x="5303520" y="2093976"/>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Five are downloaded and ready. Takes the sample from five to about ten.</a:t>
            </a:r>
            <a:endParaRPr lang="en-US" sz="1250" dirty="0"/>
          </a:p>
        </p:txBody>
      </p:sp>
      <p:sp>
        <p:nvSpPr>
          <p:cNvPr id="9" name="Text 7"/>
          <p:cNvSpPr/>
          <p:nvPr/>
        </p:nvSpPr>
        <p:spPr>
          <a:xfrm>
            <a:off x="10149840" y="2093976"/>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this week</a:t>
            </a:r>
            <a:endParaRPr lang="en-US" sz="1150" dirty="0"/>
          </a:p>
        </p:txBody>
      </p:sp>
      <p:sp>
        <p:nvSpPr>
          <p:cNvPr id="10" name="Shape 8"/>
          <p:cNvSpPr/>
          <p:nvPr/>
        </p:nvSpPr>
        <p:spPr>
          <a:xfrm>
            <a:off x="685800" y="2916936"/>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Shape 9"/>
          <p:cNvSpPr/>
          <p:nvPr/>
        </p:nvSpPr>
        <p:spPr>
          <a:xfrm>
            <a:off x="960120" y="3118104"/>
            <a:ext cx="438912" cy="438912"/>
          </a:xfrm>
          <a:prstGeom prst="ellipse">
            <a:avLst/>
          </a:prstGeom>
          <a:solidFill>
            <a:srgbClr val="15718F"/>
          </a:solidFill>
          <a:ln/>
        </p:spPr>
      </p:sp>
      <p:sp>
        <p:nvSpPr>
          <p:cNvPr id="12" name="Text 10"/>
          <p:cNvSpPr/>
          <p:nvPr/>
        </p:nvSpPr>
        <p:spPr>
          <a:xfrm>
            <a:off x="96012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536192" y="3044952"/>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Power the scaling test</a:t>
            </a:r>
            <a:endParaRPr lang="en-US" sz="1400" dirty="0"/>
          </a:p>
        </p:txBody>
      </p:sp>
      <p:sp>
        <p:nvSpPr>
          <p:cNvPr id="14" name="Text 12"/>
          <p:cNvSpPr/>
          <p:nvPr/>
        </p:nvSpPr>
        <p:spPr>
          <a:xfrm>
            <a:off x="5303520" y="3044952"/>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With ten animals the learning-versus-coupling correlation becomes a real test.</a:t>
            </a:r>
            <a:endParaRPr lang="en-US" sz="1250" dirty="0"/>
          </a:p>
        </p:txBody>
      </p:sp>
      <p:sp>
        <p:nvSpPr>
          <p:cNvPr id="15" name="Text 13"/>
          <p:cNvSpPr/>
          <p:nvPr/>
        </p:nvSpPr>
        <p:spPr>
          <a:xfrm>
            <a:off x="10149840" y="3044952"/>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next</a:t>
            </a:r>
            <a:endParaRPr lang="en-US" sz="1150" dirty="0"/>
          </a:p>
        </p:txBody>
      </p:sp>
      <p:sp>
        <p:nvSpPr>
          <p:cNvPr id="16" name="Shape 14"/>
          <p:cNvSpPr/>
          <p:nvPr/>
        </p:nvSpPr>
        <p:spPr>
          <a:xfrm>
            <a:off x="685800" y="3867912"/>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Shape 15"/>
          <p:cNvSpPr/>
          <p:nvPr/>
        </p:nvSpPr>
        <p:spPr>
          <a:xfrm>
            <a:off x="960120" y="4069080"/>
            <a:ext cx="438912" cy="438912"/>
          </a:xfrm>
          <a:prstGeom prst="ellipse">
            <a:avLst/>
          </a:prstGeom>
          <a:solidFill>
            <a:srgbClr val="6B4E8F"/>
          </a:solidFill>
          <a:ln/>
        </p:spPr>
      </p:sp>
      <p:sp>
        <p:nvSpPr>
          <p:cNvPr id="18" name="Text 16"/>
          <p:cNvSpPr/>
          <p:nvPr/>
        </p:nvSpPr>
        <p:spPr>
          <a:xfrm>
            <a:off x="960120" y="406908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1536192" y="3995928"/>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Frequency-resolved coupling</a:t>
            </a:r>
            <a:endParaRPr lang="en-US" sz="1400" dirty="0"/>
          </a:p>
        </p:txBody>
      </p:sp>
      <p:sp>
        <p:nvSpPr>
          <p:cNvPr id="20" name="Text 18"/>
          <p:cNvSpPr/>
          <p:nvPr/>
        </p:nvSpPr>
        <p:spPr>
          <a:xfrm>
            <a:off x="5303520" y="3995928"/>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Which bands carry the reflex information? Sharpens the finding and the contamination argument.</a:t>
            </a:r>
            <a:endParaRPr lang="en-US" sz="1250" dirty="0"/>
          </a:p>
        </p:txBody>
      </p:sp>
      <p:sp>
        <p:nvSpPr>
          <p:cNvPr id="21" name="Text 19"/>
          <p:cNvSpPr/>
          <p:nvPr/>
        </p:nvSpPr>
        <p:spPr>
          <a:xfrm>
            <a:off x="10149840" y="3995928"/>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next</a:t>
            </a:r>
            <a:endParaRPr lang="en-US" sz="1150" dirty="0"/>
          </a:p>
        </p:txBody>
      </p:sp>
      <p:sp>
        <p:nvSpPr>
          <p:cNvPr id="22" name="Shape 20"/>
          <p:cNvSpPr/>
          <p:nvPr/>
        </p:nvSpPr>
        <p:spPr>
          <a:xfrm>
            <a:off x="685800" y="4818888"/>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3" name="Shape 21"/>
          <p:cNvSpPr/>
          <p:nvPr/>
        </p:nvSpPr>
        <p:spPr>
          <a:xfrm>
            <a:off x="960120" y="5020056"/>
            <a:ext cx="438912" cy="438912"/>
          </a:xfrm>
          <a:prstGeom prst="ellipse">
            <a:avLst/>
          </a:prstGeom>
          <a:solidFill>
            <a:srgbClr val="6B4E8F"/>
          </a:solidFill>
          <a:ln/>
        </p:spPr>
      </p:sp>
      <p:sp>
        <p:nvSpPr>
          <p:cNvPr id="24" name="Text 22"/>
          <p:cNvSpPr/>
          <p:nvPr/>
        </p:nvSpPr>
        <p:spPr>
          <a:xfrm>
            <a:off x="960120" y="502005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1536192" y="4946904"/>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The reward-criterion measure</a:t>
            </a:r>
            <a:endParaRPr lang="en-US" sz="1400" dirty="0"/>
          </a:p>
        </p:txBody>
      </p:sp>
      <p:sp>
        <p:nvSpPr>
          <p:cNvPr id="26" name="Text 24"/>
          <p:cNvSpPr/>
          <p:nvPr/>
        </p:nvSpPr>
        <p:spPr>
          <a:xfrm>
            <a:off x="5303520" y="4946904"/>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An independent behavioural record to correlate against.</a:t>
            </a:r>
            <a:endParaRPr lang="en-US" sz="1250" dirty="0"/>
          </a:p>
        </p:txBody>
      </p:sp>
      <p:sp>
        <p:nvSpPr>
          <p:cNvPr id="27" name="Text 25"/>
          <p:cNvSpPr/>
          <p:nvPr/>
        </p:nvSpPr>
        <p:spPr>
          <a:xfrm>
            <a:off x="10149840" y="4946904"/>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new thread</a:t>
            </a:r>
            <a:endParaRPr lang="en-US" sz="1150" dirty="0"/>
          </a:p>
        </p:txBody>
      </p:sp>
      <p:sp>
        <p:nvSpPr>
          <p:cNvPr id="28" name="Shape 26"/>
          <p:cNvSpPr/>
          <p:nvPr/>
        </p:nvSpPr>
        <p:spPr>
          <a:xfrm>
            <a:off x="685800" y="5769864"/>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9" name="Shape 27"/>
          <p:cNvSpPr/>
          <p:nvPr/>
        </p:nvSpPr>
        <p:spPr>
          <a:xfrm>
            <a:off x="960120" y="5971032"/>
            <a:ext cx="438912" cy="438912"/>
          </a:xfrm>
          <a:prstGeom prst="ellipse">
            <a:avLst/>
          </a:prstGeom>
          <a:solidFill>
            <a:srgbClr val="3B6E43"/>
          </a:solidFill>
          <a:ln/>
        </p:spPr>
      </p:sp>
      <p:sp>
        <p:nvSpPr>
          <p:cNvPr id="30" name="Text 28"/>
          <p:cNvSpPr/>
          <p:nvPr/>
        </p:nvSpPr>
        <p:spPr>
          <a:xfrm>
            <a:off x="960120" y="597103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p:nvPr/>
        </p:nvSpPr>
        <p:spPr>
          <a:xfrm>
            <a:off x="1536192" y="5897880"/>
            <a:ext cx="3657600" cy="566928"/>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Write it up</a:t>
            </a:r>
            <a:endParaRPr lang="en-US" sz="1400" dirty="0"/>
          </a:p>
        </p:txBody>
      </p:sp>
      <p:sp>
        <p:nvSpPr>
          <p:cNvPr id="32" name="Text 30"/>
          <p:cNvSpPr/>
          <p:nvPr/>
        </p:nvSpPr>
        <p:spPr>
          <a:xfrm>
            <a:off x="5303520" y="5897880"/>
            <a:ext cx="4754880" cy="566928"/>
          </a:xfrm>
          <a:prstGeom prst="rect">
            <a:avLst/>
          </a:prstGeom>
          <a:noFill/>
          <a:ln/>
        </p:spPr>
        <p:txBody>
          <a:bodyPr wrap="square" lIns="0" tIns="0" rIns="0" bIns="0" rtlCol="0" anchor="ctr"/>
          <a:lstStyle/>
          <a:p>
            <a:pPr indent="0" marL="0">
              <a:lnSpc>
                <a:spcPct val="102000"/>
              </a:lnSpc>
              <a:buNone/>
            </a:pPr>
            <a:r>
              <a:rPr lang="en-US" sz="1250" dirty="0">
                <a:solidFill>
                  <a:srgbClr val="5A6B7B"/>
                </a:solidFill>
                <a:latin typeface="Calibri" pitchFamily="34" charset="0"/>
                <a:ea typeface="Calibri" pitchFamily="34" charset="-122"/>
                <a:cs typeface="Calibri" pitchFamily="34" charset="-120"/>
              </a:rPr>
              <a:t>Method, finding and warning.</a:t>
            </a:r>
            <a:endParaRPr lang="en-US" sz="1250" dirty="0"/>
          </a:p>
        </p:txBody>
      </p:sp>
      <p:sp>
        <p:nvSpPr>
          <p:cNvPr id="33" name="Text 31"/>
          <p:cNvSpPr/>
          <p:nvPr/>
        </p:nvSpPr>
        <p:spPr>
          <a:xfrm>
            <a:off x="10149840" y="5897880"/>
            <a:ext cx="1188720" cy="566928"/>
          </a:xfrm>
          <a:prstGeom prst="rect">
            <a:avLst/>
          </a:prstGeom>
          <a:noFill/>
          <a:ln/>
        </p:spPr>
        <p:txBody>
          <a:bodyPr wrap="square" lIns="0" tIns="0" rIns="0" bIns="0" rtlCol="0" anchor="ctr"/>
          <a:lstStyle/>
          <a:p>
            <a:pPr algn="r" indent="0" marL="0">
              <a:buNone/>
            </a:pPr>
            <a:r>
              <a:rPr lang="en-US" sz="1150" i="1" dirty="0">
                <a:solidFill>
                  <a:srgbClr val="9AA8B4"/>
                </a:solidFill>
                <a:latin typeface="Calibri" pitchFamily="34" charset="0"/>
                <a:ea typeface="Calibri" pitchFamily="34" charset="-122"/>
                <a:cs typeface="Calibri" pitchFamily="34" charset="-120"/>
              </a:rPr>
              <a:t>after that</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620"/>
        </a:solidFill>
      </p:bgPr>
    </p:bg>
    <p:spTree>
      <p:nvGrpSpPr>
        <p:cNvPr id="1" name=""/>
        <p:cNvGrpSpPr/>
        <p:nvPr/>
      </p:nvGrpSpPr>
      <p:grpSpPr>
        <a:xfrm>
          <a:off x="0" y="0"/>
          <a:ext cx="0" cy="0"/>
          <a:chOff x="0" y="0"/>
          <a:chExt cx="0" cy="0"/>
        </a:xfrm>
      </p:grpSpPr>
      <p:sp>
        <p:nvSpPr>
          <p:cNvPr id="2" name="Text 0"/>
          <p:cNvSpPr/>
          <p:nvPr/>
        </p:nvSpPr>
        <p:spPr>
          <a:xfrm>
            <a:off x="777240" y="566928"/>
            <a:ext cx="10058400" cy="365760"/>
          </a:xfrm>
          <a:prstGeom prst="rect">
            <a:avLst/>
          </a:prstGeom>
          <a:noFill/>
          <a:ln/>
        </p:spPr>
        <p:txBody>
          <a:bodyPr wrap="square" lIns="0" tIns="0" rIns="0" bIns="0" rtlCol="0" anchor="ctr"/>
          <a:lstStyle/>
          <a:p>
            <a:pPr indent="0" marL="0">
              <a:buNone/>
            </a:pPr>
            <a:r>
              <a:rPr lang="en-US" sz="1300" b="1" spc="300" kern="0" dirty="0">
                <a:solidFill>
                  <a:srgbClr val="7FB8C9"/>
                </a:solidFill>
                <a:latin typeface="Calibri" pitchFamily="34" charset="0"/>
                <a:ea typeface="Calibri" pitchFamily="34" charset="-122"/>
                <a:cs typeface="Calibri" pitchFamily="34" charset="-120"/>
              </a:rPr>
              <a:t>WHERE WE'D VALUE YOUR INPUT</a:t>
            </a:r>
            <a:endParaRPr lang="en-US" sz="1300" dirty="0"/>
          </a:p>
        </p:txBody>
      </p:sp>
      <p:sp>
        <p:nvSpPr>
          <p:cNvPr id="3" name="Text 1"/>
          <p:cNvSpPr/>
          <p:nvPr/>
        </p:nvSpPr>
        <p:spPr>
          <a:xfrm>
            <a:off x="777240" y="96012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Four questions</a:t>
            </a:r>
            <a:endParaRPr lang="en-US" sz="3200" dirty="0"/>
          </a:p>
        </p:txBody>
      </p:sp>
      <p:sp>
        <p:nvSpPr>
          <p:cNvPr id="4" name="Shape 2"/>
          <p:cNvSpPr/>
          <p:nvPr/>
        </p:nvSpPr>
        <p:spPr>
          <a:xfrm>
            <a:off x="777240" y="1920240"/>
            <a:ext cx="5257800" cy="1920240"/>
          </a:xfrm>
          <a:prstGeom prst="roundRect">
            <a:avLst>
              <a:gd name="adj" fmla="val 3810"/>
            </a:avLst>
          </a:prstGeom>
          <a:solidFill>
            <a:srgbClr val="15222E"/>
          </a:solidFill>
          <a:ln w="12700">
            <a:solidFill>
              <a:srgbClr val="2C3D4C"/>
            </a:solidFill>
            <a:prstDash val="solid"/>
          </a:ln>
        </p:spPr>
      </p:sp>
      <p:sp>
        <p:nvSpPr>
          <p:cNvPr id="5" name="Shape 3"/>
          <p:cNvSpPr/>
          <p:nvPr/>
        </p:nvSpPr>
        <p:spPr>
          <a:xfrm>
            <a:off x="1069848" y="2212848"/>
            <a:ext cx="420624" cy="420624"/>
          </a:xfrm>
          <a:prstGeom prst="ellipse">
            <a:avLst/>
          </a:prstGeom>
          <a:solidFill>
            <a:srgbClr val="15718F"/>
          </a:solidFill>
          <a:ln/>
        </p:spPr>
      </p:sp>
      <p:sp>
        <p:nvSpPr>
          <p:cNvPr id="6" name="Text 4"/>
          <p:cNvSpPr/>
          <p:nvPr/>
        </p:nvSpPr>
        <p:spPr>
          <a:xfrm>
            <a:off x="1069848" y="22128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645920" y="2176272"/>
            <a:ext cx="4206240" cy="566928"/>
          </a:xfrm>
          <a:prstGeom prst="rect">
            <a:avLst/>
          </a:prstGeom>
          <a:noFill/>
          <a:ln/>
        </p:spPr>
        <p:txBody>
          <a:bodyPr wrap="square" lIns="0" tIns="0" rIns="0" bIns="0" rtlCol="0" anchor="ctr"/>
          <a:lstStyle/>
          <a:p>
            <a:pPr indent="0" marL="0">
              <a:lnSpc>
                <a:spcPct val="98000"/>
              </a:lnSpc>
              <a:buNone/>
            </a:pPr>
            <a:r>
              <a:rPr lang="en-US" sz="1450" b="1" dirty="0">
                <a:solidFill>
                  <a:srgbClr val="FFFFFF"/>
                </a:solidFill>
                <a:latin typeface="Calibri" pitchFamily="34" charset="0"/>
                <a:ea typeface="Calibri" pitchFamily="34" charset="-122"/>
                <a:cs typeface="Calibri" pitchFamily="34" charset="-120"/>
              </a:rPr>
              <a:t>Is a 2% unique contribution worth reporting?</a:t>
            </a:r>
            <a:endParaRPr lang="en-US" sz="1450" dirty="0"/>
          </a:p>
        </p:txBody>
      </p:sp>
      <p:sp>
        <p:nvSpPr>
          <p:cNvPr id="8" name="Text 6"/>
          <p:cNvSpPr/>
          <p:nvPr/>
        </p:nvSpPr>
        <p:spPr>
          <a:xfrm>
            <a:off x="1088136" y="2880360"/>
            <a:ext cx="4663440" cy="822960"/>
          </a:xfrm>
          <a:prstGeom prst="rect">
            <a:avLst/>
          </a:prstGeom>
          <a:noFill/>
          <a:ln/>
        </p:spPr>
        <p:txBody>
          <a:bodyPr wrap="square" lIns="0" tIns="0" rIns="0" bIns="0" rtlCol="0" anchor="ctr"/>
          <a:lstStyle/>
          <a:p>
            <a:pPr indent="0" marL="0">
              <a:lnSpc>
                <a:spcPct val="106000"/>
              </a:lnSpc>
              <a:buNone/>
            </a:pPr>
            <a:r>
              <a:rPr lang="en-US" sz="1200" dirty="0">
                <a:solidFill>
                  <a:srgbClr val="AFC0CC"/>
                </a:solidFill>
                <a:latin typeface="Calibri" pitchFamily="34" charset="0"/>
                <a:ea typeface="Calibri" pitchFamily="34" charset="-122"/>
                <a:cs typeface="Calibri" pitchFamily="34" charset="-120"/>
              </a:rPr>
              <a:t>Small, but consistent, and it survives every control we could think of.</a:t>
            </a:r>
            <a:endParaRPr lang="en-US" sz="1200" dirty="0"/>
          </a:p>
        </p:txBody>
      </p:sp>
      <p:sp>
        <p:nvSpPr>
          <p:cNvPr id="9" name="Shape 7"/>
          <p:cNvSpPr/>
          <p:nvPr/>
        </p:nvSpPr>
        <p:spPr>
          <a:xfrm>
            <a:off x="6309360" y="1920240"/>
            <a:ext cx="5257800" cy="1920240"/>
          </a:xfrm>
          <a:prstGeom prst="roundRect">
            <a:avLst>
              <a:gd name="adj" fmla="val 3810"/>
            </a:avLst>
          </a:prstGeom>
          <a:solidFill>
            <a:srgbClr val="15222E"/>
          </a:solidFill>
          <a:ln w="12700">
            <a:solidFill>
              <a:srgbClr val="2C3D4C"/>
            </a:solidFill>
            <a:prstDash val="solid"/>
          </a:ln>
        </p:spPr>
      </p:sp>
      <p:sp>
        <p:nvSpPr>
          <p:cNvPr id="10" name="Shape 8"/>
          <p:cNvSpPr/>
          <p:nvPr/>
        </p:nvSpPr>
        <p:spPr>
          <a:xfrm>
            <a:off x="6601968" y="2212848"/>
            <a:ext cx="420624" cy="420624"/>
          </a:xfrm>
          <a:prstGeom prst="ellipse">
            <a:avLst/>
          </a:prstGeom>
          <a:solidFill>
            <a:srgbClr val="15718F"/>
          </a:solidFill>
          <a:ln/>
        </p:spPr>
      </p:sp>
      <p:sp>
        <p:nvSpPr>
          <p:cNvPr id="11" name="Text 9"/>
          <p:cNvSpPr/>
          <p:nvPr/>
        </p:nvSpPr>
        <p:spPr>
          <a:xfrm>
            <a:off x="6601968" y="22128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7178040" y="2176272"/>
            <a:ext cx="4206240" cy="566928"/>
          </a:xfrm>
          <a:prstGeom prst="rect">
            <a:avLst/>
          </a:prstGeom>
          <a:noFill/>
          <a:ln/>
        </p:spPr>
        <p:txBody>
          <a:bodyPr wrap="square" lIns="0" tIns="0" rIns="0" bIns="0" rtlCol="0" anchor="ctr"/>
          <a:lstStyle/>
          <a:p>
            <a:pPr indent="0" marL="0">
              <a:lnSpc>
                <a:spcPct val="98000"/>
              </a:lnSpc>
              <a:buNone/>
            </a:pPr>
            <a:r>
              <a:rPr lang="en-US" sz="1450" b="1" dirty="0">
                <a:solidFill>
                  <a:srgbClr val="FFFFFF"/>
                </a:solidFill>
                <a:latin typeface="Calibri" pitchFamily="34" charset="0"/>
                <a:ea typeface="Calibri" pitchFamily="34" charset="-122"/>
                <a:cs typeface="Calibri" pitchFamily="34" charset="-120"/>
              </a:rPr>
              <a:t>Does the within-window design convince you?</a:t>
            </a:r>
            <a:endParaRPr lang="en-US" sz="1450" dirty="0"/>
          </a:p>
        </p:txBody>
      </p:sp>
      <p:sp>
        <p:nvSpPr>
          <p:cNvPr id="13" name="Text 11"/>
          <p:cNvSpPr/>
          <p:nvPr/>
        </p:nvSpPr>
        <p:spPr>
          <a:xfrm>
            <a:off x="6620256" y="2880360"/>
            <a:ext cx="4663440" cy="822960"/>
          </a:xfrm>
          <a:prstGeom prst="rect">
            <a:avLst/>
          </a:prstGeom>
          <a:noFill/>
          <a:ln/>
        </p:spPr>
        <p:txBody>
          <a:bodyPr wrap="square" lIns="0" tIns="0" rIns="0" bIns="0" rtlCol="0" anchor="ctr"/>
          <a:lstStyle/>
          <a:p>
            <a:pPr indent="0" marL="0">
              <a:lnSpc>
                <a:spcPct val="106000"/>
              </a:lnSpc>
              <a:buNone/>
            </a:pPr>
            <a:r>
              <a:rPr lang="en-US" sz="1200" dirty="0">
                <a:solidFill>
                  <a:srgbClr val="AFC0CC"/>
                </a:solidFill>
                <a:latin typeface="Calibri" pitchFamily="34" charset="0"/>
                <a:ea typeface="Calibri" pitchFamily="34" charset="-122"/>
                <a:cs typeface="Calibri" pitchFamily="34" charset="-120"/>
              </a:rPr>
              <a:t>Train and test inside five days so drift cancels. Enough to rule out the electrode?</a:t>
            </a:r>
            <a:endParaRPr lang="en-US" sz="1200" dirty="0"/>
          </a:p>
        </p:txBody>
      </p:sp>
      <p:sp>
        <p:nvSpPr>
          <p:cNvPr id="14" name="Shape 12"/>
          <p:cNvSpPr/>
          <p:nvPr/>
        </p:nvSpPr>
        <p:spPr>
          <a:xfrm>
            <a:off x="777240" y="4114800"/>
            <a:ext cx="5257800" cy="1920240"/>
          </a:xfrm>
          <a:prstGeom prst="roundRect">
            <a:avLst>
              <a:gd name="adj" fmla="val 3810"/>
            </a:avLst>
          </a:prstGeom>
          <a:solidFill>
            <a:srgbClr val="15222E"/>
          </a:solidFill>
          <a:ln w="12700">
            <a:solidFill>
              <a:srgbClr val="2C3D4C"/>
            </a:solidFill>
            <a:prstDash val="solid"/>
          </a:ln>
        </p:spPr>
      </p:sp>
      <p:sp>
        <p:nvSpPr>
          <p:cNvPr id="15" name="Shape 13"/>
          <p:cNvSpPr/>
          <p:nvPr/>
        </p:nvSpPr>
        <p:spPr>
          <a:xfrm>
            <a:off x="1069848" y="4407408"/>
            <a:ext cx="420624" cy="420624"/>
          </a:xfrm>
          <a:prstGeom prst="ellipse">
            <a:avLst/>
          </a:prstGeom>
          <a:solidFill>
            <a:srgbClr val="B4671A"/>
          </a:solidFill>
          <a:ln/>
        </p:spPr>
      </p:sp>
      <p:sp>
        <p:nvSpPr>
          <p:cNvPr id="16" name="Text 14"/>
          <p:cNvSpPr/>
          <p:nvPr/>
        </p:nvSpPr>
        <p:spPr>
          <a:xfrm>
            <a:off x="1069848" y="44074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645920" y="4370832"/>
            <a:ext cx="4206240" cy="566928"/>
          </a:xfrm>
          <a:prstGeom prst="rect">
            <a:avLst/>
          </a:prstGeom>
          <a:noFill/>
          <a:ln/>
        </p:spPr>
        <p:txBody>
          <a:bodyPr wrap="square" lIns="0" tIns="0" rIns="0" bIns="0" rtlCol="0" anchor="ctr"/>
          <a:lstStyle/>
          <a:p>
            <a:pPr indent="0" marL="0">
              <a:lnSpc>
                <a:spcPct val="98000"/>
              </a:lnSpc>
              <a:buNone/>
            </a:pPr>
            <a:r>
              <a:rPr lang="en-US" sz="1450" b="1" dirty="0">
                <a:solidFill>
                  <a:srgbClr val="FFFFFF"/>
                </a:solidFill>
                <a:latin typeface="Calibri" pitchFamily="34" charset="0"/>
                <a:ea typeface="Calibri" pitchFamily="34" charset="-122"/>
                <a:cs typeface="Calibri" pitchFamily="34" charset="-120"/>
              </a:rPr>
              <a:t>What else could produce this?</a:t>
            </a:r>
            <a:endParaRPr lang="en-US" sz="1450" dirty="0"/>
          </a:p>
        </p:txBody>
      </p:sp>
      <p:sp>
        <p:nvSpPr>
          <p:cNvPr id="18" name="Text 16"/>
          <p:cNvSpPr/>
          <p:nvPr/>
        </p:nvSpPr>
        <p:spPr>
          <a:xfrm>
            <a:off x="1088136" y="5074920"/>
            <a:ext cx="4663440" cy="822960"/>
          </a:xfrm>
          <a:prstGeom prst="rect">
            <a:avLst/>
          </a:prstGeom>
          <a:noFill/>
          <a:ln/>
        </p:spPr>
        <p:txBody>
          <a:bodyPr wrap="square" lIns="0" tIns="0" rIns="0" bIns="0" rtlCol="0" anchor="ctr"/>
          <a:lstStyle/>
          <a:p>
            <a:pPr indent="0" marL="0">
              <a:lnSpc>
                <a:spcPct val="106000"/>
              </a:lnSpc>
              <a:buNone/>
            </a:pPr>
            <a:r>
              <a:rPr lang="en-US" sz="1200" dirty="0">
                <a:solidFill>
                  <a:srgbClr val="AFC0CC"/>
                </a:solidFill>
                <a:latin typeface="Calibri" pitchFamily="34" charset="0"/>
                <a:ea typeface="Calibri" pitchFamily="34" charset="-122"/>
                <a:cs typeface="Calibri" pitchFamily="34" charset="-120"/>
              </a:rPr>
              <a:t>We've excluded stimulus, muscle tone, drift and crosstalk. What are we missing?</a:t>
            </a:r>
            <a:endParaRPr lang="en-US" sz="1200" dirty="0"/>
          </a:p>
        </p:txBody>
      </p:sp>
      <p:sp>
        <p:nvSpPr>
          <p:cNvPr id="19" name="Shape 17"/>
          <p:cNvSpPr/>
          <p:nvPr/>
        </p:nvSpPr>
        <p:spPr>
          <a:xfrm>
            <a:off x="6309360" y="4114800"/>
            <a:ext cx="5257800" cy="1920240"/>
          </a:xfrm>
          <a:prstGeom prst="roundRect">
            <a:avLst>
              <a:gd name="adj" fmla="val 3810"/>
            </a:avLst>
          </a:prstGeom>
          <a:solidFill>
            <a:srgbClr val="15222E"/>
          </a:solidFill>
          <a:ln w="12700">
            <a:solidFill>
              <a:srgbClr val="2C3D4C"/>
            </a:solidFill>
            <a:prstDash val="solid"/>
          </a:ln>
        </p:spPr>
      </p:sp>
      <p:sp>
        <p:nvSpPr>
          <p:cNvPr id="20" name="Shape 18"/>
          <p:cNvSpPr/>
          <p:nvPr/>
        </p:nvSpPr>
        <p:spPr>
          <a:xfrm>
            <a:off x="6601968" y="4407408"/>
            <a:ext cx="420624" cy="420624"/>
          </a:xfrm>
          <a:prstGeom prst="ellipse">
            <a:avLst/>
          </a:prstGeom>
          <a:solidFill>
            <a:srgbClr val="B4671A"/>
          </a:solidFill>
          <a:ln/>
        </p:spPr>
      </p:sp>
      <p:sp>
        <p:nvSpPr>
          <p:cNvPr id="21" name="Text 19"/>
          <p:cNvSpPr/>
          <p:nvPr/>
        </p:nvSpPr>
        <p:spPr>
          <a:xfrm>
            <a:off x="6601968" y="44074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7178040" y="4370832"/>
            <a:ext cx="4206240" cy="566928"/>
          </a:xfrm>
          <a:prstGeom prst="rect">
            <a:avLst/>
          </a:prstGeom>
          <a:noFill/>
          <a:ln/>
        </p:spPr>
        <p:txBody>
          <a:bodyPr wrap="square" lIns="0" tIns="0" rIns="0" bIns="0" rtlCol="0" anchor="ctr"/>
          <a:lstStyle/>
          <a:p>
            <a:pPr indent="0" marL="0">
              <a:lnSpc>
                <a:spcPct val="98000"/>
              </a:lnSpc>
              <a:buNone/>
            </a:pPr>
            <a:r>
              <a:rPr lang="en-US" sz="1450" b="1" dirty="0">
                <a:solidFill>
                  <a:srgbClr val="FFFFFF"/>
                </a:solidFill>
                <a:latin typeface="Calibri" pitchFamily="34" charset="0"/>
                <a:ea typeface="Calibri" pitchFamily="34" charset="-122"/>
                <a:cs typeface="Calibri" pitchFamily="34" charset="-120"/>
              </a:rPr>
              <a:t>Is the negative result worth publishing?</a:t>
            </a:r>
            <a:endParaRPr lang="en-US" sz="1450" dirty="0"/>
          </a:p>
        </p:txBody>
      </p:sp>
      <p:sp>
        <p:nvSpPr>
          <p:cNvPr id="23" name="Text 21"/>
          <p:cNvSpPr/>
          <p:nvPr/>
        </p:nvSpPr>
        <p:spPr>
          <a:xfrm>
            <a:off x="6620256" y="5074920"/>
            <a:ext cx="4663440" cy="822960"/>
          </a:xfrm>
          <a:prstGeom prst="rect">
            <a:avLst/>
          </a:prstGeom>
          <a:noFill/>
          <a:ln/>
        </p:spPr>
        <p:txBody>
          <a:bodyPr wrap="square" lIns="0" tIns="0" rIns="0" bIns="0" rtlCol="0" anchor="ctr"/>
          <a:lstStyle/>
          <a:p>
            <a:pPr indent="0" marL="0">
              <a:lnSpc>
                <a:spcPct val="106000"/>
              </a:lnSpc>
              <a:buNone/>
            </a:pPr>
            <a:r>
              <a:rPr lang="en-US" sz="1200" dirty="0">
                <a:solidFill>
                  <a:srgbClr val="AFC0CC"/>
                </a:solidFill>
                <a:latin typeface="Calibri" pitchFamily="34" charset="0"/>
                <a:ea typeface="Calibri" pitchFamily="34" charset="-122"/>
                <a:cs typeface="Calibri" pitchFamily="34" charset="-120"/>
              </a:rPr>
              <a:t>The obvious analysis looks convincing and fails three controls. Useful warning, or noise?</a:t>
            </a:r>
            <a:endParaRPr lang="en-US" sz="1200" dirty="0"/>
          </a:p>
        </p:txBody>
      </p:sp>
      <p:sp>
        <p:nvSpPr>
          <p:cNvPr id="24" name="Text 22"/>
          <p:cNvSpPr/>
          <p:nvPr/>
        </p:nvSpPr>
        <p:spPr>
          <a:xfrm>
            <a:off x="777240" y="6400800"/>
            <a:ext cx="10698480" cy="365760"/>
          </a:xfrm>
          <a:prstGeom prst="rect">
            <a:avLst/>
          </a:prstGeom>
          <a:noFill/>
          <a:ln/>
        </p:spPr>
        <p:txBody>
          <a:bodyPr wrap="square" lIns="0" tIns="0" rIns="0" bIns="0" rtlCol="0" anchor="ctr"/>
          <a:lstStyle/>
          <a:p>
            <a:pPr indent="0" marL="0">
              <a:buNone/>
            </a:pPr>
            <a:r>
              <a:rPr lang="en-US" sz="1250" i="1" dirty="0">
                <a:solidFill>
                  <a:srgbClr val="7E8E9B"/>
                </a:solidFill>
                <a:latin typeface="Calibri" pitchFamily="34" charset="0"/>
                <a:ea typeface="Calibri" pitchFamily="34" charset="-122"/>
                <a:cs typeface="Calibri" pitchFamily="34" charset="-120"/>
              </a:rPr>
              <a:t>Code, figures and the full write-up:  github.com/switchrao777/hroc-ncan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Cortical prediction of the H-reflex</dc:title>
  <dc:subject>PptxGenJS Presentation</dc:subject>
  <dc:creator>Suchith Rao &amp; Tarun Senthil</dc:creator>
  <cp:lastModifiedBy>Suchith Rao &amp; Tarun Senthil</cp:lastModifiedBy>
  <cp:revision>1</cp:revision>
  <dcterms:created xsi:type="dcterms:W3CDTF">2026-08-19T01:54:47Z</dcterms:created>
  <dcterms:modified xsi:type="dcterms:W3CDTF">2026-08-19T01:54:47Z</dcterms:modified>
</cp:coreProperties>
</file>