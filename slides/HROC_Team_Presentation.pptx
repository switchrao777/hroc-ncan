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having us. Tarun and I are the machine-learning side of this project. We worked with recordings from rats trained to change a spinal reflex: EMG, the electrical signal from the leg muscle, and ECoG, the signal from an electrode on the surface of the brain over sensorimotor cortex, both recorded on every trial. There are 2.7 million trials. Our one question: on any single trial, does the brain signal tell you anything about how big the reflex is going to be? I'll go through the data, how we built the analysis, what we found, including one result that did not hold up,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question, the data, how we built it, what we found, and where it goes. About forty minutes. The results start around slide sixteen.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not close to this work: a small electrical stimulus to the leg nerve produces a reflex in the soleus muscle. The rat is rewarded when that reflex is bigger, or smaller, than a threshold. Over weeks it shifts in the trained direction, and a twenty percent change counts as success. The long-term change is in the spinal cord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builds on a 2015 paper from this laboratory by Chad Boulay, Xiang Yang Chen and Jonathan Wolpaw. Their question was how ongoing activity in sensorimotor cortex affects the H-reflex. In forty-one awake rats they recorded ECoG over sensorimotor cortex together with soleus EMG and the H-reflex. The cortical signal fell into three frequency bands: mu-beta, low gamma and high gamma. Background muscle activity tracked cortical state, and H-reflex size related to the same bands in the opposite direction, but only once background EMG was included in the model. Their interpretation was that an activated cortex both excites the motoneurons and reduces the efficacy of the afferent input. So a cortical-spinal relationship was already established, from band power across many trials. Our question is whether it is visible on a single trial, and whether it changes as the animal learns.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bring machine learning to this at all. The usual approach is to decide in advance which features of the recording might matter and measure those — but whatever you didn't think of, you don't measure. Instead we let a network learn its own description of each trace with no labels, then test what it can predict. The precedent is BrainBERT, a model from MIT published at ICLR in 2023: it is trained on human intracranial recordings, learns a general representation of the signal first without labels, and is then applied to downstream questions. Ours is a much smaller model because we have one channel and a thirty-millisecond window rather than a full electrode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before anything else. Every stimulus produces one trial — thirty milliseconds at five kilohertz, recorded from a pair of EMG electrodes in the soleus muscle. The spike at zero is the stimulus artifact; it is clipped here so it doesn't dominate. The bump at two to four milliseconds is the M-wave, the nerve activating the muscle directly. The bump at six to nine is the H-reflex, which went to the spinal cord and back. That's the one conditioning changes. This figure is the average of about two hundred eighty thousand trials from one animal.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problem took a couple of weeks. The recordings were saved in 2006 in an old database format, with a script that was supposed to read them. Every number in the file is stored as two bytes, and the script had the order of those two bytes backwards. Read that way, every trial came out as noise. Read the other way round, the muscle response appears. The reason we trust it is not that it looked right. The M-wave and the H-reflex appeared at exactly the times the experimenter had typed into the log in 2006: two to four milliseconds and six to nine milliseconds. The data matched the notes, and the notes matched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animals, three trained down and three up, forty-five to two hundred ten days each. Worth explaining how we chose them, because it saved us a lot of time. The log files are a few hundred kilobytes; the signal data is four gigabytes an animal. The experimenter raises the reward threshold whenever the rat exceeds it — so the threshold history is a written record of how the animal was doing. We read only the logs, then downloaded signal data for the ones that responded. We also dropped animal twelve: its pre-stimulus cortical signal is under three microvolts against a hundred-plus in the others, so that electrode had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who is in the study. Each card is one animal. The coloured bar at the top says which way it was trained: blue down, orange up. Under the name is how many trials it has, from about two hundred eighty thousand to six hundred thirty thousand. The dot at the bottom says how it did. Three met the lab's twenty percent criterion: 9, 11 and 3. Two did not, 10 and 4. Their reflexes actually moved against their training, and they come back later as a comparison group. Animal 12's brain electrode had failed, so it is left out of anything involving the brain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process, left to right. First we load the 2006 files into a database on a laptop. Then we read each trial into two traces in microvolts, one for muscle and one for brain. Then we save each animal as one file in a format called Zarr. All that means is the data is stored in small pieces, so we can pull out any part of 2.7 million trials without loading all of it into memory. Then we measure the M-wave, the H-reflex and the background muscle activity. Then the model learns its summary of the brain signal, and finally everything is tested against the controls. The small grey labels are just the software used at each step; you do not need them to follow the talk. It is about four gigabytes in per animal and three hundred megabytes out, and once set up it is two commands per animal.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and it's simpler than it sounds. On the left, one trial of brain signal — a hundred and fifty numbers. The encoder squeezes that down to forty-eight numbers. The decoder tries to rebuild the original from just those forty-eight. We train it by penalising the difference between the rebuild and the original. The important part is the bottleneck: to rebuild the trace from only forty-eight numbers, those numbers have to capture the trace's real structure rather than its noise. And crucially, nobody tells it what to look for. We never show it an H-reflex, a label, or a training phase. So the forty-eight numbers are whatever the signal's own structure demands, not the features we assumed mattered. After training we freeze it and use it purely as a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numbers on training. The model saw six hundred thousand brain-signal trials from five animals and went through them twelve times. That took about four minutes on a laptop, because this is a small model. The reconstruction error, meaning how far the rebuilt trace is from the real one, roughly halved and then levelled off, which is what you want to see. The trap is this: if you mix animals together without care, the easiest thing for the model to learn is which animal a trace came from, because each electrode has its own size and character. That is a property of the recording, not the biology. So we scale each animal's data to the same range before mixing. And we use one model for all animals rather than one each, so a given pattern means the same thing in every animal. That is what makes it fair to compare animals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briefly, the software. Everything is free, open-source Python, and it all runs on a laptop. The names on the slide are for anyone who wants to repeat the work; you do not need them to follow the results. The daily routine was: read the animal's log, load its data, convert it, look at the average trace to check it decoded correctly, run the analyses, and save the figures. Every figure in this talk is produced by the code with one command. None were edited by hand, so when a number changed, every figure that used it changed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how the summer went, because the shape of it matters. Two weeks reverse-engineering the format. Two building the converter and validating one animal. Two training the model and getting first results, which looked good. Then week seven, when the controls failed and we had to rethink the question — that was the most useful week of the project. It cost us the result we thought we had and produced the design the current finding rests on. Then the new design and five more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matters because getting it wrong cost us a result. Reflex size depends on two things besides learning: how strong the stimulus was — a stronger stimulus gives a bigger reflex — and how active the muscle already was. That is what Boulay and colleagues found: H-reflex size varied with M-wave size and background EMG as well as with cortical activity. And the stimulus is not constant: in one of our animals it nearly quintupled over the recording, and early on that made one of our findings come out backwards. The corrections: the M-wave in the same trace is a per-trial receipt for how much stimulus arrived, and the twenty milliseconds before each stimulus measures background muscle activity. We remove both from every measure. Every number from here on has both corrections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check that has to pass before anything else counts: did the animals learn? How to read the left graph: the horizontal axis is days, lined up so that zero is the day each animal's training began. Left of zero is baseline, right of zero is training. The vertical axis is the size of the H-reflex as a percent change from that animal's own baseline, after correcting for stimulus strength and background muscle activity. Thin lines are single animals, thick lines are group averages, red for up-trained and blue for down-trained. The dashed lines mark plus and minus twenty percent. Animals 9 and 11 fall and animal 3 rises, so three of five meet the twenty percent criterion in the direction they were trained. Animals 10 and 4 moved the other way; they serve as a comparison group later. One caution: this is a percent of baseline, so an animal with a small baseline looks bigger than it is. Animal 3's baseline is about nineteen microvolts, against sixty to a hundred and sixty in the others. The right-hand graph is the brain measure, which we come to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central difficulty. Two things change slowly over the same weeks: what the animal has learned, and the implanted brain electrode itself, as tissue settles around it and the signal slowly shifts. These two graphs are a sketch of the idea, not data. On the left, both rise together over the weeks. On the right is what we actually record: one curve that mixes the two, with no way to pull them apart. Within one animal, learning and electrode change are both slow and steady, so no analysis can separate them. That is a limit of how the study was designed, not of the data, and it shaped everything we did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approach was the obvious one. Take the model's summary of the brain signal, average it for each day, and measure how far that average moves from baseline as training goes on. It does move, and at first it looked convincing. But three checks say the movement comes from the recording, not the animal. First, take only baseline days, before any training, and pretend the second half was training. Nothing happened in those days, yet the average moves just as much, in five of six animals. Second, shuffle which trial belongs to which day: then nothing moves, so the measure is not inventing movement. Third, electrode change does not depend on which way an animal was trained, but learning does, and the up-trained and down-trained groups do not differ. Those checks changed our conclusion, and we would rather show you that than leave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rather than keep fighting that confound, we changed the question. Instead of asking whether the average moved, we ask whether the brain can predict this particular trial's reflex. Here's the design, and it's the part I'd most like your reaction to. The top bar is the whole recording, with colour showing the electrode slowly changing. We chop it into five-day windows. Inside one window we train on four fifths of the trials and test on the held-out fifth. Within five days the electrode is essentially fixed, and whatever drift remains moves the training and test trials together, so it cancels. Drift can move an average. It cannot invent a trial-by-trial relationship inside five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don't just look at whether the prediction is good in absolute terms, because there's no natural yardstick for that. Instead each window is judged against itself: take the same trials, shuffle which reflex goes with which brain signal, and run the identical analysis. Same numbers, wrong pairings, so any real relationship is destroyed. If the real version doesn't beat the shuffled one, there was nothing there. We do that in all hundred and one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finding. The graph first: the horizontal axis is days relative to the start of training. The vertical axis is the prediction score, R squared: the fraction of the trial-to-trial variation in reflex size that the brain signal predicts, always measured on trials the model did not see. Zero means no prediction. Each thin line is one animal; the thick lines are the up and down group averages. The number to take away is on the right. In 99 of 101 five-day windows, the real data beat its own shuffled version. If there were no real signal, real versus shuffled would be a coin flip in each window, so you would expect about half, not 99 of 101. It holds in all five animals. On the statistics: windows from the same animal share an electrode, so they are not independent, and we do not count them as if they were. The test we report counts each animal once: t equals 3.81 with four degrees of freedom, p equals 0.019. So the effect is small, but it almost never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does the brain actually explain? The bar is all of the trial-to-trial variation in reflex size, a hundred percent from left to right. Stimulus strength, measured by the M-wave, accounts for forty-seven percent. Background muscle activity before the stimulus adds one percent. About half is unexplained, which is normal for single trials in an awake animal. The thin blue sliver is the brain's own contribution: two percent. The brain signal on its own seems to explain twenty-one percent, but almost all of that overlaps with the stimulus, because the stimulus drives both the brain response and the reflex. Only what is left after stimulus and background are accounted for counts as the brain's own contribution. Two percent is small, and we do not want to oversell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animals and all three measures side by side. Left panel, behaviour: each bar is one animal, showing how much its reflex changed in the direction it was trained. Positive means it moved the way it was trained, up for an up-trained animal and down for a down-trained one. The dashed line is the twenty percent criterion. Animals 9, 11 and 3 pass it; animal 3's bar is cut off at the edge and labelled, because its small baseline makes its percentage very large. Animals 10 and 4 are negative: they moved against their training. Middle panel: each animal's prediction score, blue for the real data and grey for the same data shuffled. Blue is higher in every animal, and the grey bars sit at or just below zero, which is what a fair shuffle should give. Right panel: how many five-day windows beat their shuffle. Nine of nine, fifteen of seventeen, and the other three animals at every window: 99 of 101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controls we applied. Five it survives, two it fails, and the two failures are what told us the average-state approach was the wrong question. If anyone here can think of something we haven't tried, that's genuinely the most useful thing I could take away from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objection: both electrodes record at the same moment, so maybe the brain electrode is simply picking up the muscle. How to read this: the left graph compares each animal's prediction score under the earlier and the stricter correction, next to the shuffle. The right graph shows, for each frequency band from low on the left to high on the right, how closely brain-signal power and muscle power rise and fall together; near zero means they are independent. Muscle interference shows up at high frequencies, so that is where contamination would appear. Above a hundred hertz the correlation is plus 0.06, essentially zero. The low bands are slightly negative. And the brain signal slightly leads the muscle rather than following it, which is the direction you would expect if it is not contamination.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thread we think is most promising, and it is the graph that needs the most explaining, so let me go slowly. Each dot is one animal, red for up-trained and blue for down-trained. The horizontal axis is how much the animal learned: the percent change in its reflex in the direction it was trained. The dotted vertical line is twenty percent, so dots to the right of it met the criterion. In the left graph, the vertical axis is how well the brain signal predicts the reflex during training. In the right graph, the vertical axis is the change in that prediction from baseline to training, training minus baseline, so above zero means the brain became more predictive once training started. The right graph is the one that matters. The line slopes upward, with a correlation of plus 0.64: animals that learned more tended to gain more coupling. The two that did not meet criterion, 10 and 4, show no increase; 10 went down and 4 stayed flat. The exception is animal 9, which met criterion but did not gain. And animal 3 sits far to the right partly because of its small baseline. With five animals this points in a direction but does not settle it; that is what the remaining animals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thread. First, what the reward criterion is, because in the lab's logs it is written as RW. It is the value the reflex has to pass to earn a food pellet: above it for an up-trained animal, below it for a down-trained one. The experimenter resets it every day so the rat is rewarded on roughly thirty to forty percent of trials, the ones furthest in the trained direction. So the reward rate stays about the same while the requirement moves as the animal changes. In effect it is a staircase. That makes its history a record of how demanding the task was for each animal: effort and engagement, not just success, written down by a person at the time, independently of anything we measure from the electrodes. At the moment our scaling result compares two things measured from the same electrodes. If brain coupling also tracks a record kept by hand, that is a much harder result to dismiss. We would like to build this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becomes a paper, we think there are three pieces. The method — a reproducible pipeline that recovers a twenty-year-old archive and learns a representation from it on a laptop, which is useful to anyone with old chronic recordings on a shelf. The finding — cortical activity carries a small but highly reliable single-trial signal about reflex size, which extends Chad's work from a population relationship to a single-trial one. And the warning — the intuitive drift analysis produces a convincing result that three controls reject, and we'd want to save the next group from spending months on it. We'd aim at a machine-learning venue, framed as an extension of the existing cortical-spinal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might matter, and I want to be careful not to oversell. If cortex predicts the reflex before the fact, conditioning protocols could in principle adapt trial by trial rather than day by day. Roughly a third of animals, and of people, don't respond to conditioning — a cortical readout might show why, early. And reflex conditioning is already used clinically after spinal cord injury, so any handle on the cortical side is a handle on individualising it. All three depend on the effect being bigger and more reliable than what we can currently show. We're not there. But that's the direction that makes it worth getting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next. The remaining down-conditioned animals, seven, eight, thirteen and fourteen, are next through the pipeline, which takes us from five to nine and is what powers the scaling test. Then frequency-resolved coupling, to see which bands carry the information — that sharpens both the finding and the contamination argument. The reward-criterion measure as an independent behavioural record. And then writing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Conditioning reproduces in both directions with full stimulus control — that's solid. Cortex carries a small single-trial signal about reflex size that beats its own shuffled control in ninety-nine of a hundred and one windows and in every animal — that's real, and small. And the average-state drift analysis is a useful negative: it looks convincing and three controls reject it. Every number is corrected for stimulus and muscle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things we know we haven't settled. Whether the coupling grows with learning — the correlation points the right way but five animals can't settle it, and four more are next. Which frequencies carry the signal. Whether two percent of variance is biologically meaningful, which is honestly a question for this room more than for us. And what else could produce it that we haven't excluded — we'd genuinely like to know what we're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public. There's a project page with the findings and figures, the repository with the full pipeline — two commands per animal and it runs end to end — and a six-page write-up. The repository has every script, the trained encoder, all the figures, per-animal results, a starter notebook and setup instructions. Raw recordings are available through NCAN. If anyone wants to run it on their own data, it should be straightforward.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and our thanks to Dr. Carp and Theresa Vaughan for their guidance throughout this project.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620"/>
        </a:solidFill>
      </p:bgPr>
    </p:bg>
    <p:spTree>
      <p:nvGrpSpPr>
        <p:cNvPr id="1" name=""/>
        <p:cNvGrpSpPr/>
        <p:nvPr/>
      </p:nvGrpSpPr>
      <p:grpSpPr>
        <a:xfrm>
          <a:off x="0" y="0"/>
          <a:ext cx="0" cy="0"/>
          <a:chOff x="0" y="0"/>
          <a:chExt cx="0" cy="0"/>
        </a:xfrm>
      </p:grpSpPr>
      <p:sp>
        <p:nvSpPr>
          <p:cNvPr id="2" name="Shape 0"/>
          <p:cNvSpPr/>
          <p:nvPr/>
        </p:nvSpPr>
        <p:spPr>
          <a:xfrm>
            <a:off x="9966960" y="1005840"/>
            <a:ext cx="1463040" cy="1463040"/>
          </a:xfrm>
          <a:prstGeom prst="ellipse">
            <a:avLst/>
          </a:prstGeom>
          <a:solidFill>
            <a:srgbClr val="15718F">
              <a:alpha val="48000"/>
            </a:srgbClr>
          </a:solidFill>
          <a:ln/>
        </p:spPr>
      </p:sp>
      <p:sp>
        <p:nvSpPr>
          <p:cNvPr id="3" name="Shape 1"/>
          <p:cNvSpPr/>
          <p:nvPr/>
        </p:nvSpPr>
        <p:spPr>
          <a:xfrm>
            <a:off x="10744200" y="1874520"/>
            <a:ext cx="960120" cy="960120"/>
          </a:xfrm>
          <a:prstGeom prst="ellipse">
            <a:avLst/>
          </a:prstGeom>
          <a:solidFill>
            <a:srgbClr val="B4671A">
              <a:alpha val="52000"/>
            </a:srgbClr>
          </a:solidFill>
          <a:ln/>
        </p:spPr>
      </p:sp>
      <p:sp>
        <p:nvSpPr>
          <p:cNvPr id="4" name="Text 2"/>
          <p:cNvSpPr/>
          <p:nvPr/>
        </p:nvSpPr>
        <p:spPr>
          <a:xfrm>
            <a:off x="777240" y="1371600"/>
            <a:ext cx="9144000" cy="365760"/>
          </a:xfrm>
          <a:prstGeom prst="rect">
            <a:avLst/>
          </a:prstGeom>
          <a:noFill/>
          <a:ln/>
        </p:spPr>
        <p:txBody>
          <a:bodyPr wrap="square" lIns="0" tIns="0" rIns="0" bIns="0" rtlCol="0" anchor="ctr"/>
          <a:lstStyle/>
          <a:p>
            <a:pPr indent="0" marL="0">
              <a:buNone/>
            </a:pPr>
            <a:r>
              <a:rPr lang="en-US" sz="1450" b="1" spc="300" kern="0" dirty="0">
                <a:solidFill>
                  <a:srgbClr val="7FB8C9"/>
                </a:solidFill>
                <a:latin typeface="Calibri" pitchFamily="34" charset="0"/>
                <a:ea typeface="Calibri" pitchFamily="34" charset="-122"/>
                <a:cs typeface="Calibri" pitchFamily="34" charset="-120"/>
              </a:rPr>
              <a:t>NCAN · STRATTON VA MEDICAL CENTER · SUMMER 2026</a:t>
            </a:r>
            <a:endParaRPr lang="en-US" sz="1450" dirty="0"/>
          </a:p>
        </p:txBody>
      </p:sp>
      <p:sp>
        <p:nvSpPr>
          <p:cNvPr id="5" name="Text 3"/>
          <p:cNvSpPr/>
          <p:nvPr/>
        </p:nvSpPr>
        <p:spPr>
          <a:xfrm>
            <a:off x="777240" y="1828800"/>
            <a:ext cx="10332720" cy="1828800"/>
          </a:xfrm>
          <a:prstGeom prst="rect">
            <a:avLst/>
          </a:prstGeom>
          <a:noFill/>
          <a:ln/>
        </p:spPr>
        <p:txBody>
          <a:bodyPr wrap="square" lIns="0" tIns="0" rIns="0" bIns="0" rtlCol="0" anchor="ctr"/>
          <a:lstStyle/>
          <a:p>
            <a:pPr indent="0" marL="0">
              <a:lnSpc>
                <a:spcPct val="98000"/>
              </a:lnSpc>
              <a:buNone/>
            </a:pPr>
            <a:r>
              <a:rPr lang="en-US" sz="4100" b="1" dirty="0">
                <a:solidFill>
                  <a:srgbClr val="FFFFFF"/>
                </a:solidFill>
                <a:latin typeface="Cambria" pitchFamily="34" charset="0"/>
                <a:ea typeface="Cambria" pitchFamily="34" charset="-122"/>
                <a:cs typeface="Cambria" pitchFamily="34" charset="-120"/>
              </a:rPr>
              <a:t>Can the brain tell us</a:t>
            </a:r>
            <a:endParaRPr lang="en-US" sz="4100" dirty="0"/>
          </a:p>
          <a:p>
            <a:pPr indent="0" marL="0">
              <a:lnSpc>
                <a:spcPct val="98000"/>
              </a:lnSpc>
              <a:buNone/>
            </a:pPr>
            <a:r>
              <a:rPr lang="en-US" sz="4100" b="1" dirty="0">
                <a:solidFill>
                  <a:srgbClr val="FFFFFF"/>
                </a:solidFill>
                <a:latin typeface="Cambria" pitchFamily="34" charset="0"/>
                <a:ea typeface="Cambria" pitchFamily="34" charset="-122"/>
                <a:cs typeface="Cambria" pitchFamily="34" charset="-120"/>
              </a:rPr>
              <a:t>how big the reflex will be?</a:t>
            </a:r>
            <a:endParaRPr lang="en-US" sz="4100" dirty="0"/>
          </a:p>
        </p:txBody>
      </p:sp>
      <p:sp>
        <p:nvSpPr>
          <p:cNvPr id="6" name="Text 4"/>
          <p:cNvSpPr/>
          <p:nvPr/>
        </p:nvSpPr>
        <p:spPr>
          <a:xfrm>
            <a:off x="795528" y="3840480"/>
            <a:ext cx="10058400" cy="457200"/>
          </a:xfrm>
          <a:prstGeom prst="rect">
            <a:avLst/>
          </a:prstGeom>
          <a:noFill/>
          <a:ln/>
        </p:spPr>
        <p:txBody>
          <a:bodyPr wrap="square" lIns="0" tIns="0" rIns="0" bIns="0" rtlCol="0" anchor="ctr"/>
          <a:lstStyle/>
          <a:p>
            <a:pPr indent="0" marL="0">
              <a:buNone/>
            </a:pPr>
            <a:r>
              <a:rPr lang="en-US" sz="1750" dirty="0">
                <a:solidFill>
                  <a:srgbClr val="C3D0DA"/>
                </a:solidFill>
                <a:latin typeface="Calibri" pitchFamily="34" charset="0"/>
                <a:ea typeface="Calibri" pitchFamily="34" charset="-122"/>
                <a:cs typeface="Calibri" pitchFamily="34" charset="-120"/>
              </a:rPr>
              <a:t>Machine learning on 2.7 million trials of twenty-year-old neural recordings.</a:t>
            </a:r>
            <a:endParaRPr lang="en-US" sz="1750" dirty="0"/>
          </a:p>
        </p:txBody>
      </p:sp>
      <p:sp>
        <p:nvSpPr>
          <p:cNvPr id="7" name="Text 5"/>
          <p:cNvSpPr/>
          <p:nvPr/>
        </p:nvSpPr>
        <p:spPr>
          <a:xfrm>
            <a:off x="795528" y="5989320"/>
            <a:ext cx="10058400" cy="365760"/>
          </a:xfrm>
          <a:prstGeom prst="rect">
            <a:avLst/>
          </a:prstGeom>
          <a:noFill/>
          <a:ln/>
        </p:spPr>
        <p:txBody>
          <a:bodyPr wrap="square" lIns="0" tIns="0" rIns="0" bIns="0" rtlCol="0" anchor="ctr"/>
          <a:lstStyle/>
          <a:p>
            <a:pPr indent="0" marL="0">
              <a:buNone/>
            </a:pPr>
            <a:r>
              <a:rPr lang="en-US" sz="1600" dirty="0">
                <a:solidFill>
                  <a:srgbClr val="8B9AA6"/>
                </a:solidFill>
                <a:latin typeface="Calibri" pitchFamily="34" charset="0"/>
                <a:ea typeface="Calibri" pitchFamily="34" charset="-122"/>
                <a:cs typeface="Calibri" pitchFamily="34" charset="-120"/>
              </a:rPr>
              <a:t>Suchith Rao  ·  Tarun Senthil          with Dr. Jonathan Carp and Theresa Vaughan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9AA8B4"/>
                </a:solidFill>
                <a:latin typeface="Calibri" pitchFamily="34" charset="0"/>
                <a:ea typeface="Calibri" pitchFamily="34" charset="-122"/>
                <a:cs typeface="Calibri" pitchFamily="34" charset="-120"/>
              </a:rPr>
              <a:t>WHAT WE'LL COVER</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Roadmap</a:t>
            </a:r>
            <a:endParaRPr lang="en-US" sz="3000" dirty="0"/>
          </a:p>
        </p:txBody>
      </p:sp>
      <p:sp>
        <p:nvSpPr>
          <p:cNvPr id="4" name="Shape 2"/>
          <p:cNvSpPr/>
          <p:nvPr/>
        </p:nvSpPr>
        <p:spPr>
          <a:xfrm>
            <a:off x="685800" y="1828800"/>
            <a:ext cx="10881360" cy="868680"/>
          </a:xfrm>
          <a:prstGeom prst="roundRect">
            <a:avLst>
              <a:gd name="adj" fmla="val 842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Shape 3"/>
          <p:cNvSpPr/>
          <p:nvPr/>
        </p:nvSpPr>
        <p:spPr>
          <a:xfrm>
            <a:off x="960120" y="2039112"/>
            <a:ext cx="457200" cy="457200"/>
          </a:xfrm>
          <a:prstGeom prst="ellipse">
            <a:avLst/>
          </a:prstGeom>
          <a:solidFill>
            <a:srgbClr val="15718F"/>
          </a:solidFill>
          <a:ln/>
        </p:spPr>
      </p:sp>
      <p:sp>
        <p:nvSpPr>
          <p:cNvPr id="6" name="Text 4"/>
          <p:cNvSpPr/>
          <p:nvPr/>
        </p:nvSpPr>
        <p:spPr>
          <a:xfrm>
            <a:off x="960120" y="2039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72768" y="1956816"/>
            <a:ext cx="3108960" cy="640080"/>
          </a:xfrm>
          <a:prstGeom prst="rect">
            <a:avLst/>
          </a:prstGeom>
          <a:noFill/>
          <a:ln/>
        </p:spPr>
        <p:txBody>
          <a:bodyPr wrap="square" lIns="0" tIns="0" rIns="0" bIns="0" rtlCol="0" anchor="ctr"/>
          <a:lstStyle/>
          <a:p>
            <a:pPr indent="0" marL="0">
              <a:buNone/>
            </a:pPr>
            <a:r>
              <a:rPr lang="en-US" sz="2300" b="1" dirty="0">
                <a:solidFill>
                  <a:srgbClr val="14212E"/>
                </a:solidFill>
                <a:latin typeface="Cambria" pitchFamily="34" charset="0"/>
                <a:ea typeface="Cambria" pitchFamily="34" charset="-122"/>
                <a:cs typeface="Cambria" pitchFamily="34" charset="-120"/>
              </a:rPr>
              <a:t>The question</a:t>
            </a:r>
            <a:endParaRPr lang="en-US" sz="2300" dirty="0"/>
          </a:p>
        </p:txBody>
      </p:sp>
      <p:sp>
        <p:nvSpPr>
          <p:cNvPr id="8" name="Text 6"/>
          <p:cNvSpPr/>
          <p:nvPr/>
        </p:nvSpPr>
        <p:spPr>
          <a:xfrm>
            <a:off x="4663440" y="1956816"/>
            <a:ext cx="6583680" cy="640080"/>
          </a:xfrm>
          <a:prstGeom prst="rect">
            <a:avLst/>
          </a:prstGeom>
          <a:noFill/>
          <a:ln/>
        </p:spPr>
        <p:txBody>
          <a:bodyPr wrap="square" lIns="0" tIns="0" rIns="0" bIns="0" rtlCol="0" anchor="ctr"/>
          <a:lstStyle/>
          <a:p>
            <a:pPr indent="0" marL="0">
              <a:buNone/>
            </a:pPr>
            <a:r>
              <a:rPr lang="en-US" sz="1600" dirty="0">
                <a:solidFill>
                  <a:srgbClr val="5A6B7B"/>
                </a:solidFill>
                <a:latin typeface="Calibri" pitchFamily="34" charset="0"/>
                <a:ea typeface="Calibri" pitchFamily="34" charset="-122"/>
                <a:cs typeface="Calibri" pitchFamily="34" charset="-120"/>
              </a:rPr>
              <a:t>what conditioning is, and what was already known</a:t>
            </a:r>
            <a:endParaRPr lang="en-US" sz="1600" dirty="0"/>
          </a:p>
        </p:txBody>
      </p:sp>
      <p:sp>
        <p:nvSpPr>
          <p:cNvPr id="9" name="Shape 7"/>
          <p:cNvSpPr/>
          <p:nvPr/>
        </p:nvSpPr>
        <p:spPr>
          <a:xfrm>
            <a:off x="685800" y="2807208"/>
            <a:ext cx="10881360" cy="868680"/>
          </a:xfrm>
          <a:prstGeom prst="roundRect">
            <a:avLst>
              <a:gd name="adj" fmla="val 842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0" name="Shape 8"/>
          <p:cNvSpPr/>
          <p:nvPr/>
        </p:nvSpPr>
        <p:spPr>
          <a:xfrm>
            <a:off x="960120" y="3017520"/>
            <a:ext cx="457200" cy="457200"/>
          </a:xfrm>
          <a:prstGeom prst="ellipse">
            <a:avLst/>
          </a:prstGeom>
          <a:solidFill>
            <a:srgbClr val="B4671A"/>
          </a:solidFill>
          <a:ln/>
        </p:spPr>
      </p:sp>
      <p:sp>
        <p:nvSpPr>
          <p:cNvPr id="11" name="Text 9"/>
          <p:cNvSpPr/>
          <p:nvPr/>
        </p:nvSpPr>
        <p:spPr>
          <a:xfrm>
            <a:off x="960120" y="3017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72768" y="2935224"/>
            <a:ext cx="3108960" cy="640080"/>
          </a:xfrm>
          <a:prstGeom prst="rect">
            <a:avLst/>
          </a:prstGeom>
          <a:noFill/>
          <a:ln/>
        </p:spPr>
        <p:txBody>
          <a:bodyPr wrap="square" lIns="0" tIns="0" rIns="0" bIns="0" rtlCol="0" anchor="ctr"/>
          <a:lstStyle/>
          <a:p>
            <a:pPr indent="0" marL="0">
              <a:buNone/>
            </a:pPr>
            <a:r>
              <a:rPr lang="en-US" sz="2300" b="1" dirty="0">
                <a:solidFill>
                  <a:srgbClr val="14212E"/>
                </a:solidFill>
                <a:latin typeface="Cambria" pitchFamily="34" charset="0"/>
                <a:ea typeface="Cambria" pitchFamily="34" charset="-122"/>
                <a:cs typeface="Cambria" pitchFamily="34" charset="-120"/>
              </a:rPr>
              <a:t>The data</a:t>
            </a:r>
            <a:endParaRPr lang="en-US" sz="2300" dirty="0"/>
          </a:p>
        </p:txBody>
      </p:sp>
      <p:sp>
        <p:nvSpPr>
          <p:cNvPr id="13" name="Text 11"/>
          <p:cNvSpPr/>
          <p:nvPr/>
        </p:nvSpPr>
        <p:spPr>
          <a:xfrm>
            <a:off x="4663440" y="2935224"/>
            <a:ext cx="6583680" cy="640080"/>
          </a:xfrm>
          <a:prstGeom prst="rect">
            <a:avLst/>
          </a:prstGeom>
          <a:noFill/>
          <a:ln/>
        </p:spPr>
        <p:txBody>
          <a:bodyPr wrap="square" lIns="0" tIns="0" rIns="0" bIns="0" rtlCol="0" anchor="ctr"/>
          <a:lstStyle/>
          <a:p>
            <a:pPr indent="0" marL="0">
              <a:buNone/>
            </a:pPr>
            <a:r>
              <a:rPr lang="en-US" sz="1600" dirty="0">
                <a:solidFill>
                  <a:srgbClr val="5A6B7B"/>
                </a:solidFill>
                <a:latin typeface="Calibri" pitchFamily="34" charset="0"/>
                <a:ea typeface="Calibri" pitchFamily="34" charset="-122"/>
                <a:cs typeface="Calibri" pitchFamily="34" charset="-120"/>
              </a:rPr>
              <a:t>one trial, six animals, and a broken decoder</a:t>
            </a:r>
            <a:endParaRPr lang="en-US" sz="1600" dirty="0"/>
          </a:p>
        </p:txBody>
      </p:sp>
      <p:sp>
        <p:nvSpPr>
          <p:cNvPr id="14" name="Shape 12"/>
          <p:cNvSpPr/>
          <p:nvPr/>
        </p:nvSpPr>
        <p:spPr>
          <a:xfrm>
            <a:off x="685800" y="3785616"/>
            <a:ext cx="10881360" cy="868680"/>
          </a:xfrm>
          <a:prstGeom prst="roundRect">
            <a:avLst>
              <a:gd name="adj" fmla="val 842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5" name="Shape 13"/>
          <p:cNvSpPr/>
          <p:nvPr/>
        </p:nvSpPr>
        <p:spPr>
          <a:xfrm>
            <a:off x="960120" y="3995928"/>
            <a:ext cx="457200" cy="457200"/>
          </a:xfrm>
          <a:prstGeom prst="ellipse">
            <a:avLst/>
          </a:prstGeom>
          <a:solidFill>
            <a:srgbClr val="6B4E8F"/>
          </a:solidFill>
          <a:ln/>
        </p:spPr>
      </p:sp>
      <p:sp>
        <p:nvSpPr>
          <p:cNvPr id="16" name="Text 14"/>
          <p:cNvSpPr/>
          <p:nvPr/>
        </p:nvSpPr>
        <p:spPr>
          <a:xfrm>
            <a:off x="960120" y="39959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72768" y="3913632"/>
            <a:ext cx="3108960" cy="640080"/>
          </a:xfrm>
          <a:prstGeom prst="rect">
            <a:avLst/>
          </a:prstGeom>
          <a:noFill/>
          <a:ln/>
        </p:spPr>
        <p:txBody>
          <a:bodyPr wrap="square" lIns="0" tIns="0" rIns="0" bIns="0" rtlCol="0" anchor="ctr"/>
          <a:lstStyle/>
          <a:p>
            <a:pPr indent="0" marL="0">
              <a:buNone/>
            </a:pPr>
            <a:r>
              <a:rPr lang="en-US" sz="2300" b="1" dirty="0">
                <a:solidFill>
                  <a:srgbClr val="14212E"/>
                </a:solidFill>
                <a:latin typeface="Cambria" pitchFamily="34" charset="0"/>
                <a:ea typeface="Cambria" pitchFamily="34" charset="-122"/>
                <a:cs typeface="Cambria" pitchFamily="34" charset="-120"/>
              </a:rPr>
              <a:t>How we built it</a:t>
            </a:r>
            <a:endParaRPr lang="en-US" sz="2300" dirty="0"/>
          </a:p>
        </p:txBody>
      </p:sp>
      <p:sp>
        <p:nvSpPr>
          <p:cNvPr id="18" name="Text 16"/>
          <p:cNvSpPr/>
          <p:nvPr/>
        </p:nvSpPr>
        <p:spPr>
          <a:xfrm>
            <a:off x="4663440" y="3913632"/>
            <a:ext cx="6583680" cy="640080"/>
          </a:xfrm>
          <a:prstGeom prst="rect">
            <a:avLst/>
          </a:prstGeom>
          <a:noFill/>
          <a:ln/>
        </p:spPr>
        <p:txBody>
          <a:bodyPr wrap="square" lIns="0" tIns="0" rIns="0" bIns="0" rtlCol="0" anchor="ctr"/>
          <a:lstStyle/>
          <a:p>
            <a:pPr indent="0" marL="0">
              <a:buNone/>
            </a:pPr>
            <a:r>
              <a:rPr lang="en-US" sz="1600" dirty="0">
                <a:solidFill>
                  <a:srgbClr val="5A6B7B"/>
                </a:solidFill>
                <a:latin typeface="Calibri" pitchFamily="34" charset="0"/>
                <a:ea typeface="Calibri" pitchFamily="34" charset="-122"/>
                <a:cs typeface="Calibri" pitchFamily="34" charset="-120"/>
              </a:rPr>
              <a:t>the model, the stack, the daily workflow</a:t>
            </a:r>
            <a:endParaRPr lang="en-US" sz="1600" dirty="0"/>
          </a:p>
        </p:txBody>
      </p:sp>
      <p:sp>
        <p:nvSpPr>
          <p:cNvPr id="19" name="Shape 17"/>
          <p:cNvSpPr/>
          <p:nvPr/>
        </p:nvSpPr>
        <p:spPr>
          <a:xfrm>
            <a:off x="685800" y="4764024"/>
            <a:ext cx="10881360" cy="868680"/>
          </a:xfrm>
          <a:prstGeom prst="roundRect">
            <a:avLst>
              <a:gd name="adj" fmla="val 842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20" name="Shape 18"/>
          <p:cNvSpPr/>
          <p:nvPr/>
        </p:nvSpPr>
        <p:spPr>
          <a:xfrm>
            <a:off x="960120" y="4974336"/>
            <a:ext cx="457200" cy="457200"/>
          </a:xfrm>
          <a:prstGeom prst="ellipse">
            <a:avLst/>
          </a:prstGeom>
          <a:solidFill>
            <a:srgbClr val="3B6E43"/>
          </a:solidFill>
          <a:ln/>
        </p:spPr>
      </p:sp>
      <p:sp>
        <p:nvSpPr>
          <p:cNvPr id="21" name="Text 19"/>
          <p:cNvSpPr/>
          <p:nvPr/>
        </p:nvSpPr>
        <p:spPr>
          <a:xfrm>
            <a:off x="960120" y="49743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72768" y="4892040"/>
            <a:ext cx="3108960" cy="640080"/>
          </a:xfrm>
          <a:prstGeom prst="rect">
            <a:avLst/>
          </a:prstGeom>
          <a:noFill/>
          <a:ln/>
        </p:spPr>
        <p:txBody>
          <a:bodyPr wrap="square" lIns="0" tIns="0" rIns="0" bIns="0" rtlCol="0" anchor="ctr"/>
          <a:lstStyle/>
          <a:p>
            <a:pPr indent="0" marL="0">
              <a:buNone/>
            </a:pPr>
            <a:r>
              <a:rPr lang="en-US" sz="2300" b="1" dirty="0">
                <a:solidFill>
                  <a:srgbClr val="14212E"/>
                </a:solidFill>
                <a:latin typeface="Cambria" pitchFamily="34" charset="0"/>
                <a:ea typeface="Cambria" pitchFamily="34" charset="-122"/>
                <a:cs typeface="Cambria" pitchFamily="34" charset="-120"/>
              </a:rPr>
              <a:t>What we found</a:t>
            </a:r>
            <a:endParaRPr lang="en-US" sz="2300" dirty="0"/>
          </a:p>
        </p:txBody>
      </p:sp>
      <p:sp>
        <p:nvSpPr>
          <p:cNvPr id="23" name="Text 21"/>
          <p:cNvSpPr/>
          <p:nvPr/>
        </p:nvSpPr>
        <p:spPr>
          <a:xfrm>
            <a:off x="4663440" y="4892040"/>
            <a:ext cx="6583680" cy="640080"/>
          </a:xfrm>
          <a:prstGeom prst="rect">
            <a:avLst/>
          </a:prstGeom>
          <a:noFill/>
          <a:ln/>
        </p:spPr>
        <p:txBody>
          <a:bodyPr wrap="square" lIns="0" tIns="0" rIns="0" bIns="0" rtlCol="0" anchor="ctr"/>
          <a:lstStyle/>
          <a:p>
            <a:pPr indent="0" marL="0">
              <a:buNone/>
            </a:pPr>
            <a:r>
              <a:rPr lang="en-US" sz="1600" dirty="0">
                <a:solidFill>
                  <a:srgbClr val="5A6B7B"/>
                </a:solidFill>
                <a:latin typeface="Calibri" pitchFamily="34" charset="0"/>
                <a:ea typeface="Calibri" pitchFamily="34" charset="-122"/>
                <a:cs typeface="Calibri" pitchFamily="34" charset="-120"/>
              </a:rPr>
              <a:t>two results, one negative, and the controls</a:t>
            </a:r>
            <a:endParaRPr lang="en-US" sz="1600" dirty="0"/>
          </a:p>
        </p:txBody>
      </p:sp>
      <p:sp>
        <p:nvSpPr>
          <p:cNvPr id="24" name="Shape 22"/>
          <p:cNvSpPr/>
          <p:nvPr/>
        </p:nvSpPr>
        <p:spPr>
          <a:xfrm>
            <a:off x="685800" y="5742432"/>
            <a:ext cx="10881360" cy="868680"/>
          </a:xfrm>
          <a:prstGeom prst="roundRect">
            <a:avLst>
              <a:gd name="adj" fmla="val 842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25" name="Shape 23"/>
          <p:cNvSpPr/>
          <p:nvPr/>
        </p:nvSpPr>
        <p:spPr>
          <a:xfrm>
            <a:off x="960120" y="5952744"/>
            <a:ext cx="457200" cy="457200"/>
          </a:xfrm>
          <a:prstGeom prst="ellipse">
            <a:avLst/>
          </a:prstGeom>
          <a:solidFill>
            <a:srgbClr val="15718F"/>
          </a:solidFill>
          <a:ln/>
        </p:spPr>
      </p:sp>
      <p:sp>
        <p:nvSpPr>
          <p:cNvPr id="26" name="Text 24"/>
          <p:cNvSpPr/>
          <p:nvPr/>
        </p:nvSpPr>
        <p:spPr>
          <a:xfrm>
            <a:off x="960120" y="59527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572768" y="5870448"/>
            <a:ext cx="3108960" cy="640080"/>
          </a:xfrm>
          <a:prstGeom prst="rect">
            <a:avLst/>
          </a:prstGeom>
          <a:noFill/>
          <a:ln/>
        </p:spPr>
        <p:txBody>
          <a:bodyPr wrap="square" lIns="0" tIns="0" rIns="0" bIns="0" rtlCol="0" anchor="ctr"/>
          <a:lstStyle/>
          <a:p>
            <a:pPr indent="0" marL="0">
              <a:buNone/>
            </a:pPr>
            <a:r>
              <a:rPr lang="en-US" sz="2300" b="1" dirty="0">
                <a:solidFill>
                  <a:srgbClr val="14212E"/>
                </a:solidFill>
                <a:latin typeface="Cambria" pitchFamily="34" charset="0"/>
                <a:ea typeface="Cambria" pitchFamily="34" charset="-122"/>
                <a:cs typeface="Cambria" pitchFamily="34" charset="-120"/>
              </a:rPr>
              <a:t>Where it goes</a:t>
            </a:r>
            <a:endParaRPr lang="en-US" sz="2300" dirty="0"/>
          </a:p>
        </p:txBody>
      </p:sp>
      <p:sp>
        <p:nvSpPr>
          <p:cNvPr id="28" name="Text 26"/>
          <p:cNvSpPr/>
          <p:nvPr/>
        </p:nvSpPr>
        <p:spPr>
          <a:xfrm>
            <a:off x="4663440" y="5870448"/>
            <a:ext cx="6583680" cy="640080"/>
          </a:xfrm>
          <a:prstGeom prst="rect">
            <a:avLst/>
          </a:prstGeom>
          <a:noFill/>
          <a:ln/>
        </p:spPr>
        <p:txBody>
          <a:bodyPr wrap="square" lIns="0" tIns="0" rIns="0" bIns="0" rtlCol="0" anchor="ctr"/>
          <a:lstStyle/>
          <a:p>
            <a:pPr indent="0" marL="0">
              <a:buNone/>
            </a:pPr>
            <a:r>
              <a:rPr lang="en-US" sz="1600" dirty="0">
                <a:solidFill>
                  <a:srgbClr val="5A6B7B"/>
                </a:solidFill>
                <a:latin typeface="Calibri" pitchFamily="34" charset="0"/>
                <a:ea typeface="Calibri" pitchFamily="34" charset="-122"/>
                <a:cs typeface="Calibri" pitchFamily="34" charset="-120"/>
              </a:rPr>
              <a:t>what we'd publish, and what it's useful for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PART 1 · THE QUESTION</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What the animals are doing</a:t>
            </a:r>
            <a:endParaRPr lang="en-US" sz="3000" dirty="0"/>
          </a:p>
        </p:txBody>
      </p:sp>
      <p:sp>
        <p:nvSpPr>
          <p:cNvPr id="4" name="Shape 2"/>
          <p:cNvSpPr/>
          <p:nvPr/>
        </p:nvSpPr>
        <p:spPr>
          <a:xfrm>
            <a:off x="685800" y="2011680"/>
            <a:ext cx="3566160" cy="3931920"/>
          </a:xfrm>
          <a:prstGeom prst="roundRect">
            <a:avLst>
              <a:gd name="adj" fmla="val 205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Shape 3"/>
          <p:cNvSpPr/>
          <p:nvPr/>
        </p:nvSpPr>
        <p:spPr>
          <a:xfrm>
            <a:off x="978408" y="2331720"/>
            <a:ext cx="475488" cy="475488"/>
          </a:xfrm>
          <a:prstGeom prst="ellipse">
            <a:avLst/>
          </a:prstGeom>
          <a:solidFill>
            <a:srgbClr val="B4671A"/>
          </a:solidFill>
          <a:ln/>
        </p:spPr>
      </p:sp>
      <p:sp>
        <p:nvSpPr>
          <p:cNvPr id="6" name="Text 4"/>
          <p:cNvSpPr/>
          <p:nvPr/>
        </p:nvSpPr>
        <p:spPr>
          <a:xfrm>
            <a:off x="978408" y="23317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78408" y="2971800"/>
            <a:ext cx="3017520" cy="502920"/>
          </a:xfrm>
          <a:prstGeom prst="rect">
            <a:avLst/>
          </a:prstGeom>
          <a:noFill/>
          <a:ln/>
        </p:spPr>
        <p:txBody>
          <a:bodyPr wrap="square" lIns="0" tIns="0" rIns="0" bIns="0" rtlCol="0" anchor="ctr"/>
          <a:lstStyle/>
          <a:p>
            <a:pPr indent="0" marL="0">
              <a:buNone/>
            </a:pPr>
            <a:r>
              <a:rPr lang="en-US" sz="2300" b="1" dirty="0">
                <a:solidFill>
                  <a:srgbClr val="14212E"/>
                </a:solidFill>
                <a:latin typeface="Cambria" pitchFamily="34" charset="0"/>
                <a:ea typeface="Cambria" pitchFamily="34" charset="-122"/>
                <a:cs typeface="Cambria" pitchFamily="34" charset="-120"/>
              </a:rPr>
              <a:t>The reflex</a:t>
            </a:r>
            <a:endParaRPr lang="en-US" sz="2300" dirty="0"/>
          </a:p>
        </p:txBody>
      </p:sp>
      <p:sp>
        <p:nvSpPr>
          <p:cNvPr id="8" name="Text 6"/>
          <p:cNvSpPr/>
          <p:nvPr/>
        </p:nvSpPr>
        <p:spPr>
          <a:xfrm>
            <a:off x="978408" y="3566160"/>
            <a:ext cx="3017520" cy="2240280"/>
          </a:xfrm>
          <a:prstGeom prst="rect">
            <a:avLst/>
          </a:prstGeom>
          <a:noFill/>
          <a:ln/>
        </p:spPr>
        <p:txBody>
          <a:bodyPr wrap="square" lIns="0" tIns="0" rIns="0" bIns="0" rtlCol="0" anchor="ctr"/>
          <a:lstStyle/>
          <a:p>
            <a:pPr indent="0" marL="0">
              <a:lnSpc>
                <a:spcPct val="108000"/>
              </a:lnSpc>
              <a:buNone/>
            </a:pPr>
            <a:r>
              <a:rPr lang="en-US" sz="1750" dirty="0">
                <a:solidFill>
                  <a:srgbClr val="5A6B7B"/>
                </a:solidFill>
                <a:latin typeface="Calibri" pitchFamily="34" charset="0"/>
                <a:ea typeface="Calibri" pitchFamily="34" charset="-122"/>
                <a:cs typeface="Calibri" pitchFamily="34" charset="-120"/>
              </a:rPr>
              <a:t>A small electrical stimulus to the leg nerve produces a reflex in the soleus muscle. Its size is what we measure.</a:t>
            </a:r>
            <a:endParaRPr lang="en-US" sz="1750" dirty="0"/>
          </a:p>
        </p:txBody>
      </p:sp>
      <p:sp>
        <p:nvSpPr>
          <p:cNvPr id="9" name="Shape 7"/>
          <p:cNvSpPr/>
          <p:nvPr/>
        </p:nvSpPr>
        <p:spPr>
          <a:xfrm>
            <a:off x="4416552" y="2011680"/>
            <a:ext cx="3566160" cy="3931920"/>
          </a:xfrm>
          <a:prstGeom prst="roundRect">
            <a:avLst>
              <a:gd name="adj" fmla="val 205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0" name="Shape 8"/>
          <p:cNvSpPr/>
          <p:nvPr/>
        </p:nvSpPr>
        <p:spPr>
          <a:xfrm>
            <a:off x="4709160" y="2331720"/>
            <a:ext cx="475488" cy="475488"/>
          </a:xfrm>
          <a:prstGeom prst="ellipse">
            <a:avLst/>
          </a:prstGeom>
          <a:solidFill>
            <a:srgbClr val="15718F"/>
          </a:solidFill>
          <a:ln/>
        </p:spPr>
      </p:sp>
      <p:sp>
        <p:nvSpPr>
          <p:cNvPr id="11" name="Text 9"/>
          <p:cNvSpPr/>
          <p:nvPr/>
        </p:nvSpPr>
        <p:spPr>
          <a:xfrm>
            <a:off x="4709160" y="23317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709160" y="2971800"/>
            <a:ext cx="3017520" cy="502920"/>
          </a:xfrm>
          <a:prstGeom prst="rect">
            <a:avLst/>
          </a:prstGeom>
          <a:noFill/>
          <a:ln/>
        </p:spPr>
        <p:txBody>
          <a:bodyPr wrap="square" lIns="0" tIns="0" rIns="0" bIns="0" rtlCol="0" anchor="ctr"/>
          <a:lstStyle/>
          <a:p>
            <a:pPr indent="0" marL="0">
              <a:buNone/>
            </a:pPr>
            <a:r>
              <a:rPr lang="en-US" sz="2300" b="1" dirty="0">
                <a:solidFill>
                  <a:srgbClr val="14212E"/>
                </a:solidFill>
                <a:latin typeface="Cambria" pitchFamily="34" charset="0"/>
                <a:ea typeface="Cambria" pitchFamily="34" charset="-122"/>
                <a:cs typeface="Cambria" pitchFamily="34" charset="-120"/>
              </a:rPr>
              <a:t>The training</a:t>
            </a:r>
            <a:endParaRPr lang="en-US" sz="2300" dirty="0"/>
          </a:p>
        </p:txBody>
      </p:sp>
      <p:sp>
        <p:nvSpPr>
          <p:cNvPr id="13" name="Text 11"/>
          <p:cNvSpPr/>
          <p:nvPr/>
        </p:nvSpPr>
        <p:spPr>
          <a:xfrm>
            <a:off x="4709160" y="3566160"/>
            <a:ext cx="3017520" cy="2240280"/>
          </a:xfrm>
          <a:prstGeom prst="rect">
            <a:avLst/>
          </a:prstGeom>
          <a:noFill/>
          <a:ln/>
        </p:spPr>
        <p:txBody>
          <a:bodyPr wrap="square" lIns="0" tIns="0" rIns="0" bIns="0" rtlCol="0" anchor="ctr"/>
          <a:lstStyle/>
          <a:p>
            <a:pPr indent="0" marL="0">
              <a:lnSpc>
                <a:spcPct val="108000"/>
              </a:lnSpc>
              <a:buNone/>
            </a:pPr>
            <a:r>
              <a:rPr lang="en-US" sz="1750" dirty="0">
                <a:solidFill>
                  <a:srgbClr val="5A6B7B"/>
                </a:solidFill>
                <a:latin typeface="Calibri" pitchFamily="34" charset="0"/>
                <a:ea typeface="Calibri" pitchFamily="34" charset="-122"/>
                <a:cs typeface="Calibri" pitchFamily="34" charset="-120"/>
              </a:rPr>
              <a:t>The rat is rewarded whenever that reflex is bigger than a threshold — or smaller, depending on the group.</a:t>
            </a:r>
            <a:endParaRPr lang="en-US" sz="1750" dirty="0"/>
          </a:p>
        </p:txBody>
      </p:sp>
      <p:sp>
        <p:nvSpPr>
          <p:cNvPr id="14" name="Shape 12"/>
          <p:cNvSpPr/>
          <p:nvPr/>
        </p:nvSpPr>
        <p:spPr>
          <a:xfrm>
            <a:off x="8147304" y="2011680"/>
            <a:ext cx="3566160" cy="3931920"/>
          </a:xfrm>
          <a:prstGeom prst="roundRect">
            <a:avLst>
              <a:gd name="adj" fmla="val 205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5" name="Shape 13"/>
          <p:cNvSpPr/>
          <p:nvPr/>
        </p:nvSpPr>
        <p:spPr>
          <a:xfrm>
            <a:off x="8439912" y="2331720"/>
            <a:ext cx="475488" cy="475488"/>
          </a:xfrm>
          <a:prstGeom prst="ellipse">
            <a:avLst/>
          </a:prstGeom>
          <a:solidFill>
            <a:srgbClr val="3B6E43"/>
          </a:solidFill>
          <a:ln/>
        </p:spPr>
      </p:sp>
      <p:sp>
        <p:nvSpPr>
          <p:cNvPr id="16" name="Text 14"/>
          <p:cNvSpPr/>
          <p:nvPr/>
        </p:nvSpPr>
        <p:spPr>
          <a:xfrm>
            <a:off x="8439912" y="23317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439912" y="2971800"/>
            <a:ext cx="3017520" cy="502920"/>
          </a:xfrm>
          <a:prstGeom prst="rect">
            <a:avLst/>
          </a:prstGeom>
          <a:noFill/>
          <a:ln/>
        </p:spPr>
        <p:txBody>
          <a:bodyPr wrap="square" lIns="0" tIns="0" rIns="0" bIns="0" rtlCol="0" anchor="ctr"/>
          <a:lstStyle/>
          <a:p>
            <a:pPr indent="0" marL="0">
              <a:buNone/>
            </a:pPr>
            <a:r>
              <a:rPr lang="en-US" sz="2300" b="1" dirty="0">
                <a:solidFill>
                  <a:srgbClr val="14212E"/>
                </a:solidFill>
                <a:latin typeface="Cambria" pitchFamily="34" charset="0"/>
                <a:ea typeface="Cambria" pitchFamily="34" charset="-122"/>
                <a:cs typeface="Cambria" pitchFamily="34" charset="-120"/>
              </a:rPr>
              <a:t>The learning</a:t>
            </a:r>
            <a:endParaRPr lang="en-US" sz="2300" dirty="0"/>
          </a:p>
        </p:txBody>
      </p:sp>
      <p:sp>
        <p:nvSpPr>
          <p:cNvPr id="18" name="Text 16"/>
          <p:cNvSpPr/>
          <p:nvPr/>
        </p:nvSpPr>
        <p:spPr>
          <a:xfrm>
            <a:off x="8439912" y="3566160"/>
            <a:ext cx="3017520" cy="2240280"/>
          </a:xfrm>
          <a:prstGeom prst="rect">
            <a:avLst/>
          </a:prstGeom>
          <a:noFill/>
          <a:ln/>
        </p:spPr>
        <p:txBody>
          <a:bodyPr wrap="square" lIns="0" tIns="0" rIns="0" bIns="0" rtlCol="0" anchor="ctr"/>
          <a:lstStyle/>
          <a:p>
            <a:pPr indent="0" marL="0">
              <a:lnSpc>
                <a:spcPct val="108000"/>
              </a:lnSpc>
              <a:buNone/>
            </a:pPr>
            <a:r>
              <a:rPr lang="en-US" sz="1750" dirty="0">
                <a:solidFill>
                  <a:srgbClr val="5A6B7B"/>
                </a:solidFill>
                <a:latin typeface="Calibri" pitchFamily="34" charset="0"/>
                <a:ea typeface="Calibri" pitchFamily="34" charset="-122"/>
                <a:cs typeface="Calibri" pitchFamily="34" charset="-120"/>
              </a:rPr>
              <a:t>Over weeks the reflex shifts in the trained direction. A 20% change counts as success, and the long-term change is in the spinal cord.</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PART 1 · WHAT WAS ALREADY KNOWN</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What this builds on: Boulay, Chen &amp; Wolpaw, 2015</a:t>
            </a:r>
            <a:endParaRPr lang="en-US" sz="3000" dirty="0"/>
          </a:p>
        </p:txBody>
      </p:sp>
      <p:pic>
        <p:nvPicPr>
          <p:cNvPr id="4" name="Image 0" descr="/Users/suchithrao/Downloads/hroc-training/outputs/diagrams/boulay_titlepage.png">    </p:cNvPr>
          <p:cNvPicPr>
            <a:picLocks noChangeAspect="1"/>
          </p:cNvPicPr>
          <p:nvPr/>
        </p:nvPicPr>
        <p:blipFill>
          <a:blip r:embed="rId1"/>
          <a:stretch>
            <a:fillRect/>
          </a:stretch>
        </p:blipFill>
        <p:spPr>
          <a:xfrm>
            <a:off x="689928" y="1828800"/>
            <a:ext cx="5112384" cy="2788920"/>
          </a:xfrm>
          <a:prstGeom prst="rect">
            <a:avLst/>
          </a:prstGeom>
        </p:spPr>
      </p:pic>
      <p:sp>
        <p:nvSpPr>
          <p:cNvPr id="5" name="Text 2"/>
          <p:cNvSpPr/>
          <p:nvPr/>
        </p:nvSpPr>
        <p:spPr>
          <a:xfrm>
            <a:off x="685800" y="4681728"/>
            <a:ext cx="5120640" cy="32004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J Neurophysiol 113:2232–2241, 2015</a:t>
            </a:r>
            <a:endParaRPr lang="en-US" sz="1350" dirty="0"/>
          </a:p>
        </p:txBody>
      </p:sp>
      <p:sp>
        <p:nvSpPr>
          <p:cNvPr id="6" name="Shape 3"/>
          <p:cNvSpPr/>
          <p:nvPr/>
        </p:nvSpPr>
        <p:spPr>
          <a:xfrm>
            <a:off x="6080760" y="1783080"/>
            <a:ext cx="5486400" cy="3749040"/>
          </a:xfrm>
          <a:prstGeom prst="roundRect">
            <a:avLst>
              <a:gd name="adj" fmla="val 1951"/>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7" name="Text 4"/>
          <p:cNvSpPr/>
          <p:nvPr/>
        </p:nvSpPr>
        <p:spPr>
          <a:xfrm>
            <a:off x="6355080" y="1920240"/>
            <a:ext cx="4937760" cy="320040"/>
          </a:xfrm>
          <a:prstGeom prst="rect">
            <a:avLst/>
          </a:prstGeom>
          <a:noFill/>
          <a:ln/>
        </p:spPr>
        <p:txBody>
          <a:bodyPr wrap="square" lIns="0" tIns="0" rIns="0" bIns="0" rtlCol="0" anchor="ctr"/>
          <a:lstStyle/>
          <a:p>
            <a:pPr indent="0" marL="0">
              <a:buNone/>
            </a:pPr>
            <a:r>
              <a:rPr lang="en-US" sz="1650" b="1" dirty="0">
                <a:solidFill>
                  <a:srgbClr val="15718F"/>
                </a:solidFill>
                <a:latin typeface="Calibri" pitchFamily="34" charset="0"/>
                <a:ea typeface="Calibri" pitchFamily="34" charset="-122"/>
                <a:cs typeface="Calibri" pitchFamily="34" charset="-120"/>
              </a:rPr>
              <a:t>Their question</a:t>
            </a:r>
            <a:endParaRPr lang="en-US" sz="1650" dirty="0"/>
          </a:p>
        </p:txBody>
      </p:sp>
      <p:sp>
        <p:nvSpPr>
          <p:cNvPr id="8" name="Text 5"/>
          <p:cNvSpPr/>
          <p:nvPr/>
        </p:nvSpPr>
        <p:spPr>
          <a:xfrm>
            <a:off x="6355080" y="2240280"/>
            <a:ext cx="4983480" cy="777240"/>
          </a:xfrm>
          <a:prstGeom prst="rect">
            <a:avLst/>
          </a:prstGeom>
          <a:noFill/>
          <a:ln/>
        </p:spPr>
        <p:txBody>
          <a:bodyPr wrap="square" lIns="0" tIns="0" rIns="0" bIns="0" rtlCol="0" anchor="ctr"/>
          <a:lstStyle/>
          <a:p>
            <a:pPr indent="0" marL="0">
              <a:lnSpc>
                <a:spcPct val="105000"/>
              </a:lnSpc>
              <a:buNone/>
            </a:pPr>
            <a:r>
              <a:rPr lang="en-US" sz="1450" dirty="0">
                <a:solidFill>
                  <a:srgbClr val="14212E"/>
                </a:solidFill>
                <a:latin typeface="Calibri" pitchFamily="34" charset="0"/>
                <a:ea typeface="Calibri" pitchFamily="34" charset="-122"/>
                <a:cs typeface="Calibri" pitchFamily="34" charset="-120"/>
              </a:rPr>
              <a:t>How does ongoing sensorimotor cortex activity affect H-reflex size? 41 awake rats; ECoG, soleus EMG and H-reflex recorded together.</a:t>
            </a:r>
            <a:endParaRPr lang="en-US" sz="1450" dirty="0"/>
          </a:p>
        </p:txBody>
      </p:sp>
      <p:sp>
        <p:nvSpPr>
          <p:cNvPr id="9" name="Text 6"/>
          <p:cNvSpPr/>
          <p:nvPr/>
        </p:nvSpPr>
        <p:spPr>
          <a:xfrm>
            <a:off x="6355080" y="3090672"/>
            <a:ext cx="4937760" cy="320040"/>
          </a:xfrm>
          <a:prstGeom prst="rect">
            <a:avLst/>
          </a:prstGeom>
          <a:noFill/>
          <a:ln/>
        </p:spPr>
        <p:txBody>
          <a:bodyPr wrap="square" lIns="0" tIns="0" rIns="0" bIns="0" rtlCol="0" anchor="ctr"/>
          <a:lstStyle/>
          <a:p>
            <a:pPr indent="0" marL="0">
              <a:buNone/>
            </a:pPr>
            <a:r>
              <a:rPr lang="en-US" sz="1650" b="1" dirty="0">
                <a:solidFill>
                  <a:srgbClr val="15718F"/>
                </a:solidFill>
                <a:latin typeface="Calibri" pitchFamily="34" charset="0"/>
                <a:ea typeface="Calibri" pitchFamily="34" charset="-122"/>
                <a:cs typeface="Calibri" pitchFamily="34" charset="-120"/>
              </a:rPr>
              <a:t>What they found</a:t>
            </a:r>
            <a:endParaRPr lang="en-US" sz="1650" dirty="0"/>
          </a:p>
        </p:txBody>
      </p:sp>
      <p:sp>
        <p:nvSpPr>
          <p:cNvPr id="10" name="Text 7"/>
          <p:cNvSpPr/>
          <p:nvPr/>
        </p:nvSpPr>
        <p:spPr>
          <a:xfrm>
            <a:off x="6355080" y="3429000"/>
            <a:ext cx="5029200" cy="2011680"/>
          </a:xfrm>
          <a:prstGeom prst="rect">
            <a:avLst/>
          </a:prstGeom>
          <a:noFill/>
          <a:ln/>
        </p:spPr>
        <p:txBody>
          <a:bodyPr wrap="square" lIns="0" tIns="0" rIns="0" bIns="0" rtlCol="0" anchor="ctr"/>
          <a:lstStyle/>
          <a:p>
            <a:pPr marL="342900" indent="-342900">
              <a:lnSpc>
                <a:spcPct val="105000"/>
              </a:lnSpc>
              <a:spcAft>
                <a:spcPts val="400"/>
              </a:spcAft>
              <a:buSzPct val="100000"/>
              <a:buChar char="•"/>
            </a:pPr>
            <a:r>
              <a:rPr lang="en-US" sz="1400" dirty="0">
                <a:solidFill>
                  <a:srgbClr val="14212E"/>
                </a:solidFill>
                <a:latin typeface="Calibri" pitchFamily="34" charset="0"/>
                <a:ea typeface="Calibri" pitchFamily="34" charset="-122"/>
                <a:cs typeface="Calibri" pitchFamily="34" charset="-120"/>
              </a:rPr>
              <a:t>Cortical activity fell into three bands: μβ (5–30 Hz), low γ (40–85 Hz), high γ (100–200 Hz).</a:t>
            </a:r>
            <a:endParaRPr lang="en-US" sz="1400" dirty="0"/>
          </a:p>
          <a:p>
            <a:pPr marL="342900" indent="-342900">
              <a:lnSpc>
                <a:spcPct val="105000"/>
              </a:lnSpc>
              <a:spcAft>
                <a:spcPts val="400"/>
              </a:spcAft>
              <a:buSzPct val="100000"/>
              <a:buChar char="•"/>
            </a:pPr>
            <a:r>
              <a:rPr lang="en-US" sz="1400" dirty="0">
                <a:solidFill>
                  <a:srgbClr val="14212E"/>
                </a:solidFill>
                <a:latin typeface="Calibri" pitchFamily="34" charset="0"/>
                <a:ea typeface="Calibri" pitchFamily="34" charset="-122"/>
                <a:cs typeface="Calibri" pitchFamily="34" charset="-120"/>
              </a:rPr>
              <a:t>Background soleus EMG tracked cortical state: lower μβ and higher low-γ power went with more muscle activity.</a:t>
            </a:r>
            <a:endParaRPr lang="en-US" sz="1400" dirty="0"/>
          </a:p>
          <a:p>
            <a:pPr marL="342900" indent="-342900">
              <a:lnSpc>
                <a:spcPct val="105000"/>
              </a:lnSpc>
              <a:spcAft>
                <a:spcPts val="400"/>
              </a:spcAft>
              <a:buSzPct val="100000"/>
              <a:buChar char="•"/>
            </a:pPr>
            <a:r>
              <a:rPr lang="en-US" sz="1400" dirty="0">
                <a:solidFill>
                  <a:srgbClr val="14212E"/>
                </a:solidFill>
                <a:latin typeface="Calibri" pitchFamily="34" charset="0"/>
                <a:ea typeface="Calibri" pitchFamily="34" charset="-122"/>
                <a:cs typeface="Calibri" pitchFamily="34" charset="-120"/>
              </a:rPr>
              <a:t>H-reflex size related to the same bands in the opposite direction, but only once background EMG was in the model.</a:t>
            </a:r>
            <a:endParaRPr lang="en-US" sz="1400" dirty="0"/>
          </a:p>
        </p:txBody>
      </p:sp>
      <p:sp>
        <p:nvSpPr>
          <p:cNvPr id="11" name="Shape 8"/>
          <p:cNvSpPr/>
          <p:nvPr/>
        </p:nvSpPr>
        <p:spPr>
          <a:xfrm>
            <a:off x="685800" y="5669280"/>
            <a:ext cx="10881360" cy="777240"/>
          </a:xfrm>
          <a:prstGeom prst="roundRect">
            <a:avLst>
              <a:gd name="adj" fmla="val 9412"/>
            </a:avLst>
          </a:prstGeom>
          <a:solidFill>
            <a:srgbClr val="EAF4F7"/>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2" name="Text 9"/>
          <p:cNvSpPr/>
          <p:nvPr/>
        </p:nvSpPr>
        <p:spPr>
          <a:xfrm>
            <a:off x="960120" y="5742432"/>
            <a:ext cx="10332720" cy="640080"/>
          </a:xfrm>
          <a:prstGeom prst="rect">
            <a:avLst/>
          </a:prstGeom>
          <a:noFill/>
          <a:ln/>
        </p:spPr>
        <p:txBody>
          <a:bodyPr wrap="square" lIns="0" tIns="0" rIns="0" bIns="0" rtlCol="0" anchor="ctr"/>
          <a:lstStyle/>
          <a:p>
            <a:pPr indent="0" marL="0">
              <a:buNone/>
            </a:pPr>
            <a:r>
              <a:rPr lang="en-US" sz="1600" b="1" dirty="0">
                <a:solidFill>
                  <a:srgbClr val="15718F"/>
                </a:solidFill>
                <a:latin typeface="Calibri" pitchFamily="34" charset="0"/>
                <a:ea typeface="Calibri" pitchFamily="34" charset="-122"/>
                <a:cs typeface="Calibri" pitchFamily="34" charset="-120"/>
              </a:rPr>
              <a:t>Already known:  </a:t>
            </a:r>
            <a:pPr indent="0" marL="0">
              <a:buNone/>
            </a:pPr>
            <a:r>
              <a:rPr lang="en-US" sz="1600" dirty="0">
                <a:solidFill>
                  <a:srgbClr val="14212E"/>
                </a:solidFill>
                <a:latin typeface="Calibri" pitchFamily="34" charset="0"/>
                <a:ea typeface="Calibri" pitchFamily="34" charset="-122"/>
                <a:cs typeface="Calibri" pitchFamily="34" charset="-120"/>
              </a:rPr>
              <a:t>cortex influences reflex size.     </a:t>
            </a:r>
            <a:pPr indent="0" marL="0">
              <a:buNone/>
            </a:pPr>
            <a:r>
              <a:rPr lang="en-US" sz="1600" b="1" dirty="0">
                <a:solidFill>
                  <a:srgbClr val="15718F"/>
                </a:solidFill>
                <a:latin typeface="Calibri" pitchFamily="34" charset="0"/>
                <a:ea typeface="Calibri" pitchFamily="34" charset="-122"/>
                <a:cs typeface="Calibri" pitchFamily="34" charset="-120"/>
              </a:rPr>
              <a:t>Our question:  </a:t>
            </a:r>
            <a:pPr indent="0" marL="0">
              <a:buNone/>
            </a:pPr>
            <a:r>
              <a:rPr lang="en-US" sz="1600" dirty="0">
                <a:solidFill>
                  <a:srgbClr val="14212E"/>
                </a:solidFill>
                <a:latin typeface="Calibri" pitchFamily="34" charset="0"/>
                <a:ea typeface="Calibri" pitchFamily="34" charset="-122"/>
                <a:cs typeface="Calibri" pitchFamily="34" charset="-120"/>
              </a:rPr>
              <a:t>is it visible on a single trial, and does it change as the animal learns?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PART 1 · THE QUESTION</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Why bring machine learning to this</a:t>
            </a:r>
            <a:endParaRPr lang="en-US" sz="3000" dirty="0"/>
          </a:p>
        </p:txBody>
      </p:sp>
      <p:sp>
        <p:nvSpPr>
          <p:cNvPr id="4" name="Shape 2"/>
          <p:cNvSpPr/>
          <p:nvPr/>
        </p:nvSpPr>
        <p:spPr>
          <a:xfrm>
            <a:off x="685800" y="1965960"/>
            <a:ext cx="5349240" cy="2377440"/>
          </a:xfrm>
          <a:prstGeom prst="roundRect">
            <a:avLst>
              <a:gd name="adj" fmla="val 3077"/>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Text 3"/>
          <p:cNvSpPr/>
          <p:nvPr/>
        </p:nvSpPr>
        <p:spPr>
          <a:xfrm>
            <a:off x="960120" y="2176272"/>
            <a:ext cx="4572000" cy="320040"/>
          </a:xfrm>
          <a:prstGeom prst="rect">
            <a:avLst/>
          </a:prstGeom>
          <a:noFill/>
          <a:ln/>
        </p:spPr>
        <p:txBody>
          <a:bodyPr wrap="square" lIns="0" tIns="0" rIns="0" bIns="0" rtlCol="0" anchor="ctr"/>
          <a:lstStyle/>
          <a:p>
            <a:pPr indent="0" marL="0">
              <a:buNone/>
            </a:pPr>
            <a:r>
              <a:rPr lang="en-US" sz="1650" b="1" dirty="0">
                <a:solidFill>
                  <a:srgbClr val="5A6B7B"/>
                </a:solidFill>
                <a:latin typeface="Calibri" pitchFamily="34" charset="0"/>
                <a:ea typeface="Calibri" pitchFamily="34" charset="-122"/>
                <a:cs typeface="Calibri" pitchFamily="34" charset="-120"/>
              </a:rPr>
              <a:t>The usual approach</a:t>
            </a:r>
            <a:endParaRPr lang="en-US" sz="1650" dirty="0"/>
          </a:p>
        </p:txBody>
      </p:sp>
      <p:sp>
        <p:nvSpPr>
          <p:cNvPr id="6" name="Text 4"/>
          <p:cNvSpPr/>
          <p:nvPr/>
        </p:nvSpPr>
        <p:spPr>
          <a:xfrm>
            <a:off x="960120" y="2560320"/>
            <a:ext cx="4846320" cy="1097280"/>
          </a:xfrm>
          <a:prstGeom prst="rect">
            <a:avLst/>
          </a:prstGeom>
          <a:noFill/>
          <a:ln/>
        </p:spPr>
        <p:txBody>
          <a:bodyPr wrap="square" lIns="0" tIns="0" rIns="0" bIns="0" rtlCol="0" anchor="ctr"/>
          <a:lstStyle/>
          <a:p>
            <a:pPr indent="0" marL="0">
              <a:lnSpc>
                <a:spcPct val="106000"/>
              </a:lnSpc>
              <a:buNone/>
            </a:pPr>
            <a:r>
              <a:rPr lang="en-US" sz="1600" dirty="0">
                <a:solidFill>
                  <a:srgbClr val="14212E"/>
                </a:solidFill>
                <a:latin typeface="Calibri" pitchFamily="34" charset="0"/>
                <a:ea typeface="Calibri" pitchFamily="34" charset="-122"/>
                <a:cs typeface="Calibri" pitchFamily="34" charset="-120"/>
              </a:rPr>
              <a:t>Decide in advance which features of the recording might matter — a peak here, a band of power there — then measure those.</a:t>
            </a:r>
            <a:endParaRPr lang="en-US" sz="1600" dirty="0"/>
          </a:p>
        </p:txBody>
      </p:sp>
      <p:sp>
        <p:nvSpPr>
          <p:cNvPr id="7" name="Text 5"/>
          <p:cNvSpPr/>
          <p:nvPr/>
        </p:nvSpPr>
        <p:spPr>
          <a:xfrm>
            <a:off x="960120" y="3749040"/>
            <a:ext cx="4846320" cy="457200"/>
          </a:xfrm>
          <a:prstGeom prst="rect">
            <a:avLst/>
          </a:prstGeom>
          <a:noFill/>
          <a:ln/>
        </p:spPr>
        <p:txBody>
          <a:bodyPr wrap="square" lIns="0" tIns="0" rIns="0" bIns="0" rtlCol="0" anchor="ctr"/>
          <a:lstStyle/>
          <a:p>
            <a:pPr indent="0" marL="0">
              <a:buNone/>
            </a:pPr>
            <a:r>
              <a:rPr lang="en-US" sz="1400" i="1" dirty="0">
                <a:solidFill>
                  <a:srgbClr val="A44430"/>
                </a:solidFill>
                <a:latin typeface="Calibri" pitchFamily="34" charset="0"/>
                <a:ea typeface="Calibri" pitchFamily="34" charset="-122"/>
                <a:cs typeface="Calibri" pitchFamily="34" charset="-120"/>
              </a:rPr>
              <a:t>Whatever you didn't think of, you don't measure.</a:t>
            </a:r>
            <a:endParaRPr lang="en-US" sz="1400" dirty="0"/>
          </a:p>
        </p:txBody>
      </p:sp>
      <p:sp>
        <p:nvSpPr>
          <p:cNvPr id="8" name="Shape 6"/>
          <p:cNvSpPr/>
          <p:nvPr/>
        </p:nvSpPr>
        <p:spPr>
          <a:xfrm>
            <a:off x="6217920" y="1965960"/>
            <a:ext cx="5349240" cy="2377440"/>
          </a:xfrm>
          <a:prstGeom prst="roundRect">
            <a:avLst>
              <a:gd name="adj" fmla="val 3077"/>
            </a:avLst>
          </a:prstGeom>
          <a:solidFill>
            <a:srgbClr val="EAF4F7"/>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9" name="Text 7"/>
          <p:cNvSpPr/>
          <p:nvPr/>
        </p:nvSpPr>
        <p:spPr>
          <a:xfrm>
            <a:off x="6492240" y="2176272"/>
            <a:ext cx="4572000" cy="320040"/>
          </a:xfrm>
          <a:prstGeom prst="rect">
            <a:avLst/>
          </a:prstGeom>
          <a:noFill/>
          <a:ln/>
        </p:spPr>
        <p:txBody>
          <a:bodyPr wrap="square" lIns="0" tIns="0" rIns="0" bIns="0" rtlCol="0" anchor="ctr"/>
          <a:lstStyle/>
          <a:p>
            <a:pPr indent="0" marL="0">
              <a:buNone/>
            </a:pPr>
            <a:r>
              <a:rPr lang="en-US" sz="1650" b="1" dirty="0">
                <a:solidFill>
                  <a:srgbClr val="15718F"/>
                </a:solidFill>
                <a:latin typeface="Calibri" pitchFamily="34" charset="0"/>
                <a:ea typeface="Calibri" pitchFamily="34" charset="-122"/>
                <a:cs typeface="Calibri" pitchFamily="34" charset="-120"/>
              </a:rPr>
              <a:t>What we did instead</a:t>
            </a:r>
            <a:endParaRPr lang="en-US" sz="1650" dirty="0"/>
          </a:p>
        </p:txBody>
      </p:sp>
      <p:sp>
        <p:nvSpPr>
          <p:cNvPr id="10" name="Text 8"/>
          <p:cNvSpPr/>
          <p:nvPr/>
        </p:nvSpPr>
        <p:spPr>
          <a:xfrm>
            <a:off x="6492240" y="2560320"/>
            <a:ext cx="4846320" cy="1188720"/>
          </a:xfrm>
          <a:prstGeom prst="rect">
            <a:avLst/>
          </a:prstGeom>
          <a:noFill/>
          <a:ln/>
        </p:spPr>
        <p:txBody>
          <a:bodyPr wrap="square" lIns="0" tIns="0" rIns="0" bIns="0" rtlCol="0" anchor="ctr"/>
          <a:lstStyle/>
          <a:p>
            <a:pPr indent="0" marL="0">
              <a:lnSpc>
                <a:spcPct val="106000"/>
              </a:lnSpc>
              <a:buNone/>
            </a:pPr>
            <a:r>
              <a:rPr lang="en-US" sz="1600" dirty="0">
                <a:solidFill>
                  <a:srgbClr val="14212E"/>
                </a:solidFill>
                <a:latin typeface="Calibri" pitchFamily="34" charset="0"/>
                <a:ea typeface="Calibri" pitchFamily="34" charset="-122"/>
                <a:cs typeface="Calibri" pitchFamily="34" charset="-120"/>
              </a:rPr>
              <a:t>Let a network learn its own compact description of each trace, with no labels and no assumptions, then test what that description can predict.</a:t>
            </a:r>
            <a:endParaRPr lang="en-US" sz="1600" dirty="0"/>
          </a:p>
        </p:txBody>
      </p:sp>
      <p:sp>
        <p:nvSpPr>
          <p:cNvPr id="11" name="Text 9"/>
          <p:cNvSpPr/>
          <p:nvPr/>
        </p:nvSpPr>
        <p:spPr>
          <a:xfrm>
            <a:off x="6492240" y="3794760"/>
            <a:ext cx="4846320" cy="457200"/>
          </a:xfrm>
          <a:prstGeom prst="rect">
            <a:avLst/>
          </a:prstGeom>
          <a:noFill/>
          <a:ln/>
        </p:spPr>
        <p:txBody>
          <a:bodyPr wrap="square" lIns="0" tIns="0" rIns="0" bIns="0" rtlCol="0" anchor="ctr"/>
          <a:lstStyle/>
          <a:p>
            <a:pPr indent="0" marL="0">
              <a:buNone/>
            </a:pPr>
            <a:r>
              <a:rPr lang="en-US" sz="1400" i="1" dirty="0">
                <a:solidFill>
                  <a:srgbClr val="15718F"/>
                </a:solidFill>
                <a:latin typeface="Calibri" pitchFamily="34" charset="0"/>
                <a:ea typeface="Calibri" pitchFamily="34" charset="-122"/>
                <a:cs typeface="Calibri" pitchFamily="34" charset="-120"/>
              </a:rPr>
              <a:t>With 2.7 million trials, that is tractable.</a:t>
            </a:r>
            <a:endParaRPr lang="en-US" sz="1400" dirty="0"/>
          </a:p>
        </p:txBody>
      </p:sp>
      <p:sp>
        <p:nvSpPr>
          <p:cNvPr id="12" name="Shape 10"/>
          <p:cNvSpPr/>
          <p:nvPr/>
        </p:nvSpPr>
        <p:spPr>
          <a:xfrm>
            <a:off x="685800" y="4572000"/>
            <a:ext cx="10881360" cy="1645920"/>
          </a:xfrm>
          <a:prstGeom prst="roundRect">
            <a:avLst>
              <a:gd name="adj" fmla="val 4444"/>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3" name="Text 11"/>
          <p:cNvSpPr/>
          <p:nvPr/>
        </p:nvSpPr>
        <p:spPr>
          <a:xfrm>
            <a:off x="1005840" y="4800600"/>
            <a:ext cx="5486400" cy="320040"/>
          </a:xfrm>
          <a:prstGeom prst="rect">
            <a:avLst/>
          </a:prstGeom>
          <a:noFill/>
          <a:ln/>
        </p:spPr>
        <p:txBody>
          <a:bodyPr wrap="square" lIns="0" tIns="0" rIns="0" bIns="0" rtlCol="0" anchor="ctr"/>
          <a:lstStyle/>
          <a:p>
            <a:pPr indent="0" marL="0">
              <a:buNone/>
            </a:pPr>
            <a:r>
              <a:rPr lang="en-US" sz="1600" b="1" dirty="0">
                <a:solidFill>
                  <a:srgbClr val="6B4E8F"/>
                </a:solidFill>
                <a:latin typeface="Calibri" pitchFamily="34" charset="0"/>
                <a:ea typeface="Calibri" pitchFamily="34" charset="-122"/>
                <a:cs typeface="Calibri" pitchFamily="34" charset="-120"/>
              </a:rPr>
              <a:t>The precedent: BrainBERT</a:t>
            </a:r>
            <a:endParaRPr lang="en-US" sz="1600" dirty="0"/>
          </a:p>
        </p:txBody>
      </p:sp>
      <p:sp>
        <p:nvSpPr>
          <p:cNvPr id="14" name="Text 12"/>
          <p:cNvSpPr/>
          <p:nvPr/>
        </p:nvSpPr>
        <p:spPr>
          <a:xfrm>
            <a:off x="1005840" y="5102352"/>
            <a:ext cx="10241280" cy="1005840"/>
          </a:xfrm>
          <a:prstGeom prst="rect">
            <a:avLst/>
          </a:prstGeom>
          <a:noFill/>
          <a:ln/>
        </p:spPr>
        <p:txBody>
          <a:bodyPr wrap="square" lIns="0" tIns="0" rIns="0" bIns="0" rtlCol="0" anchor="ctr"/>
          <a:lstStyle/>
          <a:p>
            <a:pPr indent="0" marL="0">
              <a:lnSpc>
                <a:spcPct val="106000"/>
              </a:lnSpc>
              <a:buNone/>
            </a:pPr>
            <a:r>
              <a:rPr lang="en-US" sz="1550" dirty="0">
                <a:solidFill>
                  <a:srgbClr val="14212E"/>
                </a:solidFill>
                <a:latin typeface="Calibri" pitchFamily="34" charset="0"/>
                <a:ea typeface="Calibri" pitchFamily="34" charset="-122"/>
                <a:cs typeface="Calibri" pitchFamily="34" charset="-120"/>
              </a:rPr>
              <a:t>BrainBERT (Wang et al., ICLR 2023) is a self-supervised model for human intracranial recordings: it learns a general representation of the neural signal first, without labels, and then uses it for downstream questions. We use a much smaller model, because we have one channel and a 30 ms window rather than a whole electrode array.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B4671A"/>
                </a:solidFill>
                <a:latin typeface="Calibri" pitchFamily="34" charset="0"/>
                <a:ea typeface="Calibri" pitchFamily="34" charset="-122"/>
                <a:cs typeface="Calibri" pitchFamily="34" charset="-120"/>
              </a:rPr>
              <a:t>PART 2 · THE DATA</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What a single trial looks like</a:t>
            </a:r>
            <a:endParaRPr lang="en-US" sz="3000" dirty="0"/>
          </a:p>
        </p:txBody>
      </p:sp>
      <p:sp>
        <p:nvSpPr>
          <p:cNvPr id="4" name="Text 2"/>
          <p:cNvSpPr/>
          <p:nvPr/>
        </p:nvSpPr>
        <p:spPr>
          <a:xfrm>
            <a:off x="685800" y="1536192"/>
            <a:ext cx="10881360" cy="566928"/>
          </a:xfrm>
          <a:prstGeom prst="rect">
            <a:avLst/>
          </a:prstGeom>
          <a:noFill/>
          <a:ln/>
        </p:spPr>
        <p:txBody>
          <a:bodyPr wrap="square" lIns="0" tIns="0" rIns="0" bIns="0" rtlCol="0" anchor="ctr"/>
          <a:lstStyle/>
          <a:p>
            <a:pPr indent="0" marL="0">
              <a:lnSpc>
                <a:spcPct val="106000"/>
              </a:lnSpc>
              <a:buNone/>
            </a:pPr>
            <a:r>
              <a:rPr lang="en-US" sz="1700" dirty="0">
                <a:solidFill>
                  <a:srgbClr val="5A6B7B"/>
                </a:solidFill>
                <a:latin typeface="Calibri" pitchFamily="34" charset="0"/>
                <a:ea typeface="Calibri" pitchFamily="34" charset="-122"/>
                <a:cs typeface="Calibri" pitchFamily="34" charset="-120"/>
              </a:rPr>
              <a:t>Every stimulus produces one trial: a 30-millisecond window, recorded from a pair of EMG electrodes in the soleus muscle.</a:t>
            </a:r>
            <a:endParaRPr lang="en-US" sz="1700" dirty="0"/>
          </a:p>
        </p:txBody>
      </p:sp>
      <p:pic>
        <p:nvPicPr>
          <p:cNvPr id="5" name="Image 0" descr="/Users/suchithrao/Downloads/hroc-training/outputs/diagrams/evoked_emg.png">    </p:cNvPr>
          <p:cNvPicPr>
            <a:picLocks noChangeAspect="1"/>
          </p:cNvPicPr>
          <p:nvPr/>
        </p:nvPicPr>
        <p:blipFill>
          <a:blip r:embed="rId1"/>
          <a:stretch>
            <a:fillRect/>
          </a:stretch>
        </p:blipFill>
        <p:spPr>
          <a:xfrm>
            <a:off x="698722" y="2148840"/>
            <a:ext cx="6374956" cy="3200400"/>
          </a:xfrm>
          <a:prstGeom prst="rect">
            <a:avLst/>
          </a:prstGeom>
        </p:spPr>
      </p:pic>
      <p:sp>
        <p:nvSpPr>
          <p:cNvPr id="6" name="Shape 3"/>
          <p:cNvSpPr/>
          <p:nvPr/>
        </p:nvSpPr>
        <p:spPr>
          <a:xfrm>
            <a:off x="7680960" y="2194560"/>
            <a:ext cx="3886200" cy="3749040"/>
          </a:xfrm>
          <a:prstGeom prst="roundRect">
            <a:avLst>
              <a:gd name="adj" fmla="val 1951"/>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7" name="Text 4"/>
          <p:cNvSpPr/>
          <p:nvPr/>
        </p:nvSpPr>
        <p:spPr>
          <a:xfrm>
            <a:off x="7955280" y="2395728"/>
            <a:ext cx="3291840" cy="320040"/>
          </a:xfrm>
          <a:prstGeom prst="rect">
            <a:avLst/>
          </a:prstGeom>
          <a:noFill/>
          <a:ln/>
        </p:spPr>
        <p:txBody>
          <a:bodyPr wrap="square" lIns="0" tIns="0" rIns="0" bIns="0" rtlCol="0" anchor="ctr"/>
          <a:lstStyle/>
          <a:p>
            <a:pPr indent="0" marL="0">
              <a:buNone/>
            </a:pPr>
            <a:r>
              <a:rPr lang="en-US" sz="1600" b="1" dirty="0">
                <a:solidFill>
                  <a:srgbClr val="14212E"/>
                </a:solidFill>
                <a:latin typeface="Calibri" pitchFamily="34" charset="0"/>
                <a:ea typeface="Calibri" pitchFamily="34" charset="-122"/>
                <a:cs typeface="Calibri" pitchFamily="34" charset="-120"/>
              </a:rPr>
              <a:t>Reading the trace</a:t>
            </a:r>
            <a:endParaRPr lang="en-US" sz="1600" dirty="0"/>
          </a:p>
        </p:txBody>
      </p:sp>
      <p:sp>
        <p:nvSpPr>
          <p:cNvPr id="8" name="Shape 5"/>
          <p:cNvSpPr/>
          <p:nvPr/>
        </p:nvSpPr>
        <p:spPr>
          <a:xfrm>
            <a:off x="7991856" y="2926080"/>
            <a:ext cx="155448" cy="155448"/>
          </a:xfrm>
          <a:prstGeom prst="ellipse">
            <a:avLst/>
          </a:prstGeom>
          <a:solidFill>
            <a:srgbClr val="9AA8B4"/>
          </a:solidFill>
          <a:ln/>
        </p:spPr>
      </p:sp>
      <p:sp>
        <p:nvSpPr>
          <p:cNvPr id="9" name="Text 6"/>
          <p:cNvSpPr/>
          <p:nvPr/>
        </p:nvSpPr>
        <p:spPr>
          <a:xfrm>
            <a:off x="8247888" y="2807208"/>
            <a:ext cx="3017520" cy="301752"/>
          </a:xfrm>
          <a:prstGeom prst="rect">
            <a:avLst/>
          </a:prstGeom>
          <a:noFill/>
          <a:ln/>
        </p:spPr>
        <p:txBody>
          <a:bodyPr wrap="square" lIns="0" tIns="0" rIns="0" bIns="0" rtlCol="0" anchor="ctr"/>
          <a:lstStyle/>
          <a:p>
            <a:pPr indent="0" marL="0">
              <a:buNone/>
            </a:pPr>
            <a:r>
              <a:rPr lang="en-US" sz="1400" b="1" dirty="0">
                <a:solidFill>
                  <a:srgbClr val="14212E"/>
                </a:solidFill>
                <a:latin typeface="Calibri" pitchFamily="34" charset="0"/>
                <a:ea typeface="Calibri" pitchFamily="34" charset="-122"/>
                <a:cs typeface="Calibri" pitchFamily="34" charset="-120"/>
              </a:rPr>
              <a:t>The spike at zero</a:t>
            </a:r>
            <a:endParaRPr lang="en-US" sz="1400" dirty="0"/>
          </a:p>
        </p:txBody>
      </p:sp>
      <p:sp>
        <p:nvSpPr>
          <p:cNvPr id="10" name="Text 7"/>
          <p:cNvSpPr/>
          <p:nvPr/>
        </p:nvSpPr>
        <p:spPr>
          <a:xfrm>
            <a:off x="8247888" y="3099816"/>
            <a:ext cx="3063240" cy="621792"/>
          </a:xfrm>
          <a:prstGeom prst="rect">
            <a:avLst/>
          </a:prstGeom>
          <a:noFill/>
          <a:ln/>
        </p:spPr>
        <p:txBody>
          <a:bodyPr wrap="square" lIns="0" tIns="0" rIns="0" bIns="0" rtlCol="0" anchor="ctr"/>
          <a:lstStyle/>
          <a:p>
            <a:pPr indent="0" marL="0">
              <a:lnSpc>
                <a:spcPct val="105000"/>
              </a:lnSpc>
              <a:buNone/>
            </a:pPr>
            <a:r>
              <a:rPr lang="en-US" sz="1300" dirty="0">
                <a:solidFill>
                  <a:srgbClr val="5A6B7B"/>
                </a:solidFill>
                <a:latin typeface="Calibri" pitchFamily="34" charset="0"/>
                <a:ea typeface="Calibri" pitchFamily="34" charset="-122"/>
                <a:cs typeface="Calibri" pitchFamily="34" charset="-120"/>
              </a:rPr>
              <a:t>the stimulus itself — an electrical artifact</a:t>
            </a:r>
            <a:endParaRPr lang="en-US" sz="1300" dirty="0"/>
          </a:p>
        </p:txBody>
      </p:sp>
      <p:sp>
        <p:nvSpPr>
          <p:cNvPr id="11" name="Shape 8"/>
          <p:cNvSpPr/>
          <p:nvPr/>
        </p:nvSpPr>
        <p:spPr>
          <a:xfrm>
            <a:off x="7991856" y="3858768"/>
            <a:ext cx="155448" cy="155448"/>
          </a:xfrm>
          <a:prstGeom prst="ellipse">
            <a:avLst/>
          </a:prstGeom>
          <a:solidFill>
            <a:srgbClr val="B4671A"/>
          </a:solidFill>
          <a:ln/>
        </p:spPr>
      </p:sp>
      <p:sp>
        <p:nvSpPr>
          <p:cNvPr id="12" name="Text 9"/>
          <p:cNvSpPr/>
          <p:nvPr/>
        </p:nvSpPr>
        <p:spPr>
          <a:xfrm>
            <a:off x="8247888" y="3739896"/>
            <a:ext cx="3017520" cy="301752"/>
          </a:xfrm>
          <a:prstGeom prst="rect">
            <a:avLst/>
          </a:prstGeom>
          <a:noFill/>
          <a:ln/>
        </p:spPr>
        <p:txBody>
          <a:bodyPr wrap="square" lIns="0" tIns="0" rIns="0" bIns="0" rtlCol="0" anchor="ctr"/>
          <a:lstStyle/>
          <a:p>
            <a:pPr indent="0" marL="0">
              <a:buNone/>
            </a:pPr>
            <a:r>
              <a:rPr lang="en-US" sz="1400" b="1" dirty="0">
                <a:solidFill>
                  <a:srgbClr val="14212E"/>
                </a:solidFill>
                <a:latin typeface="Calibri" pitchFamily="34" charset="0"/>
                <a:ea typeface="Calibri" pitchFamily="34" charset="-122"/>
                <a:cs typeface="Calibri" pitchFamily="34" charset="-120"/>
              </a:rPr>
              <a:t>M-wave, 2–4 ms</a:t>
            </a:r>
            <a:endParaRPr lang="en-US" sz="1400" dirty="0"/>
          </a:p>
        </p:txBody>
      </p:sp>
      <p:sp>
        <p:nvSpPr>
          <p:cNvPr id="13" name="Text 10"/>
          <p:cNvSpPr/>
          <p:nvPr/>
        </p:nvSpPr>
        <p:spPr>
          <a:xfrm>
            <a:off x="8247888" y="4032504"/>
            <a:ext cx="3063240" cy="621792"/>
          </a:xfrm>
          <a:prstGeom prst="rect">
            <a:avLst/>
          </a:prstGeom>
          <a:noFill/>
          <a:ln/>
        </p:spPr>
        <p:txBody>
          <a:bodyPr wrap="square" lIns="0" tIns="0" rIns="0" bIns="0" rtlCol="0" anchor="ctr"/>
          <a:lstStyle/>
          <a:p>
            <a:pPr indent="0" marL="0">
              <a:lnSpc>
                <a:spcPct val="105000"/>
              </a:lnSpc>
              <a:buNone/>
            </a:pPr>
            <a:r>
              <a:rPr lang="en-US" sz="1300" dirty="0">
                <a:solidFill>
                  <a:srgbClr val="5A6B7B"/>
                </a:solidFill>
                <a:latin typeface="Calibri" pitchFamily="34" charset="0"/>
                <a:ea typeface="Calibri" pitchFamily="34" charset="-122"/>
                <a:cs typeface="Calibri" pitchFamily="34" charset="-120"/>
              </a:rPr>
              <a:t>the nerve firing the muscle directly</a:t>
            </a:r>
            <a:endParaRPr lang="en-US" sz="1300" dirty="0"/>
          </a:p>
        </p:txBody>
      </p:sp>
      <p:sp>
        <p:nvSpPr>
          <p:cNvPr id="14" name="Shape 11"/>
          <p:cNvSpPr/>
          <p:nvPr/>
        </p:nvSpPr>
        <p:spPr>
          <a:xfrm>
            <a:off x="7991856" y="4791456"/>
            <a:ext cx="155448" cy="155448"/>
          </a:xfrm>
          <a:prstGeom prst="ellipse">
            <a:avLst/>
          </a:prstGeom>
          <a:solidFill>
            <a:srgbClr val="15718F"/>
          </a:solidFill>
          <a:ln/>
        </p:spPr>
      </p:sp>
      <p:sp>
        <p:nvSpPr>
          <p:cNvPr id="15" name="Text 12"/>
          <p:cNvSpPr/>
          <p:nvPr/>
        </p:nvSpPr>
        <p:spPr>
          <a:xfrm>
            <a:off x="8247888" y="4672584"/>
            <a:ext cx="3017520" cy="301752"/>
          </a:xfrm>
          <a:prstGeom prst="rect">
            <a:avLst/>
          </a:prstGeom>
          <a:noFill/>
          <a:ln/>
        </p:spPr>
        <p:txBody>
          <a:bodyPr wrap="square" lIns="0" tIns="0" rIns="0" bIns="0" rtlCol="0" anchor="ctr"/>
          <a:lstStyle/>
          <a:p>
            <a:pPr indent="0" marL="0">
              <a:buNone/>
            </a:pPr>
            <a:r>
              <a:rPr lang="en-US" sz="1400" b="1" dirty="0">
                <a:solidFill>
                  <a:srgbClr val="14212E"/>
                </a:solidFill>
                <a:latin typeface="Calibri" pitchFamily="34" charset="0"/>
                <a:ea typeface="Calibri" pitchFamily="34" charset="-122"/>
                <a:cs typeface="Calibri" pitchFamily="34" charset="-120"/>
              </a:rPr>
              <a:t>H-reflex, 6–9 ms</a:t>
            </a:r>
            <a:endParaRPr lang="en-US" sz="1400" dirty="0"/>
          </a:p>
        </p:txBody>
      </p:sp>
      <p:sp>
        <p:nvSpPr>
          <p:cNvPr id="16" name="Text 13"/>
          <p:cNvSpPr/>
          <p:nvPr/>
        </p:nvSpPr>
        <p:spPr>
          <a:xfrm>
            <a:off x="8247888" y="4965192"/>
            <a:ext cx="3063240" cy="621792"/>
          </a:xfrm>
          <a:prstGeom prst="rect">
            <a:avLst/>
          </a:prstGeom>
          <a:noFill/>
          <a:ln/>
        </p:spPr>
        <p:txBody>
          <a:bodyPr wrap="square" lIns="0" tIns="0" rIns="0" bIns="0" rtlCol="0" anchor="ctr"/>
          <a:lstStyle/>
          <a:p>
            <a:pPr indent="0" marL="0">
              <a:lnSpc>
                <a:spcPct val="105000"/>
              </a:lnSpc>
              <a:buNone/>
            </a:pPr>
            <a:r>
              <a:rPr lang="en-US" sz="1300" dirty="0">
                <a:solidFill>
                  <a:srgbClr val="5A6B7B"/>
                </a:solidFill>
                <a:latin typeface="Calibri" pitchFamily="34" charset="0"/>
                <a:ea typeface="Calibri" pitchFamily="34" charset="-122"/>
                <a:cs typeface="Calibri" pitchFamily="34" charset="-120"/>
              </a:rPr>
              <a:t>the signal that travelled to the spinal cord and back — this is what conditioning changes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B4671A"/>
                </a:solidFill>
                <a:latin typeface="Calibri" pitchFamily="34" charset="0"/>
                <a:ea typeface="Calibri" pitchFamily="34" charset="-122"/>
                <a:cs typeface="Calibri" pitchFamily="34" charset="-120"/>
              </a:rPr>
              <a:t>PART 2 · THE DATA</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First problem: the archive would not decode</a:t>
            </a:r>
            <a:endParaRPr lang="en-US" sz="3000" dirty="0"/>
          </a:p>
        </p:txBody>
      </p:sp>
      <p:sp>
        <p:nvSpPr>
          <p:cNvPr id="4" name="Shape 2"/>
          <p:cNvSpPr/>
          <p:nvPr/>
        </p:nvSpPr>
        <p:spPr>
          <a:xfrm>
            <a:off x="685800" y="2011680"/>
            <a:ext cx="3566160" cy="2651760"/>
          </a:xfrm>
          <a:prstGeom prst="roundRect">
            <a:avLst>
              <a:gd name="adj" fmla="val 2759"/>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Text 3"/>
          <p:cNvSpPr/>
          <p:nvPr/>
        </p:nvSpPr>
        <p:spPr>
          <a:xfrm>
            <a:off x="978408" y="2240280"/>
            <a:ext cx="3017520" cy="411480"/>
          </a:xfrm>
          <a:prstGeom prst="rect">
            <a:avLst/>
          </a:prstGeom>
          <a:noFill/>
          <a:ln/>
        </p:spPr>
        <p:txBody>
          <a:bodyPr wrap="square" lIns="0" tIns="0" rIns="0" bIns="0" rtlCol="0" anchor="ctr"/>
          <a:lstStyle/>
          <a:p>
            <a:pPr indent="0" marL="0">
              <a:buNone/>
            </a:pPr>
            <a:r>
              <a:rPr lang="en-US" sz="1650" b="1" dirty="0">
                <a:solidFill>
                  <a:srgbClr val="5A6B7B"/>
                </a:solidFill>
                <a:latin typeface="Calibri" pitchFamily="34" charset="0"/>
                <a:ea typeface="Calibri" pitchFamily="34" charset="-122"/>
                <a:cs typeface="Calibri" pitchFamily="34" charset="-120"/>
              </a:rPr>
              <a:t>What we were given</a:t>
            </a:r>
            <a:endParaRPr lang="en-US" sz="1650" dirty="0"/>
          </a:p>
        </p:txBody>
      </p:sp>
      <p:sp>
        <p:nvSpPr>
          <p:cNvPr id="6" name="Text 4"/>
          <p:cNvSpPr/>
          <p:nvPr/>
        </p:nvSpPr>
        <p:spPr>
          <a:xfrm>
            <a:off x="978408" y="2697480"/>
            <a:ext cx="3017520" cy="1874520"/>
          </a:xfrm>
          <a:prstGeom prst="rect">
            <a:avLst/>
          </a:prstGeom>
          <a:noFill/>
          <a:ln/>
        </p:spPr>
        <p:txBody>
          <a:bodyPr wrap="square" lIns="0" tIns="0" rIns="0" bIns="0" rtlCol="0" anchor="ctr"/>
          <a:lstStyle/>
          <a:p>
            <a:pPr indent="0" marL="0">
              <a:lnSpc>
                <a:spcPct val="108000"/>
              </a:lnSpc>
              <a:buNone/>
            </a:pPr>
            <a:r>
              <a:rPr lang="en-US" sz="1550" dirty="0">
                <a:solidFill>
                  <a:srgbClr val="14212E"/>
                </a:solidFill>
                <a:latin typeface="Calibri" pitchFamily="34" charset="0"/>
                <a:ea typeface="Calibri" pitchFamily="34" charset="-122"/>
                <a:cs typeface="Calibri" pitchFamily="34" charset="-120"/>
              </a:rPr>
              <a:t>2006 MySQL tables and a decoder script. The script said each sample's two bytes are stored most-significant first (big-endian).</a:t>
            </a:r>
            <a:endParaRPr lang="en-US" sz="1550" dirty="0"/>
          </a:p>
        </p:txBody>
      </p:sp>
      <p:sp>
        <p:nvSpPr>
          <p:cNvPr id="7" name="Shape 5"/>
          <p:cNvSpPr/>
          <p:nvPr/>
        </p:nvSpPr>
        <p:spPr>
          <a:xfrm>
            <a:off x="4416552" y="2011680"/>
            <a:ext cx="3566160" cy="2651760"/>
          </a:xfrm>
          <a:prstGeom prst="roundRect">
            <a:avLst>
              <a:gd name="adj" fmla="val 2759"/>
            </a:avLst>
          </a:prstGeom>
          <a:solidFill>
            <a:srgbClr val="FBF3EA"/>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8" name="Text 6"/>
          <p:cNvSpPr/>
          <p:nvPr/>
        </p:nvSpPr>
        <p:spPr>
          <a:xfrm>
            <a:off x="4709160" y="2240280"/>
            <a:ext cx="3017520" cy="411480"/>
          </a:xfrm>
          <a:prstGeom prst="rect">
            <a:avLst/>
          </a:prstGeom>
          <a:noFill/>
          <a:ln/>
        </p:spPr>
        <p:txBody>
          <a:bodyPr wrap="square" lIns="0" tIns="0" rIns="0" bIns="0" rtlCol="0" anchor="ctr"/>
          <a:lstStyle/>
          <a:p>
            <a:pPr indent="0" marL="0">
              <a:buNone/>
            </a:pPr>
            <a:r>
              <a:rPr lang="en-US" sz="1650" b="1" dirty="0">
                <a:solidFill>
                  <a:srgbClr val="A44430"/>
                </a:solidFill>
                <a:latin typeface="Calibri" pitchFamily="34" charset="0"/>
                <a:ea typeface="Calibri" pitchFamily="34" charset="-122"/>
                <a:cs typeface="Calibri" pitchFamily="34" charset="-120"/>
              </a:rPr>
              <a:t>What happened</a:t>
            </a:r>
            <a:endParaRPr lang="en-US" sz="1650" dirty="0"/>
          </a:p>
        </p:txBody>
      </p:sp>
      <p:sp>
        <p:nvSpPr>
          <p:cNvPr id="9" name="Text 7"/>
          <p:cNvSpPr/>
          <p:nvPr/>
        </p:nvSpPr>
        <p:spPr>
          <a:xfrm>
            <a:off x="4709160" y="2697480"/>
            <a:ext cx="3017520" cy="1874520"/>
          </a:xfrm>
          <a:prstGeom prst="rect">
            <a:avLst/>
          </a:prstGeom>
          <a:noFill/>
          <a:ln/>
        </p:spPr>
        <p:txBody>
          <a:bodyPr wrap="square" lIns="0" tIns="0" rIns="0" bIns="0" rtlCol="0" anchor="ctr"/>
          <a:lstStyle/>
          <a:p>
            <a:pPr indent="0" marL="0">
              <a:lnSpc>
                <a:spcPct val="108000"/>
              </a:lnSpc>
              <a:buNone/>
            </a:pPr>
            <a:r>
              <a:rPr lang="en-US" sz="1550" dirty="0">
                <a:solidFill>
                  <a:srgbClr val="14212E"/>
                </a:solidFill>
                <a:latin typeface="Calibri" pitchFamily="34" charset="0"/>
                <a:ea typeface="Calibri" pitchFamily="34" charset="-122"/>
                <a:cs typeface="Calibri" pitchFamily="34" charset="-120"/>
              </a:rPr>
              <a:t>Decoded as documented, every trial came out as noise. No M-wave, no reflex, nothing.</a:t>
            </a:r>
            <a:endParaRPr lang="en-US" sz="1550" dirty="0"/>
          </a:p>
        </p:txBody>
      </p:sp>
      <p:sp>
        <p:nvSpPr>
          <p:cNvPr id="10" name="Shape 8"/>
          <p:cNvSpPr/>
          <p:nvPr/>
        </p:nvSpPr>
        <p:spPr>
          <a:xfrm>
            <a:off x="8147304" y="2011680"/>
            <a:ext cx="3566160" cy="2651760"/>
          </a:xfrm>
          <a:prstGeom prst="roundRect">
            <a:avLst>
              <a:gd name="adj" fmla="val 2759"/>
            </a:avLst>
          </a:prstGeom>
          <a:solidFill>
            <a:srgbClr val="EEF5EE"/>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1" name="Text 9"/>
          <p:cNvSpPr/>
          <p:nvPr/>
        </p:nvSpPr>
        <p:spPr>
          <a:xfrm>
            <a:off x="8439912" y="2240280"/>
            <a:ext cx="3017520" cy="411480"/>
          </a:xfrm>
          <a:prstGeom prst="rect">
            <a:avLst/>
          </a:prstGeom>
          <a:noFill/>
          <a:ln/>
        </p:spPr>
        <p:txBody>
          <a:bodyPr wrap="square" lIns="0" tIns="0" rIns="0" bIns="0" rtlCol="0" anchor="ctr"/>
          <a:lstStyle/>
          <a:p>
            <a:pPr indent="0" marL="0">
              <a:buNone/>
            </a:pPr>
            <a:r>
              <a:rPr lang="en-US" sz="1650" b="1" dirty="0">
                <a:solidFill>
                  <a:srgbClr val="3B6E43"/>
                </a:solidFill>
                <a:latin typeface="Calibri" pitchFamily="34" charset="0"/>
                <a:ea typeface="Calibri" pitchFamily="34" charset="-122"/>
                <a:cs typeface="Calibri" pitchFamily="34" charset="-120"/>
              </a:rPr>
              <a:t>What was wrong</a:t>
            </a:r>
            <a:endParaRPr lang="en-US" sz="1650" dirty="0"/>
          </a:p>
        </p:txBody>
      </p:sp>
      <p:sp>
        <p:nvSpPr>
          <p:cNvPr id="12" name="Text 10"/>
          <p:cNvSpPr/>
          <p:nvPr/>
        </p:nvSpPr>
        <p:spPr>
          <a:xfrm>
            <a:off x="8439912" y="2697480"/>
            <a:ext cx="3017520" cy="1874520"/>
          </a:xfrm>
          <a:prstGeom prst="rect">
            <a:avLst/>
          </a:prstGeom>
          <a:noFill/>
          <a:ln/>
        </p:spPr>
        <p:txBody>
          <a:bodyPr wrap="square" lIns="0" tIns="0" rIns="0" bIns="0" rtlCol="0" anchor="ctr"/>
          <a:lstStyle/>
          <a:p>
            <a:pPr indent="0" marL="0">
              <a:lnSpc>
                <a:spcPct val="108000"/>
              </a:lnSpc>
              <a:buNone/>
            </a:pPr>
            <a:r>
              <a:rPr lang="en-US" sz="1550" dirty="0">
                <a:solidFill>
                  <a:srgbClr val="14212E"/>
                </a:solidFill>
                <a:latin typeface="Calibri" pitchFamily="34" charset="0"/>
                <a:ea typeface="Calibri" pitchFamily="34" charset="-122"/>
                <a:cs typeface="Calibri" pitchFamily="34" charset="-120"/>
              </a:rPr>
              <a:t>They are stored least-significant first (little-endian). Read that way, the physiology appears exactly where the experimenters' own notes said it would.</a:t>
            </a:r>
            <a:endParaRPr lang="en-US" sz="1550" dirty="0"/>
          </a:p>
        </p:txBody>
      </p:sp>
      <p:sp>
        <p:nvSpPr>
          <p:cNvPr id="13" name="Shape 11"/>
          <p:cNvSpPr/>
          <p:nvPr/>
        </p:nvSpPr>
        <p:spPr>
          <a:xfrm>
            <a:off x="685800" y="4892040"/>
            <a:ext cx="10881360" cy="1234440"/>
          </a:xfrm>
          <a:prstGeom prst="roundRect">
            <a:avLst>
              <a:gd name="adj" fmla="val 5926"/>
            </a:avLst>
          </a:prstGeom>
          <a:solidFill>
            <a:srgbClr val="0C1620"/>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4" name="Text 12"/>
          <p:cNvSpPr/>
          <p:nvPr/>
        </p:nvSpPr>
        <p:spPr>
          <a:xfrm>
            <a:off x="1051560" y="5074920"/>
            <a:ext cx="7315200" cy="320040"/>
          </a:xfrm>
          <a:prstGeom prst="rect">
            <a:avLst/>
          </a:prstGeom>
          <a:noFill/>
          <a:ln/>
        </p:spPr>
        <p:txBody>
          <a:bodyPr wrap="square" lIns="0" tIns="0" rIns="0" bIns="0" rtlCol="0" anchor="ctr"/>
          <a:lstStyle/>
          <a:p>
            <a:pPr indent="0" marL="0">
              <a:buNone/>
            </a:pPr>
            <a:r>
              <a:rPr lang="en-US" sz="1600" b="1" dirty="0">
                <a:solidFill>
                  <a:srgbClr val="7FB8C9"/>
                </a:solidFill>
                <a:latin typeface="Calibri" pitchFamily="34" charset="0"/>
                <a:ea typeface="Calibri" pitchFamily="34" charset="-122"/>
                <a:cs typeface="Calibri" pitchFamily="34" charset="-120"/>
              </a:rPr>
              <a:t>How we knew we had it right</a:t>
            </a:r>
            <a:endParaRPr lang="en-US" sz="1600" dirty="0"/>
          </a:p>
        </p:txBody>
      </p:sp>
      <p:sp>
        <p:nvSpPr>
          <p:cNvPr id="15" name="Text 13"/>
          <p:cNvSpPr/>
          <p:nvPr/>
        </p:nvSpPr>
        <p:spPr>
          <a:xfrm>
            <a:off x="1051560" y="5413248"/>
            <a:ext cx="10149840" cy="640080"/>
          </a:xfrm>
          <a:prstGeom prst="rect">
            <a:avLst/>
          </a:prstGeom>
          <a:noFill/>
          <a:ln/>
        </p:spPr>
        <p:txBody>
          <a:bodyPr wrap="square" lIns="0" tIns="0" rIns="0" bIns="0" rtlCol="0" anchor="ctr"/>
          <a:lstStyle/>
          <a:p>
            <a:pPr indent="0" marL="0">
              <a:lnSpc>
                <a:spcPct val="106000"/>
              </a:lnSpc>
              <a:buNone/>
            </a:pPr>
            <a:r>
              <a:rPr lang="en-US" sz="1550" dirty="0">
                <a:solidFill>
                  <a:srgbClr val="D5DFE7"/>
                </a:solidFill>
                <a:latin typeface="Calibri" pitchFamily="34" charset="0"/>
                <a:ea typeface="Calibri" pitchFamily="34" charset="-122"/>
                <a:cs typeface="Calibri" pitchFamily="34" charset="-120"/>
              </a:rPr>
              <a:t>Not because it looked plausible — because the M-wave and H-reflex landed at exactly the latencies the experimenter had typed into the log in 2006: “MR interval 2-4; HR interval 6-9”. The data confirmed the notes and the notes confirmed the data.</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B4671A"/>
                </a:solidFill>
                <a:latin typeface="Calibri" pitchFamily="34" charset="0"/>
                <a:ea typeface="Calibri" pitchFamily="34" charset="-122"/>
                <a:cs typeface="Calibri" pitchFamily="34" charset="-120"/>
              </a:rPr>
              <a:t>PART 2 · THE DATA</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Six animals, 2.7 million trials</a:t>
            </a:r>
            <a:endParaRPr lang="en-US" sz="3000" dirty="0"/>
          </a:p>
        </p:txBody>
      </p:sp>
      <p:sp>
        <p:nvSpPr>
          <p:cNvPr id="4" name="Shape 2"/>
          <p:cNvSpPr/>
          <p:nvPr/>
        </p:nvSpPr>
        <p:spPr>
          <a:xfrm>
            <a:off x="685800" y="1874520"/>
            <a:ext cx="2651760" cy="1645920"/>
          </a:xfrm>
          <a:prstGeom prst="roundRect">
            <a:avLst>
              <a:gd name="adj" fmla="val 4444"/>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Text 3"/>
          <p:cNvSpPr/>
          <p:nvPr/>
        </p:nvSpPr>
        <p:spPr>
          <a:xfrm>
            <a:off x="685800" y="2084832"/>
            <a:ext cx="2651760" cy="777240"/>
          </a:xfrm>
          <a:prstGeom prst="rect">
            <a:avLst/>
          </a:prstGeom>
          <a:noFill/>
          <a:ln/>
        </p:spPr>
        <p:txBody>
          <a:bodyPr wrap="square" lIns="0" tIns="0" rIns="0" bIns="0" rtlCol="0" anchor="ctr"/>
          <a:lstStyle/>
          <a:p>
            <a:pPr algn="ctr" indent="0" marL="0">
              <a:buNone/>
            </a:pPr>
            <a:r>
              <a:rPr lang="en-US" sz="3300" b="1" dirty="0">
                <a:solidFill>
                  <a:srgbClr val="15718F"/>
                </a:solidFill>
                <a:latin typeface="Cambria" pitchFamily="34" charset="0"/>
                <a:ea typeface="Cambria" pitchFamily="34" charset="-122"/>
                <a:cs typeface="Cambria" pitchFamily="34" charset="-120"/>
              </a:rPr>
              <a:t>2.7M</a:t>
            </a:r>
            <a:endParaRPr lang="en-US" sz="3300" dirty="0"/>
          </a:p>
        </p:txBody>
      </p:sp>
      <p:sp>
        <p:nvSpPr>
          <p:cNvPr id="6" name="Text 4"/>
          <p:cNvSpPr/>
          <p:nvPr/>
        </p:nvSpPr>
        <p:spPr>
          <a:xfrm>
            <a:off x="685800" y="2852928"/>
            <a:ext cx="2651760" cy="41148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trials decoded</a:t>
            </a:r>
            <a:endParaRPr lang="en-US" sz="1400" dirty="0"/>
          </a:p>
        </p:txBody>
      </p:sp>
      <p:sp>
        <p:nvSpPr>
          <p:cNvPr id="7" name="Shape 5"/>
          <p:cNvSpPr/>
          <p:nvPr/>
        </p:nvSpPr>
        <p:spPr>
          <a:xfrm>
            <a:off x="3474720" y="1874520"/>
            <a:ext cx="2651760" cy="1645920"/>
          </a:xfrm>
          <a:prstGeom prst="roundRect">
            <a:avLst>
              <a:gd name="adj" fmla="val 4444"/>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8" name="Text 6"/>
          <p:cNvSpPr/>
          <p:nvPr/>
        </p:nvSpPr>
        <p:spPr>
          <a:xfrm>
            <a:off x="3474720" y="2084832"/>
            <a:ext cx="2651760" cy="777240"/>
          </a:xfrm>
          <a:prstGeom prst="rect">
            <a:avLst/>
          </a:prstGeom>
          <a:noFill/>
          <a:ln/>
        </p:spPr>
        <p:txBody>
          <a:bodyPr wrap="square" lIns="0" tIns="0" rIns="0" bIns="0" rtlCol="0" anchor="ctr"/>
          <a:lstStyle/>
          <a:p>
            <a:pPr algn="ctr" indent="0" marL="0">
              <a:buNone/>
            </a:pPr>
            <a:r>
              <a:rPr lang="en-US" sz="3300" b="1" dirty="0">
                <a:solidFill>
                  <a:srgbClr val="15718F"/>
                </a:solidFill>
                <a:latin typeface="Cambria" pitchFamily="34" charset="0"/>
                <a:ea typeface="Cambria" pitchFamily="34" charset="-122"/>
                <a:cs typeface="Cambria" pitchFamily="34" charset="-120"/>
              </a:rPr>
              <a:t>6</a:t>
            </a:r>
            <a:endParaRPr lang="en-US" sz="3300" dirty="0"/>
          </a:p>
        </p:txBody>
      </p:sp>
      <p:sp>
        <p:nvSpPr>
          <p:cNvPr id="9" name="Text 7"/>
          <p:cNvSpPr/>
          <p:nvPr/>
        </p:nvSpPr>
        <p:spPr>
          <a:xfrm>
            <a:off x="3474720" y="2852928"/>
            <a:ext cx="2651760" cy="41148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animals</a:t>
            </a:r>
            <a:endParaRPr lang="en-US" sz="1400" dirty="0"/>
          </a:p>
        </p:txBody>
      </p:sp>
      <p:sp>
        <p:nvSpPr>
          <p:cNvPr id="10" name="Shape 8"/>
          <p:cNvSpPr/>
          <p:nvPr/>
        </p:nvSpPr>
        <p:spPr>
          <a:xfrm>
            <a:off x="6263640" y="1874520"/>
            <a:ext cx="2651760" cy="1645920"/>
          </a:xfrm>
          <a:prstGeom prst="roundRect">
            <a:avLst>
              <a:gd name="adj" fmla="val 4444"/>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1" name="Text 9"/>
          <p:cNvSpPr/>
          <p:nvPr/>
        </p:nvSpPr>
        <p:spPr>
          <a:xfrm>
            <a:off x="6263640" y="2084832"/>
            <a:ext cx="2651760" cy="777240"/>
          </a:xfrm>
          <a:prstGeom prst="rect">
            <a:avLst/>
          </a:prstGeom>
          <a:noFill/>
          <a:ln/>
        </p:spPr>
        <p:txBody>
          <a:bodyPr wrap="square" lIns="0" tIns="0" rIns="0" bIns="0" rtlCol="0" anchor="ctr"/>
          <a:lstStyle/>
          <a:p>
            <a:pPr algn="ctr" indent="0" marL="0">
              <a:buNone/>
            </a:pPr>
            <a:r>
              <a:rPr lang="en-US" sz="3300" b="1" dirty="0">
                <a:solidFill>
                  <a:srgbClr val="B4671A"/>
                </a:solidFill>
                <a:latin typeface="Cambria" pitchFamily="34" charset="0"/>
                <a:ea typeface="Cambria" pitchFamily="34" charset="-122"/>
                <a:cs typeface="Cambria" pitchFamily="34" charset="-120"/>
              </a:rPr>
              <a:t>3 / 3</a:t>
            </a:r>
            <a:endParaRPr lang="en-US" sz="3300" dirty="0"/>
          </a:p>
        </p:txBody>
      </p:sp>
      <p:sp>
        <p:nvSpPr>
          <p:cNvPr id="12" name="Text 10"/>
          <p:cNvSpPr/>
          <p:nvPr/>
        </p:nvSpPr>
        <p:spPr>
          <a:xfrm>
            <a:off x="6263640" y="2852928"/>
            <a:ext cx="2651760" cy="41148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down / up</a:t>
            </a:r>
            <a:endParaRPr lang="en-US" sz="1400" dirty="0"/>
          </a:p>
        </p:txBody>
      </p:sp>
      <p:sp>
        <p:nvSpPr>
          <p:cNvPr id="13" name="Shape 11"/>
          <p:cNvSpPr/>
          <p:nvPr/>
        </p:nvSpPr>
        <p:spPr>
          <a:xfrm>
            <a:off x="9052560" y="1874520"/>
            <a:ext cx="2651760" cy="1645920"/>
          </a:xfrm>
          <a:prstGeom prst="roundRect">
            <a:avLst>
              <a:gd name="adj" fmla="val 4444"/>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4" name="Text 12"/>
          <p:cNvSpPr/>
          <p:nvPr/>
        </p:nvSpPr>
        <p:spPr>
          <a:xfrm>
            <a:off x="9052560" y="2084832"/>
            <a:ext cx="2651760" cy="777240"/>
          </a:xfrm>
          <a:prstGeom prst="rect">
            <a:avLst/>
          </a:prstGeom>
          <a:noFill/>
          <a:ln/>
        </p:spPr>
        <p:txBody>
          <a:bodyPr wrap="square" lIns="0" tIns="0" rIns="0" bIns="0" rtlCol="0" anchor="ctr"/>
          <a:lstStyle/>
          <a:p>
            <a:pPr algn="ctr" indent="0" marL="0">
              <a:buNone/>
            </a:pPr>
            <a:r>
              <a:rPr lang="en-US" sz="3300" b="1" dirty="0">
                <a:solidFill>
                  <a:srgbClr val="3B6E43"/>
                </a:solidFill>
                <a:latin typeface="Cambria" pitchFamily="34" charset="0"/>
                <a:ea typeface="Cambria" pitchFamily="34" charset="-122"/>
                <a:cs typeface="Cambria" pitchFamily="34" charset="-120"/>
              </a:rPr>
              <a:t>45–210</a:t>
            </a:r>
            <a:endParaRPr lang="en-US" sz="3300" dirty="0"/>
          </a:p>
        </p:txBody>
      </p:sp>
      <p:sp>
        <p:nvSpPr>
          <p:cNvPr id="15" name="Text 13"/>
          <p:cNvSpPr/>
          <p:nvPr/>
        </p:nvSpPr>
        <p:spPr>
          <a:xfrm>
            <a:off x="9052560" y="2852928"/>
            <a:ext cx="2651760" cy="41148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days each</a:t>
            </a:r>
            <a:endParaRPr lang="en-US" sz="1400" dirty="0"/>
          </a:p>
        </p:txBody>
      </p:sp>
      <p:sp>
        <p:nvSpPr>
          <p:cNvPr id="16" name="Shape 14"/>
          <p:cNvSpPr/>
          <p:nvPr/>
        </p:nvSpPr>
        <p:spPr>
          <a:xfrm>
            <a:off x="685800" y="3794760"/>
            <a:ext cx="10881360" cy="1417320"/>
          </a:xfrm>
          <a:prstGeom prst="roundRect">
            <a:avLst>
              <a:gd name="adj" fmla="val 5161"/>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7" name="Text 15"/>
          <p:cNvSpPr/>
          <p:nvPr/>
        </p:nvSpPr>
        <p:spPr>
          <a:xfrm>
            <a:off x="1005840" y="3977640"/>
            <a:ext cx="8229600" cy="320040"/>
          </a:xfrm>
          <a:prstGeom prst="rect">
            <a:avLst/>
          </a:prstGeom>
          <a:noFill/>
          <a:ln/>
        </p:spPr>
        <p:txBody>
          <a:bodyPr wrap="square" lIns="0" tIns="0" rIns="0" bIns="0" rtlCol="0" anchor="ctr"/>
          <a:lstStyle/>
          <a:p>
            <a:pPr indent="0" marL="0">
              <a:buNone/>
            </a:pPr>
            <a:r>
              <a:rPr lang="en-US" sz="1650" b="1" dirty="0">
                <a:solidFill>
                  <a:srgbClr val="15718F"/>
                </a:solidFill>
                <a:latin typeface="Calibri" pitchFamily="34" charset="0"/>
                <a:ea typeface="Calibri" pitchFamily="34" charset="-122"/>
                <a:cs typeface="Calibri" pitchFamily="34" charset="-120"/>
              </a:rPr>
              <a:t>Choosing which animals to download, without downloading them</a:t>
            </a:r>
            <a:endParaRPr lang="en-US" sz="1650" dirty="0"/>
          </a:p>
        </p:txBody>
      </p:sp>
      <p:sp>
        <p:nvSpPr>
          <p:cNvPr id="18" name="Text 16"/>
          <p:cNvSpPr/>
          <p:nvPr/>
        </p:nvSpPr>
        <p:spPr>
          <a:xfrm>
            <a:off x="1005840" y="4315968"/>
            <a:ext cx="10241280" cy="822960"/>
          </a:xfrm>
          <a:prstGeom prst="rect">
            <a:avLst/>
          </a:prstGeom>
          <a:noFill/>
          <a:ln/>
        </p:spPr>
        <p:txBody>
          <a:bodyPr wrap="square" lIns="0" tIns="0" rIns="0" bIns="0" rtlCol="0" anchor="ctr"/>
          <a:lstStyle/>
          <a:p>
            <a:pPr indent="0" marL="0">
              <a:lnSpc>
                <a:spcPct val="106000"/>
              </a:lnSpc>
              <a:buNone/>
            </a:pPr>
            <a:r>
              <a:rPr lang="en-US" sz="1550" dirty="0">
                <a:solidFill>
                  <a:srgbClr val="14212E"/>
                </a:solidFill>
                <a:latin typeface="Calibri" pitchFamily="34" charset="0"/>
                <a:ea typeface="Calibri" pitchFamily="34" charset="-122"/>
                <a:cs typeface="Calibri" pitchFamily="34" charset="-120"/>
              </a:rPr>
              <a:t>The log files are a few hundred kilobytes; the signal data is four gigabytes an animal. The experimenter raises the reward threshold whenever the rat exceeds it, so the threshold history records how the animal was doing. We read only the logs, then downloaded signal data for the animals that responded.</a:t>
            </a:r>
            <a:endParaRPr lang="en-US" sz="1550" dirty="0"/>
          </a:p>
        </p:txBody>
      </p:sp>
      <p:sp>
        <p:nvSpPr>
          <p:cNvPr id="19" name="Shape 17"/>
          <p:cNvSpPr/>
          <p:nvPr/>
        </p:nvSpPr>
        <p:spPr>
          <a:xfrm>
            <a:off x="685800" y="5394960"/>
            <a:ext cx="10881360" cy="822960"/>
          </a:xfrm>
          <a:prstGeom prst="roundRect">
            <a:avLst>
              <a:gd name="adj" fmla="val 8889"/>
            </a:avLst>
          </a:prstGeom>
          <a:solidFill>
            <a:srgbClr val="FBF3EA"/>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20" name="Text 18"/>
          <p:cNvSpPr/>
          <p:nvPr/>
        </p:nvSpPr>
        <p:spPr>
          <a:xfrm>
            <a:off x="1005840" y="5532120"/>
            <a:ext cx="10241280" cy="548640"/>
          </a:xfrm>
          <a:prstGeom prst="rect">
            <a:avLst/>
          </a:prstGeom>
          <a:noFill/>
          <a:ln/>
        </p:spPr>
        <p:txBody>
          <a:bodyPr wrap="square" lIns="0" tIns="0" rIns="0" bIns="0" rtlCol="0" anchor="ctr"/>
          <a:lstStyle/>
          <a:p>
            <a:pPr indent="0" marL="0">
              <a:buNone/>
            </a:pPr>
            <a:r>
              <a:rPr lang="en-US" sz="1550" b="1" dirty="0">
                <a:solidFill>
                  <a:srgbClr val="B4671A"/>
                </a:solidFill>
                <a:latin typeface="Calibri" pitchFamily="34" charset="0"/>
                <a:ea typeface="Calibri" pitchFamily="34" charset="-122"/>
                <a:cs typeface="Calibri" pitchFamily="34" charset="-120"/>
              </a:rPr>
              <a:t>One animal excluded.  </a:t>
            </a:r>
            <a:pPr indent="0" marL="0">
              <a:buNone/>
            </a:pPr>
            <a:r>
              <a:rPr lang="en-US" sz="1550" dirty="0">
                <a:solidFill>
                  <a:srgbClr val="14212E"/>
                </a:solidFill>
                <a:latin typeface="Calibri" pitchFamily="34" charset="0"/>
                <a:ea typeface="Calibri" pitchFamily="34" charset="-122"/>
                <a:cs typeface="Calibri" pitchFamily="34" charset="-120"/>
              </a:rPr>
              <a:t>A12's pre-stimulus cortical signal is 2.8 µV against 106–128 µV in the others — that electrode had failed.</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B4671A"/>
                </a:solidFill>
                <a:latin typeface="Calibri" pitchFamily="34" charset="0"/>
                <a:ea typeface="Calibri" pitchFamily="34" charset="-122"/>
                <a:cs typeface="Calibri" pitchFamily="34" charset="-120"/>
              </a:rPr>
              <a:t>PART 2 · THE DATA</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Who is in the study</a:t>
            </a:r>
            <a:endParaRPr lang="en-US" sz="3000" dirty="0"/>
          </a:p>
        </p:txBody>
      </p:sp>
      <p:pic>
        <p:nvPicPr>
          <p:cNvPr id="4" name="Image 0" descr="/Users/suchithrao/Downloads/hroc-training/outputs/diagrams/roster.png">    </p:cNvPr>
          <p:cNvPicPr>
            <a:picLocks noChangeAspect="1"/>
          </p:cNvPicPr>
          <p:nvPr/>
        </p:nvPicPr>
        <p:blipFill>
          <a:blip r:embed="rId1"/>
          <a:stretch>
            <a:fillRect/>
          </a:stretch>
        </p:blipFill>
        <p:spPr>
          <a:xfrm>
            <a:off x="685800" y="1828800"/>
            <a:ext cx="10881360" cy="33855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6B4E8F"/>
                </a:solidFill>
                <a:latin typeface="Calibri" pitchFamily="34" charset="0"/>
                <a:ea typeface="Calibri" pitchFamily="34" charset="-122"/>
                <a:cs typeface="Calibri" pitchFamily="34" charset="-120"/>
              </a:rPr>
              <a:t>PART 3 · HOW WE BUILT IT</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The pipeline, end to end</a:t>
            </a:r>
            <a:endParaRPr lang="en-US" sz="3000" dirty="0"/>
          </a:p>
        </p:txBody>
      </p:sp>
      <p:pic>
        <p:nvPicPr>
          <p:cNvPr id="4" name="Image 0" descr="/Users/suchithrao/Downloads/hroc-training/outputs/diagrams/pipeline.png">    </p:cNvPr>
          <p:cNvPicPr>
            <a:picLocks noChangeAspect="1"/>
          </p:cNvPicPr>
          <p:nvPr/>
        </p:nvPicPr>
        <p:blipFill>
          <a:blip r:embed="rId1"/>
          <a:stretch>
            <a:fillRect/>
          </a:stretch>
        </p:blipFill>
        <p:spPr>
          <a:xfrm>
            <a:off x="1064199" y="1874520"/>
            <a:ext cx="10124562" cy="36885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6B4E8F"/>
                </a:solidFill>
                <a:latin typeface="Calibri" pitchFamily="34" charset="0"/>
                <a:ea typeface="Calibri" pitchFamily="34" charset="-122"/>
                <a:cs typeface="Calibri" pitchFamily="34" charset="-120"/>
              </a:rPr>
              <a:t>PART 3 · HOW WE BUILT IT</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What the model actually is</a:t>
            </a:r>
            <a:endParaRPr lang="en-US" sz="3000" dirty="0"/>
          </a:p>
        </p:txBody>
      </p:sp>
      <p:pic>
        <p:nvPicPr>
          <p:cNvPr id="4" name="Image 0" descr="/Users/suchithrao/Downloads/hroc-training/outputs/diagrams/autoencoder.png">    </p:cNvPr>
          <p:cNvPicPr>
            <a:picLocks noChangeAspect="1"/>
          </p:cNvPicPr>
          <p:nvPr/>
        </p:nvPicPr>
        <p:blipFill>
          <a:blip r:embed="rId1"/>
          <a:stretch>
            <a:fillRect/>
          </a:stretch>
        </p:blipFill>
        <p:spPr>
          <a:xfrm>
            <a:off x="1440671" y="1783080"/>
            <a:ext cx="9371619"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6B4E8F"/>
                </a:solidFill>
                <a:latin typeface="Calibri" pitchFamily="34" charset="0"/>
                <a:ea typeface="Calibri" pitchFamily="34" charset="-122"/>
                <a:cs typeface="Calibri" pitchFamily="34" charset="-120"/>
              </a:rPr>
              <a:t>PART 3 · HOW WE BUILT IT</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Training it, and the one trap we avoided</a:t>
            </a:r>
            <a:endParaRPr lang="en-US" sz="3000" dirty="0"/>
          </a:p>
        </p:txBody>
      </p:sp>
      <p:sp>
        <p:nvSpPr>
          <p:cNvPr id="4" name="Shape 2"/>
          <p:cNvSpPr/>
          <p:nvPr/>
        </p:nvSpPr>
        <p:spPr>
          <a:xfrm>
            <a:off x="685800" y="1920240"/>
            <a:ext cx="5349240" cy="2148840"/>
          </a:xfrm>
          <a:prstGeom prst="roundRect">
            <a:avLst>
              <a:gd name="adj" fmla="val 3404"/>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Text 3"/>
          <p:cNvSpPr/>
          <p:nvPr/>
        </p:nvSpPr>
        <p:spPr>
          <a:xfrm>
            <a:off x="960120" y="2121408"/>
            <a:ext cx="4572000" cy="320040"/>
          </a:xfrm>
          <a:prstGeom prst="rect">
            <a:avLst/>
          </a:prstGeom>
          <a:noFill/>
          <a:ln/>
        </p:spPr>
        <p:txBody>
          <a:bodyPr wrap="square" lIns="0" tIns="0" rIns="0" bIns="0" rtlCol="0" anchor="ctr"/>
          <a:lstStyle/>
          <a:p>
            <a:pPr indent="0" marL="0">
              <a:buNone/>
            </a:pPr>
            <a:r>
              <a:rPr lang="en-US" sz="1650" b="1" dirty="0">
                <a:solidFill>
                  <a:srgbClr val="6B4E8F"/>
                </a:solidFill>
                <a:latin typeface="Calibri" pitchFamily="34" charset="0"/>
                <a:ea typeface="Calibri" pitchFamily="34" charset="-122"/>
                <a:cs typeface="Calibri" pitchFamily="34" charset="-120"/>
              </a:rPr>
              <a:t>How it was trained</a:t>
            </a:r>
            <a:endParaRPr lang="en-US" sz="1650" dirty="0"/>
          </a:p>
        </p:txBody>
      </p:sp>
      <p:sp>
        <p:nvSpPr>
          <p:cNvPr id="6" name="Text 4"/>
          <p:cNvSpPr/>
          <p:nvPr/>
        </p:nvSpPr>
        <p:spPr>
          <a:xfrm>
            <a:off x="960120" y="2514600"/>
            <a:ext cx="1828800" cy="29260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600,000</a:t>
            </a:r>
            <a:endParaRPr lang="en-US" sz="1450" dirty="0"/>
          </a:p>
        </p:txBody>
      </p:sp>
      <p:sp>
        <p:nvSpPr>
          <p:cNvPr id="7" name="Text 5"/>
          <p:cNvSpPr/>
          <p:nvPr/>
        </p:nvSpPr>
        <p:spPr>
          <a:xfrm>
            <a:off x="2834640" y="2514600"/>
            <a:ext cx="3017520" cy="292608"/>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trials pooled across five animals</a:t>
            </a:r>
            <a:endParaRPr lang="en-US" sz="1400" dirty="0"/>
          </a:p>
        </p:txBody>
      </p:sp>
      <p:sp>
        <p:nvSpPr>
          <p:cNvPr id="8" name="Text 6"/>
          <p:cNvSpPr/>
          <p:nvPr/>
        </p:nvSpPr>
        <p:spPr>
          <a:xfrm>
            <a:off x="960120" y="2898648"/>
            <a:ext cx="1828800" cy="29260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12</a:t>
            </a:r>
            <a:endParaRPr lang="en-US" sz="1450" dirty="0"/>
          </a:p>
        </p:txBody>
      </p:sp>
      <p:sp>
        <p:nvSpPr>
          <p:cNvPr id="9" name="Text 7"/>
          <p:cNvSpPr/>
          <p:nvPr/>
        </p:nvSpPr>
        <p:spPr>
          <a:xfrm>
            <a:off x="2834640" y="2898648"/>
            <a:ext cx="3017520" cy="292608"/>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passes through the data</a:t>
            </a:r>
            <a:endParaRPr lang="en-US" sz="1400" dirty="0"/>
          </a:p>
        </p:txBody>
      </p:sp>
      <p:sp>
        <p:nvSpPr>
          <p:cNvPr id="10" name="Text 8"/>
          <p:cNvSpPr/>
          <p:nvPr/>
        </p:nvSpPr>
        <p:spPr>
          <a:xfrm>
            <a:off x="960120" y="3282696"/>
            <a:ext cx="1828800" cy="29260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~4 min</a:t>
            </a:r>
            <a:endParaRPr lang="en-US" sz="1450" dirty="0"/>
          </a:p>
        </p:txBody>
      </p:sp>
      <p:sp>
        <p:nvSpPr>
          <p:cNvPr id="11" name="Text 9"/>
          <p:cNvSpPr/>
          <p:nvPr/>
        </p:nvSpPr>
        <p:spPr>
          <a:xfrm>
            <a:off x="2834640" y="3282696"/>
            <a:ext cx="3017520" cy="292608"/>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on a laptop GPU</a:t>
            </a:r>
            <a:endParaRPr lang="en-US" sz="1400" dirty="0"/>
          </a:p>
        </p:txBody>
      </p:sp>
      <p:sp>
        <p:nvSpPr>
          <p:cNvPr id="12" name="Text 10"/>
          <p:cNvSpPr/>
          <p:nvPr/>
        </p:nvSpPr>
        <p:spPr>
          <a:xfrm>
            <a:off x="960120" y="3666744"/>
            <a:ext cx="1828800" cy="29260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0.0149 → 0.0070</a:t>
            </a:r>
            <a:endParaRPr lang="en-US" sz="1450" dirty="0"/>
          </a:p>
        </p:txBody>
      </p:sp>
      <p:sp>
        <p:nvSpPr>
          <p:cNvPr id="13" name="Text 11"/>
          <p:cNvSpPr/>
          <p:nvPr/>
        </p:nvSpPr>
        <p:spPr>
          <a:xfrm>
            <a:off x="2834640" y="3666744"/>
            <a:ext cx="3017520" cy="292608"/>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reconstruction error</a:t>
            </a:r>
            <a:endParaRPr lang="en-US" sz="1400" dirty="0"/>
          </a:p>
        </p:txBody>
      </p:sp>
      <p:sp>
        <p:nvSpPr>
          <p:cNvPr id="14" name="Shape 12"/>
          <p:cNvSpPr/>
          <p:nvPr/>
        </p:nvSpPr>
        <p:spPr>
          <a:xfrm>
            <a:off x="6217920" y="1920240"/>
            <a:ext cx="5349240" cy="2148840"/>
          </a:xfrm>
          <a:prstGeom prst="roundRect">
            <a:avLst>
              <a:gd name="adj" fmla="val 3404"/>
            </a:avLst>
          </a:prstGeom>
          <a:solidFill>
            <a:srgbClr val="FBF3EA"/>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5" name="Text 13"/>
          <p:cNvSpPr/>
          <p:nvPr/>
        </p:nvSpPr>
        <p:spPr>
          <a:xfrm>
            <a:off x="6492240" y="2121408"/>
            <a:ext cx="4572000" cy="320040"/>
          </a:xfrm>
          <a:prstGeom prst="rect">
            <a:avLst/>
          </a:prstGeom>
          <a:noFill/>
          <a:ln/>
        </p:spPr>
        <p:txBody>
          <a:bodyPr wrap="square" lIns="0" tIns="0" rIns="0" bIns="0" rtlCol="0" anchor="ctr"/>
          <a:lstStyle/>
          <a:p>
            <a:pPr indent="0" marL="0">
              <a:buNone/>
            </a:pPr>
            <a:r>
              <a:rPr lang="en-US" sz="1650" b="1" dirty="0">
                <a:solidFill>
                  <a:srgbClr val="B4671A"/>
                </a:solidFill>
                <a:latin typeface="Calibri" pitchFamily="34" charset="0"/>
                <a:ea typeface="Calibri" pitchFamily="34" charset="-122"/>
                <a:cs typeface="Calibri" pitchFamily="34" charset="-120"/>
              </a:rPr>
              <a:t>The trap</a:t>
            </a:r>
            <a:endParaRPr lang="en-US" sz="1650" dirty="0"/>
          </a:p>
        </p:txBody>
      </p:sp>
      <p:sp>
        <p:nvSpPr>
          <p:cNvPr id="16" name="Text 14"/>
          <p:cNvSpPr/>
          <p:nvPr/>
        </p:nvSpPr>
        <p:spPr>
          <a:xfrm>
            <a:off x="6492240" y="2514600"/>
            <a:ext cx="4846320" cy="1143000"/>
          </a:xfrm>
          <a:prstGeom prst="rect">
            <a:avLst/>
          </a:prstGeom>
          <a:noFill/>
          <a:ln/>
        </p:spPr>
        <p:txBody>
          <a:bodyPr wrap="square" lIns="0" tIns="0" rIns="0" bIns="0" rtlCol="0" anchor="ctr"/>
          <a:lstStyle/>
          <a:p>
            <a:pPr indent="0" marL="0">
              <a:lnSpc>
                <a:spcPct val="106000"/>
              </a:lnSpc>
              <a:buNone/>
            </a:pPr>
            <a:r>
              <a:rPr lang="en-US" sz="1550" dirty="0">
                <a:solidFill>
                  <a:srgbClr val="14212E"/>
                </a:solidFill>
                <a:latin typeface="Calibri" pitchFamily="34" charset="0"/>
                <a:ea typeface="Calibri" pitchFamily="34" charset="-122"/>
                <a:cs typeface="Calibri" pitchFamily="34" charset="-120"/>
              </a:rPr>
              <a:t>Pool several animals naively and the model learns to tell the animals apart — different electrodes, different amplitudes. That is a recording artefact, not biology.</a:t>
            </a:r>
            <a:endParaRPr lang="en-US" sz="1550" dirty="0"/>
          </a:p>
        </p:txBody>
      </p:sp>
      <p:sp>
        <p:nvSpPr>
          <p:cNvPr id="17" name="Text 15"/>
          <p:cNvSpPr/>
          <p:nvPr/>
        </p:nvSpPr>
        <p:spPr>
          <a:xfrm>
            <a:off x="6492240" y="3675888"/>
            <a:ext cx="4846320" cy="320040"/>
          </a:xfrm>
          <a:prstGeom prst="rect">
            <a:avLst/>
          </a:prstGeom>
          <a:noFill/>
          <a:ln/>
        </p:spPr>
        <p:txBody>
          <a:bodyPr wrap="square" lIns="0" tIns="0" rIns="0" bIns="0" rtlCol="0" anchor="ctr"/>
          <a:lstStyle/>
          <a:p>
            <a:pPr indent="0" marL="0">
              <a:buNone/>
            </a:pPr>
            <a:r>
              <a:rPr lang="en-US" sz="1400" b="1" i="1" dirty="0">
                <a:solidFill>
                  <a:srgbClr val="3B6E43"/>
                </a:solidFill>
                <a:latin typeface="Calibri" pitchFamily="34" charset="0"/>
                <a:ea typeface="Calibri" pitchFamily="34" charset="-122"/>
                <a:cs typeface="Calibri" pitchFamily="34" charset="-120"/>
              </a:rPr>
              <a:t>Fix: standardise every animal separately before pooling.</a:t>
            </a:r>
            <a:endParaRPr lang="en-US" sz="1400" dirty="0"/>
          </a:p>
        </p:txBody>
      </p:sp>
      <p:sp>
        <p:nvSpPr>
          <p:cNvPr id="18" name="Shape 16"/>
          <p:cNvSpPr/>
          <p:nvPr/>
        </p:nvSpPr>
        <p:spPr>
          <a:xfrm>
            <a:off x="685800" y="4297680"/>
            <a:ext cx="10881360" cy="1737360"/>
          </a:xfrm>
          <a:prstGeom prst="roundRect">
            <a:avLst>
              <a:gd name="adj" fmla="val 4211"/>
            </a:avLst>
          </a:prstGeom>
          <a:solidFill>
            <a:srgbClr val="EAF4F7"/>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9" name="Text 17"/>
          <p:cNvSpPr/>
          <p:nvPr/>
        </p:nvSpPr>
        <p:spPr>
          <a:xfrm>
            <a:off x="1005840" y="4480560"/>
            <a:ext cx="8229600" cy="320040"/>
          </a:xfrm>
          <a:prstGeom prst="rect">
            <a:avLst/>
          </a:prstGeom>
          <a:noFill/>
          <a:ln/>
        </p:spPr>
        <p:txBody>
          <a:bodyPr wrap="square" lIns="0" tIns="0" rIns="0" bIns="0" rtlCol="0" anchor="ctr"/>
          <a:lstStyle/>
          <a:p>
            <a:pPr indent="0" marL="0">
              <a:buNone/>
            </a:pPr>
            <a:r>
              <a:rPr lang="en-US" sz="1600" b="1" dirty="0">
                <a:solidFill>
                  <a:srgbClr val="15718F"/>
                </a:solidFill>
                <a:latin typeface="Calibri" pitchFamily="34" charset="0"/>
                <a:ea typeface="Calibri" pitchFamily="34" charset="-122"/>
                <a:cs typeface="Calibri" pitchFamily="34" charset="-120"/>
              </a:rPr>
              <a:t>Why one model across all animals, rather than one per animal</a:t>
            </a:r>
            <a:endParaRPr lang="en-US" sz="1600" dirty="0"/>
          </a:p>
        </p:txBody>
      </p:sp>
      <p:sp>
        <p:nvSpPr>
          <p:cNvPr id="20" name="Text 18"/>
          <p:cNvSpPr/>
          <p:nvPr/>
        </p:nvSpPr>
        <p:spPr>
          <a:xfrm>
            <a:off x="1005840" y="4828032"/>
            <a:ext cx="10241280" cy="1051560"/>
          </a:xfrm>
          <a:prstGeom prst="rect">
            <a:avLst/>
          </a:prstGeom>
          <a:noFill/>
          <a:ln/>
        </p:spPr>
        <p:txBody>
          <a:bodyPr wrap="square" lIns="0" tIns="0" rIns="0" bIns="0" rtlCol="0" anchor="ctr"/>
          <a:lstStyle/>
          <a:p>
            <a:pPr indent="0" marL="0">
              <a:lnSpc>
                <a:spcPct val="107000"/>
              </a:lnSpc>
              <a:buNone/>
            </a:pPr>
            <a:r>
              <a:rPr lang="en-US" sz="1550" dirty="0">
                <a:solidFill>
                  <a:srgbClr val="14212E"/>
                </a:solidFill>
                <a:latin typeface="Calibri" pitchFamily="34" charset="0"/>
                <a:ea typeface="Calibri" pitchFamily="34" charset="-122"/>
                <a:cs typeface="Calibri" pitchFamily="34" charset="-120"/>
              </a:rPr>
              <a:t>A separate model per animal would describe each brain in its own private vocabulary, and you could never compare them. Training one model on all of them forces a shared vocabulary — so “this pattern of cortical activity” means the same thing in animal 3 as it does in animal 11. That is what makes the group comparisons later in the talk legitimate.</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6B4E8F"/>
                </a:solidFill>
                <a:latin typeface="Calibri" pitchFamily="34" charset="0"/>
                <a:ea typeface="Calibri" pitchFamily="34" charset="-122"/>
                <a:cs typeface="Calibri" pitchFamily="34" charset="-120"/>
              </a:rPr>
              <a:t>PART 3 · HOW WE BUILT IT</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Tech stack and daily workflow</a:t>
            </a:r>
            <a:endParaRPr lang="en-US" sz="3000" dirty="0"/>
          </a:p>
        </p:txBody>
      </p:sp>
      <p:pic>
        <p:nvPicPr>
          <p:cNvPr id="4" name="Image 0" descr="/Users/suchithrao/Downloads/hroc-training/outputs/diagrams/stack.png">    </p:cNvPr>
          <p:cNvPicPr>
            <a:picLocks noChangeAspect="1"/>
          </p:cNvPicPr>
          <p:nvPr/>
        </p:nvPicPr>
        <p:blipFill>
          <a:blip r:embed="rId1"/>
          <a:stretch>
            <a:fillRect/>
          </a:stretch>
        </p:blipFill>
        <p:spPr>
          <a:xfrm>
            <a:off x="685800" y="1828800"/>
            <a:ext cx="10881360" cy="377095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6B4E8F"/>
                </a:solidFill>
                <a:latin typeface="Calibri" pitchFamily="34" charset="0"/>
                <a:ea typeface="Calibri" pitchFamily="34" charset="-122"/>
                <a:cs typeface="Calibri" pitchFamily="34" charset="-120"/>
              </a:rPr>
              <a:t>PART 3 · HOW IT WENT</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How the summer actually went</a:t>
            </a:r>
            <a:endParaRPr lang="en-US" sz="3000" dirty="0"/>
          </a:p>
        </p:txBody>
      </p:sp>
      <p:pic>
        <p:nvPicPr>
          <p:cNvPr id="4" name="Image 0" descr="/Users/suchithrao/Downloads/hroc-training/outputs/diagrams/timeline.png">    </p:cNvPr>
          <p:cNvPicPr>
            <a:picLocks noChangeAspect="1"/>
          </p:cNvPicPr>
          <p:nvPr/>
        </p:nvPicPr>
        <p:blipFill>
          <a:blip r:embed="rId1"/>
          <a:stretch>
            <a:fillRect/>
          </a:stretch>
        </p:blipFill>
        <p:spPr>
          <a:xfrm>
            <a:off x="1222205" y="1965960"/>
            <a:ext cx="9808550" cy="30651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B4671A"/>
                </a:solidFill>
                <a:latin typeface="Calibri" pitchFamily="34" charset="0"/>
                <a:ea typeface="Calibri" pitchFamily="34" charset="-122"/>
                <a:cs typeface="Calibri" pitchFamily="34" charset="-120"/>
              </a:rPr>
              <a:t>PART 3 · HOW WE BUILT IT</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Why reflex size alone tells you nothing</a:t>
            </a:r>
            <a:endParaRPr lang="en-US" sz="3000" dirty="0"/>
          </a:p>
        </p:txBody>
      </p:sp>
      <p:sp>
        <p:nvSpPr>
          <p:cNvPr id="4" name="Shape 2"/>
          <p:cNvSpPr/>
          <p:nvPr/>
        </p:nvSpPr>
        <p:spPr>
          <a:xfrm>
            <a:off x="685800" y="1920240"/>
            <a:ext cx="5349240" cy="3246120"/>
          </a:xfrm>
          <a:prstGeom prst="roundRect">
            <a:avLst>
              <a:gd name="adj" fmla="val 2254"/>
            </a:avLst>
          </a:prstGeom>
          <a:solidFill>
            <a:srgbClr val="FBF3EA"/>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Text 3"/>
          <p:cNvSpPr/>
          <p:nvPr/>
        </p:nvSpPr>
        <p:spPr>
          <a:xfrm>
            <a:off x="960120" y="2121408"/>
            <a:ext cx="4572000" cy="320040"/>
          </a:xfrm>
          <a:prstGeom prst="rect">
            <a:avLst/>
          </a:prstGeom>
          <a:noFill/>
          <a:ln/>
        </p:spPr>
        <p:txBody>
          <a:bodyPr wrap="square" lIns="0" tIns="0" rIns="0" bIns="0" rtlCol="0" anchor="ctr"/>
          <a:lstStyle/>
          <a:p>
            <a:pPr indent="0" marL="0">
              <a:buNone/>
            </a:pPr>
            <a:r>
              <a:rPr lang="en-US" sz="1650" b="1" dirty="0">
                <a:solidFill>
                  <a:srgbClr val="B4671A"/>
                </a:solidFill>
                <a:latin typeface="Calibri" pitchFamily="34" charset="0"/>
                <a:ea typeface="Calibri" pitchFamily="34" charset="-122"/>
                <a:cs typeface="Calibri" pitchFamily="34" charset="-120"/>
              </a:rPr>
              <a:t>The problem</a:t>
            </a:r>
            <a:endParaRPr lang="en-US" sz="1650" dirty="0"/>
          </a:p>
        </p:txBody>
      </p:sp>
      <p:sp>
        <p:nvSpPr>
          <p:cNvPr id="6" name="Text 4"/>
          <p:cNvSpPr/>
          <p:nvPr/>
        </p:nvSpPr>
        <p:spPr>
          <a:xfrm>
            <a:off x="960120" y="2514600"/>
            <a:ext cx="4846320" cy="1828800"/>
          </a:xfrm>
          <a:prstGeom prst="rect">
            <a:avLst/>
          </a:prstGeom>
          <a:noFill/>
          <a:ln/>
        </p:spPr>
        <p:txBody>
          <a:bodyPr wrap="square" lIns="0" tIns="0" rIns="0" bIns="0" rtlCol="0" anchor="ctr"/>
          <a:lstStyle/>
          <a:p>
            <a:pPr indent="0" marL="0">
              <a:lnSpc>
                <a:spcPct val="106000"/>
              </a:lnSpc>
              <a:buNone/>
            </a:pPr>
            <a:r>
              <a:rPr lang="en-US" sz="1600" dirty="0">
                <a:solidFill>
                  <a:srgbClr val="14212E"/>
                </a:solidFill>
                <a:latin typeface="Calibri" pitchFamily="34" charset="0"/>
                <a:ea typeface="Calibri" pitchFamily="34" charset="-122"/>
                <a:cs typeface="Calibri" pitchFamily="34" charset="-120"/>
              </a:rPr>
              <a:t>A bigger stimulus makes a bigger reflex — no learning required — and so does a more active muscle. Boulay et al. (2015) found exactly this: H-reflex size varied with M-wave size and background EMG as well as with cortical activity.</a:t>
            </a:r>
            <a:endParaRPr lang="en-US" sz="1600" dirty="0"/>
          </a:p>
        </p:txBody>
      </p:sp>
      <p:sp>
        <p:nvSpPr>
          <p:cNvPr id="7" name="Text 5"/>
          <p:cNvSpPr/>
          <p:nvPr/>
        </p:nvSpPr>
        <p:spPr>
          <a:xfrm>
            <a:off x="960120" y="4389120"/>
            <a:ext cx="4846320" cy="68580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In one animal the delivered stimulus nearly quintupled over the recording; early on, that made one of our results come out backwards.</a:t>
            </a:r>
            <a:endParaRPr lang="en-US" sz="1400" dirty="0"/>
          </a:p>
        </p:txBody>
      </p:sp>
      <p:sp>
        <p:nvSpPr>
          <p:cNvPr id="8" name="Shape 6"/>
          <p:cNvSpPr/>
          <p:nvPr/>
        </p:nvSpPr>
        <p:spPr>
          <a:xfrm>
            <a:off x="6217920" y="1920240"/>
            <a:ext cx="5349240" cy="3246120"/>
          </a:xfrm>
          <a:prstGeom prst="roundRect">
            <a:avLst>
              <a:gd name="adj" fmla="val 2254"/>
            </a:avLst>
          </a:prstGeom>
          <a:solidFill>
            <a:srgbClr val="EAF4F7"/>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9" name="Text 7"/>
          <p:cNvSpPr/>
          <p:nvPr/>
        </p:nvSpPr>
        <p:spPr>
          <a:xfrm>
            <a:off x="6492240" y="2121408"/>
            <a:ext cx="4572000" cy="320040"/>
          </a:xfrm>
          <a:prstGeom prst="rect">
            <a:avLst/>
          </a:prstGeom>
          <a:noFill/>
          <a:ln/>
        </p:spPr>
        <p:txBody>
          <a:bodyPr wrap="square" lIns="0" tIns="0" rIns="0" bIns="0" rtlCol="0" anchor="ctr"/>
          <a:lstStyle/>
          <a:p>
            <a:pPr indent="0" marL="0">
              <a:buNone/>
            </a:pPr>
            <a:r>
              <a:rPr lang="en-US" sz="1650" b="1" dirty="0">
                <a:solidFill>
                  <a:srgbClr val="15718F"/>
                </a:solidFill>
                <a:latin typeface="Calibri" pitchFamily="34" charset="0"/>
                <a:ea typeface="Calibri" pitchFamily="34" charset="-122"/>
                <a:cs typeface="Calibri" pitchFamily="34" charset="-120"/>
              </a:rPr>
              <a:t>The fix</a:t>
            </a:r>
            <a:endParaRPr lang="en-US" sz="1650" dirty="0"/>
          </a:p>
        </p:txBody>
      </p:sp>
      <p:sp>
        <p:nvSpPr>
          <p:cNvPr id="10" name="Text 8"/>
          <p:cNvSpPr/>
          <p:nvPr/>
        </p:nvSpPr>
        <p:spPr>
          <a:xfrm>
            <a:off x="6492240" y="2514600"/>
            <a:ext cx="4846320" cy="2103120"/>
          </a:xfrm>
          <a:prstGeom prst="rect">
            <a:avLst/>
          </a:prstGeom>
          <a:noFill/>
          <a:ln/>
        </p:spPr>
        <p:txBody>
          <a:bodyPr wrap="square" lIns="0" tIns="0" rIns="0" bIns="0" rtlCol="0" anchor="ctr"/>
          <a:lstStyle/>
          <a:p>
            <a:pPr indent="0" marL="0">
              <a:lnSpc>
                <a:spcPct val="106000"/>
              </a:lnSpc>
              <a:buNone/>
            </a:pPr>
            <a:r>
              <a:rPr lang="en-US" sz="1600" dirty="0">
                <a:solidFill>
                  <a:srgbClr val="14212E"/>
                </a:solidFill>
                <a:latin typeface="Calibri" pitchFamily="34" charset="0"/>
                <a:ea typeface="Calibri" pitchFamily="34" charset="-122"/>
                <a:cs typeface="Calibri" pitchFamily="34" charset="-120"/>
              </a:rPr>
              <a:t>The M-wave sits in the same trace and reflects only the stimulus. It is a per-trial receipt for how much stimulus arrived. The 20 ms before each stimulus measures how active the muscle already was. We remove both from every measure.</a:t>
            </a:r>
            <a:endParaRPr lang="en-US" sz="1600" dirty="0"/>
          </a:p>
        </p:txBody>
      </p:sp>
      <p:sp>
        <p:nvSpPr>
          <p:cNvPr id="11" name="Shape 9"/>
          <p:cNvSpPr/>
          <p:nvPr/>
        </p:nvSpPr>
        <p:spPr>
          <a:xfrm>
            <a:off x="685800" y="5532120"/>
            <a:ext cx="10881360" cy="685800"/>
          </a:xfrm>
          <a:prstGeom prst="roundRect">
            <a:avLst>
              <a:gd name="adj" fmla="val 10667"/>
            </a:avLst>
          </a:prstGeom>
          <a:solidFill>
            <a:srgbClr val="0C1620"/>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2" name="Text 10"/>
          <p:cNvSpPr/>
          <p:nvPr/>
        </p:nvSpPr>
        <p:spPr>
          <a:xfrm>
            <a:off x="1051560" y="5650992"/>
            <a:ext cx="101498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Every number in the rest of this talk has both corrections applied.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3B6E43"/>
                </a:solidFill>
                <a:latin typeface="Calibri" pitchFamily="34" charset="0"/>
                <a:ea typeface="Calibri" pitchFamily="34" charset="-122"/>
                <a:cs typeface="Calibri" pitchFamily="34" charset="-120"/>
              </a:rPr>
              <a:t>PART 4 · RESULT ONE</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Conditioning works, in both directions</a:t>
            </a:r>
            <a:endParaRPr lang="en-US" sz="3000" dirty="0"/>
          </a:p>
        </p:txBody>
      </p:sp>
      <p:pic>
        <p:nvPicPr>
          <p:cNvPr id="4" name="Image 0" descr="/Users/suchithrao/Downloads/hroc-training/outputs/updown/updown_contrast.png">    </p:cNvPr>
          <p:cNvPicPr>
            <a:picLocks noChangeAspect="1"/>
          </p:cNvPicPr>
          <p:nvPr/>
        </p:nvPicPr>
        <p:blipFill>
          <a:blip r:embed="rId1"/>
          <a:stretch>
            <a:fillRect/>
          </a:stretch>
        </p:blipFill>
        <p:spPr>
          <a:xfrm>
            <a:off x="566928" y="1920240"/>
            <a:ext cx="6858000" cy="2541335"/>
          </a:xfrm>
          <a:prstGeom prst="rect">
            <a:avLst/>
          </a:prstGeom>
        </p:spPr>
      </p:pic>
      <p:sp>
        <p:nvSpPr>
          <p:cNvPr id="5" name="Shape 2"/>
          <p:cNvSpPr/>
          <p:nvPr/>
        </p:nvSpPr>
        <p:spPr>
          <a:xfrm>
            <a:off x="7635240" y="2057400"/>
            <a:ext cx="3931920" cy="3566160"/>
          </a:xfrm>
          <a:prstGeom prst="roundRect">
            <a:avLst>
              <a:gd name="adj" fmla="val 2051"/>
            </a:avLst>
          </a:prstGeom>
          <a:solidFill>
            <a:srgbClr val="EEF5EE"/>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6" name="Text 3"/>
          <p:cNvSpPr/>
          <p:nvPr/>
        </p:nvSpPr>
        <p:spPr>
          <a:xfrm>
            <a:off x="7909560" y="2267712"/>
            <a:ext cx="3383280" cy="320040"/>
          </a:xfrm>
          <a:prstGeom prst="rect">
            <a:avLst/>
          </a:prstGeom>
          <a:noFill/>
          <a:ln/>
        </p:spPr>
        <p:txBody>
          <a:bodyPr wrap="square" lIns="0" tIns="0" rIns="0" bIns="0" rtlCol="0" anchor="ctr"/>
          <a:lstStyle/>
          <a:p>
            <a:pPr indent="0" marL="0">
              <a:buNone/>
            </a:pPr>
            <a:r>
              <a:rPr lang="en-US" sz="1600" b="1" dirty="0">
                <a:solidFill>
                  <a:srgbClr val="3B6E43"/>
                </a:solidFill>
                <a:latin typeface="Calibri" pitchFamily="34" charset="0"/>
                <a:ea typeface="Calibri" pitchFamily="34" charset="-122"/>
                <a:cs typeface="Calibri" pitchFamily="34" charset="-120"/>
              </a:rPr>
              <a:t>The positive control</a:t>
            </a:r>
            <a:endParaRPr lang="en-US" sz="1600" dirty="0"/>
          </a:p>
        </p:txBody>
      </p:sp>
      <p:sp>
        <p:nvSpPr>
          <p:cNvPr id="7" name="Text 4"/>
          <p:cNvSpPr/>
          <p:nvPr/>
        </p:nvSpPr>
        <p:spPr>
          <a:xfrm>
            <a:off x="7909560" y="2651760"/>
            <a:ext cx="3429000" cy="1051560"/>
          </a:xfrm>
          <a:prstGeom prst="rect">
            <a:avLst/>
          </a:prstGeom>
          <a:noFill/>
          <a:ln/>
        </p:spPr>
        <p:txBody>
          <a:bodyPr wrap="square" lIns="0" tIns="0" rIns="0" bIns="0" rtlCol="0" anchor="ctr"/>
          <a:lstStyle/>
          <a:p>
            <a:pPr indent="0" marL="0">
              <a:lnSpc>
                <a:spcPct val="106000"/>
              </a:lnSpc>
              <a:buNone/>
            </a:pPr>
            <a:r>
              <a:rPr lang="en-US" sz="1550" dirty="0">
                <a:solidFill>
                  <a:srgbClr val="14212E"/>
                </a:solidFill>
                <a:latin typeface="Calibri" pitchFamily="34" charset="0"/>
                <a:ea typeface="Calibri" pitchFamily="34" charset="-122"/>
                <a:cs typeface="Calibri" pitchFamily="34" charset="-120"/>
              </a:rPr>
              <a:t>Each animal is lined up to its own training start day. Up-trained animals (red) rise; down-trained (blue) fall.</a:t>
            </a:r>
            <a:endParaRPr lang="en-US" sz="1550" dirty="0"/>
          </a:p>
        </p:txBody>
      </p:sp>
      <p:sp>
        <p:nvSpPr>
          <p:cNvPr id="8" name="Text 5"/>
          <p:cNvSpPr/>
          <p:nvPr/>
        </p:nvSpPr>
        <p:spPr>
          <a:xfrm>
            <a:off x="7909560" y="3794760"/>
            <a:ext cx="3429000" cy="731520"/>
          </a:xfrm>
          <a:prstGeom prst="rect">
            <a:avLst/>
          </a:prstGeom>
          <a:noFill/>
          <a:ln/>
        </p:spPr>
        <p:txBody>
          <a:bodyPr wrap="square" lIns="0" tIns="0" rIns="0" bIns="0" rtlCol="0" anchor="ctr"/>
          <a:lstStyle/>
          <a:p>
            <a:pPr indent="0" marL="0">
              <a:lnSpc>
                <a:spcPct val="106000"/>
              </a:lnSpc>
              <a:buNone/>
            </a:pPr>
            <a:r>
              <a:rPr lang="en-US" sz="1550" b="1" dirty="0">
                <a:solidFill>
                  <a:srgbClr val="14212E"/>
                </a:solidFill>
                <a:latin typeface="Calibri" pitchFamily="34" charset="0"/>
                <a:ea typeface="Calibri" pitchFamily="34" charset="-122"/>
                <a:cs typeface="Calibri" pitchFamily="34" charset="-120"/>
              </a:rPr>
              <a:t>Three of five clear the 20% criterion in the trained direction.</a:t>
            </a:r>
            <a:endParaRPr lang="en-US" sz="1550" dirty="0"/>
          </a:p>
        </p:txBody>
      </p:sp>
      <p:sp>
        <p:nvSpPr>
          <p:cNvPr id="9" name="Text 6"/>
          <p:cNvSpPr/>
          <p:nvPr/>
        </p:nvSpPr>
        <p:spPr>
          <a:xfrm>
            <a:off x="7909560" y="4617720"/>
            <a:ext cx="3429000" cy="685800"/>
          </a:xfrm>
          <a:prstGeom prst="rect">
            <a:avLst/>
          </a:prstGeom>
          <a:noFill/>
          <a:ln/>
        </p:spPr>
        <p:txBody>
          <a:bodyPr wrap="square" lIns="0" tIns="0" rIns="0" bIns="0" rtlCol="0" anchor="ctr"/>
          <a:lstStyle/>
          <a:p>
            <a:pPr indent="0" marL="0">
              <a:lnSpc>
                <a:spcPct val="105000"/>
              </a:lnSpc>
              <a:buNone/>
            </a:pPr>
            <a:r>
              <a:rPr lang="en-US" sz="1350" i="1" dirty="0">
                <a:solidFill>
                  <a:srgbClr val="5A6B7B"/>
                </a:solidFill>
                <a:latin typeface="Calibri" pitchFamily="34" charset="0"/>
                <a:ea typeface="Calibri" pitchFamily="34" charset="-122"/>
                <a:cs typeface="Calibri" pitchFamily="34" charset="-120"/>
              </a:rPr>
              <a:t>The two failures become a built-in control later on.</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B4671A"/>
                </a:solidFill>
                <a:latin typeface="Calibri" pitchFamily="34" charset="0"/>
                <a:ea typeface="Calibri" pitchFamily="34" charset="-122"/>
                <a:cs typeface="Calibri" pitchFamily="34" charset="-120"/>
              </a:rPr>
              <a:t>PART 4 · THE HARD PART</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Two things change slowly over the same weeks</a:t>
            </a:r>
            <a:endParaRPr lang="en-US" sz="3000" dirty="0"/>
          </a:p>
        </p:txBody>
      </p:sp>
      <p:pic>
        <p:nvPicPr>
          <p:cNvPr id="4" name="Image 0" descr="/Users/suchithrao/Downloads/hroc-training/outputs/diagrams/drift_problem.png">    </p:cNvPr>
          <p:cNvPicPr>
            <a:picLocks noChangeAspect="1"/>
          </p:cNvPicPr>
          <p:nvPr/>
        </p:nvPicPr>
        <p:blipFill>
          <a:blip r:embed="rId1"/>
          <a:stretch>
            <a:fillRect/>
          </a:stretch>
        </p:blipFill>
        <p:spPr>
          <a:xfrm>
            <a:off x="1875809" y="1874520"/>
            <a:ext cx="8501342" cy="3383280"/>
          </a:xfrm>
          <a:prstGeom prst="rect">
            <a:avLst/>
          </a:prstGeom>
        </p:spPr>
      </p:pic>
      <p:sp>
        <p:nvSpPr>
          <p:cNvPr id="5" name="Shape 2"/>
          <p:cNvSpPr/>
          <p:nvPr/>
        </p:nvSpPr>
        <p:spPr>
          <a:xfrm>
            <a:off x="685800" y="5486400"/>
            <a:ext cx="10881360" cy="868680"/>
          </a:xfrm>
          <a:prstGeom prst="roundRect">
            <a:avLst>
              <a:gd name="adj" fmla="val 8421"/>
            </a:avLst>
          </a:prstGeom>
          <a:solidFill>
            <a:srgbClr val="0C1620"/>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6" name="Text 3"/>
          <p:cNvSpPr/>
          <p:nvPr/>
        </p:nvSpPr>
        <p:spPr>
          <a:xfrm>
            <a:off x="1051560" y="5650992"/>
            <a:ext cx="10149840" cy="548640"/>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This is a limit of the study design, not of the data — and it shaped everything we did next.</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A44430"/>
                </a:solidFill>
                <a:latin typeface="Calibri" pitchFamily="34" charset="0"/>
                <a:ea typeface="Calibri" pitchFamily="34" charset="-122"/>
                <a:cs typeface="Calibri" pitchFamily="34" charset="-120"/>
              </a:rPr>
              <a:t>PART 4 · RESULT TWO, A NEGATIVE</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Our first approach did not survive its controls</a:t>
            </a:r>
            <a:endParaRPr lang="en-US" sz="3000" dirty="0"/>
          </a:p>
        </p:txBody>
      </p:sp>
      <p:sp>
        <p:nvSpPr>
          <p:cNvPr id="4" name="Text 2"/>
          <p:cNvSpPr/>
          <p:nvPr/>
        </p:nvSpPr>
        <p:spPr>
          <a:xfrm>
            <a:off x="685800" y="1536192"/>
            <a:ext cx="10881360" cy="566928"/>
          </a:xfrm>
          <a:prstGeom prst="rect">
            <a:avLst/>
          </a:prstGeom>
          <a:noFill/>
          <a:ln/>
        </p:spPr>
        <p:txBody>
          <a:bodyPr wrap="square" lIns="0" tIns="0" rIns="0" bIns="0" rtlCol="0" anchor="ctr"/>
          <a:lstStyle/>
          <a:p>
            <a:pPr indent="0" marL="0">
              <a:lnSpc>
                <a:spcPct val="106000"/>
              </a:lnSpc>
              <a:buNone/>
            </a:pPr>
            <a:r>
              <a:rPr lang="en-US" sz="1700" dirty="0">
                <a:solidFill>
                  <a:srgbClr val="5A6B7B"/>
                </a:solidFill>
                <a:latin typeface="Calibri" pitchFamily="34" charset="0"/>
                <a:ea typeface="Calibri" pitchFamily="34" charset="-122"/>
                <a:cs typeface="Calibri" pitchFamily="34" charset="-120"/>
              </a:rPr>
              <a:t>We measured how far the average brain state moved across training. It moves — but three tests say the movement is the recording, not the animal.</a:t>
            </a:r>
            <a:endParaRPr lang="en-US" sz="1700" dirty="0"/>
          </a:p>
        </p:txBody>
      </p:sp>
      <p:sp>
        <p:nvSpPr>
          <p:cNvPr id="5" name="Shape 3"/>
          <p:cNvSpPr/>
          <p:nvPr/>
        </p:nvSpPr>
        <p:spPr>
          <a:xfrm>
            <a:off x="685800" y="2514600"/>
            <a:ext cx="10881360" cy="1051560"/>
          </a:xfrm>
          <a:prstGeom prst="roundRect">
            <a:avLst>
              <a:gd name="adj" fmla="val 6957"/>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6" name="Text 4"/>
          <p:cNvSpPr/>
          <p:nvPr/>
        </p:nvSpPr>
        <p:spPr>
          <a:xfrm>
            <a:off x="1005840" y="2651760"/>
            <a:ext cx="3931920" cy="777240"/>
          </a:xfrm>
          <a:prstGeom prst="rect">
            <a:avLst/>
          </a:prstGeom>
          <a:noFill/>
          <a:ln/>
        </p:spPr>
        <p:txBody>
          <a:bodyPr wrap="square" lIns="0" tIns="0" rIns="0" bIns="0" rtlCol="0" anchor="ctr"/>
          <a:lstStyle/>
          <a:p>
            <a:pPr indent="0" marL="0">
              <a:lnSpc>
                <a:spcPct val="105000"/>
              </a:lnSpc>
              <a:buNone/>
            </a:pPr>
            <a:r>
              <a:rPr lang="en-US" sz="1550" b="1" dirty="0">
                <a:solidFill>
                  <a:srgbClr val="14212E"/>
                </a:solidFill>
                <a:latin typeface="Calibri" pitchFamily="34" charset="0"/>
                <a:ea typeface="Calibri" pitchFamily="34" charset="-122"/>
                <a:cs typeface="Calibri" pitchFamily="34" charset="-120"/>
              </a:rPr>
              <a:t>Take baseline-only data and pretend half was training</a:t>
            </a:r>
            <a:endParaRPr lang="en-US" sz="1550" dirty="0"/>
          </a:p>
        </p:txBody>
      </p:sp>
      <p:sp>
        <p:nvSpPr>
          <p:cNvPr id="7" name="Text 5"/>
          <p:cNvSpPr/>
          <p:nvPr/>
        </p:nvSpPr>
        <p:spPr>
          <a:xfrm>
            <a:off x="5120640" y="2651760"/>
            <a:ext cx="3291840" cy="777240"/>
          </a:xfrm>
          <a:prstGeom prst="rect">
            <a:avLst/>
          </a:prstGeom>
          <a:noFill/>
          <a:ln/>
        </p:spPr>
        <p:txBody>
          <a:bodyPr wrap="square" lIns="0" tIns="0" rIns="0" bIns="0" rtlCol="0" anchor="ctr"/>
          <a:lstStyle/>
          <a:p>
            <a:pPr indent="0" marL="0">
              <a:lnSpc>
                <a:spcPct val="105000"/>
              </a:lnSpc>
              <a:buNone/>
            </a:pPr>
            <a:r>
              <a:rPr lang="en-US" sz="1350" dirty="0">
                <a:solidFill>
                  <a:srgbClr val="5A6B7B"/>
                </a:solidFill>
                <a:latin typeface="Calibri" pitchFamily="34" charset="0"/>
                <a:ea typeface="Calibri" pitchFamily="34" charset="-122"/>
                <a:cs typeface="Calibri" pitchFamily="34" charset="-120"/>
              </a:rPr>
              <a:t>Nothing happened, so it should show no movement</a:t>
            </a:r>
            <a:endParaRPr lang="en-US" sz="1350" dirty="0"/>
          </a:p>
        </p:txBody>
      </p:sp>
      <p:sp>
        <p:nvSpPr>
          <p:cNvPr id="8" name="Text 6"/>
          <p:cNvSpPr/>
          <p:nvPr/>
        </p:nvSpPr>
        <p:spPr>
          <a:xfrm>
            <a:off x="8595360" y="2651760"/>
            <a:ext cx="2743200" cy="777240"/>
          </a:xfrm>
          <a:prstGeom prst="rect">
            <a:avLst/>
          </a:prstGeom>
          <a:noFill/>
          <a:ln/>
        </p:spPr>
        <p:txBody>
          <a:bodyPr wrap="square" lIns="0" tIns="0" rIns="0" bIns="0" rtlCol="0" anchor="ctr"/>
          <a:lstStyle/>
          <a:p>
            <a:pPr indent="0" marL="0">
              <a:lnSpc>
                <a:spcPct val="105000"/>
              </a:lnSpc>
              <a:buNone/>
            </a:pPr>
            <a:r>
              <a:rPr lang="en-US" sz="1400" b="1" dirty="0">
                <a:solidFill>
                  <a:srgbClr val="A44430"/>
                </a:solidFill>
                <a:latin typeface="Calibri" pitchFamily="34" charset="0"/>
                <a:ea typeface="Calibri" pitchFamily="34" charset="-122"/>
                <a:cs typeface="Calibri" pitchFamily="34" charset="-120"/>
              </a:rPr>
              <a:t>Moves just as much — 5 of 6 animals</a:t>
            </a:r>
            <a:endParaRPr lang="en-US" sz="1400" dirty="0"/>
          </a:p>
        </p:txBody>
      </p:sp>
      <p:sp>
        <p:nvSpPr>
          <p:cNvPr id="9" name="Shape 7"/>
          <p:cNvSpPr/>
          <p:nvPr/>
        </p:nvSpPr>
        <p:spPr>
          <a:xfrm>
            <a:off x="685800" y="3675888"/>
            <a:ext cx="10881360" cy="1051560"/>
          </a:xfrm>
          <a:prstGeom prst="roundRect">
            <a:avLst>
              <a:gd name="adj" fmla="val 6957"/>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0" name="Text 8"/>
          <p:cNvSpPr/>
          <p:nvPr/>
        </p:nvSpPr>
        <p:spPr>
          <a:xfrm>
            <a:off x="1005840" y="3813048"/>
            <a:ext cx="3931920" cy="777240"/>
          </a:xfrm>
          <a:prstGeom prst="rect">
            <a:avLst/>
          </a:prstGeom>
          <a:noFill/>
          <a:ln/>
        </p:spPr>
        <p:txBody>
          <a:bodyPr wrap="square" lIns="0" tIns="0" rIns="0" bIns="0" rtlCol="0" anchor="ctr"/>
          <a:lstStyle/>
          <a:p>
            <a:pPr indent="0" marL="0">
              <a:lnSpc>
                <a:spcPct val="105000"/>
              </a:lnSpc>
              <a:buNone/>
            </a:pPr>
            <a:r>
              <a:rPr lang="en-US" sz="1550" b="1" dirty="0">
                <a:solidFill>
                  <a:srgbClr val="14212E"/>
                </a:solidFill>
                <a:latin typeface="Calibri" pitchFamily="34" charset="0"/>
                <a:ea typeface="Calibri" pitchFamily="34" charset="-122"/>
                <a:cs typeface="Calibri" pitchFamily="34" charset="-120"/>
              </a:rPr>
              <a:t>Shuffle which trial belongs to which day</a:t>
            </a:r>
            <a:endParaRPr lang="en-US" sz="1550" dirty="0"/>
          </a:p>
        </p:txBody>
      </p:sp>
      <p:sp>
        <p:nvSpPr>
          <p:cNvPr id="11" name="Text 9"/>
          <p:cNvSpPr/>
          <p:nvPr/>
        </p:nvSpPr>
        <p:spPr>
          <a:xfrm>
            <a:off x="5120640" y="3813048"/>
            <a:ext cx="3291840" cy="777240"/>
          </a:xfrm>
          <a:prstGeom prst="rect">
            <a:avLst/>
          </a:prstGeom>
          <a:noFill/>
          <a:ln/>
        </p:spPr>
        <p:txBody>
          <a:bodyPr wrap="square" lIns="0" tIns="0" rIns="0" bIns="0" rtlCol="0" anchor="ctr"/>
          <a:lstStyle/>
          <a:p>
            <a:pPr indent="0" marL="0">
              <a:lnSpc>
                <a:spcPct val="105000"/>
              </a:lnSpc>
              <a:buNone/>
            </a:pPr>
            <a:r>
              <a:rPr lang="en-US" sz="1350" dirty="0">
                <a:solidFill>
                  <a:srgbClr val="5A6B7B"/>
                </a:solidFill>
                <a:latin typeface="Calibri" pitchFamily="34" charset="0"/>
                <a:ea typeface="Calibri" pitchFamily="34" charset="-122"/>
                <a:cs typeface="Calibri" pitchFamily="34" charset="-120"/>
              </a:rPr>
              <a:t>Keeps the numbers, destroys the timeline</a:t>
            </a:r>
            <a:endParaRPr lang="en-US" sz="1350" dirty="0"/>
          </a:p>
        </p:txBody>
      </p:sp>
      <p:sp>
        <p:nvSpPr>
          <p:cNvPr id="12" name="Text 10"/>
          <p:cNvSpPr/>
          <p:nvPr/>
        </p:nvSpPr>
        <p:spPr>
          <a:xfrm>
            <a:off x="8595360" y="3813048"/>
            <a:ext cx="2743200" cy="777240"/>
          </a:xfrm>
          <a:prstGeom prst="rect">
            <a:avLst/>
          </a:prstGeom>
          <a:noFill/>
          <a:ln/>
        </p:spPr>
        <p:txBody>
          <a:bodyPr wrap="square" lIns="0" tIns="0" rIns="0" bIns="0" rtlCol="0" anchor="ctr"/>
          <a:lstStyle/>
          <a:p>
            <a:pPr indent="0" marL="0">
              <a:lnSpc>
                <a:spcPct val="105000"/>
              </a:lnSpc>
              <a:buNone/>
            </a:pPr>
            <a:r>
              <a:rPr lang="en-US" sz="1400" b="1" dirty="0">
                <a:solidFill>
                  <a:srgbClr val="3B6E43"/>
                </a:solidFill>
                <a:latin typeface="Calibri" pitchFamily="34" charset="0"/>
                <a:ea typeface="Calibri" pitchFamily="34" charset="-122"/>
                <a:cs typeface="Calibri" pitchFamily="34" charset="-120"/>
              </a:rPr>
              <a:t>No movement — the measure itself is sound</a:t>
            </a:r>
            <a:endParaRPr lang="en-US" sz="1400" dirty="0"/>
          </a:p>
        </p:txBody>
      </p:sp>
      <p:sp>
        <p:nvSpPr>
          <p:cNvPr id="13" name="Shape 11"/>
          <p:cNvSpPr/>
          <p:nvPr/>
        </p:nvSpPr>
        <p:spPr>
          <a:xfrm>
            <a:off x="685800" y="4837176"/>
            <a:ext cx="10881360" cy="1051560"/>
          </a:xfrm>
          <a:prstGeom prst="roundRect">
            <a:avLst>
              <a:gd name="adj" fmla="val 6957"/>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4" name="Text 12"/>
          <p:cNvSpPr/>
          <p:nvPr/>
        </p:nvSpPr>
        <p:spPr>
          <a:xfrm>
            <a:off x="1005840" y="4974336"/>
            <a:ext cx="3931920" cy="777240"/>
          </a:xfrm>
          <a:prstGeom prst="rect">
            <a:avLst/>
          </a:prstGeom>
          <a:noFill/>
          <a:ln/>
        </p:spPr>
        <p:txBody>
          <a:bodyPr wrap="square" lIns="0" tIns="0" rIns="0" bIns="0" rtlCol="0" anchor="ctr"/>
          <a:lstStyle/>
          <a:p>
            <a:pPr indent="0" marL="0">
              <a:lnSpc>
                <a:spcPct val="105000"/>
              </a:lnSpc>
              <a:buNone/>
            </a:pPr>
            <a:r>
              <a:rPr lang="en-US" sz="1550" b="1" dirty="0">
                <a:solidFill>
                  <a:srgbClr val="14212E"/>
                </a:solidFill>
                <a:latin typeface="Calibri" pitchFamily="34" charset="0"/>
                <a:ea typeface="Calibri" pitchFamily="34" charset="-122"/>
                <a:cs typeface="Calibri" pitchFamily="34" charset="-120"/>
              </a:rPr>
              <a:t>Compare animals trained up against trained down</a:t>
            </a:r>
            <a:endParaRPr lang="en-US" sz="1550" dirty="0"/>
          </a:p>
        </p:txBody>
      </p:sp>
      <p:sp>
        <p:nvSpPr>
          <p:cNvPr id="15" name="Text 13"/>
          <p:cNvSpPr/>
          <p:nvPr/>
        </p:nvSpPr>
        <p:spPr>
          <a:xfrm>
            <a:off x="5120640" y="4974336"/>
            <a:ext cx="3291840" cy="777240"/>
          </a:xfrm>
          <a:prstGeom prst="rect">
            <a:avLst/>
          </a:prstGeom>
          <a:noFill/>
          <a:ln/>
        </p:spPr>
        <p:txBody>
          <a:bodyPr wrap="square" lIns="0" tIns="0" rIns="0" bIns="0" rtlCol="0" anchor="ctr"/>
          <a:lstStyle/>
          <a:p>
            <a:pPr indent="0" marL="0">
              <a:lnSpc>
                <a:spcPct val="105000"/>
              </a:lnSpc>
              <a:buNone/>
            </a:pPr>
            <a:r>
              <a:rPr lang="en-US" sz="1350" dirty="0">
                <a:solidFill>
                  <a:srgbClr val="5A6B7B"/>
                </a:solidFill>
                <a:latin typeface="Calibri" pitchFamily="34" charset="0"/>
                <a:ea typeface="Calibri" pitchFamily="34" charset="-122"/>
                <a:cs typeface="Calibri" pitchFamily="34" charset="-120"/>
              </a:rPr>
              <a:t>Electrode drift doesn't care which way you trained</a:t>
            </a:r>
            <a:endParaRPr lang="en-US" sz="1350" dirty="0"/>
          </a:p>
        </p:txBody>
      </p:sp>
      <p:sp>
        <p:nvSpPr>
          <p:cNvPr id="16" name="Text 14"/>
          <p:cNvSpPr/>
          <p:nvPr/>
        </p:nvSpPr>
        <p:spPr>
          <a:xfrm>
            <a:off x="8595360" y="4974336"/>
            <a:ext cx="2743200" cy="777240"/>
          </a:xfrm>
          <a:prstGeom prst="rect">
            <a:avLst/>
          </a:prstGeom>
          <a:noFill/>
          <a:ln/>
        </p:spPr>
        <p:txBody>
          <a:bodyPr wrap="square" lIns="0" tIns="0" rIns="0" bIns="0" rtlCol="0" anchor="ctr"/>
          <a:lstStyle/>
          <a:p>
            <a:pPr indent="0" marL="0">
              <a:lnSpc>
                <a:spcPct val="105000"/>
              </a:lnSpc>
              <a:buNone/>
            </a:pPr>
            <a:r>
              <a:rPr lang="en-US" sz="1400" b="1" dirty="0">
                <a:solidFill>
                  <a:srgbClr val="A44430"/>
                </a:solidFill>
                <a:latin typeface="Calibri" pitchFamily="34" charset="0"/>
                <a:ea typeface="Calibri" pitchFamily="34" charset="-122"/>
                <a:cs typeface="Calibri" pitchFamily="34" charset="-120"/>
              </a:rPr>
              <a:t>No difference between the groups</a:t>
            </a:r>
            <a:endParaRPr lang="en-US" sz="1400" dirty="0"/>
          </a:p>
        </p:txBody>
      </p:sp>
      <p:sp>
        <p:nvSpPr>
          <p:cNvPr id="17" name="Text 15"/>
          <p:cNvSpPr/>
          <p:nvPr/>
        </p:nvSpPr>
        <p:spPr>
          <a:xfrm>
            <a:off x="704088" y="6172200"/>
            <a:ext cx="10881360" cy="32004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These controls changed our conclusion.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PART 4 · THE IDEA</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So we asked a question that drift cannot fake</a:t>
            </a:r>
            <a:endParaRPr lang="en-US" sz="3000" dirty="0"/>
          </a:p>
        </p:txBody>
      </p:sp>
      <p:sp>
        <p:nvSpPr>
          <p:cNvPr id="4" name="Shape 2"/>
          <p:cNvSpPr/>
          <p:nvPr/>
        </p:nvSpPr>
        <p:spPr>
          <a:xfrm>
            <a:off x="685800" y="1874520"/>
            <a:ext cx="5349240" cy="1463040"/>
          </a:xfrm>
          <a:prstGeom prst="roundRect">
            <a:avLst>
              <a:gd name="adj" fmla="val 5000"/>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Text 3"/>
          <p:cNvSpPr/>
          <p:nvPr/>
        </p:nvSpPr>
        <p:spPr>
          <a:xfrm>
            <a:off x="960120" y="2029968"/>
            <a:ext cx="4572000" cy="274320"/>
          </a:xfrm>
          <a:prstGeom prst="rect">
            <a:avLst/>
          </a:prstGeom>
          <a:noFill/>
          <a:ln/>
        </p:spPr>
        <p:txBody>
          <a:bodyPr wrap="square" lIns="0" tIns="0" rIns="0" bIns="0" rtlCol="0" anchor="ctr"/>
          <a:lstStyle/>
          <a:p>
            <a:pPr indent="0" marL="0">
              <a:buNone/>
            </a:pPr>
            <a:r>
              <a:rPr lang="en-US" sz="1400" b="1" dirty="0">
                <a:solidFill>
                  <a:srgbClr val="9AA8B4"/>
                </a:solidFill>
                <a:latin typeface="Calibri" pitchFamily="34" charset="0"/>
                <a:ea typeface="Calibri" pitchFamily="34" charset="-122"/>
                <a:cs typeface="Calibri" pitchFamily="34" charset="-120"/>
              </a:rPr>
              <a:t>Instead of</a:t>
            </a:r>
            <a:endParaRPr lang="en-US" sz="1400" dirty="0"/>
          </a:p>
        </p:txBody>
      </p:sp>
      <p:sp>
        <p:nvSpPr>
          <p:cNvPr id="6" name="Text 4"/>
          <p:cNvSpPr/>
          <p:nvPr/>
        </p:nvSpPr>
        <p:spPr>
          <a:xfrm>
            <a:off x="960120" y="2331720"/>
            <a:ext cx="4846320" cy="822960"/>
          </a:xfrm>
          <a:prstGeom prst="rect">
            <a:avLst/>
          </a:prstGeom>
          <a:noFill/>
          <a:ln/>
        </p:spPr>
        <p:txBody>
          <a:bodyPr wrap="square" lIns="0" tIns="0" rIns="0" bIns="0" rtlCol="0" anchor="ctr"/>
          <a:lstStyle/>
          <a:p>
            <a:pPr indent="0" marL="0">
              <a:lnSpc>
                <a:spcPct val="105000"/>
              </a:lnSpc>
              <a:buNone/>
            </a:pPr>
            <a:r>
              <a:rPr lang="en-US" sz="1700" i="1" dirty="0">
                <a:solidFill>
                  <a:srgbClr val="5A6B7B"/>
                </a:solidFill>
                <a:latin typeface="Cambria" pitchFamily="34" charset="0"/>
                <a:ea typeface="Cambria" pitchFamily="34" charset="-122"/>
                <a:cs typeface="Cambria" pitchFamily="34" charset="-120"/>
              </a:rPr>
              <a:t>“Did the average brain state move over weeks?”</a:t>
            </a:r>
            <a:endParaRPr lang="en-US" sz="1700" dirty="0"/>
          </a:p>
        </p:txBody>
      </p:sp>
      <p:sp>
        <p:nvSpPr>
          <p:cNvPr id="7" name="Shape 5"/>
          <p:cNvSpPr/>
          <p:nvPr/>
        </p:nvSpPr>
        <p:spPr>
          <a:xfrm>
            <a:off x="6217920" y="1874520"/>
            <a:ext cx="5349240" cy="1463040"/>
          </a:xfrm>
          <a:prstGeom prst="roundRect">
            <a:avLst>
              <a:gd name="adj" fmla="val 5000"/>
            </a:avLst>
          </a:prstGeom>
          <a:solidFill>
            <a:srgbClr val="EAF4F7"/>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8" name="Text 6"/>
          <p:cNvSpPr/>
          <p:nvPr/>
        </p:nvSpPr>
        <p:spPr>
          <a:xfrm>
            <a:off x="6492240" y="2029968"/>
            <a:ext cx="4572000" cy="274320"/>
          </a:xfrm>
          <a:prstGeom prst="rect">
            <a:avLst/>
          </a:prstGeom>
          <a:noFill/>
          <a:ln/>
        </p:spPr>
        <p:txBody>
          <a:bodyPr wrap="square" lIns="0" tIns="0" rIns="0" bIns="0" rtlCol="0" anchor="ctr"/>
          <a:lstStyle/>
          <a:p>
            <a:pPr indent="0" marL="0">
              <a:buNone/>
            </a:pPr>
            <a:r>
              <a:rPr lang="en-US" sz="1400" b="1" dirty="0">
                <a:solidFill>
                  <a:srgbClr val="15718F"/>
                </a:solidFill>
                <a:latin typeface="Calibri" pitchFamily="34" charset="0"/>
                <a:ea typeface="Calibri" pitchFamily="34" charset="-122"/>
                <a:cs typeface="Calibri" pitchFamily="34" charset="-120"/>
              </a:rPr>
              <a:t>We ask</a:t>
            </a:r>
            <a:endParaRPr lang="en-US" sz="1400" dirty="0"/>
          </a:p>
        </p:txBody>
      </p:sp>
      <p:sp>
        <p:nvSpPr>
          <p:cNvPr id="9" name="Text 7"/>
          <p:cNvSpPr/>
          <p:nvPr/>
        </p:nvSpPr>
        <p:spPr>
          <a:xfrm>
            <a:off x="6492240" y="2331720"/>
            <a:ext cx="4846320" cy="822960"/>
          </a:xfrm>
          <a:prstGeom prst="rect">
            <a:avLst/>
          </a:prstGeom>
          <a:noFill/>
          <a:ln/>
        </p:spPr>
        <p:txBody>
          <a:bodyPr wrap="square" lIns="0" tIns="0" rIns="0" bIns="0" rtlCol="0" anchor="ctr"/>
          <a:lstStyle/>
          <a:p>
            <a:pPr indent="0" marL="0">
              <a:lnSpc>
                <a:spcPct val="105000"/>
              </a:lnSpc>
              <a:buNone/>
            </a:pPr>
            <a:r>
              <a:rPr lang="en-US" sz="1800" b="1" i="1" dirty="0">
                <a:solidFill>
                  <a:srgbClr val="15718F"/>
                </a:solidFill>
                <a:latin typeface="Cambria" pitchFamily="34" charset="0"/>
                <a:ea typeface="Cambria" pitchFamily="34" charset="-122"/>
                <a:cs typeface="Cambria" pitchFamily="34" charset="-120"/>
              </a:rPr>
              <a:t>“Can the brain predict this trial's reflex?”</a:t>
            </a:r>
            <a:endParaRPr lang="en-US" sz="1800" dirty="0"/>
          </a:p>
        </p:txBody>
      </p:sp>
      <p:pic>
        <p:nvPicPr>
          <p:cNvPr id="10" name="Image 0" descr="/Users/suchithrao/Downloads/hroc-training/outputs/diagrams/within_block.png">    </p:cNvPr>
          <p:cNvPicPr>
            <a:picLocks noChangeAspect="1"/>
          </p:cNvPicPr>
          <p:nvPr/>
        </p:nvPicPr>
        <p:blipFill>
          <a:blip r:embed="rId1"/>
          <a:stretch>
            <a:fillRect/>
          </a:stretch>
        </p:blipFill>
        <p:spPr>
          <a:xfrm>
            <a:off x="2675873" y="3520440"/>
            <a:ext cx="6901214" cy="29260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PART 4 · THE CONTROL</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And each window is judged against itself</a:t>
            </a:r>
            <a:endParaRPr lang="en-US" sz="3000" dirty="0"/>
          </a:p>
        </p:txBody>
      </p:sp>
      <p:pic>
        <p:nvPicPr>
          <p:cNvPr id="4" name="Image 0" descr="/Users/suchithrao/Downloads/hroc-training/outputs/diagrams/shuffle.png">    </p:cNvPr>
          <p:cNvPicPr>
            <a:picLocks noChangeAspect="1"/>
          </p:cNvPicPr>
          <p:nvPr/>
        </p:nvPicPr>
        <p:blipFill>
          <a:blip r:embed="rId1"/>
          <a:stretch>
            <a:fillRect/>
          </a:stretch>
        </p:blipFill>
        <p:spPr>
          <a:xfrm>
            <a:off x="1317187" y="1920240"/>
            <a:ext cx="9618586" cy="3566160"/>
          </a:xfrm>
          <a:prstGeom prst="rect">
            <a:avLst/>
          </a:prstGeom>
        </p:spPr>
      </p:pic>
      <p:sp>
        <p:nvSpPr>
          <p:cNvPr id="5" name="Shape 2"/>
          <p:cNvSpPr/>
          <p:nvPr/>
        </p:nvSpPr>
        <p:spPr>
          <a:xfrm>
            <a:off x="685800" y="5623560"/>
            <a:ext cx="10881360" cy="777240"/>
          </a:xfrm>
          <a:prstGeom prst="roundRect">
            <a:avLst>
              <a:gd name="adj" fmla="val 9412"/>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6" name="Text 3"/>
          <p:cNvSpPr/>
          <p:nvPr/>
        </p:nvSpPr>
        <p:spPr>
          <a:xfrm>
            <a:off x="1005840" y="5742432"/>
            <a:ext cx="10241280" cy="548640"/>
          </a:xfrm>
          <a:prstGeom prst="rect">
            <a:avLst/>
          </a:prstGeom>
          <a:noFill/>
          <a:ln/>
        </p:spPr>
        <p:txBody>
          <a:bodyPr wrap="square" lIns="0" tIns="0" rIns="0" bIns="0" rtlCol="0" anchor="ctr"/>
          <a:lstStyle/>
          <a:p>
            <a:pPr indent="0" marL="0">
              <a:buNone/>
            </a:pPr>
            <a:r>
              <a:rPr lang="en-US" sz="1550" dirty="0">
                <a:solidFill>
                  <a:srgbClr val="14212E"/>
                </a:solidFill>
                <a:latin typeface="Calibri" pitchFamily="34" charset="0"/>
                <a:ea typeface="Calibri" pitchFamily="34" charset="-122"/>
                <a:cs typeface="Calibri" pitchFamily="34" charset="-120"/>
              </a:rPr>
              <a:t>We repeat this in all 101 windows across five animals. A window counts only if the real data beats its own shuffled version.</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3B6E43"/>
                </a:solidFill>
                <a:latin typeface="Calibri" pitchFamily="34" charset="0"/>
                <a:ea typeface="Calibri" pitchFamily="34" charset="-122"/>
                <a:cs typeface="Calibri" pitchFamily="34" charset="-120"/>
              </a:rPr>
              <a:t>PART 4 · RESULT THREE, THE FINDING</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The brain does carry a signal about the reflex</a:t>
            </a:r>
            <a:endParaRPr lang="en-US" sz="3000" dirty="0"/>
          </a:p>
        </p:txBody>
      </p:sp>
      <p:pic>
        <p:nvPicPr>
          <p:cNvPr id="4" name="Image 0" descr="/Users/suchithrao/Downloads/hroc-training/outputs/coupling/coupling_group.png">    </p:cNvPr>
          <p:cNvPicPr>
            <a:picLocks noChangeAspect="1"/>
          </p:cNvPicPr>
          <p:nvPr/>
        </p:nvPicPr>
        <p:blipFill>
          <a:blip r:embed="rId1"/>
          <a:stretch>
            <a:fillRect/>
          </a:stretch>
        </p:blipFill>
        <p:spPr>
          <a:xfrm>
            <a:off x="566928" y="1920240"/>
            <a:ext cx="6327648" cy="3655974"/>
          </a:xfrm>
          <a:prstGeom prst="rect">
            <a:avLst/>
          </a:prstGeom>
        </p:spPr>
      </p:pic>
      <p:sp>
        <p:nvSpPr>
          <p:cNvPr id="5" name="Shape 2"/>
          <p:cNvSpPr/>
          <p:nvPr/>
        </p:nvSpPr>
        <p:spPr>
          <a:xfrm>
            <a:off x="7498080" y="2011680"/>
            <a:ext cx="4069080" cy="3657600"/>
          </a:xfrm>
          <a:prstGeom prst="roundRect">
            <a:avLst>
              <a:gd name="adj" fmla="val 2000"/>
            </a:avLst>
          </a:prstGeom>
          <a:solidFill>
            <a:srgbClr val="EEF5EE"/>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6" name="Text 3"/>
          <p:cNvSpPr/>
          <p:nvPr/>
        </p:nvSpPr>
        <p:spPr>
          <a:xfrm>
            <a:off x="7772400" y="2212848"/>
            <a:ext cx="3566160" cy="548640"/>
          </a:xfrm>
          <a:prstGeom prst="rect">
            <a:avLst/>
          </a:prstGeom>
          <a:noFill/>
          <a:ln/>
        </p:spPr>
        <p:txBody>
          <a:bodyPr wrap="square" lIns="0" tIns="0" rIns="0" bIns="0" rtlCol="0" anchor="ctr"/>
          <a:lstStyle/>
          <a:p>
            <a:pPr indent="0" marL="0">
              <a:buNone/>
            </a:pPr>
            <a:r>
              <a:rPr lang="en-US" sz="3100" b="1" dirty="0">
                <a:solidFill>
                  <a:srgbClr val="3B6E43"/>
                </a:solidFill>
                <a:latin typeface="Cambria" pitchFamily="34" charset="0"/>
                <a:ea typeface="Cambria" pitchFamily="34" charset="-122"/>
                <a:cs typeface="Cambria" pitchFamily="34" charset="-120"/>
              </a:rPr>
              <a:t>99 of 101</a:t>
            </a:r>
            <a:endParaRPr lang="en-US" sz="3100" dirty="0"/>
          </a:p>
        </p:txBody>
      </p:sp>
      <p:sp>
        <p:nvSpPr>
          <p:cNvPr id="7" name="Text 4"/>
          <p:cNvSpPr/>
          <p:nvPr/>
        </p:nvSpPr>
        <p:spPr>
          <a:xfrm>
            <a:off x="7772400" y="2788920"/>
            <a:ext cx="3566160" cy="640080"/>
          </a:xfrm>
          <a:prstGeom prst="rect">
            <a:avLst/>
          </a:prstGeom>
          <a:noFill/>
          <a:ln/>
        </p:spPr>
        <p:txBody>
          <a:bodyPr wrap="square" lIns="0" tIns="0" rIns="0" bIns="0" rtlCol="0" anchor="ctr"/>
          <a:lstStyle/>
          <a:p>
            <a:pPr indent="0" marL="0">
              <a:lnSpc>
                <a:spcPct val="105000"/>
              </a:lnSpc>
              <a:buNone/>
            </a:pPr>
            <a:r>
              <a:rPr lang="en-US" sz="1400" dirty="0">
                <a:solidFill>
                  <a:srgbClr val="5A6B7B"/>
                </a:solidFill>
                <a:latin typeface="Calibri" pitchFamily="34" charset="0"/>
                <a:ea typeface="Calibri" pitchFamily="34" charset="-122"/>
                <a:cs typeface="Calibri" pitchFamily="34" charset="-120"/>
              </a:rPr>
              <a:t>windows where the real data beat its own shuffled version</a:t>
            </a:r>
            <a:endParaRPr lang="en-US" sz="1400" dirty="0"/>
          </a:p>
        </p:txBody>
      </p:sp>
      <p:sp>
        <p:nvSpPr>
          <p:cNvPr id="8" name="Text 5"/>
          <p:cNvSpPr/>
          <p:nvPr/>
        </p:nvSpPr>
        <p:spPr>
          <a:xfrm>
            <a:off x="7772400" y="3520440"/>
            <a:ext cx="3566160" cy="320040"/>
          </a:xfrm>
          <a:prstGeom prst="rect">
            <a:avLst/>
          </a:prstGeom>
          <a:noFill/>
          <a:ln/>
        </p:spPr>
        <p:txBody>
          <a:bodyPr wrap="square" lIns="0" tIns="0" rIns="0" bIns="0" rtlCol="0" anchor="ctr"/>
          <a:lstStyle/>
          <a:p>
            <a:pPr indent="0" marL="0">
              <a:buNone/>
            </a:pPr>
            <a:r>
              <a:rPr lang="en-US" sz="1550" b="1" dirty="0">
                <a:solidFill>
                  <a:srgbClr val="14212E"/>
                </a:solidFill>
                <a:latin typeface="Calibri" pitchFamily="34" charset="0"/>
                <a:ea typeface="Calibri" pitchFamily="34" charset="-122"/>
                <a:cs typeface="Calibri" pitchFamily="34" charset="-120"/>
              </a:rPr>
              <a:t>Present in all five animals.</a:t>
            </a:r>
            <a:endParaRPr lang="en-US" sz="1550" dirty="0"/>
          </a:p>
        </p:txBody>
      </p:sp>
      <p:sp>
        <p:nvSpPr>
          <p:cNvPr id="9" name="Text 6"/>
          <p:cNvSpPr/>
          <p:nvPr/>
        </p:nvSpPr>
        <p:spPr>
          <a:xfrm>
            <a:off x="7772400" y="3931920"/>
            <a:ext cx="3566160" cy="292608"/>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Counting the animal as the unit of analysis:</a:t>
            </a:r>
            <a:endParaRPr lang="en-US" sz="1350" dirty="0"/>
          </a:p>
        </p:txBody>
      </p:sp>
      <p:sp>
        <p:nvSpPr>
          <p:cNvPr id="10" name="Text 7"/>
          <p:cNvSpPr/>
          <p:nvPr/>
        </p:nvSpPr>
        <p:spPr>
          <a:xfrm>
            <a:off x="7772400" y="4224528"/>
            <a:ext cx="3566160" cy="365760"/>
          </a:xfrm>
          <a:prstGeom prst="rect">
            <a:avLst/>
          </a:prstGeom>
          <a:noFill/>
          <a:ln/>
        </p:spPr>
        <p:txBody>
          <a:bodyPr wrap="square" lIns="0" tIns="0" rIns="0" bIns="0" rtlCol="0" anchor="ctr"/>
          <a:lstStyle/>
          <a:p>
            <a:pPr indent="0" marL="0">
              <a:buNone/>
            </a:pPr>
            <a:r>
              <a:rPr lang="en-US" sz="1700" b="1" dirty="0">
                <a:solidFill>
                  <a:srgbClr val="14212E"/>
                </a:solidFill>
                <a:latin typeface="Calibri" pitchFamily="34" charset="0"/>
                <a:ea typeface="Calibri" pitchFamily="34" charset="-122"/>
                <a:cs typeface="Calibri" pitchFamily="34" charset="-120"/>
              </a:rPr>
              <a:t>t(4) = 3.81,  p = 0.019</a:t>
            </a:r>
            <a:endParaRPr lang="en-US" sz="1700" dirty="0"/>
          </a:p>
        </p:txBody>
      </p:sp>
      <p:sp>
        <p:nvSpPr>
          <p:cNvPr id="11" name="Text 8"/>
          <p:cNvSpPr/>
          <p:nvPr/>
        </p:nvSpPr>
        <p:spPr>
          <a:xfrm>
            <a:off x="7772400" y="4846320"/>
            <a:ext cx="3566160" cy="548640"/>
          </a:xfrm>
          <a:prstGeom prst="rect">
            <a:avLst/>
          </a:prstGeom>
          <a:noFill/>
          <a:ln/>
        </p:spPr>
        <p:txBody>
          <a:bodyPr wrap="square" lIns="0" tIns="0" rIns="0" bIns="0" rtlCol="0" anchor="ctr"/>
          <a:lstStyle/>
          <a:p>
            <a:pPr indent="0" marL="0">
              <a:lnSpc>
                <a:spcPct val="105000"/>
              </a:lnSpc>
              <a:buNone/>
            </a:pPr>
            <a:r>
              <a:rPr lang="en-US" sz="1400" i="1" dirty="0">
                <a:solidFill>
                  <a:srgbClr val="3B6E43"/>
                </a:solidFill>
                <a:latin typeface="Calibri" pitchFamily="34" charset="0"/>
                <a:ea typeface="Calibri" pitchFamily="34" charset="-122"/>
                <a:cs typeface="Calibri" pitchFamily="34" charset="-120"/>
              </a:rPr>
              <a:t>Small in size, but almost never absent.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9AA8B4"/>
                </a:solidFill>
                <a:latin typeface="Calibri" pitchFamily="34" charset="0"/>
                <a:ea typeface="Calibri" pitchFamily="34" charset="-122"/>
                <a:cs typeface="Calibri" pitchFamily="34" charset="-120"/>
              </a:rPr>
              <a:t>PART 4 · IN PROPORTION</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How much does the brain actually explain?</a:t>
            </a:r>
            <a:endParaRPr lang="en-US" sz="3000" dirty="0"/>
          </a:p>
        </p:txBody>
      </p:sp>
      <p:sp>
        <p:nvSpPr>
          <p:cNvPr id="4" name="Text 2"/>
          <p:cNvSpPr/>
          <p:nvPr/>
        </p:nvSpPr>
        <p:spPr>
          <a:xfrm>
            <a:off x="685800" y="1536192"/>
            <a:ext cx="10881360" cy="566928"/>
          </a:xfrm>
          <a:prstGeom prst="rect">
            <a:avLst/>
          </a:prstGeom>
          <a:noFill/>
          <a:ln/>
        </p:spPr>
        <p:txBody>
          <a:bodyPr wrap="square" lIns="0" tIns="0" rIns="0" bIns="0" rtlCol="0" anchor="ctr"/>
          <a:lstStyle/>
          <a:p>
            <a:pPr indent="0" marL="0">
              <a:lnSpc>
                <a:spcPct val="106000"/>
              </a:lnSpc>
              <a:buNone/>
            </a:pPr>
            <a:r>
              <a:rPr lang="en-US" sz="1700" dirty="0">
                <a:solidFill>
                  <a:srgbClr val="5A6B7B"/>
                </a:solidFill>
                <a:latin typeface="Calibri" pitchFamily="34" charset="0"/>
                <a:ea typeface="Calibri" pitchFamily="34" charset="-122"/>
                <a:cs typeface="Calibri" pitchFamily="34" charset="-120"/>
              </a:rPr>
              <a:t>When parsing the variance in reflex size, the stimulus dominates, and the brain overlaps with it heavily.</a:t>
            </a:r>
            <a:endParaRPr lang="en-US" sz="1700" dirty="0"/>
          </a:p>
        </p:txBody>
      </p:sp>
      <p:pic>
        <p:nvPicPr>
          <p:cNvPr id="5" name="Image 0" descr="/Users/suchithrao/Downloads/hroc-training/outputs/diagrams/variance.png">    </p:cNvPr>
          <p:cNvPicPr>
            <a:picLocks noChangeAspect="1"/>
          </p:cNvPicPr>
          <p:nvPr/>
        </p:nvPicPr>
        <p:blipFill>
          <a:blip r:embed="rId1"/>
          <a:stretch>
            <a:fillRect/>
          </a:stretch>
        </p:blipFill>
        <p:spPr>
          <a:xfrm>
            <a:off x="1263288" y="2240280"/>
            <a:ext cx="9726384" cy="2615712"/>
          </a:xfrm>
          <a:prstGeom prst="rect">
            <a:avLst/>
          </a:prstGeom>
        </p:spPr>
      </p:pic>
      <p:sp>
        <p:nvSpPr>
          <p:cNvPr id="6" name="Shape 3"/>
          <p:cNvSpPr/>
          <p:nvPr/>
        </p:nvSpPr>
        <p:spPr>
          <a:xfrm>
            <a:off x="685800" y="5074920"/>
            <a:ext cx="10881360" cy="1234440"/>
          </a:xfrm>
          <a:prstGeom prst="roundRect">
            <a:avLst>
              <a:gd name="adj" fmla="val 5926"/>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7" name="Text 4"/>
          <p:cNvSpPr/>
          <p:nvPr/>
        </p:nvSpPr>
        <p:spPr>
          <a:xfrm>
            <a:off x="1005840" y="5230368"/>
            <a:ext cx="7315200" cy="320040"/>
          </a:xfrm>
          <a:prstGeom prst="rect">
            <a:avLst/>
          </a:prstGeom>
          <a:noFill/>
          <a:ln/>
        </p:spPr>
        <p:txBody>
          <a:bodyPr wrap="square" lIns="0" tIns="0" rIns="0" bIns="0" rtlCol="0" anchor="ctr"/>
          <a:lstStyle/>
          <a:p>
            <a:pPr indent="0" marL="0">
              <a:buNone/>
            </a:pPr>
            <a:r>
              <a:rPr lang="en-US" sz="1600" b="1" dirty="0">
                <a:solidFill>
                  <a:srgbClr val="15718F"/>
                </a:solidFill>
                <a:latin typeface="Calibri" pitchFamily="34" charset="0"/>
                <a:ea typeface="Calibri" pitchFamily="34" charset="-122"/>
                <a:cs typeface="Calibri" pitchFamily="34" charset="-120"/>
              </a:rPr>
              <a:t>Why the brain's own 21% collapses to 2%</a:t>
            </a:r>
            <a:endParaRPr lang="en-US" sz="1600" dirty="0"/>
          </a:p>
        </p:txBody>
      </p:sp>
      <p:sp>
        <p:nvSpPr>
          <p:cNvPr id="8" name="Text 5"/>
          <p:cNvSpPr/>
          <p:nvPr/>
        </p:nvSpPr>
        <p:spPr>
          <a:xfrm>
            <a:off x="1005840" y="5559552"/>
            <a:ext cx="10241280" cy="685800"/>
          </a:xfrm>
          <a:prstGeom prst="rect">
            <a:avLst/>
          </a:prstGeom>
          <a:noFill/>
          <a:ln/>
        </p:spPr>
        <p:txBody>
          <a:bodyPr wrap="square" lIns="0" tIns="0" rIns="0" bIns="0" rtlCol="0" anchor="ctr"/>
          <a:lstStyle/>
          <a:p>
            <a:pPr indent="0" marL="0">
              <a:lnSpc>
                <a:spcPct val="106000"/>
              </a:lnSpc>
              <a:buNone/>
            </a:pPr>
            <a:r>
              <a:rPr lang="en-US" sz="1550" dirty="0">
                <a:solidFill>
                  <a:srgbClr val="14212E"/>
                </a:solidFill>
                <a:latin typeface="Calibri" pitchFamily="34" charset="0"/>
                <a:ea typeface="Calibri" pitchFamily="34" charset="-122"/>
                <a:cs typeface="Calibri" pitchFamily="34" charset="-120"/>
              </a:rPr>
              <a:t>The stimulus drives both the cortical evoked response and the reflex, so most of what the brain appears to explain is really the stimulus. Only the part that survives once stimulus and background are already in the model counts as a genuine cortical contribution.</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3B6E43"/>
                </a:solidFill>
                <a:latin typeface="Calibri" pitchFamily="34" charset="0"/>
                <a:ea typeface="Calibri" pitchFamily="34" charset="-122"/>
                <a:cs typeface="Calibri" pitchFamily="34" charset="-120"/>
              </a:rPr>
              <a:t>PART 4 · EVERYTHING AT ONCE</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All five animals, all three measures</a:t>
            </a:r>
            <a:endParaRPr lang="en-US" sz="3000" dirty="0"/>
          </a:p>
        </p:txBody>
      </p:sp>
      <p:pic>
        <p:nvPicPr>
          <p:cNvPr id="4" name="Image 0" descr="/Users/suchithrao/Downloads/hroc-training/outputs/diagrams/dashboard.png">    </p:cNvPr>
          <p:cNvPicPr>
            <a:picLocks noChangeAspect="1"/>
          </p:cNvPicPr>
          <p:nvPr/>
        </p:nvPicPr>
        <p:blipFill>
          <a:blip r:embed="rId1"/>
          <a:stretch>
            <a:fillRect/>
          </a:stretch>
        </p:blipFill>
        <p:spPr>
          <a:xfrm>
            <a:off x="685800" y="1783080"/>
            <a:ext cx="10881360" cy="331212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PART 4 · RIGOUR</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Every control we applied</a:t>
            </a:r>
            <a:endParaRPr lang="en-US" sz="3000" dirty="0"/>
          </a:p>
        </p:txBody>
      </p:sp>
      <p:sp>
        <p:nvSpPr>
          <p:cNvPr id="4" name="Shape 2"/>
          <p:cNvSpPr/>
          <p:nvPr/>
        </p:nvSpPr>
        <p:spPr>
          <a:xfrm>
            <a:off x="685800" y="1920240"/>
            <a:ext cx="10881360" cy="576072"/>
          </a:xfrm>
          <a:prstGeom prst="roundRect">
            <a:avLst>
              <a:gd name="adj" fmla="val 12698"/>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Text 3"/>
          <p:cNvSpPr/>
          <p:nvPr/>
        </p:nvSpPr>
        <p:spPr>
          <a:xfrm>
            <a:off x="1005840" y="1965960"/>
            <a:ext cx="3108960" cy="47548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Baseline sham</a:t>
            </a:r>
            <a:endParaRPr lang="en-US" sz="1450" dirty="0"/>
          </a:p>
        </p:txBody>
      </p:sp>
      <p:sp>
        <p:nvSpPr>
          <p:cNvPr id="6" name="Text 4"/>
          <p:cNvSpPr/>
          <p:nvPr/>
        </p:nvSpPr>
        <p:spPr>
          <a:xfrm>
            <a:off x="4206240" y="1965960"/>
            <a:ext cx="4572000" cy="475488"/>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Pretend part of the baseline was training</a:t>
            </a:r>
            <a:endParaRPr lang="en-US" sz="1350" dirty="0"/>
          </a:p>
        </p:txBody>
      </p:sp>
      <p:sp>
        <p:nvSpPr>
          <p:cNvPr id="7" name="Text 5"/>
          <p:cNvSpPr/>
          <p:nvPr/>
        </p:nvSpPr>
        <p:spPr>
          <a:xfrm>
            <a:off x="8961120" y="1965960"/>
            <a:ext cx="2377440" cy="475488"/>
          </a:xfrm>
          <a:prstGeom prst="rect">
            <a:avLst/>
          </a:prstGeom>
          <a:noFill/>
          <a:ln/>
        </p:spPr>
        <p:txBody>
          <a:bodyPr wrap="square" lIns="0" tIns="0" rIns="0" bIns="0" rtlCol="0" anchor="ctr"/>
          <a:lstStyle/>
          <a:p>
            <a:pPr indent="0" marL="0">
              <a:buNone/>
            </a:pPr>
            <a:r>
              <a:rPr lang="en-US" sz="1400" b="1" dirty="0">
                <a:solidFill>
                  <a:srgbClr val="A44430"/>
                </a:solidFill>
                <a:latin typeface="Calibri" pitchFamily="34" charset="0"/>
                <a:ea typeface="Calibri" pitchFamily="34" charset="-122"/>
                <a:cs typeface="Calibri" pitchFamily="34" charset="-120"/>
              </a:rPr>
              <a:t>drift fails</a:t>
            </a:r>
            <a:endParaRPr lang="en-US" sz="1400" dirty="0"/>
          </a:p>
        </p:txBody>
      </p:sp>
      <p:sp>
        <p:nvSpPr>
          <p:cNvPr id="8" name="Shape 6"/>
          <p:cNvSpPr/>
          <p:nvPr/>
        </p:nvSpPr>
        <p:spPr>
          <a:xfrm>
            <a:off x="685800" y="2569464"/>
            <a:ext cx="10881360" cy="576072"/>
          </a:xfrm>
          <a:prstGeom prst="roundRect">
            <a:avLst>
              <a:gd name="adj" fmla="val 12698"/>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9" name="Text 7"/>
          <p:cNvSpPr/>
          <p:nvPr/>
        </p:nvSpPr>
        <p:spPr>
          <a:xfrm>
            <a:off x="1005840" y="2615184"/>
            <a:ext cx="3108960" cy="47548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Shuffled trial order</a:t>
            </a:r>
            <a:endParaRPr lang="en-US" sz="1450" dirty="0"/>
          </a:p>
        </p:txBody>
      </p:sp>
      <p:sp>
        <p:nvSpPr>
          <p:cNvPr id="10" name="Text 8"/>
          <p:cNvSpPr/>
          <p:nvPr/>
        </p:nvSpPr>
        <p:spPr>
          <a:xfrm>
            <a:off x="4206240" y="2615184"/>
            <a:ext cx="4572000" cy="475488"/>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Keep the numbers, destroy the timeline</a:t>
            </a:r>
            <a:endParaRPr lang="en-US" sz="1350" dirty="0"/>
          </a:p>
        </p:txBody>
      </p:sp>
      <p:sp>
        <p:nvSpPr>
          <p:cNvPr id="11" name="Text 9"/>
          <p:cNvSpPr/>
          <p:nvPr/>
        </p:nvSpPr>
        <p:spPr>
          <a:xfrm>
            <a:off x="8961120" y="2615184"/>
            <a:ext cx="2377440" cy="475488"/>
          </a:xfrm>
          <a:prstGeom prst="rect">
            <a:avLst/>
          </a:prstGeom>
          <a:noFill/>
          <a:ln/>
        </p:spPr>
        <p:txBody>
          <a:bodyPr wrap="square" lIns="0" tIns="0" rIns="0" bIns="0" rtlCol="0" anchor="ctr"/>
          <a:lstStyle/>
          <a:p>
            <a:pPr indent="0" marL="0">
              <a:buNone/>
            </a:pPr>
            <a:r>
              <a:rPr lang="en-US" sz="1400" b="1" dirty="0">
                <a:solidFill>
                  <a:srgbClr val="3B6E43"/>
                </a:solidFill>
                <a:latin typeface="Calibri" pitchFamily="34" charset="0"/>
                <a:ea typeface="Calibri" pitchFamily="34" charset="-122"/>
                <a:cs typeface="Calibri" pitchFamily="34" charset="-120"/>
              </a:rPr>
              <a:t>null ≈ 0</a:t>
            </a:r>
            <a:endParaRPr lang="en-US" sz="1400" dirty="0"/>
          </a:p>
        </p:txBody>
      </p:sp>
      <p:sp>
        <p:nvSpPr>
          <p:cNvPr id="12" name="Shape 10"/>
          <p:cNvSpPr/>
          <p:nvPr/>
        </p:nvSpPr>
        <p:spPr>
          <a:xfrm>
            <a:off x="685800" y="3218688"/>
            <a:ext cx="10881360" cy="576072"/>
          </a:xfrm>
          <a:prstGeom prst="roundRect">
            <a:avLst>
              <a:gd name="adj" fmla="val 12698"/>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3" name="Text 11"/>
          <p:cNvSpPr/>
          <p:nvPr/>
        </p:nvSpPr>
        <p:spPr>
          <a:xfrm>
            <a:off x="1005840" y="3264408"/>
            <a:ext cx="3108960" cy="47548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Stimulus strength</a:t>
            </a:r>
            <a:endParaRPr lang="en-US" sz="1450" dirty="0"/>
          </a:p>
        </p:txBody>
      </p:sp>
      <p:sp>
        <p:nvSpPr>
          <p:cNvPr id="14" name="Text 12"/>
          <p:cNvSpPr/>
          <p:nvPr/>
        </p:nvSpPr>
        <p:spPr>
          <a:xfrm>
            <a:off x="4206240" y="3264408"/>
            <a:ext cx="4572000" cy="475488"/>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Is it just how strong the stimulus was?</a:t>
            </a:r>
            <a:endParaRPr lang="en-US" sz="1350" dirty="0"/>
          </a:p>
        </p:txBody>
      </p:sp>
      <p:sp>
        <p:nvSpPr>
          <p:cNvPr id="15" name="Text 13"/>
          <p:cNvSpPr/>
          <p:nvPr/>
        </p:nvSpPr>
        <p:spPr>
          <a:xfrm>
            <a:off x="8961120" y="3264408"/>
            <a:ext cx="2377440" cy="475488"/>
          </a:xfrm>
          <a:prstGeom prst="rect">
            <a:avLst/>
          </a:prstGeom>
          <a:noFill/>
          <a:ln/>
        </p:spPr>
        <p:txBody>
          <a:bodyPr wrap="square" lIns="0" tIns="0" rIns="0" bIns="0" rtlCol="0" anchor="ctr"/>
          <a:lstStyle/>
          <a:p>
            <a:pPr indent="0" marL="0">
              <a:buNone/>
            </a:pPr>
            <a:r>
              <a:rPr lang="en-US" sz="1400" b="1" dirty="0">
                <a:solidFill>
                  <a:srgbClr val="3B6E43"/>
                </a:solidFill>
                <a:latin typeface="Calibri" pitchFamily="34" charset="0"/>
                <a:ea typeface="Calibri" pitchFamily="34" charset="-122"/>
                <a:cs typeface="Calibri" pitchFamily="34" charset="-120"/>
              </a:rPr>
              <a:t>survives</a:t>
            </a:r>
            <a:endParaRPr lang="en-US" sz="1400" dirty="0"/>
          </a:p>
        </p:txBody>
      </p:sp>
      <p:sp>
        <p:nvSpPr>
          <p:cNvPr id="16" name="Shape 14"/>
          <p:cNvSpPr/>
          <p:nvPr/>
        </p:nvSpPr>
        <p:spPr>
          <a:xfrm>
            <a:off x="685800" y="3867912"/>
            <a:ext cx="10881360" cy="576072"/>
          </a:xfrm>
          <a:prstGeom prst="roundRect">
            <a:avLst>
              <a:gd name="adj" fmla="val 12698"/>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7" name="Text 15"/>
          <p:cNvSpPr/>
          <p:nvPr/>
        </p:nvSpPr>
        <p:spPr>
          <a:xfrm>
            <a:off x="1005840" y="3913632"/>
            <a:ext cx="3108960" cy="47548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Pre-stimulus background</a:t>
            </a:r>
            <a:endParaRPr lang="en-US" sz="1450" dirty="0"/>
          </a:p>
        </p:txBody>
      </p:sp>
      <p:sp>
        <p:nvSpPr>
          <p:cNvPr id="18" name="Text 16"/>
          <p:cNvSpPr/>
          <p:nvPr/>
        </p:nvSpPr>
        <p:spPr>
          <a:xfrm>
            <a:off x="4206240" y="3913632"/>
            <a:ext cx="4572000" cy="475488"/>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Is it muscle tone rather than brain?</a:t>
            </a:r>
            <a:endParaRPr lang="en-US" sz="1350" dirty="0"/>
          </a:p>
        </p:txBody>
      </p:sp>
      <p:sp>
        <p:nvSpPr>
          <p:cNvPr id="19" name="Text 17"/>
          <p:cNvSpPr/>
          <p:nvPr/>
        </p:nvSpPr>
        <p:spPr>
          <a:xfrm>
            <a:off x="8961120" y="3913632"/>
            <a:ext cx="2377440" cy="475488"/>
          </a:xfrm>
          <a:prstGeom prst="rect">
            <a:avLst/>
          </a:prstGeom>
          <a:noFill/>
          <a:ln/>
        </p:spPr>
        <p:txBody>
          <a:bodyPr wrap="square" lIns="0" tIns="0" rIns="0" bIns="0" rtlCol="0" anchor="ctr"/>
          <a:lstStyle/>
          <a:p>
            <a:pPr indent="0" marL="0">
              <a:buNone/>
            </a:pPr>
            <a:r>
              <a:rPr lang="en-US" sz="1400" b="1" dirty="0">
                <a:solidFill>
                  <a:srgbClr val="3B6E43"/>
                </a:solidFill>
                <a:latin typeface="Calibri" pitchFamily="34" charset="0"/>
                <a:ea typeface="Calibri" pitchFamily="34" charset="-122"/>
                <a:cs typeface="Calibri" pitchFamily="34" charset="-120"/>
              </a:rPr>
              <a:t>survives</a:t>
            </a:r>
            <a:endParaRPr lang="en-US" sz="1400" dirty="0"/>
          </a:p>
        </p:txBody>
      </p:sp>
      <p:sp>
        <p:nvSpPr>
          <p:cNvPr id="20" name="Shape 18"/>
          <p:cNvSpPr/>
          <p:nvPr/>
        </p:nvSpPr>
        <p:spPr>
          <a:xfrm>
            <a:off x="685800" y="4517136"/>
            <a:ext cx="10881360" cy="576072"/>
          </a:xfrm>
          <a:prstGeom prst="roundRect">
            <a:avLst>
              <a:gd name="adj" fmla="val 12698"/>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21" name="Text 19"/>
          <p:cNvSpPr/>
          <p:nvPr/>
        </p:nvSpPr>
        <p:spPr>
          <a:xfrm>
            <a:off x="1005840" y="4562856"/>
            <a:ext cx="3108960" cy="47548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Within-window testing</a:t>
            </a:r>
            <a:endParaRPr lang="en-US" sz="1450" dirty="0"/>
          </a:p>
        </p:txBody>
      </p:sp>
      <p:sp>
        <p:nvSpPr>
          <p:cNvPr id="22" name="Text 20"/>
          <p:cNvSpPr/>
          <p:nvPr/>
        </p:nvSpPr>
        <p:spPr>
          <a:xfrm>
            <a:off x="4206240" y="4562856"/>
            <a:ext cx="4572000" cy="475488"/>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Could electrode drift manufacture it?</a:t>
            </a:r>
            <a:endParaRPr lang="en-US" sz="1350" dirty="0"/>
          </a:p>
        </p:txBody>
      </p:sp>
      <p:sp>
        <p:nvSpPr>
          <p:cNvPr id="23" name="Text 21"/>
          <p:cNvSpPr/>
          <p:nvPr/>
        </p:nvSpPr>
        <p:spPr>
          <a:xfrm>
            <a:off x="8961120" y="4562856"/>
            <a:ext cx="2377440" cy="475488"/>
          </a:xfrm>
          <a:prstGeom prst="rect">
            <a:avLst/>
          </a:prstGeom>
          <a:noFill/>
          <a:ln/>
        </p:spPr>
        <p:txBody>
          <a:bodyPr wrap="square" lIns="0" tIns="0" rIns="0" bIns="0" rtlCol="0" anchor="ctr"/>
          <a:lstStyle/>
          <a:p>
            <a:pPr indent="0" marL="0">
              <a:buNone/>
            </a:pPr>
            <a:r>
              <a:rPr lang="en-US" sz="1400" b="1" dirty="0">
                <a:solidFill>
                  <a:srgbClr val="3B6E43"/>
                </a:solidFill>
                <a:latin typeface="Calibri" pitchFamily="34" charset="0"/>
                <a:ea typeface="Calibri" pitchFamily="34" charset="-122"/>
                <a:cs typeface="Calibri" pitchFamily="34" charset="-120"/>
              </a:rPr>
              <a:t>drift cancels</a:t>
            </a:r>
            <a:endParaRPr lang="en-US" sz="1400" dirty="0"/>
          </a:p>
        </p:txBody>
      </p:sp>
      <p:sp>
        <p:nvSpPr>
          <p:cNvPr id="24" name="Shape 22"/>
          <p:cNvSpPr/>
          <p:nvPr/>
        </p:nvSpPr>
        <p:spPr>
          <a:xfrm>
            <a:off x="685800" y="5166360"/>
            <a:ext cx="10881360" cy="576072"/>
          </a:xfrm>
          <a:prstGeom prst="roundRect">
            <a:avLst>
              <a:gd name="adj" fmla="val 12698"/>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25" name="Text 23"/>
          <p:cNvSpPr/>
          <p:nvPr/>
        </p:nvSpPr>
        <p:spPr>
          <a:xfrm>
            <a:off x="1005840" y="5212080"/>
            <a:ext cx="3108960" cy="47548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Muscle crosstalk</a:t>
            </a:r>
            <a:endParaRPr lang="en-US" sz="1450" dirty="0"/>
          </a:p>
        </p:txBody>
      </p:sp>
      <p:sp>
        <p:nvSpPr>
          <p:cNvPr id="26" name="Text 24"/>
          <p:cNvSpPr/>
          <p:nvPr/>
        </p:nvSpPr>
        <p:spPr>
          <a:xfrm>
            <a:off x="4206240" y="5212080"/>
            <a:ext cx="4572000" cy="475488"/>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Is the brain electrode picking up EMG?</a:t>
            </a:r>
            <a:endParaRPr lang="en-US" sz="1350" dirty="0"/>
          </a:p>
        </p:txBody>
      </p:sp>
      <p:sp>
        <p:nvSpPr>
          <p:cNvPr id="27" name="Text 25"/>
          <p:cNvSpPr/>
          <p:nvPr/>
        </p:nvSpPr>
        <p:spPr>
          <a:xfrm>
            <a:off x="8961120" y="5212080"/>
            <a:ext cx="2377440" cy="475488"/>
          </a:xfrm>
          <a:prstGeom prst="rect">
            <a:avLst/>
          </a:prstGeom>
          <a:noFill/>
          <a:ln/>
        </p:spPr>
        <p:txBody>
          <a:bodyPr wrap="square" lIns="0" tIns="0" rIns="0" bIns="0" rtlCol="0" anchor="ctr"/>
          <a:lstStyle/>
          <a:p>
            <a:pPr indent="0" marL="0">
              <a:buNone/>
            </a:pPr>
            <a:r>
              <a:rPr lang="en-US" sz="1400" b="1" dirty="0">
                <a:solidFill>
                  <a:srgbClr val="3B6E43"/>
                </a:solidFill>
                <a:latin typeface="Calibri" pitchFamily="34" charset="0"/>
                <a:ea typeface="Calibri" pitchFamily="34" charset="-122"/>
                <a:cs typeface="Calibri" pitchFamily="34" charset="-120"/>
              </a:rPr>
              <a:t>r = +0.06</a:t>
            </a:r>
            <a:endParaRPr lang="en-US" sz="1400" dirty="0"/>
          </a:p>
        </p:txBody>
      </p:sp>
      <p:sp>
        <p:nvSpPr>
          <p:cNvPr id="28" name="Shape 26"/>
          <p:cNvSpPr/>
          <p:nvPr/>
        </p:nvSpPr>
        <p:spPr>
          <a:xfrm>
            <a:off x="685800" y="5815584"/>
            <a:ext cx="10881360" cy="576072"/>
          </a:xfrm>
          <a:prstGeom prst="roundRect">
            <a:avLst>
              <a:gd name="adj" fmla="val 12698"/>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29" name="Text 27"/>
          <p:cNvSpPr/>
          <p:nvPr/>
        </p:nvSpPr>
        <p:spPr>
          <a:xfrm>
            <a:off x="1005840" y="5861304"/>
            <a:ext cx="3108960" cy="475488"/>
          </a:xfrm>
          <a:prstGeom prst="rect">
            <a:avLst/>
          </a:prstGeom>
          <a:noFill/>
          <a:ln/>
        </p:spPr>
        <p:txBody>
          <a:bodyPr wrap="square" lIns="0" tIns="0" rIns="0" bIns="0" rtlCol="0" anchor="ctr"/>
          <a:lstStyle/>
          <a:p>
            <a:pPr indent="0" marL="0">
              <a:buNone/>
            </a:pPr>
            <a:r>
              <a:rPr lang="en-US" sz="1450" b="1" dirty="0">
                <a:solidFill>
                  <a:srgbClr val="14212E"/>
                </a:solidFill>
                <a:latin typeface="Calibri" pitchFamily="34" charset="0"/>
                <a:ea typeface="Calibri" pitchFamily="34" charset="-122"/>
                <a:cs typeface="Calibri" pitchFamily="34" charset="-120"/>
              </a:rPr>
              <a:t>Up versus down</a:t>
            </a:r>
            <a:endParaRPr lang="en-US" sz="1450" dirty="0"/>
          </a:p>
        </p:txBody>
      </p:sp>
      <p:sp>
        <p:nvSpPr>
          <p:cNvPr id="30" name="Text 28"/>
          <p:cNvSpPr/>
          <p:nvPr/>
        </p:nvSpPr>
        <p:spPr>
          <a:xfrm>
            <a:off x="4206240" y="5861304"/>
            <a:ext cx="4572000" cy="475488"/>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Does it depend on training direction?</a:t>
            </a:r>
            <a:endParaRPr lang="en-US" sz="1350" dirty="0"/>
          </a:p>
        </p:txBody>
      </p:sp>
      <p:sp>
        <p:nvSpPr>
          <p:cNvPr id="31" name="Text 29"/>
          <p:cNvSpPr/>
          <p:nvPr/>
        </p:nvSpPr>
        <p:spPr>
          <a:xfrm>
            <a:off x="8961120" y="5861304"/>
            <a:ext cx="2377440" cy="475488"/>
          </a:xfrm>
          <a:prstGeom prst="rect">
            <a:avLst/>
          </a:prstGeom>
          <a:noFill/>
          <a:ln/>
        </p:spPr>
        <p:txBody>
          <a:bodyPr wrap="square" lIns="0" tIns="0" rIns="0" bIns="0" rtlCol="0" anchor="ctr"/>
          <a:lstStyle/>
          <a:p>
            <a:pPr indent="0" marL="0">
              <a:buNone/>
            </a:pPr>
            <a:r>
              <a:rPr lang="en-US" sz="1400" b="1" dirty="0">
                <a:solidFill>
                  <a:srgbClr val="A44430"/>
                </a:solidFill>
                <a:latin typeface="Calibri" pitchFamily="34" charset="0"/>
                <a:ea typeface="Calibri" pitchFamily="34" charset="-122"/>
                <a:cs typeface="Calibri" pitchFamily="34" charset="-120"/>
              </a:rPr>
              <a:t>no difference</a:t>
            </a:r>
            <a:endParaRPr lang="en-US" sz="1400" dirty="0"/>
          </a:p>
        </p:txBody>
      </p:sp>
      <p:sp>
        <p:nvSpPr>
          <p:cNvPr id="32" name="Text 30"/>
          <p:cNvSpPr/>
          <p:nvPr/>
        </p:nvSpPr>
        <p:spPr>
          <a:xfrm>
            <a:off x="704088" y="6419088"/>
            <a:ext cx="10881360" cy="32004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Five it survives, two it fails — and the two failures are what told us the average-state approach was the wrong question.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PART 4 · THE OBVIOUS OBJECTION</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Is the brain electrode just picking up muscle?</a:t>
            </a:r>
            <a:endParaRPr lang="en-US" sz="3000" dirty="0"/>
          </a:p>
        </p:txBody>
      </p:sp>
      <p:pic>
        <p:nvPicPr>
          <p:cNvPr id="4" name="Image 0" descr="/Users/suchithrao/Downloads/hroc-training/outputs/verify/verification.png">    </p:cNvPr>
          <p:cNvPicPr>
            <a:picLocks noChangeAspect="1"/>
          </p:cNvPicPr>
          <p:nvPr/>
        </p:nvPicPr>
        <p:blipFill>
          <a:blip r:embed="rId1"/>
          <a:stretch>
            <a:fillRect/>
          </a:stretch>
        </p:blipFill>
        <p:spPr>
          <a:xfrm>
            <a:off x="566928" y="1965960"/>
            <a:ext cx="6858000" cy="2540649"/>
          </a:xfrm>
          <a:prstGeom prst="rect">
            <a:avLst/>
          </a:prstGeom>
        </p:spPr>
      </p:pic>
      <p:sp>
        <p:nvSpPr>
          <p:cNvPr id="5" name="Shape 2"/>
          <p:cNvSpPr/>
          <p:nvPr/>
        </p:nvSpPr>
        <p:spPr>
          <a:xfrm>
            <a:off x="7589520" y="2057400"/>
            <a:ext cx="3977640" cy="3520440"/>
          </a:xfrm>
          <a:prstGeom prst="roundRect">
            <a:avLst>
              <a:gd name="adj" fmla="val 2078"/>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6" name="Text 3"/>
          <p:cNvSpPr/>
          <p:nvPr/>
        </p:nvSpPr>
        <p:spPr>
          <a:xfrm>
            <a:off x="7863840" y="2267712"/>
            <a:ext cx="3383280" cy="320040"/>
          </a:xfrm>
          <a:prstGeom prst="rect">
            <a:avLst/>
          </a:prstGeom>
          <a:noFill/>
          <a:ln/>
        </p:spPr>
        <p:txBody>
          <a:bodyPr wrap="square" lIns="0" tIns="0" rIns="0" bIns="0" rtlCol="0" anchor="ctr"/>
          <a:lstStyle/>
          <a:p>
            <a:pPr indent="0" marL="0">
              <a:buNone/>
            </a:pPr>
            <a:r>
              <a:rPr lang="en-US" sz="1600" b="1" dirty="0">
                <a:solidFill>
                  <a:srgbClr val="15718F"/>
                </a:solidFill>
                <a:latin typeface="Calibri" pitchFamily="34" charset="0"/>
                <a:ea typeface="Calibri" pitchFamily="34" charset="-122"/>
                <a:cs typeface="Calibri" pitchFamily="34" charset="-120"/>
              </a:rPr>
              <a:t>The test</a:t>
            </a:r>
            <a:endParaRPr lang="en-US" sz="1600" dirty="0"/>
          </a:p>
        </p:txBody>
      </p:sp>
      <p:sp>
        <p:nvSpPr>
          <p:cNvPr id="7" name="Text 4"/>
          <p:cNvSpPr/>
          <p:nvPr/>
        </p:nvSpPr>
        <p:spPr>
          <a:xfrm>
            <a:off x="7863840" y="2651760"/>
            <a:ext cx="3429000" cy="1417320"/>
          </a:xfrm>
          <a:prstGeom prst="rect">
            <a:avLst/>
          </a:prstGeom>
          <a:noFill/>
          <a:ln/>
        </p:spPr>
        <p:txBody>
          <a:bodyPr wrap="square" lIns="0" tIns="0" rIns="0" bIns="0" rtlCol="0" anchor="ctr"/>
          <a:lstStyle/>
          <a:p>
            <a:pPr indent="0" marL="0">
              <a:lnSpc>
                <a:spcPct val="106000"/>
              </a:lnSpc>
              <a:buNone/>
            </a:pPr>
            <a:r>
              <a:rPr lang="en-US" sz="1450" dirty="0">
                <a:solidFill>
                  <a:srgbClr val="14212E"/>
                </a:solidFill>
                <a:latin typeface="Calibri" pitchFamily="34" charset="0"/>
                <a:ea typeface="Calibri" pitchFamily="34" charset="-122"/>
                <a:cs typeface="Calibri" pitchFamily="34" charset="-120"/>
              </a:rPr>
              <a:t>Both channels record at once, so the cortical electrode could in principle be registering muscle activity. Muscle artefact lives at high frequency, so that is where contamination would appear.</a:t>
            </a:r>
            <a:endParaRPr lang="en-US" sz="1450" dirty="0"/>
          </a:p>
        </p:txBody>
      </p:sp>
      <p:sp>
        <p:nvSpPr>
          <p:cNvPr id="8" name="Text 5"/>
          <p:cNvSpPr/>
          <p:nvPr/>
        </p:nvSpPr>
        <p:spPr>
          <a:xfrm>
            <a:off x="7863840" y="4160520"/>
            <a:ext cx="3429000" cy="365760"/>
          </a:xfrm>
          <a:prstGeom prst="rect">
            <a:avLst/>
          </a:prstGeom>
          <a:noFill/>
          <a:ln/>
        </p:spPr>
        <p:txBody>
          <a:bodyPr wrap="square" lIns="0" tIns="0" rIns="0" bIns="0" rtlCol="0" anchor="ctr"/>
          <a:lstStyle/>
          <a:p>
            <a:pPr indent="0" marL="0">
              <a:buNone/>
            </a:pPr>
            <a:r>
              <a:rPr lang="en-US" sz="1700" b="1" dirty="0">
                <a:solidFill>
                  <a:srgbClr val="3B6E43"/>
                </a:solidFill>
                <a:latin typeface="Calibri" pitchFamily="34" charset="0"/>
                <a:ea typeface="Calibri" pitchFamily="34" charset="-122"/>
                <a:cs typeface="Calibri" pitchFamily="34" charset="-120"/>
              </a:rPr>
              <a:t>Above 100 Hz:  r = +0.06</a:t>
            </a:r>
            <a:endParaRPr lang="en-US" sz="1700" dirty="0"/>
          </a:p>
        </p:txBody>
      </p:sp>
      <p:sp>
        <p:nvSpPr>
          <p:cNvPr id="9" name="Text 6"/>
          <p:cNvSpPr/>
          <p:nvPr/>
        </p:nvSpPr>
        <p:spPr>
          <a:xfrm>
            <a:off x="7863840" y="4572000"/>
            <a:ext cx="3429000" cy="914400"/>
          </a:xfrm>
          <a:prstGeom prst="rect">
            <a:avLst/>
          </a:prstGeom>
          <a:noFill/>
          <a:ln/>
        </p:spPr>
        <p:txBody>
          <a:bodyPr wrap="square" lIns="0" tIns="0" rIns="0" bIns="0" rtlCol="0" anchor="ctr"/>
          <a:lstStyle/>
          <a:p>
            <a:pPr indent="0" marL="0">
              <a:lnSpc>
                <a:spcPct val="105000"/>
              </a:lnSpc>
              <a:buNone/>
            </a:pPr>
            <a:r>
              <a:rPr lang="en-US" sz="1350" i="1" dirty="0">
                <a:solidFill>
                  <a:srgbClr val="5A6B7B"/>
                </a:solidFill>
                <a:latin typeface="Calibri" pitchFamily="34" charset="0"/>
                <a:ea typeface="Calibri" pitchFamily="34" charset="-122"/>
                <a:cs typeface="Calibri" pitchFamily="34" charset="-120"/>
              </a:rPr>
              <a:t>Essentially zero, and the low bands are slightly negative. The cortical signal also marginally leads the muscle, which is the acceptable direction.</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PART 5 · THE MOST PROMISING THREAD</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Does it scale with how much they learned?</a:t>
            </a:r>
            <a:endParaRPr lang="en-US" sz="3000" dirty="0"/>
          </a:p>
        </p:txBody>
      </p:sp>
      <p:pic>
        <p:nvPicPr>
          <p:cNvPr id="4" name="Image 0" descr="/Users/suchithrao/Downloads/hroc-training/outputs/scaling/scaling.png">    </p:cNvPr>
          <p:cNvPicPr>
            <a:picLocks noChangeAspect="1"/>
          </p:cNvPicPr>
          <p:nvPr/>
        </p:nvPicPr>
        <p:blipFill>
          <a:blip r:embed="rId1"/>
          <a:stretch>
            <a:fillRect/>
          </a:stretch>
        </p:blipFill>
        <p:spPr>
          <a:xfrm>
            <a:off x="566928" y="1965960"/>
            <a:ext cx="6675120" cy="2567354"/>
          </a:xfrm>
          <a:prstGeom prst="rect">
            <a:avLst/>
          </a:prstGeom>
        </p:spPr>
      </p:pic>
      <p:sp>
        <p:nvSpPr>
          <p:cNvPr id="5" name="Shape 2"/>
          <p:cNvSpPr/>
          <p:nvPr/>
        </p:nvSpPr>
        <p:spPr>
          <a:xfrm>
            <a:off x="7452360" y="2057400"/>
            <a:ext cx="4114800" cy="3337560"/>
          </a:xfrm>
          <a:prstGeom prst="roundRect">
            <a:avLst>
              <a:gd name="adj" fmla="val 2192"/>
            </a:avLst>
          </a:prstGeom>
          <a:solidFill>
            <a:srgbClr val="EAF4F7"/>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6" name="Text 3"/>
          <p:cNvSpPr/>
          <p:nvPr/>
        </p:nvSpPr>
        <p:spPr>
          <a:xfrm>
            <a:off x="7726680" y="2267712"/>
            <a:ext cx="3566160" cy="502920"/>
          </a:xfrm>
          <a:prstGeom prst="rect">
            <a:avLst/>
          </a:prstGeom>
          <a:noFill/>
          <a:ln/>
        </p:spPr>
        <p:txBody>
          <a:bodyPr wrap="square" lIns="0" tIns="0" rIns="0" bIns="0" rtlCol="0" anchor="ctr"/>
          <a:lstStyle/>
          <a:p>
            <a:pPr indent="0" marL="0">
              <a:buNone/>
            </a:pPr>
            <a:r>
              <a:rPr lang="en-US" sz="2800" b="1" dirty="0">
                <a:solidFill>
                  <a:srgbClr val="15718F"/>
                </a:solidFill>
                <a:latin typeface="Cambria" pitchFamily="34" charset="0"/>
                <a:ea typeface="Cambria" pitchFamily="34" charset="-122"/>
                <a:cs typeface="Cambria" pitchFamily="34" charset="-120"/>
              </a:rPr>
              <a:t>r = +0.64</a:t>
            </a:r>
            <a:endParaRPr lang="en-US" sz="2800" dirty="0"/>
          </a:p>
        </p:txBody>
      </p:sp>
      <p:sp>
        <p:nvSpPr>
          <p:cNvPr id="7" name="Text 4"/>
          <p:cNvSpPr/>
          <p:nvPr/>
        </p:nvSpPr>
        <p:spPr>
          <a:xfrm>
            <a:off x="7726680" y="2816352"/>
            <a:ext cx="3566160" cy="731520"/>
          </a:xfrm>
          <a:prstGeom prst="rect">
            <a:avLst/>
          </a:prstGeom>
          <a:noFill/>
          <a:ln/>
        </p:spPr>
        <p:txBody>
          <a:bodyPr wrap="square" lIns="0" tIns="0" rIns="0" bIns="0" rtlCol="0" anchor="ctr"/>
          <a:lstStyle/>
          <a:p>
            <a:pPr indent="0" marL="0">
              <a:lnSpc>
                <a:spcPct val="106000"/>
              </a:lnSpc>
              <a:buNone/>
            </a:pPr>
            <a:r>
              <a:rPr lang="en-US" sz="1450" dirty="0">
                <a:solidFill>
                  <a:srgbClr val="14212E"/>
                </a:solidFill>
                <a:latin typeface="Calibri" pitchFamily="34" charset="0"/>
                <a:ea typeface="Calibri" pitchFamily="34" charset="-122"/>
                <a:cs typeface="Calibri" pitchFamily="34" charset="-120"/>
              </a:rPr>
              <a:t>between how much an animal learned and how much its cortical coupling changed</a:t>
            </a:r>
            <a:endParaRPr lang="en-US" sz="1450" dirty="0"/>
          </a:p>
        </p:txBody>
      </p:sp>
      <p:sp>
        <p:nvSpPr>
          <p:cNvPr id="8" name="Text 5"/>
          <p:cNvSpPr/>
          <p:nvPr/>
        </p:nvSpPr>
        <p:spPr>
          <a:xfrm>
            <a:off x="7726680" y="3611880"/>
            <a:ext cx="3566160" cy="822960"/>
          </a:xfrm>
          <a:prstGeom prst="rect">
            <a:avLst/>
          </a:prstGeom>
          <a:noFill/>
          <a:ln/>
        </p:spPr>
        <p:txBody>
          <a:bodyPr wrap="square" lIns="0" tIns="0" rIns="0" bIns="0" rtlCol="0" anchor="ctr"/>
          <a:lstStyle/>
          <a:p>
            <a:pPr indent="0" marL="0">
              <a:lnSpc>
                <a:spcPct val="106000"/>
              </a:lnSpc>
              <a:buNone/>
            </a:pPr>
            <a:r>
              <a:rPr lang="en-US" sz="1400" dirty="0">
                <a:solidFill>
                  <a:srgbClr val="5A6B7B"/>
                </a:solidFill>
                <a:latin typeface="Calibri" pitchFamily="34" charset="0"/>
                <a:ea typeface="Calibri" pitchFamily="34" charset="-122"/>
                <a:cs typeface="Calibri" pitchFamily="34" charset="-120"/>
              </a:rPr>
              <a:t>The two animals that failed to learn show no increase — a built-in negative control.</a:t>
            </a:r>
            <a:endParaRPr lang="en-US" sz="1400" dirty="0"/>
          </a:p>
        </p:txBody>
      </p:sp>
      <p:sp>
        <p:nvSpPr>
          <p:cNvPr id="9" name="Text 6"/>
          <p:cNvSpPr/>
          <p:nvPr/>
        </p:nvSpPr>
        <p:spPr>
          <a:xfrm>
            <a:off x="7726680" y="4526280"/>
            <a:ext cx="3566160" cy="777240"/>
          </a:xfrm>
          <a:prstGeom prst="rect">
            <a:avLst/>
          </a:prstGeom>
          <a:noFill/>
          <a:ln/>
        </p:spPr>
        <p:txBody>
          <a:bodyPr wrap="square" lIns="0" tIns="0" rIns="0" bIns="0" rtlCol="0" anchor="ctr"/>
          <a:lstStyle/>
          <a:p>
            <a:pPr indent="0" marL="0">
              <a:lnSpc>
                <a:spcPct val="106000"/>
              </a:lnSpc>
              <a:buNone/>
            </a:pPr>
            <a:r>
              <a:rPr lang="en-US" sz="1400" b="1" i="1" dirty="0">
                <a:solidFill>
                  <a:srgbClr val="B4671A"/>
                </a:solidFill>
                <a:latin typeface="Calibri" pitchFamily="34" charset="0"/>
                <a:ea typeface="Calibri" pitchFamily="34" charset="-122"/>
                <a:cs typeface="Calibri" pitchFamily="34" charset="-120"/>
              </a:rPr>
              <a:t>With five animals this is a direction, not a result. Four more are next.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6B4E8F"/>
                </a:solidFill>
                <a:latin typeface="Calibri" pitchFamily="34" charset="0"/>
                <a:ea typeface="Calibri" pitchFamily="34" charset="-122"/>
                <a:cs typeface="Calibri" pitchFamily="34" charset="-120"/>
              </a:rPr>
              <a:t>PART 5 · A NEW THREAD</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The metadata may be a measurement</a:t>
            </a:r>
            <a:endParaRPr lang="en-US" sz="3000" dirty="0"/>
          </a:p>
        </p:txBody>
      </p:sp>
      <p:sp>
        <p:nvSpPr>
          <p:cNvPr id="4" name="Text 2"/>
          <p:cNvSpPr/>
          <p:nvPr/>
        </p:nvSpPr>
        <p:spPr>
          <a:xfrm>
            <a:off x="685800" y="1536192"/>
            <a:ext cx="10881360" cy="566928"/>
          </a:xfrm>
          <a:prstGeom prst="rect">
            <a:avLst/>
          </a:prstGeom>
          <a:noFill/>
          <a:ln/>
        </p:spPr>
        <p:txBody>
          <a:bodyPr wrap="square" lIns="0" tIns="0" rIns="0" bIns="0" rtlCol="0" anchor="ctr"/>
          <a:lstStyle/>
          <a:p>
            <a:pPr indent="0" marL="0">
              <a:lnSpc>
                <a:spcPct val="106000"/>
              </a:lnSpc>
              <a:buNone/>
            </a:pPr>
            <a:r>
              <a:rPr lang="en-US" sz="1700" dirty="0">
                <a:solidFill>
                  <a:srgbClr val="5A6B7B"/>
                </a:solidFill>
                <a:latin typeface="Calibri" pitchFamily="34" charset="0"/>
                <a:ea typeface="Calibri" pitchFamily="34" charset="-122"/>
                <a:cs typeface="Calibri" pitchFamily="34" charset="-120"/>
              </a:rPr>
              <a:t>An idea that came out of the last meeting, and one we think is worth pursuing.</a:t>
            </a:r>
            <a:endParaRPr lang="en-US" sz="1700" dirty="0"/>
          </a:p>
        </p:txBody>
      </p:sp>
      <p:sp>
        <p:nvSpPr>
          <p:cNvPr id="5" name="Shape 3"/>
          <p:cNvSpPr/>
          <p:nvPr/>
        </p:nvSpPr>
        <p:spPr>
          <a:xfrm>
            <a:off x="685800" y="2240280"/>
            <a:ext cx="5349240" cy="2286000"/>
          </a:xfrm>
          <a:prstGeom prst="roundRect">
            <a:avLst>
              <a:gd name="adj" fmla="val 3200"/>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6" name="Text 4"/>
          <p:cNvSpPr/>
          <p:nvPr/>
        </p:nvSpPr>
        <p:spPr>
          <a:xfrm>
            <a:off x="960120" y="2450592"/>
            <a:ext cx="4572000" cy="320040"/>
          </a:xfrm>
          <a:prstGeom prst="rect">
            <a:avLst/>
          </a:prstGeom>
          <a:noFill/>
          <a:ln/>
        </p:spPr>
        <p:txBody>
          <a:bodyPr wrap="square" lIns="0" tIns="0" rIns="0" bIns="0" rtlCol="0" anchor="ctr"/>
          <a:lstStyle/>
          <a:p>
            <a:pPr indent="0" marL="0">
              <a:buNone/>
            </a:pPr>
            <a:r>
              <a:rPr lang="en-US" sz="1650" b="1" dirty="0">
                <a:solidFill>
                  <a:srgbClr val="6B4E8F"/>
                </a:solidFill>
                <a:latin typeface="Calibri" pitchFamily="34" charset="0"/>
                <a:ea typeface="Calibri" pitchFamily="34" charset="-122"/>
                <a:cs typeface="Calibri" pitchFamily="34" charset="-120"/>
              </a:rPr>
              <a:t>What the reward threshold is</a:t>
            </a:r>
            <a:endParaRPr lang="en-US" sz="1650" dirty="0"/>
          </a:p>
        </p:txBody>
      </p:sp>
      <p:sp>
        <p:nvSpPr>
          <p:cNvPr id="7" name="Text 5"/>
          <p:cNvSpPr/>
          <p:nvPr/>
        </p:nvSpPr>
        <p:spPr>
          <a:xfrm>
            <a:off x="960120" y="2834640"/>
            <a:ext cx="4846320" cy="1188720"/>
          </a:xfrm>
          <a:prstGeom prst="rect">
            <a:avLst/>
          </a:prstGeom>
          <a:noFill/>
          <a:ln/>
        </p:spPr>
        <p:txBody>
          <a:bodyPr wrap="square" lIns="0" tIns="0" rIns="0" bIns="0" rtlCol="0" anchor="ctr"/>
          <a:lstStyle/>
          <a:p>
            <a:pPr indent="0" marL="0">
              <a:lnSpc>
                <a:spcPct val="106000"/>
              </a:lnSpc>
              <a:buNone/>
            </a:pPr>
            <a:r>
              <a:rPr lang="en-US" sz="1550" dirty="0">
                <a:solidFill>
                  <a:srgbClr val="14212E"/>
                </a:solidFill>
                <a:latin typeface="Calibri" pitchFamily="34" charset="0"/>
                <a:ea typeface="Calibri" pitchFamily="34" charset="-122"/>
                <a:cs typeface="Calibri" pitchFamily="34" charset="-120"/>
              </a:rPr>
              <a:t>The experimenter raises it when the rat exceeds it and lowers it when the rat falls short of it. It is adjusted by hand, day by day, across the whole experiment.</a:t>
            </a:r>
            <a:endParaRPr lang="en-US" sz="1550" dirty="0"/>
          </a:p>
        </p:txBody>
      </p:sp>
      <p:sp>
        <p:nvSpPr>
          <p:cNvPr id="8" name="Text 6"/>
          <p:cNvSpPr/>
          <p:nvPr/>
        </p:nvSpPr>
        <p:spPr>
          <a:xfrm>
            <a:off x="960120" y="4069080"/>
            <a:ext cx="484632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It is, in effect, a staircase procedure.</a:t>
            </a:r>
            <a:endParaRPr lang="en-US" sz="1400" dirty="0"/>
          </a:p>
        </p:txBody>
      </p:sp>
      <p:sp>
        <p:nvSpPr>
          <p:cNvPr id="9" name="Shape 7"/>
          <p:cNvSpPr/>
          <p:nvPr/>
        </p:nvSpPr>
        <p:spPr>
          <a:xfrm>
            <a:off x="6217920" y="2240280"/>
            <a:ext cx="5349240" cy="2286000"/>
          </a:xfrm>
          <a:prstGeom prst="roundRect">
            <a:avLst>
              <a:gd name="adj" fmla="val 3200"/>
            </a:avLst>
          </a:prstGeom>
          <a:solidFill>
            <a:srgbClr val="EAF4F7"/>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0" name="Text 8"/>
          <p:cNvSpPr/>
          <p:nvPr/>
        </p:nvSpPr>
        <p:spPr>
          <a:xfrm>
            <a:off x="6492240" y="2450592"/>
            <a:ext cx="4572000" cy="320040"/>
          </a:xfrm>
          <a:prstGeom prst="rect">
            <a:avLst/>
          </a:prstGeom>
          <a:noFill/>
          <a:ln/>
        </p:spPr>
        <p:txBody>
          <a:bodyPr wrap="square" lIns="0" tIns="0" rIns="0" bIns="0" rtlCol="0" anchor="ctr"/>
          <a:lstStyle/>
          <a:p>
            <a:pPr indent="0" marL="0">
              <a:buNone/>
            </a:pPr>
            <a:r>
              <a:rPr lang="en-US" sz="1650" b="1" dirty="0">
                <a:solidFill>
                  <a:srgbClr val="15718F"/>
                </a:solidFill>
                <a:latin typeface="Calibri" pitchFamily="34" charset="0"/>
                <a:ea typeface="Calibri" pitchFamily="34" charset="-122"/>
                <a:cs typeface="Calibri" pitchFamily="34" charset="-120"/>
              </a:rPr>
              <a:t>Why that is interesting</a:t>
            </a:r>
            <a:endParaRPr lang="en-US" sz="1650" dirty="0"/>
          </a:p>
        </p:txBody>
      </p:sp>
      <p:sp>
        <p:nvSpPr>
          <p:cNvPr id="11" name="Text 9"/>
          <p:cNvSpPr/>
          <p:nvPr/>
        </p:nvSpPr>
        <p:spPr>
          <a:xfrm>
            <a:off x="6492240" y="2834640"/>
            <a:ext cx="4846320" cy="1234440"/>
          </a:xfrm>
          <a:prstGeom prst="rect">
            <a:avLst/>
          </a:prstGeom>
          <a:noFill/>
          <a:ln/>
        </p:spPr>
        <p:txBody>
          <a:bodyPr wrap="square" lIns="0" tIns="0" rIns="0" bIns="0" rtlCol="0" anchor="ctr"/>
          <a:lstStyle/>
          <a:p>
            <a:pPr indent="0" marL="0">
              <a:lnSpc>
                <a:spcPct val="106000"/>
              </a:lnSpc>
              <a:buNone/>
            </a:pPr>
            <a:r>
              <a:rPr lang="en-US" sz="1550" dirty="0">
                <a:solidFill>
                  <a:srgbClr val="14212E"/>
                </a:solidFill>
                <a:latin typeface="Calibri" pitchFamily="34" charset="0"/>
                <a:ea typeface="Calibri" pitchFamily="34" charset="-122"/>
                <a:cs typeface="Calibri" pitchFamily="34" charset="-120"/>
              </a:rPr>
              <a:t>It is a record of how hard the task was for that animal — its engagement and effort — written down independently of anything we measure from the electrodes.</a:t>
            </a:r>
            <a:endParaRPr lang="en-US" sz="1550" dirty="0"/>
          </a:p>
        </p:txBody>
      </p:sp>
      <p:sp>
        <p:nvSpPr>
          <p:cNvPr id="12" name="Text 10"/>
          <p:cNvSpPr/>
          <p:nvPr/>
        </p:nvSpPr>
        <p:spPr>
          <a:xfrm>
            <a:off x="6492240" y="4114800"/>
            <a:ext cx="4846320" cy="365760"/>
          </a:xfrm>
          <a:prstGeom prst="rect">
            <a:avLst/>
          </a:prstGeom>
          <a:noFill/>
          <a:ln/>
        </p:spPr>
        <p:txBody>
          <a:bodyPr wrap="square" lIns="0" tIns="0" rIns="0" bIns="0" rtlCol="0" anchor="ctr"/>
          <a:lstStyle/>
          <a:p>
            <a:pPr indent="0" marL="0">
              <a:buNone/>
            </a:pPr>
            <a:r>
              <a:rPr lang="en-US" sz="1400" b="1" i="1" dirty="0">
                <a:solidFill>
                  <a:srgbClr val="3B6E43"/>
                </a:solidFill>
                <a:latin typeface="Calibri" pitchFamily="34" charset="0"/>
                <a:ea typeface="Calibri" pitchFamily="34" charset="-122"/>
                <a:cs typeface="Calibri" pitchFamily="34" charset="-120"/>
              </a:rPr>
              <a:t>No shared noise with our signal processing.</a:t>
            </a:r>
            <a:endParaRPr lang="en-US" sz="1400" dirty="0"/>
          </a:p>
        </p:txBody>
      </p:sp>
      <p:sp>
        <p:nvSpPr>
          <p:cNvPr id="13" name="Shape 11"/>
          <p:cNvSpPr/>
          <p:nvPr/>
        </p:nvSpPr>
        <p:spPr>
          <a:xfrm>
            <a:off x="685800" y="4754880"/>
            <a:ext cx="10881360" cy="1417320"/>
          </a:xfrm>
          <a:prstGeom prst="roundRect">
            <a:avLst>
              <a:gd name="adj" fmla="val 5161"/>
            </a:avLst>
          </a:prstGeom>
          <a:solidFill>
            <a:srgbClr val="0C1620"/>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4" name="Text 12"/>
          <p:cNvSpPr/>
          <p:nvPr/>
        </p:nvSpPr>
        <p:spPr>
          <a:xfrm>
            <a:off x="1051560" y="4937760"/>
            <a:ext cx="101498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Right now our scaling result correlates two things measured from the same electrodes.</a:t>
            </a:r>
            <a:endParaRPr lang="en-US" sz="1600" dirty="0"/>
          </a:p>
        </p:txBody>
      </p:sp>
      <p:sp>
        <p:nvSpPr>
          <p:cNvPr id="15" name="Text 13"/>
          <p:cNvSpPr/>
          <p:nvPr/>
        </p:nvSpPr>
        <p:spPr>
          <a:xfrm>
            <a:off x="1051560" y="5349240"/>
            <a:ext cx="10149840" cy="685800"/>
          </a:xfrm>
          <a:prstGeom prst="rect">
            <a:avLst/>
          </a:prstGeom>
          <a:noFill/>
          <a:ln/>
        </p:spPr>
        <p:txBody>
          <a:bodyPr wrap="square" lIns="0" tIns="0" rIns="0" bIns="0" rtlCol="0" anchor="ctr"/>
          <a:lstStyle/>
          <a:p>
            <a:pPr indent="0" marL="0">
              <a:lnSpc>
                <a:spcPct val="106000"/>
              </a:lnSpc>
              <a:buNone/>
            </a:pPr>
            <a:r>
              <a:rPr lang="en-US" sz="1550" dirty="0">
                <a:solidFill>
                  <a:srgbClr val="D5DFE7"/>
                </a:solidFill>
                <a:latin typeface="Calibri" pitchFamily="34" charset="0"/>
                <a:ea typeface="Calibri" pitchFamily="34" charset="-122"/>
                <a:cs typeface="Calibri" pitchFamily="34" charset="-120"/>
              </a:rPr>
              <a:t>If cortical coupling instead tracks a behavioural record kept by hand at the time, that is a far harder result to dismiss. We would like to build this next.</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PART 5 · WHAT WE WOULD WRITE</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Three things worth writing up</a:t>
            </a:r>
            <a:endParaRPr lang="en-US" sz="3000" dirty="0"/>
          </a:p>
        </p:txBody>
      </p:sp>
      <p:sp>
        <p:nvSpPr>
          <p:cNvPr id="4" name="Shape 2"/>
          <p:cNvSpPr/>
          <p:nvPr/>
        </p:nvSpPr>
        <p:spPr>
          <a:xfrm>
            <a:off x="685800" y="1965960"/>
            <a:ext cx="10881360" cy="1325880"/>
          </a:xfrm>
          <a:prstGeom prst="roundRect">
            <a:avLst>
              <a:gd name="adj" fmla="val 5517"/>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Text 3"/>
          <p:cNvSpPr/>
          <p:nvPr/>
        </p:nvSpPr>
        <p:spPr>
          <a:xfrm>
            <a:off x="1005840" y="2130552"/>
            <a:ext cx="2103120" cy="457200"/>
          </a:xfrm>
          <a:prstGeom prst="rect">
            <a:avLst/>
          </a:prstGeom>
          <a:noFill/>
          <a:ln/>
        </p:spPr>
        <p:txBody>
          <a:bodyPr wrap="square" lIns="0" tIns="0" rIns="0" bIns="0" rtlCol="0" anchor="ctr"/>
          <a:lstStyle/>
          <a:p>
            <a:pPr indent="0" marL="0">
              <a:buNone/>
            </a:pPr>
            <a:r>
              <a:rPr lang="en-US" sz="1900" b="1" dirty="0">
                <a:solidFill>
                  <a:srgbClr val="15718F"/>
                </a:solidFill>
                <a:latin typeface="Cambria" pitchFamily="34" charset="0"/>
                <a:ea typeface="Cambria" pitchFamily="34" charset="-122"/>
                <a:cs typeface="Cambria" pitchFamily="34" charset="-120"/>
              </a:rPr>
              <a:t>The method</a:t>
            </a:r>
            <a:endParaRPr lang="en-US" sz="1900" dirty="0"/>
          </a:p>
        </p:txBody>
      </p:sp>
      <p:sp>
        <p:nvSpPr>
          <p:cNvPr id="6" name="Text 4"/>
          <p:cNvSpPr/>
          <p:nvPr/>
        </p:nvSpPr>
        <p:spPr>
          <a:xfrm>
            <a:off x="3200400" y="2103120"/>
            <a:ext cx="4754880" cy="1051560"/>
          </a:xfrm>
          <a:prstGeom prst="rect">
            <a:avLst/>
          </a:prstGeom>
          <a:noFill/>
          <a:ln/>
        </p:spPr>
        <p:txBody>
          <a:bodyPr wrap="square" lIns="0" tIns="0" rIns="0" bIns="0" rtlCol="0" anchor="ctr"/>
          <a:lstStyle/>
          <a:p>
            <a:pPr indent="0" marL="0">
              <a:lnSpc>
                <a:spcPct val="106000"/>
              </a:lnSpc>
              <a:buNone/>
            </a:pPr>
            <a:r>
              <a:rPr lang="en-US" sz="1450" dirty="0">
                <a:solidFill>
                  <a:srgbClr val="14212E"/>
                </a:solidFill>
                <a:latin typeface="Calibri" pitchFamily="34" charset="0"/>
                <a:ea typeface="Calibri" pitchFamily="34" charset="-122"/>
                <a:cs typeface="Calibri" pitchFamily="34" charset="-120"/>
              </a:rPr>
              <a:t>A reproducible pipeline that recovers a twenty-year-old archive and learns a representation from it, on a laptop.</a:t>
            </a:r>
            <a:endParaRPr lang="en-US" sz="1450" dirty="0"/>
          </a:p>
        </p:txBody>
      </p:sp>
      <p:sp>
        <p:nvSpPr>
          <p:cNvPr id="7" name="Text 5"/>
          <p:cNvSpPr/>
          <p:nvPr/>
        </p:nvSpPr>
        <p:spPr>
          <a:xfrm>
            <a:off x="8183880" y="2103120"/>
            <a:ext cx="3108960" cy="1051560"/>
          </a:xfrm>
          <a:prstGeom prst="rect">
            <a:avLst/>
          </a:prstGeom>
          <a:noFill/>
          <a:ln/>
        </p:spPr>
        <p:txBody>
          <a:bodyPr wrap="square" lIns="0" tIns="0" rIns="0" bIns="0" rtlCol="0" anchor="ctr"/>
          <a:lstStyle/>
          <a:p>
            <a:pPr indent="0" marL="0">
              <a:lnSpc>
                <a:spcPct val="106000"/>
              </a:lnSpc>
              <a:buNone/>
            </a:pPr>
            <a:r>
              <a:rPr lang="en-US" sz="1350" i="1" dirty="0">
                <a:solidFill>
                  <a:srgbClr val="5A6B7B"/>
                </a:solidFill>
                <a:latin typeface="Calibri" pitchFamily="34" charset="0"/>
                <a:ea typeface="Calibri" pitchFamily="34" charset="-122"/>
                <a:cs typeface="Calibri" pitchFamily="34" charset="-120"/>
              </a:rPr>
              <a:t>Useful to anyone with old chronic recordings sitting on a shelf.</a:t>
            </a:r>
            <a:endParaRPr lang="en-US" sz="1350" dirty="0"/>
          </a:p>
        </p:txBody>
      </p:sp>
      <p:sp>
        <p:nvSpPr>
          <p:cNvPr id="8" name="Shape 6"/>
          <p:cNvSpPr/>
          <p:nvPr/>
        </p:nvSpPr>
        <p:spPr>
          <a:xfrm>
            <a:off x="685800" y="3401568"/>
            <a:ext cx="10881360" cy="1325880"/>
          </a:xfrm>
          <a:prstGeom prst="roundRect">
            <a:avLst>
              <a:gd name="adj" fmla="val 5517"/>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9" name="Text 7"/>
          <p:cNvSpPr/>
          <p:nvPr/>
        </p:nvSpPr>
        <p:spPr>
          <a:xfrm>
            <a:off x="1005840" y="3566160"/>
            <a:ext cx="2103120" cy="457200"/>
          </a:xfrm>
          <a:prstGeom prst="rect">
            <a:avLst/>
          </a:prstGeom>
          <a:noFill/>
          <a:ln/>
        </p:spPr>
        <p:txBody>
          <a:bodyPr wrap="square" lIns="0" tIns="0" rIns="0" bIns="0" rtlCol="0" anchor="ctr"/>
          <a:lstStyle/>
          <a:p>
            <a:pPr indent="0" marL="0">
              <a:buNone/>
            </a:pPr>
            <a:r>
              <a:rPr lang="en-US" sz="1900" b="1" dirty="0">
                <a:solidFill>
                  <a:srgbClr val="3B6E43"/>
                </a:solidFill>
                <a:latin typeface="Cambria" pitchFamily="34" charset="0"/>
                <a:ea typeface="Cambria" pitchFamily="34" charset="-122"/>
                <a:cs typeface="Cambria" pitchFamily="34" charset="-120"/>
              </a:rPr>
              <a:t>The finding</a:t>
            </a:r>
            <a:endParaRPr lang="en-US" sz="1900" dirty="0"/>
          </a:p>
        </p:txBody>
      </p:sp>
      <p:sp>
        <p:nvSpPr>
          <p:cNvPr id="10" name="Text 8"/>
          <p:cNvSpPr/>
          <p:nvPr/>
        </p:nvSpPr>
        <p:spPr>
          <a:xfrm>
            <a:off x="3200400" y="3538728"/>
            <a:ext cx="4754880" cy="1051560"/>
          </a:xfrm>
          <a:prstGeom prst="rect">
            <a:avLst/>
          </a:prstGeom>
          <a:noFill/>
          <a:ln/>
        </p:spPr>
        <p:txBody>
          <a:bodyPr wrap="square" lIns="0" tIns="0" rIns="0" bIns="0" rtlCol="0" anchor="ctr"/>
          <a:lstStyle/>
          <a:p>
            <a:pPr indent="0" marL="0">
              <a:lnSpc>
                <a:spcPct val="106000"/>
              </a:lnSpc>
              <a:buNone/>
            </a:pPr>
            <a:r>
              <a:rPr lang="en-US" sz="1450" dirty="0">
                <a:solidFill>
                  <a:srgbClr val="14212E"/>
                </a:solidFill>
                <a:latin typeface="Calibri" pitchFamily="34" charset="0"/>
                <a:ea typeface="Calibri" pitchFamily="34" charset="-122"/>
                <a:cs typeface="Calibri" pitchFamily="34" charset="-120"/>
              </a:rPr>
              <a:t>Cortical activity carries a small, highly reliable single-trial signal about reflex size, independent of stimulus and excitability.</a:t>
            </a:r>
            <a:endParaRPr lang="en-US" sz="1450" dirty="0"/>
          </a:p>
        </p:txBody>
      </p:sp>
      <p:sp>
        <p:nvSpPr>
          <p:cNvPr id="11" name="Text 9"/>
          <p:cNvSpPr/>
          <p:nvPr/>
        </p:nvSpPr>
        <p:spPr>
          <a:xfrm>
            <a:off x="8183880" y="3538728"/>
            <a:ext cx="3108960" cy="1051560"/>
          </a:xfrm>
          <a:prstGeom prst="rect">
            <a:avLst/>
          </a:prstGeom>
          <a:noFill/>
          <a:ln/>
        </p:spPr>
        <p:txBody>
          <a:bodyPr wrap="square" lIns="0" tIns="0" rIns="0" bIns="0" rtlCol="0" anchor="ctr"/>
          <a:lstStyle/>
          <a:p>
            <a:pPr indent="0" marL="0">
              <a:lnSpc>
                <a:spcPct val="106000"/>
              </a:lnSpc>
              <a:buNone/>
            </a:pPr>
            <a:r>
              <a:rPr lang="en-US" sz="1350" i="1" dirty="0">
                <a:solidFill>
                  <a:srgbClr val="5A6B7B"/>
                </a:solidFill>
                <a:latin typeface="Calibri" pitchFamily="34" charset="0"/>
                <a:ea typeface="Calibri" pitchFamily="34" charset="-122"/>
                <a:cs typeface="Calibri" pitchFamily="34" charset="-120"/>
              </a:rPr>
              <a:t>Extends Boulay et al. from a population relationship to a single-trial one.</a:t>
            </a:r>
            <a:endParaRPr lang="en-US" sz="1350" dirty="0"/>
          </a:p>
        </p:txBody>
      </p:sp>
      <p:sp>
        <p:nvSpPr>
          <p:cNvPr id="12" name="Shape 10"/>
          <p:cNvSpPr/>
          <p:nvPr/>
        </p:nvSpPr>
        <p:spPr>
          <a:xfrm>
            <a:off x="685800" y="4837176"/>
            <a:ext cx="10881360" cy="1325880"/>
          </a:xfrm>
          <a:prstGeom prst="roundRect">
            <a:avLst>
              <a:gd name="adj" fmla="val 5517"/>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3" name="Text 11"/>
          <p:cNvSpPr/>
          <p:nvPr/>
        </p:nvSpPr>
        <p:spPr>
          <a:xfrm>
            <a:off x="1005840" y="5001768"/>
            <a:ext cx="2103120" cy="457200"/>
          </a:xfrm>
          <a:prstGeom prst="rect">
            <a:avLst/>
          </a:prstGeom>
          <a:noFill/>
          <a:ln/>
        </p:spPr>
        <p:txBody>
          <a:bodyPr wrap="square" lIns="0" tIns="0" rIns="0" bIns="0" rtlCol="0" anchor="ctr"/>
          <a:lstStyle/>
          <a:p>
            <a:pPr indent="0" marL="0">
              <a:buNone/>
            </a:pPr>
            <a:r>
              <a:rPr lang="en-US" sz="1900" b="1" dirty="0">
                <a:solidFill>
                  <a:srgbClr val="B4671A"/>
                </a:solidFill>
                <a:latin typeface="Cambria" pitchFamily="34" charset="0"/>
                <a:ea typeface="Cambria" pitchFamily="34" charset="-122"/>
                <a:cs typeface="Cambria" pitchFamily="34" charset="-120"/>
              </a:rPr>
              <a:t>The warning</a:t>
            </a:r>
            <a:endParaRPr lang="en-US" sz="1900" dirty="0"/>
          </a:p>
        </p:txBody>
      </p:sp>
      <p:sp>
        <p:nvSpPr>
          <p:cNvPr id="14" name="Text 12"/>
          <p:cNvSpPr/>
          <p:nvPr/>
        </p:nvSpPr>
        <p:spPr>
          <a:xfrm>
            <a:off x="3200400" y="4974336"/>
            <a:ext cx="4754880" cy="1051560"/>
          </a:xfrm>
          <a:prstGeom prst="rect">
            <a:avLst/>
          </a:prstGeom>
          <a:noFill/>
          <a:ln/>
        </p:spPr>
        <p:txBody>
          <a:bodyPr wrap="square" lIns="0" tIns="0" rIns="0" bIns="0" rtlCol="0" anchor="ctr"/>
          <a:lstStyle/>
          <a:p>
            <a:pPr indent="0" marL="0">
              <a:lnSpc>
                <a:spcPct val="106000"/>
              </a:lnSpc>
              <a:buNone/>
            </a:pPr>
            <a:r>
              <a:rPr lang="en-US" sz="1450" dirty="0">
                <a:solidFill>
                  <a:srgbClr val="14212E"/>
                </a:solidFill>
                <a:latin typeface="Calibri" pitchFamily="34" charset="0"/>
                <a:ea typeface="Calibri" pitchFamily="34" charset="-122"/>
                <a:cs typeface="Calibri" pitchFamily="34" charset="-120"/>
              </a:rPr>
              <a:t>The intuitive drift analysis produces a convincing result that three controls reject.</a:t>
            </a:r>
            <a:endParaRPr lang="en-US" sz="1450" dirty="0"/>
          </a:p>
        </p:txBody>
      </p:sp>
      <p:sp>
        <p:nvSpPr>
          <p:cNvPr id="15" name="Text 13"/>
          <p:cNvSpPr/>
          <p:nvPr/>
        </p:nvSpPr>
        <p:spPr>
          <a:xfrm>
            <a:off x="8183880" y="4974336"/>
            <a:ext cx="3108960" cy="1051560"/>
          </a:xfrm>
          <a:prstGeom prst="rect">
            <a:avLst/>
          </a:prstGeom>
          <a:noFill/>
          <a:ln/>
        </p:spPr>
        <p:txBody>
          <a:bodyPr wrap="square" lIns="0" tIns="0" rIns="0" bIns="0" rtlCol="0" anchor="ctr"/>
          <a:lstStyle/>
          <a:p>
            <a:pPr indent="0" marL="0">
              <a:lnSpc>
                <a:spcPct val="106000"/>
              </a:lnSpc>
              <a:buNone/>
            </a:pPr>
            <a:r>
              <a:rPr lang="en-US" sz="1350" i="1" dirty="0">
                <a:solidFill>
                  <a:srgbClr val="5A6B7B"/>
                </a:solidFill>
                <a:latin typeface="Calibri" pitchFamily="34" charset="0"/>
                <a:ea typeface="Calibri" pitchFamily="34" charset="-122"/>
                <a:cs typeface="Calibri" pitchFamily="34" charset="-120"/>
              </a:rPr>
              <a:t>We would want to save the next group from spending months on it.</a:t>
            </a:r>
            <a:endParaRPr lang="en-US" sz="1350" dirty="0"/>
          </a:p>
        </p:txBody>
      </p:sp>
      <p:sp>
        <p:nvSpPr>
          <p:cNvPr id="16" name="Text 14"/>
          <p:cNvSpPr/>
          <p:nvPr/>
        </p:nvSpPr>
        <p:spPr>
          <a:xfrm>
            <a:off x="704088" y="6291072"/>
            <a:ext cx="10881360" cy="320040"/>
          </a:xfrm>
          <a:prstGeom prst="rect">
            <a:avLst/>
          </a:prstGeom>
          <a:noFill/>
          <a:ln/>
        </p:spPr>
        <p:txBody>
          <a:bodyPr wrap="square" lIns="0" tIns="0" rIns="0" bIns="0" rtlCol="0" anchor="ctr"/>
          <a:lstStyle/>
          <a:p>
            <a:pPr indent="0" marL="0">
              <a:buNone/>
            </a:pPr>
            <a:r>
              <a:rPr lang="en-US" sz="1400" i="1" dirty="0">
                <a:solidFill>
                  <a:srgbClr val="15718F"/>
                </a:solidFill>
                <a:latin typeface="Calibri" pitchFamily="34" charset="0"/>
                <a:ea typeface="Calibri" pitchFamily="34" charset="-122"/>
                <a:cs typeface="Calibri" pitchFamily="34" charset="-120"/>
              </a:rPr>
              <a:t>Target: a peer-reviewed machine-learning venue, framed as an extension of the existing cortical–spinal work.</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PART 5 · WHY IT MIGHT MATTER</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Where a single-trial cortical readout could help</a:t>
            </a:r>
            <a:endParaRPr lang="en-US" sz="3000" dirty="0"/>
          </a:p>
        </p:txBody>
      </p:sp>
      <p:sp>
        <p:nvSpPr>
          <p:cNvPr id="4" name="Shape 2"/>
          <p:cNvSpPr/>
          <p:nvPr/>
        </p:nvSpPr>
        <p:spPr>
          <a:xfrm>
            <a:off x="685800" y="2057400"/>
            <a:ext cx="3566160" cy="2834640"/>
          </a:xfrm>
          <a:prstGeom prst="roundRect">
            <a:avLst>
              <a:gd name="adj" fmla="val 258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Shape 3"/>
          <p:cNvSpPr/>
          <p:nvPr/>
        </p:nvSpPr>
        <p:spPr>
          <a:xfrm>
            <a:off x="978408" y="2377440"/>
            <a:ext cx="457200" cy="54864"/>
          </a:xfrm>
          <a:prstGeom prst="rect">
            <a:avLst/>
          </a:prstGeom>
          <a:solidFill>
            <a:srgbClr val="15718F"/>
          </a:solidFill>
          <a:ln/>
        </p:spPr>
      </p:sp>
      <p:sp>
        <p:nvSpPr>
          <p:cNvPr id="6" name="Text 4"/>
          <p:cNvSpPr/>
          <p:nvPr/>
        </p:nvSpPr>
        <p:spPr>
          <a:xfrm>
            <a:off x="978408" y="2606040"/>
            <a:ext cx="3017520" cy="777240"/>
          </a:xfrm>
          <a:prstGeom prst="rect">
            <a:avLst/>
          </a:prstGeom>
          <a:noFill/>
          <a:ln/>
        </p:spPr>
        <p:txBody>
          <a:bodyPr wrap="square" lIns="0" tIns="0" rIns="0" bIns="0" rtlCol="0" anchor="ctr"/>
          <a:lstStyle/>
          <a:p>
            <a:pPr indent="0" marL="0">
              <a:lnSpc>
                <a:spcPct val="100000"/>
              </a:lnSpc>
              <a:buNone/>
            </a:pPr>
            <a:r>
              <a:rPr lang="en-US" sz="2000" b="1" dirty="0">
                <a:solidFill>
                  <a:srgbClr val="14212E"/>
                </a:solidFill>
                <a:latin typeface="Cambria" pitchFamily="34" charset="0"/>
                <a:ea typeface="Cambria" pitchFamily="34" charset="-122"/>
                <a:cs typeface="Cambria" pitchFamily="34" charset="-120"/>
              </a:rPr>
              <a:t>Closing the loop</a:t>
            </a:r>
            <a:endParaRPr lang="en-US" sz="2000" dirty="0"/>
          </a:p>
        </p:txBody>
      </p:sp>
      <p:sp>
        <p:nvSpPr>
          <p:cNvPr id="7" name="Text 5"/>
          <p:cNvSpPr/>
          <p:nvPr/>
        </p:nvSpPr>
        <p:spPr>
          <a:xfrm>
            <a:off x="978408" y="3520440"/>
            <a:ext cx="3017520" cy="1234440"/>
          </a:xfrm>
          <a:prstGeom prst="rect">
            <a:avLst/>
          </a:prstGeom>
          <a:noFill/>
          <a:ln/>
        </p:spPr>
        <p:txBody>
          <a:bodyPr wrap="square" lIns="0" tIns="0" rIns="0" bIns="0" rtlCol="0" anchor="ctr"/>
          <a:lstStyle/>
          <a:p>
            <a:pPr indent="0" marL="0">
              <a:lnSpc>
                <a:spcPct val="108000"/>
              </a:lnSpc>
              <a:buNone/>
            </a:pPr>
            <a:r>
              <a:rPr lang="en-US" sz="1450" dirty="0">
                <a:solidFill>
                  <a:srgbClr val="5A6B7B"/>
                </a:solidFill>
                <a:latin typeface="Calibri" pitchFamily="34" charset="0"/>
                <a:ea typeface="Calibri" pitchFamily="34" charset="-122"/>
                <a:cs typeface="Calibri" pitchFamily="34" charset="-120"/>
              </a:rPr>
              <a:t>If cortex predicts the reflex before the fact, conditioning protocols could adapt trial by trial rather than day by day.</a:t>
            </a:r>
            <a:endParaRPr lang="en-US" sz="1450" dirty="0"/>
          </a:p>
        </p:txBody>
      </p:sp>
      <p:sp>
        <p:nvSpPr>
          <p:cNvPr id="8" name="Shape 6"/>
          <p:cNvSpPr/>
          <p:nvPr/>
        </p:nvSpPr>
        <p:spPr>
          <a:xfrm>
            <a:off x="4416552" y="2057400"/>
            <a:ext cx="3566160" cy="2834640"/>
          </a:xfrm>
          <a:prstGeom prst="roundRect">
            <a:avLst>
              <a:gd name="adj" fmla="val 258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9" name="Shape 7"/>
          <p:cNvSpPr/>
          <p:nvPr/>
        </p:nvSpPr>
        <p:spPr>
          <a:xfrm>
            <a:off x="4709160" y="2377440"/>
            <a:ext cx="457200" cy="54864"/>
          </a:xfrm>
          <a:prstGeom prst="rect">
            <a:avLst/>
          </a:prstGeom>
          <a:solidFill>
            <a:srgbClr val="3B6E43"/>
          </a:solidFill>
          <a:ln/>
        </p:spPr>
      </p:sp>
      <p:sp>
        <p:nvSpPr>
          <p:cNvPr id="10" name="Text 8"/>
          <p:cNvSpPr/>
          <p:nvPr/>
        </p:nvSpPr>
        <p:spPr>
          <a:xfrm>
            <a:off x="4709160" y="2606040"/>
            <a:ext cx="3017520" cy="777240"/>
          </a:xfrm>
          <a:prstGeom prst="rect">
            <a:avLst/>
          </a:prstGeom>
          <a:noFill/>
          <a:ln/>
        </p:spPr>
        <p:txBody>
          <a:bodyPr wrap="square" lIns="0" tIns="0" rIns="0" bIns="0" rtlCol="0" anchor="ctr"/>
          <a:lstStyle/>
          <a:p>
            <a:pPr indent="0" marL="0">
              <a:lnSpc>
                <a:spcPct val="100000"/>
              </a:lnSpc>
              <a:buNone/>
            </a:pPr>
            <a:r>
              <a:rPr lang="en-US" sz="2000" b="1" dirty="0">
                <a:solidFill>
                  <a:srgbClr val="14212E"/>
                </a:solidFill>
                <a:latin typeface="Cambria" pitchFamily="34" charset="0"/>
                <a:ea typeface="Cambria" pitchFamily="34" charset="-122"/>
                <a:cs typeface="Cambria" pitchFamily="34" charset="-120"/>
              </a:rPr>
              <a:t>Understanding who responds</a:t>
            </a:r>
            <a:endParaRPr lang="en-US" sz="2000" dirty="0"/>
          </a:p>
        </p:txBody>
      </p:sp>
      <p:sp>
        <p:nvSpPr>
          <p:cNvPr id="11" name="Text 9"/>
          <p:cNvSpPr/>
          <p:nvPr/>
        </p:nvSpPr>
        <p:spPr>
          <a:xfrm>
            <a:off x="4709160" y="3520440"/>
            <a:ext cx="3017520" cy="1234440"/>
          </a:xfrm>
          <a:prstGeom prst="rect">
            <a:avLst/>
          </a:prstGeom>
          <a:noFill/>
          <a:ln/>
        </p:spPr>
        <p:txBody>
          <a:bodyPr wrap="square" lIns="0" tIns="0" rIns="0" bIns="0" rtlCol="0" anchor="ctr"/>
          <a:lstStyle/>
          <a:p>
            <a:pPr indent="0" marL="0">
              <a:lnSpc>
                <a:spcPct val="108000"/>
              </a:lnSpc>
              <a:buNone/>
            </a:pPr>
            <a:r>
              <a:rPr lang="en-US" sz="1450" dirty="0">
                <a:solidFill>
                  <a:srgbClr val="5A6B7B"/>
                </a:solidFill>
                <a:latin typeface="Calibri" pitchFamily="34" charset="0"/>
                <a:ea typeface="Calibri" pitchFamily="34" charset="-122"/>
                <a:cs typeface="Calibri" pitchFamily="34" charset="-120"/>
              </a:rPr>
              <a:t>Roughly a third of animals — and people — don't respond to conditioning. A cortical readout might show why, early.</a:t>
            </a:r>
            <a:endParaRPr lang="en-US" sz="1450" dirty="0"/>
          </a:p>
        </p:txBody>
      </p:sp>
      <p:sp>
        <p:nvSpPr>
          <p:cNvPr id="12" name="Shape 10"/>
          <p:cNvSpPr/>
          <p:nvPr/>
        </p:nvSpPr>
        <p:spPr>
          <a:xfrm>
            <a:off x="8147304" y="2057400"/>
            <a:ext cx="3566160" cy="2834640"/>
          </a:xfrm>
          <a:prstGeom prst="roundRect">
            <a:avLst>
              <a:gd name="adj" fmla="val 2581"/>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3" name="Shape 11"/>
          <p:cNvSpPr/>
          <p:nvPr/>
        </p:nvSpPr>
        <p:spPr>
          <a:xfrm>
            <a:off x="8439912" y="2377440"/>
            <a:ext cx="457200" cy="54864"/>
          </a:xfrm>
          <a:prstGeom prst="rect">
            <a:avLst/>
          </a:prstGeom>
          <a:solidFill>
            <a:srgbClr val="6B4E8F"/>
          </a:solidFill>
          <a:ln/>
        </p:spPr>
      </p:sp>
      <p:sp>
        <p:nvSpPr>
          <p:cNvPr id="14" name="Text 12"/>
          <p:cNvSpPr/>
          <p:nvPr/>
        </p:nvSpPr>
        <p:spPr>
          <a:xfrm>
            <a:off x="8439912" y="2606040"/>
            <a:ext cx="3017520" cy="777240"/>
          </a:xfrm>
          <a:prstGeom prst="rect">
            <a:avLst/>
          </a:prstGeom>
          <a:noFill/>
          <a:ln/>
        </p:spPr>
        <p:txBody>
          <a:bodyPr wrap="square" lIns="0" tIns="0" rIns="0" bIns="0" rtlCol="0" anchor="ctr"/>
          <a:lstStyle/>
          <a:p>
            <a:pPr indent="0" marL="0">
              <a:lnSpc>
                <a:spcPct val="100000"/>
              </a:lnSpc>
              <a:buNone/>
            </a:pPr>
            <a:r>
              <a:rPr lang="en-US" sz="2000" b="1" dirty="0">
                <a:solidFill>
                  <a:srgbClr val="14212E"/>
                </a:solidFill>
                <a:latin typeface="Cambria" pitchFamily="34" charset="0"/>
                <a:ea typeface="Cambria" pitchFamily="34" charset="-122"/>
                <a:cs typeface="Cambria" pitchFamily="34" charset="-120"/>
              </a:rPr>
              <a:t>Rehabilitation</a:t>
            </a:r>
            <a:endParaRPr lang="en-US" sz="2000" dirty="0"/>
          </a:p>
        </p:txBody>
      </p:sp>
      <p:sp>
        <p:nvSpPr>
          <p:cNvPr id="15" name="Text 13"/>
          <p:cNvSpPr/>
          <p:nvPr/>
        </p:nvSpPr>
        <p:spPr>
          <a:xfrm>
            <a:off x="8439912" y="3520440"/>
            <a:ext cx="3017520" cy="1234440"/>
          </a:xfrm>
          <a:prstGeom prst="rect">
            <a:avLst/>
          </a:prstGeom>
          <a:noFill/>
          <a:ln/>
        </p:spPr>
        <p:txBody>
          <a:bodyPr wrap="square" lIns="0" tIns="0" rIns="0" bIns="0" rtlCol="0" anchor="ctr"/>
          <a:lstStyle/>
          <a:p>
            <a:pPr indent="0" marL="0">
              <a:lnSpc>
                <a:spcPct val="108000"/>
              </a:lnSpc>
              <a:buNone/>
            </a:pPr>
            <a:r>
              <a:rPr lang="en-US" sz="1450" dirty="0">
                <a:solidFill>
                  <a:srgbClr val="5A6B7B"/>
                </a:solidFill>
                <a:latin typeface="Calibri" pitchFamily="34" charset="0"/>
                <a:ea typeface="Calibri" pitchFamily="34" charset="-122"/>
                <a:cs typeface="Calibri" pitchFamily="34" charset="-120"/>
              </a:rPr>
              <a:t>Reflex conditioning is already used clinically after spinal cord injury. Any handle on the cortical side is a handle on individualising it.</a:t>
            </a:r>
            <a:endParaRPr lang="en-US" sz="1450" dirty="0"/>
          </a:p>
        </p:txBody>
      </p:sp>
      <p:sp>
        <p:nvSpPr>
          <p:cNvPr id="16" name="Shape 14"/>
          <p:cNvSpPr/>
          <p:nvPr/>
        </p:nvSpPr>
        <p:spPr>
          <a:xfrm>
            <a:off x="685800" y="5166360"/>
            <a:ext cx="10881360" cy="960120"/>
          </a:xfrm>
          <a:prstGeom prst="roundRect">
            <a:avLst>
              <a:gd name="adj" fmla="val 7619"/>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7" name="Text 15"/>
          <p:cNvSpPr/>
          <p:nvPr/>
        </p:nvSpPr>
        <p:spPr>
          <a:xfrm>
            <a:off x="1005840" y="5321808"/>
            <a:ext cx="10241280" cy="640080"/>
          </a:xfrm>
          <a:prstGeom prst="rect">
            <a:avLst/>
          </a:prstGeom>
          <a:noFill/>
          <a:ln/>
        </p:spPr>
        <p:txBody>
          <a:bodyPr wrap="square" lIns="0" tIns="0" rIns="0" bIns="0" rtlCol="0" anchor="ctr"/>
          <a:lstStyle/>
          <a:p>
            <a:pPr indent="0" marL="0">
              <a:lnSpc>
                <a:spcPct val="106000"/>
              </a:lnSpc>
              <a:buNone/>
            </a:pPr>
            <a:r>
              <a:rPr lang="en-US" sz="1550" dirty="0">
                <a:solidFill>
                  <a:srgbClr val="14212E"/>
                </a:solidFill>
                <a:latin typeface="Calibri" pitchFamily="34" charset="0"/>
                <a:ea typeface="Calibri" pitchFamily="34" charset="-122"/>
                <a:cs typeface="Calibri" pitchFamily="34" charset="-120"/>
              </a:rPr>
              <a:t>All three depend on the effect being larger and more reliable than what we can currently demonstrate. We are not there yet — but this is the direction that would make it worth getting there.</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3B6E43"/>
                </a:solidFill>
                <a:latin typeface="Calibri" pitchFamily="34" charset="0"/>
                <a:ea typeface="Calibri" pitchFamily="34" charset="-122"/>
                <a:cs typeface="Calibri" pitchFamily="34" charset="-120"/>
              </a:rPr>
              <a:t>PART 5 · NEXT</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What happens next</a:t>
            </a:r>
            <a:endParaRPr lang="en-US" sz="3000" dirty="0"/>
          </a:p>
        </p:txBody>
      </p:sp>
      <p:sp>
        <p:nvSpPr>
          <p:cNvPr id="4" name="Shape 2"/>
          <p:cNvSpPr/>
          <p:nvPr/>
        </p:nvSpPr>
        <p:spPr>
          <a:xfrm>
            <a:off x="685800" y="1965960"/>
            <a:ext cx="10881360" cy="841248"/>
          </a:xfrm>
          <a:prstGeom prst="roundRect">
            <a:avLst>
              <a:gd name="adj" fmla="val 8696"/>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Shape 3"/>
          <p:cNvSpPr/>
          <p:nvPr/>
        </p:nvSpPr>
        <p:spPr>
          <a:xfrm>
            <a:off x="960120" y="2167128"/>
            <a:ext cx="438912" cy="438912"/>
          </a:xfrm>
          <a:prstGeom prst="ellipse">
            <a:avLst/>
          </a:prstGeom>
          <a:solidFill>
            <a:srgbClr val="15718F"/>
          </a:solidFill>
          <a:ln/>
        </p:spPr>
      </p:sp>
      <p:sp>
        <p:nvSpPr>
          <p:cNvPr id="6" name="Text 4"/>
          <p:cNvSpPr/>
          <p:nvPr/>
        </p:nvSpPr>
        <p:spPr>
          <a:xfrm>
            <a:off x="960120" y="216712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36192" y="2093976"/>
            <a:ext cx="3657600" cy="566928"/>
          </a:xfrm>
          <a:prstGeom prst="rect">
            <a:avLst/>
          </a:prstGeom>
          <a:noFill/>
          <a:ln/>
        </p:spPr>
        <p:txBody>
          <a:bodyPr wrap="square" lIns="0" tIns="0" rIns="0" bIns="0" rtlCol="0" anchor="ctr"/>
          <a:lstStyle/>
          <a:p>
            <a:pPr indent="0" marL="0">
              <a:buNone/>
            </a:pPr>
            <a:r>
              <a:rPr lang="en-US" sz="1600" b="1" dirty="0">
                <a:solidFill>
                  <a:srgbClr val="14212E"/>
                </a:solidFill>
                <a:latin typeface="Calibri" pitchFamily="34" charset="0"/>
                <a:ea typeface="Calibri" pitchFamily="34" charset="-122"/>
                <a:cs typeface="Calibri" pitchFamily="34" charset="-120"/>
              </a:rPr>
              <a:t>Process the remaining animals</a:t>
            </a:r>
            <a:endParaRPr lang="en-US" sz="1600" dirty="0"/>
          </a:p>
        </p:txBody>
      </p:sp>
      <p:sp>
        <p:nvSpPr>
          <p:cNvPr id="8" name="Text 6"/>
          <p:cNvSpPr/>
          <p:nvPr/>
        </p:nvSpPr>
        <p:spPr>
          <a:xfrm>
            <a:off x="5303520" y="2093976"/>
            <a:ext cx="4754880" cy="566928"/>
          </a:xfrm>
          <a:prstGeom prst="rect">
            <a:avLst/>
          </a:prstGeom>
          <a:noFill/>
          <a:ln/>
        </p:spPr>
        <p:txBody>
          <a:bodyPr wrap="square" lIns="0" tIns="0" rIns="0" bIns="0" rtlCol="0" anchor="ctr"/>
          <a:lstStyle/>
          <a:p>
            <a:pPr indent="0" marL="0">
              <a:lnSpc>
                <a:spcPct val="102000"/>
              </a:lnSpc>
              <a:buNone/>
            </a:pPr>
            <a:r>
              <a:rPr lang="en-US" sz="1400" dirty="0">
                <a:solidFill>
                  <a:srgbClr val="5A6B7B"/>
                </a:solidFill>
                <a:latin typeface="Calibri" pitchFamily="34" charset="0"/>
                <a:ea typeface="Calibri" pitchFamily="34" charset="-122"/>
                <a:cs typeface="Calibri" pitchFamily="34" charset="-120"/>
              </a:rPr>
              <a:t>Animals 7, 8, 13 and 14, all down-conditioned. Takes the sample from five to nine.</a:t>
            </a:r>
            <a:endParaRPr lang="en-US" sz="1400" dirty="0"/>
          </a:p>
        </p:txBody>
      </p:sp>
      <p:sp>
        <p:nvSpPr>
          <p:cNvPr id="9" name="Text 7"/>
          <p:cNvSpPr/>
          <p:nvPr/>
        </p:nvSpPr>
        <p:spPr>
          <a:xfrm>
            <a:off x="10149840" y="2093976"/>
            <a:ext cx="1188720" cy="566928"/>
          </a:xfrm>
          <a:prstGeom prst="rect">
            <a:avLst/>
          </a:prstGeom>
          <a:noFill/>
          <a:ln/>
        </p:spPr>
        <p:txBody>
          <a:bodyPr wrap="square" lIns="0" tIns="0" rIns="0" bIns="0" rtlCol="0" anchor="ctr"/>
          <a:lstStyle/>
          <a:p>
            <a:pPr algn="r" indent="0" marL="0">
              <a:buNone/>
            </a:pPr>
            <a:r>
              <a:rPr lang="en-US" sz="1300" i="1" dirty="0">
                <a:solidFill>
                  <a:srgbClr val="9AA8B4"/>
                </a:solidFill>
                <a:latin typeface="Calibri" pitchFamily="34" charset="0"/>
                <a:ea typeface="Calibri" pitchFamily="34" charset="-122"/>
                <a:cs typeface="Calibri" pitchFamily="34" charset="-120"/>
              </a:rPr>
              <a:t>next</a:t>
            </a:r>
            <a:endParaRPr lang="en-US" sz="1300" dirty="0"/>
          </a:p>
        </p:txBody>
      </p:sp>
      <p:sp>
        <p:nvSpPr>
          <p:cNvPr id="10" name="Shape 8"/>
          <p:cNvSpPr/>
          <p:nvPr/>
        </p:nvSpPr>
        <p:spPr>
          <a:xfrm>
            <a:off x="685800" y="2916936"/>
            <a:ext cx="10881360" cy="841248"/>
          </a:xfrm>
          <a:prstGeom prst="roundRect">
            <a:avLst>
              <a:gd name="adj" fmla="val 8696"/>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1" name="Shape 9"/>
          <p:cNvSpPr/>
          <p:nvPr/>
        </p:nvSpPr>
        <p:spPr>
          <a:xfrm>
            <a:off x="960120" y="3118104"/>
            <a:ext cx="438912" cy="438912"/>
          </a:xfrm>
          <a:prstGeom prst="ellipse">
            <a:avLst/>
          </a:prstGeom>
          <a:solidFill>
            <a:srgbClr val="15718F"/>
          </a:solidFill>
          <a:ln/>
        </p:spPr>
      </p:sp>
      <p:sp>
        <p:nvSpPr>
          <p:cNvPr id="12" name="Text 10"/>
          <p:cNvSpPr/>
          <p:nvPr/>
        </p:nvSpPr>
        <p:spPr>
          <a:xfrm>
            <a:off x="960120" y="31181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536192" y="3044952"/>
            <a:ext cx="3657600" cy="566928"/>
          </a:xfrm>
          <a:prstGeom prst="rect">
            <a:avLst/>
          </a:prstGeom>
          <a:noFill/>
          <a:ln/>
        </p:spPr>
        <p:txBody>
          <a:bodyPr wrap="square" lIns="0" tIns="0" rIns="0" bIns="0" rtlCol="0" anchor="ctr"/>
          <a:lstStyle/>
          <a:p>
            <a:pPr indent="0" marL="0">
              <a:buNone/>
            </a:pPr>
            <a:r>
              <a:rPr lang="en-US" sz="1600" b="1" dirty="0">
                <a:solidFill>
                  <a:srgbClr val="14212E"/>
                </a:solidFill>
                <a:latin typeface="Calibri" pitchFamily="34" charset="0"/>
                <a:ea typeface="Calibri" pitchFamily="34" charset="-122"/>
                <a:cs typeface="Calibri" pitchFamily="34" charset="-120"/>
              </a:rPr>
              <a:t>Power the scaling test</a:t>
            </a:r>
            <a:endParaRPr lang="en-US" sz="1600" dirty="0"/>
          </a:p>
        </p:txBody>
      </p:sp>
      <p:sp>
        <p:nvSpPr>
          <p:cNvPr id="14" name="Text 12"/>
          <p:cNvSpPr/>
          <p:nvPr/>
        </p:nvSpPr>
        <p:spPr>
          <a:xfrm>
            <a:off x="5303520" y="3044952"/>
            <a:ext cx="4754880" cy="566928"/>
          </a:xfrm>
          <a:prstGeom prst="rect">
            <a:avLst/>
          </a:prstGeom>
          <a:noFill/>
          <a:ln/>
        </p:spPr>
        <p:txBody>
          <a:bodyPr wrap="square" lIns="0" tIns="0" rIns="0" bIns="0" rtlCol="0" anchor="ctr"/>
          <a:lstStyle/>
          <a:p>
            <a:pPr indent="0" marL="0">
              <a:lnSpc>
                <a:spcPct val="102000"/>
              </a:lnSpc>
              <a:buNone/>
            </a:pPr>
            <a:r>
              <a:rPr lang="en-US" sz="1400" dirty="0">
                <a:solidFill>
                  <a:srgbClr val="5A6B7B"/>
                </a:solidFill>
                <a:latin typeface="Calibri" pitchFamily="34" charset="0"/>
                <a:ea typeface="Calibri" pitchFamily="34" charset="-122"/>
                <a:cs typeface="Calibri" pitchFamily="34" charset="-120"/>
              </a:rPr>
              <a:t>With nine animals the learning-versus-coupling correlation becomes a real test.</a:t>
            </a:r>
            <a:endParaRPr lang="en-US" sz="1400" dirty="0"/>
          </a:p>
        </p:txBody>
      </p:sp>
      <p:sp>
        <p:nvSpPr>
          <p:cNvPr id="15" name="Text 13"/>
          <p:cNvSpPr/>
          <p:nvPr/>
        </p:nvSpPr>
        <p:spPr>
          <a:xfrm>
            <a:off x="10149840" y="3044952"/>
            <a:ext cx="1188720" cy="566928"/>
          </a:xfrm>
          <a:prstGeom prst="rect">
            <a:avLst/>
          </a:prstGeom>
          <a:noFill/>
          <a:ln/>
        </p:spPr>
        <p:txBody>
          <a:bodyPr wrap="square" lIns="0" tIns="0" rIns="0" bIns="0" rtlCol="0" anchor="ctr"/>
          <a:lstStyle/>
          <a:p>
            <a:pPr algn="r" indent="0" marL="0">
              <a:buNone/>
            </a:pPr>
            <a:r>
              <a:rPr lang="en-US" sz="1300" i="1" dirty="0">
                <a:solidFill>
                  <a:srgbClr val="9AA8B4"/>
                </a:solidFill>
                <a:latin typeface="Calibri" pitchFamily="34" charset="0"/>
                <a:ea typeface="Calibri" pitchFamily="34" charset="-122"/>
                <a:cs typeface="Calibri" pitchFamily="34" charset="-120"/>
              </a:rPr>
              <a:t>next</a:t>
            </a:r>
            <a:endParaRPr lang="en-US" sz="1300" dirty="0"/>
          </a:p>
        </p:txBody>
      </p:sp>
      <p:sp>
        <p:nvSpPr>
          <p:cNvPr id="16" name="Shape 14"/>
          <p:cNvSpPr/>
          <p:nvPr/>
        </p:nvSpPr>
        <p:spPr>
          <a:xfrm>
            <a:off x="685800" y="3867912"/>
            <a:ext cx="10881360" cy="841248"/>
          </a:xfrm>
          <a:prstGeom prst="roundRect">
            <a:avLst>
              <a:gd name="adj" fmla="val 8696"/>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7" name="Shape 15"/>
          <p:cNvSpPr/>
          <p:nvPr/>
        </p:nvSpPr>
        <p:spPr>
          <a:xfrm>
            <a:off x="960120" y="4069080"/>
            <a:ext cx="438912" cy="438912"/>
          </a:xfrm>
          <a:prstGeom prst="ellipse">
            <a:avLst/>
          </a:prstGeom>
          <a:solidFill>
            <a:srgbClr val="6B4E8F"/>
          </a:solidFill>
          <a:ln/>
        </p:spPr>
      </p:sp>
      <p:sp>
        <p:nvSpPr>
          <p:cNvPr id="18" name="Text 16"/>
          <p:cNvSpPr/>
          <p:nvPr/>
        </p:nvSpPr>
        <p:spPr>
          <a:xfrm>
            <a:off x="960120" y="406908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536192" y="3995928"/>
            <a:ext cx="3657600" cy="566928"/>
          </a:xfrm>
          <a:prstGeom prst="rect">
            <a:avLst/>
          </a:prstGeom>
          <a:noFill/>
          <a:ln/>
        </p:spPr>
        <p:txBody>
          <a:bodyPr wrap="square" lIns="0" tIns="0" rIns="0" bIns="0" rtlCol="0" anchor="ctr"/>
          <a:lstStyle/>
          <a:p>
            <a:pPr indent="0" marL="0">
              <a:buNone/>
            </a:pPr>
            <a:r>
              <a:rPr lang="en-US" sz="1600" b="1" dirty="0">
                <a:solidFill>
                  <a:srgbClr val="14212E"/>
                </a:solidFill>
                <a:latin typeface="Calibri" pitchFamily="34" charset="0"/>
                <a:ea typeface="Calibri" pitchFamily="34" charset="-122"/>
                <a:cs typeface="Calibri" pitchFamily="34" charset="-120"/>
              </a:rPr>
              <a:t>Frequency-resolved coupling</a:t>
            </a:r>
            <a:endParaRPr lang="en-US" sz="1600" dirty="0"/>
          </a:p>
        </p:txBody>
      </p:sp>
      <p:sp>
        <p:nvSpPr>
          <p:cNvPr id="20" name="Text 18"/>
          <p:cNvSpPr/>
          <p:nvPr/>
        </p:nvSpPr>
        <p:spPr>
          <a:xfrm>
            <a:off x="5303520" y="3995928"/>
            <a:ext cx="4754880" cy="566928"/>
          </a:xfrm>
          <a:prstGeom prst="rect">
            <a:avLst/>
          </a:prstGeom>
          <a:noFill/>
          <a:ln/>
        </p:spPr>
        <p:txBody>
          <a:bodyPr wrap="square" lIns="0" tIns="0" rIns="0" bIns="0" rtlCol="0" anchor="ctr"/>
          <a:lstStyle/>
          <a:p>
            <a:pPr indent="0" marL="0">
              <a:lnSpc>
                <a:spcPct val="102000"/>
              </a:lnSpc>
              <a:buNone/>
            </a:pPr>
            <a:r>
              <a:rPr lang="en-US" sz="1400" dirty="0">
                <a:solidFill>
                  <a:srgbClr val="5A6B7B"/>
                </a:solidFill>
                <a:latin typeface="Calibri" pitchFamily="34" charset="0"/>
                <a:ea typeface="Calibri" pitchFamily="34" charset="-122"/>
                <a:cs typeface="Calibri" pitchFamily="34" charset="-120"/>
              </a:rPr>
              <a:t>Which bands carry the reflex information? Sharpens the finding and the contamination argument.</a:t>
            </a:r>
            <a:endParaRPr lang="en-US" sz="1400" dirty="0"/>
          </a:p>
        </p:txBody>
      </p:sp>
      <p:sp>
        <p:nvSpPr>
          <p:cNvPr id="21" name="Text 19"/>
          <p:cNvSpPr/>
          <p:nvPr/>
        </p:nvSpPr>
        <p:spPr>
          <a:xfrm>
            <a:off x="10149840" y="3995928"/>
            <a:ext cx="1188720" cy="566928"/>
          </a:xfrm>
          <a:prstGeom prst="rect">
            <a:avLst/>
          </a:prstGeom>
          <a:noFill/>
          <a:ln/>
        </p:spPr>
        <p:txBody>
          <a:bodyPr wrap="square" lIns="0" tIns="0" rIns="0" bIns="0" rtlCol="0" anchor="ctr"/>
          <a:lstStyle/>
          <a:p>
            <a:pPr algn="r" indent="0" marL="0">
              <a:buNone/>
            </a:pPr>
            <a:r>
              <a:rPr lang="en-US" sz="1300" i="1" dirty="0">
                <a:solidFill>
                  <a:srgbClr val="9AA8B4"/>
                </a:solidFill>
                <a:latin typeface="Calibri" pitchFamily="34" charset="0"/>
                <a:ea typeface="Calibri" pitchFamily="34" charset="-122"/>
                <a:cs typeface="Calibri" pitchFamily="34" charset="-120"/>
              </a:rPr>
              <a:t>next</a:t>
            </a:r>
            <a:endParaRPr lang="en-US" sz="1300" dirty="0"/>
          </a:p>
        </p:txBody>
      </p:sp>
      <p:sp>
        <p:nvSpPr>
          <p:cNvPr id="22" name="Shape 20"/>
          <p:cNvSpPr/>
          <p:nvPr/>
        </p:nvSpPr>
        <p:spPr>
          <a:xfrm>
            <a:off x="685800" y="4818888"/>
            <a:ext cx="10881360" cy="841248"/>
          </a:xfrm>
          <a:prstGeom prst="roundRect">
            <a:avLst>
              <a:gd name="adj" fmla="val 8696"/>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23" name="Shape 21"/>
          <p:cNvSpPr/>
          <p:nvPr/>
        </p:nvSpPr>
        <p:spPr>
          <a:xfrm>
            <a:off x="960120" y="5020056"/>
            <a:ext cx="438912" cy="438912"/>
          </a:xfrm>
          <a:prstGeom prst="ellipse">
            <a:avLst/>
          </a:prstGeom>
          <a:solidFill>
            <a:srgbClr val="6B4E8F"/>
          </a:solidFill>
          <a:ln/>
        </p:spPr>
      </p:sp>
      <p:sp>
        <p:nvSpPr>
          <p:cNvPr id="24" name="Text 22"/>
          <p:cNvSpPr/>
          <p:nvPr/>
        </p:nvSpPr>
        <p:spPr>
          <a:xfrm>
            <a:off x="960120" y="502005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536192" y="4946904"/>
            <a:ext cx="3657600" cy="566928"/>
          </a:xfrm>
          <a:prstGeom prst="rect">
            <a:avLst/>
          </a:prstGeom>
          <a:noFill/>
          <a:ln/>
        </p:spPr>
        <p:txBody>
          <a:bodyPr wrap="square" lIns="0" tIns="0" rIns="0" bIns="0" rtlCol="0" anchor="ctr"/>
          <a:lstStyle/>
          <a:p>
            <a:pPr indent="0" marL="0">
              <a:buNone/>
            </a:pPr>
            <a:r>
              <a:rPr lang="en-US" sz="1600" b="1" dirty="0">
                <a:solidFill>
                  <a:srgbClr val="14212E"/>
                </a:solidFill>
                <a:latin typeface="Calibri" pitchFamily="34" charset="0"/>
                <a:ea typeface="Calibri" pitchFamily="34" charset="-122"/>
                <a:cs typeface="Calibri" pitchFamily="34" charset="-120"/>
              </a:rPr>
              <a:t>The reward-criterion measure</a:t>
            </a:r>
            <a:endParaRPr lang="en-US" sz="1600" dirty="0"/>
          </a:p>
        </p:txBody>
      </p:sp>
      <p:sp>
        <p:nvSpPr>
          <p:cNvPr id="26" name="Text 24"/>
          <p:cNvSpPr/>
          <p:nvPr/>
        </p:nvSpPr>
        <p:spPr>
          <a:xfrm>
            <a:off x="5303520" y="4946904"/>
            <a:ext cx="4754880" cy="566928"/>
          </a:xfrm>
          <a:prstGeom prst="rect">
            <a:avLst/>
          </a:prstGeom>
          <a:noFill/>
          <a:ln/>
        </p:spPr>
        <p:txBody>
          <a:bodyPr wrap="square" lIns="0" tIns="0" rIns="0" bIns="0" rtlCol="0" anchor="ctr"/>
          <a:lstStyle/>
          <a:p>
            <a:pPr indent="0" marL="0">
              <a:lnSpc>
                <a:spcPct val="102000"/>
              </a:lnSpc>
              <a:buNone/>
            </a:pPr>
            <a:r>
              <a:rPr lang="en-US" sz="1400" dirty="0">
                <a:solidFill>
                  <a:srgbClr val="5A6B7B"/>
                </a:solidFill>
                <a:latin typeface="Calibri" pitchFamily="34" charset="0"/>
                <a:ea typeface="Calibri" pitchFamily="34" charset="-122"/>
                <a:cs typeface="Calibri" pitchFamily="34" charset="-120"/>
              </a:rPr>
              <a:t>An independent behavioural record to correlate against.</a:t>
            </a:r>
            <a:endParaRPr lang="en-US" sz="1400" dirty="0"/>
          </a:p>
        </p:txBody>
      </p:sp>
      <p:sp>
        <p:nvSpPr>
          <p:cNvPr id="27" name="Text 25"/>
          <p:cNvSpPr/>
          <p:nvPr/>
        </p:nvSpPr>
        <p:spPr>
          <a:xfrm>
            <a:off x="10149840" y="4946904"/>
            <a:ext cx="1188720" cy="566928"/>
          </a:xfrm>
          <a:prstGeom prst="rect">
            <a:avLst/>
          </a:prstGeom>
          <a:noFill/>
          <a:ln/>
        </p:spPr>
        <p:txBody>
          <a:bodyPr wrap="square" lIns="0" tIns="0" rIns="0" bIns="0" rtlCol="0" anchor="ctr"/>
          <a:lstStyle/>
          <a:p>
            <a:pPr algn="r" indent="0" marL="0">
              <a:buNone/>
            </a:pPr>
            <a:r>
              <a:rPr lang="en-US" sz="1300" i="1" dirty="0">
                <a:solidFill>
                  <a:srgbClr val="9AA8B4"/>
                </a:solidFill>
                <a:latin typeface="Calibri" pitchFamily="34" charset="0"/>
                <a:ea typeface="Calibri" pitchFamily="34" charset="-122"/>
                <a:cs typeface="Calibri" pitchFamily="34" charset="-120"/>
              </a:rPr>
              <a:t>new thread</a:t>
            </a:r>
            <a:endParaRPr lang="en-US" sz="1300" dirty="0"/>
          </a:p>
        </p:txBody>
      </p:sp>
      <p:sp>
        <p:nvSpPr>
          <p:cNvPr id="28" name="Shape 26"/>
          <p:cNvSpPr/>
          <p:nvPr/>
        </p:nvSpPr>
        <p:spPr>
          <a:xfrm>
            <a:off x="685800" y="5769864"/>
            <a:ext cx="10881360" cy="841248"/>
          </a:xfrm>
          <a:prstGeom prst="roundRect">
            <a:avLst>
              <a:gd name="adj" fmla="val 8696"/>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29" name="Shape 27"/>
          <p:cNvSpPr/>
          <p:nvPr/>
        </p:nvSpPr>
        <p:spPr>
          <a:xfrm>
            <a:off x="960120" y="5971032"/>
            <a:ext cx="438912" cy="438912"/>
          </a:xfrm>
          <a:prstGeom prst="ellipse">
            <a:avLst/>
          </a:prstGeom>
          <a:solidFill>
            <a:srgbClr val="3B6E43"/>
          </a:solidFill>
          <a:ln/>
        </p:spPr>
      </p:sp>
      <p:sp>
        <p:nvSpPr>
          <p:cNvPr id="30" name="Text 28"/>
          <p:cNvSpPr/>
          <p:nvPr/>
        </p:nvSpPr>
        <p:spPr>
          <a:xfrm>
            <a:off x="960120" y="59710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p:nvPr/>
        </p:nvSpPr>
        <p:spPr>
          <a:xfrm>
            <a:off x="1536192" y="5897880"/>
            <a:ext cx="3657600" cy="566928"/>
          </a:xfrm>
          <a:prstGeom prst="rect">
            <a:avLst/>
          </a:prstGeom>
          <a:noFill/>
          <a:ln/>
        </p:spPr>
        <p:txBody>
          <a:bodyPr wrap="square" lIns="0" tIns="0" rIns="0" bIns="0" rtlCol="0" anchor="ctr"/>
          <a:lstStyle/>
          <a:p>
            <a:pPr indent="0" marL="0">
              <a:buNone/>
            </a:pPr>
            <a:r>
              <a:rPr lang="en-US" sz="1600" b="1" dirty="0">
                <a:solidFill>
                  <a:srgbClr val="14212E"/>
                </a:solidFill>
                <a:latin typeface="Calibri" pitchFamily="34" charset="0"/>
                <a:ea typeface="Calibri" pitchFamily="34" charset="-122"/>
                <a:cs typeface="Calibri" pitchFamily="34" charset="-120"/>
              </a:rPr>
              <a:t>Write it up</a:t>
            </a:r>
            <a:endParaRPr lang="en-US" sz="1600" dirty="0"/>
          </a:p>
        </p:txBody>
      </p:sp>
      <p:sp>
        <p:nvSpPr>
          <p:cNvPr id="32" name="Text 30"/>
          <p:cNvSpPr/>
          <p:nvPr/>
        </p:nvSpPr>
        <p:spPr>
          <a:xfrm>
            <a:off x="5303520" y="5897880"/>
            <a:ext cx="4754880" cy="566928"/>
          </a:xfrm>
          <a:prstGeom prst="rect">
            <a:avLst/>
          </a:prstGeom>
          <a:noFill/>
          <a:ln/>
        </p:spPr>
        <p:txBody>
          <a:bodyPr wrap="square" lIns="0" tIns="0" rIns="0" bIns="0" rtlCol="0" anchor="ctr"/>
          <a:lstStyle/>
          <a:p>
            <a:pPr indent="0" marL="0">
              <a:lnSpc>
                <a:spcPct val="102000"/>
              </a:lnSpc>
              <a:buNone/>
            </a:pPr>
            <a:r>
              <a:rPr lang="en-US" sz="1400" dirty="0">
                <a:solidFill>
                  <a:srgbClr val="5A6B7B"/>
                </a:solidFill>
                <a:latin typeface="Calibri" pitchFamily="34" charset="0"/>
                <a:ea typeface="Calibri" pitchFamily="34" charset="-122"/>
                <a:cs typeface="Calibri" pitchFamily="34" charset="-120"/>
              </a:rPr>
              <a:t>Method, finding and warning.</a:t>
            </a:r>
            <a:endParaRPr lang="en-US" sz="1400" dirty="0"/>
          </a:p>
        </p:txBody>
      </p:sp>
      <p:sp>
        <p:nvSpPr>
          <p:cNvPr id="33" name="Text 31"/>
          <p:cNvSpPr/>
          <p:nvPr/>
        </p:nvSpPr>
        <p:spPr>
          <a:xfrm>
            <a:off x="10149840" y="5897880"/>
            <a:ext cx="1188720" cy="566928"/>
          </a:xfrm>
          <a:prstGeom prst="rect">
            <a:avLst/>
          </a:prstGeom>
          <a:noFill/>
          <a:ln/>
        </p:spPr>
        <p:txBody>
          <a:bodyPr wrap="square" lIns="0" tIns="0" rIns="0" bIns="0" rtlCol="0" anchor="ctr"/>
          <a:lstStyle/>
          <a:p>
            <a:pPr algn="r" indent="0" marL="0">
              <a:buNone/>
            </a:pPr>
            <a:r>
              <a:rPr lang="en-US" sz="1300" i="1" dirty="0">
                <a:solidFill>
                  <a:srgbClr val="9AA8B4"/>
                </a:solidFill>
                <a:latin typeface="Calibri" pitchFamily="34" charset="0"/>
                <a:ea typeface="Calibri" pitchFamily="34" charset="-122"/>
                <a:cs typeface="Calibri" pitchFamily="34" charset="-120"/>
              </a:rPr>
              <a:t>after that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IN SUMMARY</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What we can say</a:t>
            </a:r>
            <a:endParaRPr lang="en-US" sz="3000" dirty="0"/>
          </a:p>
        </p:txBody>
      </p:sp>
      <p:sp>
        <p:nvSpPr>
          <p:cNvPr id="4" name="Shape 2"/>
          <p:cNvSpPr/>
          <p:nvPr/>
        </p:nvSpPr>
        <p:spPr>
          <a:xfrm>
            <a:off x="685800" y="1920240"/>
            <a:ext cx="10881360" cy="1371600"/>
          </a:xfrm>
          <a:prstGeom prst="roundRect">
            <a:avLst>
              <a:gd name="adj" fmla="val 5333"/>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Shape 3"/>
          <p:cNvSpPr/>
          <p:nvPr/>
        </p:nvSpPr>
        <p:spPr>
          <a:xfrm>
            <a:off x="1005840" y="2148840"/>
            <a:ext cx="2148840" cy="384048"/>
          </a:xfrm>
          <a:prstGeom prst="roundRect">
            <a:avLst>
              <a:gd name="adj" fmla="val 16667"/>
            </a:avLst>
          </a:prstGeom>
          <a:solidFill>
            <a:srgbClr val="3B6E43"/>
          </a:solidFill>
          <a:ln/>
        </p:spPr>
      </p:sp>
      <p:sp>
        <p:nvSpPr>
          <p:cNvPr id="6" name="Text 4"/>
          <p:cNvSpPr/>
          <p:nvPr/>
        </p:nvSpPr>
        <p:spPr>
          <a:xfrm>
            <a:off x="1005840" y="2148840"/>
            <a:ext cx="21488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SOLID</a:t>
            </a:r>
            <a:endParaRPr lang="en-US" sz="1200" dirty="0"/>
          </a:p>
        </p:txBody>
      </p:sp>
      <p:sp>
        <p:nvSpPr>
          <p:cNvPr id="7" name="Text 5"/>
          <p:cNvSpPr/>
          <p:nvPr/>
        </p:nvSpPr>
        <p:spPr>
          <a:xfrm>
            <a:off x="1005840" y="2633472"/>
            <a:ext cx="3291840" cy="457200"/>
          </a:xfrm>
          <a:prstGeom prst="rect">
            <a:avLst/>
          </a:prstGeom>
          <a:noFill/>
          <a:ln/>
        </p:spPr>
        <p:txBody>
          <a:bodyPr wrap="square" lIns="0" tIns="0" rIns="0" bIns="0" rtlCol="0" anchor="ctr"/>
          <a:lstStyle/>
          <a:p>
            <a:pPr indent="0" marL="0">
              <a:buNone/>
            </a:pPr>
            <a:r>
              <a:rPr lang="en-US" sz="1700" b="1" dirty="0">
                <a:solidFill>
                  <a:srgbClr val="14212E"/>
                </a:solidFill>
                <a:latin typeface="Cambria" pitchFamily="34" charset="0"/>
                <a:ea typeface="Cambria" pitchFamily="34" charset="-122"/>
                <a:cs typeface="Cambria" pitchFamily="34" charset="-120"/>
              </a:rPr>
              <a:t>Conditioning reproduces</a:t>
            </a:r>
            <a:endParaRPr lang="en-US" sz="1700" dirty="0"/>
          </a:p>
        </p:txBody>
      </p:sp>
      <p:sp>
        <p:nvSpPr>
          <p:cNvPr id="8" name="Text 6"/>
          <p:cNvSpPr/>
          <p:nvPr/>
        </p:nvSpPr>
        <p:spPr>
          <a:xfrm>
            <a:off x="4480560" y="2103120"/>
            <a:ext cx="6766560" cy="1005840"/>
          </a:xfrm>
          <a:prstGeom prst="rect">
            <a:avLst/>
          </a:prstGeom>
          <a:noFill/>
          <a:ln/>
        </p:spPr>
        <p:txBody>
          <a:bodyPr wrap="square" lIns="0" tIns="0" rIns="0" bIns="0" rtlCol="0" anchor="ctr"/>
          <a:lstStyle/>
          <a:p>
            <a:pPr indent="0" marL="0">
              <a:lnSpc>
                <a:spcPct val="107000"/>
              </a:lnSpc>
              <a:buNone/>
            </a:pPr>
            <a:r>
              <a:rPr lang="en-US" sz="1450" dirty="0">
                <a:solidFill>
                  <a:srgbClr val="5A6B7B"/>
                </a:solidFill>
                <a:latin typeface="Calibri" pitchFamily="34" charset="0"/>
                <a:ea typeface="Calibri" pitchFamily="34" charset="-122"/>
                <a:cs typeface="Calibri" pitchFamily="34" charset="-120"/>
              </a:rPr>
              <a:t>Both directions, after controlling for stimulus strength and muscle excitability. Three of five animals met the lab's criterion.</a:t>
            </a:r>
            <a:endParaRPr lang="en-US" sz="1450" dirty="0"/>
          </a:p>
        </p:txBody>
      </p:sp>
      <p:sp>
        <p:nvSpPr>
          <p:cNvPr id="9" name="Shape 7"/>
          <p:cNvSpPr/>
          <p:nvPr/>
        </p:nvSpPr>
        <p:spPr>
          <a:xfrm>
            <a:off x="685800" y="3401568"/>
            <a:ext cx="10881360" cy="1371600"/>
          </a:xfrm>
          <a:prstGeom prst="roundRect">
            <a:avLst>
              <a:gd name="adj" fmla="val 5333"/>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0" name="Shape 8"/>
          <p:cNvSpPr/>
          <p:nvPr/>
        </p:nvSpPr>
        <p:spPr>
          <a:xfrm>
            <a:off x="1005840" y="3630168"/>
            <a:ext cx="2148840" cy="384048"/>
          </a:xfrm>
          <a:prstGeom prst="roundRect">
            <a:avLst>
              <a:gd name="adj" fmla="val 16667"/>
            </a:avLst>
          </a:prstGeom>
          <a:solidFill>
            <a:srgbClr val="15718F"/>
          </a:solidFill>
          <a:ln/>
        </p:spPr>
      </p:sp>
      <p:sp>
        <p:nvSpPr>
          <p:cNvPr id="11" name="Text 9"/>
          <p:cNvSpPr/>
          <p:nvPr/>
        </p:nvSpPr>
        <p:spPr>
          <a:xfrm>
            <a:off x="1005840" y="3630168"/>
            <a:ext cx="21488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REAL</a:t>
            </a:r>
            <a:endParaRPr lang="en-US" sz="1200" dirty="0"/>
          </a:p>
        </p:txBody>
      </p:sp>
      <p:sp>
        <p:nvSpPr>
          <p:cNvPr id="12" name="Text 10"/>
          <p:cNvSpPr/>
          <p:nvPr/>
        </p:nvSpPr>
        <p:spPr>
          <a:xfrm>
            <a:off x="1005840" y="4114800"/>
            <a:ext cx="3291840" cy="457200"/>
          </a:xfrm>
          <a:prstGeom prst="rect">
            <a:avLst/>
          </a:prstGeom>
          <a:noFill/>
          <a:ln/>
        </p:spPr>
        <p:txBody>
          <a:bodyPr wrap="square" lIns="0" tIns="0" rIns="0" bIns="0" rtlCol="0" anchor="ctr"/>
          <a:lstStyle/>
          <a:p>
            <a:pPr indent="0" marL="0">
              <a:buNone/>
            </a:pPr>
            <a:r>
              <a:rPr lang="en-US" sz="1700" b="1" dirty="0">
                <a:solidFill>
                  <a:srgbClr val="14212E"/>
                </a:solidFill>
                <a:latin typeface="Cambria" pitchFamily="34" charset="0"/>
                <a:ea typeface="Cambria" pitchFamily="34" charset="-122"/>
                <a:cs typeface="Cambria" pitchFamily="34" charset="-120"/>
              </a:rPr>
              <a:t>Cortex carries a single-trial signal</a:t>
            </a:r>
            <a:endParaRPr lang="en-US" sz="1700" dirty="0"/>
          </a:p>
        </p:txBody>
      </p:sp>
      <p:sp>
        <p:nvSpPr>
          <p:cNvPr id="13" name="Text 11"/>
          <p:cNvSpPr/>
          <p:nvPr/>
        </p:nvSpPr>
        <p:spPr>
          <a:xfrm>
            <a:off x="4480560" y="3584448"/>
            <a:ext cx="6766560" cy="1005840"/>
          </a:xfrm>
          <a:prstGeom prst="rect">
            <a:avLst/>
          </a:prstGeom>
          <a:noFill/>
          <a:ln/>
        </p:spPr>
        <p:txBody>
          <a:bodyPr wrap="square" lIns="0" tIns="0" rIns="0" bIns="0" rtlCol="0" anchor="ctr"/>
          <a:lstStyle/>
          <a:p>
            <a:pPr indent="0" marL="0">
              <a:lnSpc>
                <a:spcPct val="107000"/>
              </a:lnSpc>
              <a:buNone/>
            </a:pPr>
            <a:r>
              <a:rPr lang="en-US" sz="1450" dirty="0">
                <a:solidFill>
                  <a:srgbClr val="5A6B7B"/>
                </a:solidFill>
                <a:latin typeface="Calibri" pitchFamily="34" charset="0"/>
                <a:ea typeface="Calibri" pitchFamily="34" charset="-122"/>
                <a:cs typeface="Calibri" pitchFamily="34" charset="-120"/>
              </a:rPr>
              <a:t>It predicts reflex size above its own shuffled control in 99 of 101 windows and in every animal. Small — about 2% of variance uniquely — but almost never absent.</a:t>
            </a:r>
            <a:endParaRPr lang="en-US" sz="1450" dirty="0"/>
          </a:p>
        </p:txBody>
      </p:sp>
      <p:sp>
        <p:nvSpPr>
          <p:cNvPr id="14" name="Shape 12"/>
          <p:cNvSpPr/>
          <p:nvPr/>
        </p:nvSpPr>
        <p:spPr>
          <a:xfrm>
            <a:off x="685800" y="4882896"/>
            <a:ext cx="10881360" cy="1371600"/>
          </a:xfrm>
          <a:prstGeom prst="roundRect">
            <a:avLst>
              <a:gd name="adj" fmla="val 5333"/>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5" name="Shape 13"/>
          <p:cNvSpPr/>
          <p:nvPr/>
        </p:nvSpPr>
        <p:spPr>
          <a:xfrm>
            <a:off x="1005840" y="5111496"/>
            <a:ext cx="2148840" cy="384048"/>
          </a:xfrm>
          <a:prstGeom prst="roundRect">
            <a:avLst>
              <a:gd name="adj" fmla="val 16667"/>
            </a:avLst>
          </a:prstGeom>
          <a:solidFill>
            <a:srgbClr val="B4671A"/>
          </a:solidFill>
          <a:ln/>
        </p:spPr>
      </p:sp>
      <p:sp>
        <p:nvSpPr>
          <p:cNvPr id="16" name="Text 14"/>
          <p:cNvSpPr/>
          <p:nvPr/>
        </p:nvSpPr>
        <p:spPr>
          <a:xfrm>
            <a:off x="1005840" y="5111496"/>
            <a:ext cx="21488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USEFUL NEGATIVE</a:t>
            </a:r>
            <a:endParaRPr lang="en-US" sz="1200" dirty="0"/>
          </a:p>
        </p:txBody>
      </p:sp>
      <p:sp>
        <p:nvSpPr>
          <p:cNvPr id="17" name="Text 15"/>
          <p:cNvSpPr/>
          <p:nvPr/>
        </p:nvSpPr>
        <p:spPr>
          <a:xfrm>
            <a:off x="1005840" y="5596128"/>
            <a:ext cx="3291840" cy="457200"/>
          </a:xfrm>
          <a:prstGeom prst="rect">
            <a:avLst/>
          </a:prstGeom>
          <a:noFill/>
          <a:ln/>
        </p:spPr>
        <p:txBody>
          <a:bodyPr wrap="square" lIns="0" tIns="0" rIns="0" bIns="0" rtlCol="0" anchor="ctr"/>
          <a:lstStyle/>
          <a:p>
            <a:pPr indent="0" marL="0">
              <a:buNone/>
            </a:pPr>
            <a:r>
              <a:rPr lang="en-US" sz="1700" b="1" dirty="0">
                <a:solidFill>
                  <a:srgbClr val="14212E"/>
                </a:solidFill>
                <a:latin typeface="Cambria" pitchFamily="34" charset="0"/>
                <a:ea typeface="Cambria" pitchFamily="34" charset="-122"/>
                <a:cs typeface="Cambria" pitchFamily="34" charset="-120"/>
              </a:rPr>
              <a:t>Average-state drift is not learning</a:t>
            </a:r>
            <a:endParaRPr lang="en-US" sz="1700" dirty="0"/>
          </a:p>
        </p:txBody>
      </p:sp>
      <p:sp>
        <p:nvSpPr>
          <p:cNvPr id="18" name="Text 16"/>
          <p:cNvSpPr/>
          <p:nvPr/>
        </p:nvSpPr>
        <p:spPr>
          <a:xfrm>
            <a:off x="4480560" y="5065776"/>
            <a:ext cx="6766560" cy="1005840"/>
          </a:xfrm>
          <a:prstGeom prst="rect">
            <a:avLst/>
          </a:prstGeom>
          <a:noFill/>
          <a:ln/>
        </p:spPr>
        <p:txBody>
          <a:bodyPr wrap="square" lIns="0" tIns="0" rIns="0" bIns="0" rtlCol="0" anchor="ctr"/>
          <a:lstStyle/>
          <a:p>
            <a:pPr indent="0" marL="0">
              <a:lnSpc>
                <a:spcPct val="107000"/>
              </a:lnSpc>
              <a:buNone/>
            </a:pPr>
            <a:r>
              <a:rPr lang="en-US" sz="1450" dirty="0">
                <a:solidFill>
                  <a:srgbClr val="5A6B7B"/>
                </a:solidFill>
                <a:latin typeface="Calibri" pitchFamily="34" charset="0"/>
                <a:ea typeface="Calibri" pitchFamily="34" charset="-122"/>
                <a:cs typeface="Calibri" pitchFamily="34" charset="-120"/>
              </a:rPr>
              <a:t>The intuitive analysis produces a convincing result that three separate controls reject.</a:t>
            </a:r>
            <a:endParaRPr lang="en-US" sz="1450" dirty="0"/>
          </a:p>
        </p:txBody>
      </p:sp>
      <p:sp>
        <p:nvSpPr>
          <p:cNvPr id="19" name="Text 17"/>
          <p:cNvSpPr/>
          <p:nvPr/>
        </p:nvSpPr>
        <p:spPr>
          <a:xfrm>
            <a:off x="704088" y="6382512"/>
            <a:ext cx="10881360" cy="32004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Every number above is corrected for stimulus intensity and pre-stimulus muscle activity, and survives a shuffle control.</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B4671A"/>
                </a:solidFill>
                <a:latin typeface="Calibri" pitchFamily="34" charset="0"/>
                <a:ea typeface="Calibri" pitchFamily="34" charset="-122"/>
                <a:cs typeface="Calibri" pitchFamily="34" charset="-120"/>
              </a:rPr>
              <a:t>STILL OPEN</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What we know we haven't settled</a:t>
            </a:r>
            <a:endParaRPr lang="en-US" sz="3000" dirty="0"/>
          </a:p>
        </p:txBody>
      </p:sp>
      <p:sp>
        <p:nvSpPr>
          <p:cNvPr id="4" name="Shape 2"/>
          <p:cNvSpPr/>
          <p:nvPr/>
        </p:nvSpPr>
        <p:spPr>
          <a:xfrm>
            <a:off x="685800" y="1920240"/>
            <a:ext cx="10881360" cy="1078992"/>
          </a:xfrm>
          <a:prstGeom prst="roundRect">
            <a:avLst>
              <a:gd name="adj" fmla="val 6780"/>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Shape 3"/>
          <p:cNvSpPr/>
          <p:nvPr/>
        </p:nvSpPr>
        <p:spPr>
          <a:xfrm>
            <a:off x="960120" y="2212848"/>
            <a:ext cx="457200" cy="457200"/>
          </a:xfrm>
          <a:prstGeom prst="ellipse">
            <a:avLst/>
          </a:prstGeom>
          <a:solidFill>
            <a:srgbClr val="15718F"/>
          </a:solidFill>
          <a:ln/>
        </p:spPr>
      </p:sp>
      <p:sp>
        <p:nvSpPr>
          <p:cNvPr id="6" name="Text 4"/>
          <p:cNvSpPr/>
          <p:nvPr/>
        </p:nvSpPr>
        <p:spPr>
          <a:xfrm>
            <a:off x="960120" y="22128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72768" y="2084832"/>
            <a:ext cx="3840480" cy="777240"/>
          </a:xfrm>
          <a:prstGeom prst="rect">
            <a:avLst/>
          </a:prstGeom>
          <a:noFill/>
          <a:ln/>
        </p:spPr>
        <p:txBody>
          <a:bodyPr wrap="square" lIns="0" tIns="0" rIns="0" bIns="0" rtlCol="0" anchor="ctr"/>
          <a:lstStyle/>
          <a:p>
            <a:pPr indent="0" marL="0">
              <a:lnSpc>
                <a:spcPct val="104000"/>
              </a:lnSpc>
              <a:buNone/>
            </a:pPr>
            <a:r>
              <a:rPr lang="en-US" sz="1600" b="1" dirty="0">
                <a:solidFill>
                  <a:srgbClr val="14212E"/>
                </a:solidFill>
                <a:latin typeface="Calibri" pitchFamily="34" charset="0"/>
                <a:ea typeface="Calibri" pitchFamily="34" charset="-122"/>
                <a:cs typeface="Calibri" pitchFamily="34" charset="-120"/>
              </a:rPr>
              <a:t>Does the coupling grow with learning?</a:t>
            </a:r>
            <a:endParaRPr lang="en-US" sz="1600" dirty="0"/>
          </a:p>
        </p:txBody>
      </p:sp>
      <p:sp>
        <p:nvSpPr>
          <p:cNvPr id="8" name="Text 6"/>
          <p:cNvSpPr/>
          <p:nvPr/>
        </p:nvSpPr>
        <p:spPr>
          <a:xfrm>
            <a:off x="5577840" y="2084832"/>
            <a:ext cx="5669280" cy="777240"/>
          </a:xfrm>
          <a:prstGeom prst="rect">
            <a:avLst/>
          </a:prstGeom>
          <a:noFill/>
          <a:ln/>
        </p:spPr>
        <p:txBody>
          <a:bodyPr wrap="square" lIns="0" tIns="0" rIns="0" bIns="0" rtlCol="0" anchor="ctr"/>
          <a:lstStyle/>
          <a:p>
            <a:pPr indent="0" marL="0">
              <a:lnSpc>
                <a:spcPct val="106000"/>
              </a:lnSpc>
              <a:buNone/>
            </a:pPr>
            <a:r>
              <a:rPr lang="en-US" sz="1400" dirty="0">
                <a:solidFill>
                  <a:srgbClr val="5A6B7B"/>
                </a:solidFill>
                <a:latin typeface="Calibri" pitchFamily="34" charset="0"/>
                <a:ea typeface="Calibri" pitchFamily="34" charset="-122"/>
                <a:cs typeface="Calibri" pitchFamily="34" charset="-120"/>
              </a:rPr>
              <a:t>The correlation points the right way (r = +0.64) but five animals cannot settle it. Four more are next.</a:t>
            </a:r>
            <a:endParaRPr lang="en-US" sz="1400" dirty="0"/>
          </a:p>
        </p:txBody>
      </p:sp>
      <p:sp>
        <p:nvSpPr>
          <p:cNvPr id="9" name="Shape 7"/>
          <p:cNvSpPr/>
          <p:nvPr/>
        </p:nvSpPr>
        <p:spPr>
          <a:xfrm>
            <a:off x="685800" y="3108960"/>
            <a:ext cx="10881360" cy="1078992"/>
          </a:xfrm>
          <a:prstGeom prst="roundRect">
            <a:avLst>
              <a:gd name="adj" fmla="val 6780"/>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0" name="Shape 8"/>
          <p:cNvSpPr/>
          <p:nvPr/>
        </p:nvSpPr>
        <p:spPr>
          <a:xfrm>
            <a:off x="960120" y="3401568"/>
            <a:ext cx="457200" cy="457200"/>
          </a:xfrm>
          <a:prstGeom prst="ellipse">
            <a:avLst/>
          </a:prstGeom>
          <a:solidFill>
            <a:srgbClr val="15718F"/>
          </a:solidFill>
          <a:ln/>
        </p:spPr>
      </p:sp>
      <p:sp>
        <p:nvSpPr>
          <p:cNvPr id="11" name="Text 9"/>
          <p:cNvSpPr/>
          <p:nvPr/>
        </p:nvSpPr>
        <p:spPr>
          <a:xfrm>
            <a:off x="96012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72768" y="3273552"/>
            <a:ext cx="3840480" cy="777240"/>
          </a:xfrm>
          <a:prstGeom prst="rect">
            <a:avLst/>
          </a:prstGeom>
          <a:noFill/>
          <a:ln/>
        </p:spPr>
        <p:txBody>
          <a:bodyPr wrap="square" lIns="0" tIns="0" rIns="0" bIns="0" rtlCol="0" anchor="ctr"/>
          <a:lstStyle/>
          <a:p>
            <a:pPr indent="0" marL="0">
              <a:lnSpc>
                <a:spcPct val="104000"/>
              </a:lnSpc>
              <a:buNone/>
            </a:pPr>
            <a:r>
              <a:rPr lang="en-US" sz="1600" b="1" dirty="0">
                <a:solidFill>
                  <a:srgbClr val="14212E"/>
                </a:solidFill>
                <a:latin typeface="Calibri" pitchFamily="34" charset="0"/>
                <a:ea typeface="Calibri" pitchFamily="34" charset="-122"/>
                <a:cs typeface="Calibri" pitchFamily="34" charset="-120"/>
              </a:rPr>
              <a:t>Which frequencies carry it?</a:t>
            </a:r>
            <a:endParaRPr lang="en-US" sz="1600" dirty="0"/>
          </a:p>
        </p:txBody>
      </p:sp>
      <p:sp>
        <p:nvSpPr>
          <p:cNvPr id="13" name="Text 11"/>
          <p:cNvSpPr/>
          <p:nvPr/>
        </p:nvSpPr>
        <p:spPr>
          <a:xfrm>
            <a:off x="5577840" y="3273552"/>
            <a:ext cx="5669280" cy="777240"/>
          </a:xfrm>
          <a:prstGeom prst="rect">
            <a:avLst/>
          </a:prstGeom>
          <a:noFill/>
          <a:ln/>
        </p:spPr>
        <p:txBody>
          <a:bodyPr wrap="square" lIns="0" tIns="0" rIns="0" bIns="0" rtlCol="0" anchor="ctr"/>
          <a:lstStyle/>
          <a:p>
            <a:pPr indent="0" marL="0">
              <a:lnSpc>
                <a:spcPct val="106000"/>
              </a:lnSpc>
              <a:buNone/>
            </a:pPr>
            <a:r>
              <a:rPr lang="en-US" sz="1400" dirty="0">
                <a:solidFill>
                  <a:srgbClr val="5A6B7B"/>
                </a:solidFill>
                <a:latin typeface="Calibri" pitchFamily="34" charset="0"/>
                <a:ea typeface="Calibri" pitchFamily="34" charset="-122"/>
                <a:cs typeface="Calibri" pitchFamily="34" charset="-120"/>
              </a:rPr>
              <a:t>Would sharpen both the finding and the argument against muscle contamination.</a:t>
            </a:r>
            <a:endParaRPr lang="en-US" sz="1400" dirty="0"/>
          </a:p>
        </p:txBody>
      </p:sp>
      <p:sp>
        <p:nvSpPr>
          <p:cNvPr id="14" name="Shape 12"/>
          <p:cNvSpPr/>
          <p:nvPr/>
        </p:nvSpPr>
        <p:spPr>
          <a:xfrm>
            <a:off x="685800" y="4297680"/>
            <a:ext cx="10881360" cy="1078992"/>
          </a:xfrm>
          <a:prstGeom prst="roundRect">
            <a:avLst>
              <a:gd name="adj" fmla="val 6780"/>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5" name="Shape 13"/>
          <p:cNvSpPr/>
          <p:nvPr/>
        </p:nvSpPr>
        <p:spPr>
          <a:xfrm>
            <a:off x="960120" y="4590288"/>
            <a:ext cx="457200" cy="457200"/>
          </a:xfrm>
          <a:prstGeom prst="ellipse">
            <a:avLst/>
          </a:prstGeom>
          <a:solidFill>
            <a:srgbClr val="B4671A"/>
          </a:solidFill>
          <a:ln/>
        </p:spPr>
      </p:sp>
      <p:sp>
        <p:nvSpPr>
          <p:cNvPr id="16" name="Text 14"/>
          <p:cNvSpPr/>
          <p:nvPr/>
        </p:nvSpPr>
        <p:spPr>
          <a:xfrm>
            <a:off x="96012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72768" y="4462272"/>
            <a:ext cx="3840480" cy="777240"/>
          </a:xfrm>
          <a:prstGeom prst="rect">
            <a:avLst/>
          </a:prstGeom>
          <a:noFill/>
          <a:ln/>
        </p:spPr>
        <p:txBody>
          <a:bodyPr wrap="square" lIns="0" tIns="0" rIns="0" bIns="0" rtlCol="0" anchor="ctr"/>
          <a:lstStyle/>
          <a:p>
            <a:pPr indent="0" marL="0">
              <a:lnSpc>
                <a:spcPct val="104000"/>
              </a:lnSpc>
              <a:buNone/>
            </a:pPr>
            <a:r>
              <a:rPr lang="en-US" sz="1600" b="1" dirty="0">
                <a:solidFill>
                  <a:srgbClr val="14212E"/>
                </a:solidFill>
                <a:latin typeface="Calibri" pitchFamily="34" charset="0"/>
                <a:ea typeface="Calibri" pitchFamily="34" charset="-122"/>
                <a:cs typeface="Calibri" pitchFamily="34" charset="-120"/>
              </a:rPr>
              <a:t>Is 2% of variance biologically meaningful?</a:t>
            </a:r>
            <a:endParaRPr lang="en-US" sz="1600" dirty="0"/>
          </a:p>
        </p:txBody>
      </p:sp>
      <p:sp>
        <p:nvSpPr>
          <p:cNvPr id="18" name="Text 16"/>
          <p:cNvSpPr/>
          <p:nvPr/>
        </p:nvSpPr>
        <p:spPr>
          <a:xfrm>
            <a:off x="5577840" y="4462272"/>
            <a:ext cx="5669280" cy="777240"/>
          </a:xfrm>
          <a:prstGeom prst="rect">
            <a:avLst/>
          </a:prstGeom>
          <a:noFill/>
          <a:ln/>
        </p:spPr>
        <p:txBody>
          <a:bodyPr wrap="square" lIns="0" tIns="0" rIns="0" bIns="0" rtlCol="0" anchor="ctr"/>
          <a:lstStyle/>
          <a:p>
            <a:pPr indent="0" marL="0">
              <a:lnSpc>
                <a:spcPct val="106000"/>
              </a:lnSpc>
              <a:buNone/>
            </a:pPr>
            <a:r>
              <a:rPr lang="en-US" sz="1400" dirty="0">
                <a:solidFill>
                  <a:srgbClr val="5A6B7B"/>
                </a:solidFill>
                <a:latin typeface="Calibri" pitchFamily="34" charset="0"/>
                <a:ea typeface="Calibri" pitchFamily="34" charset="-122"/>
                <a:cs typeface="Calibri" pitchFamily="34" charset="-120"/>
              </a:rPr>
              <a:t>It is reliable. Whether it matters is a question for this room more than for us.</a:t>
            </a:r>
            <a:endParaRPr lang="en-US" sz="1400" dirty="0"/>
          </a:p>
        </p:txBody>
      </p:sp>
      <p:sp>
        <p:nvSpPr>
          <p:cNvPr id="19" name="Shape 17"/>
          <p:cNvSpPr/>
          <p:nvPr/>
        </p:nvSpPr>
        <p:spPr>
          <a:xfrm>
            <a:off x="685800" y="5486400"/>
            <a:ext cx="10881360" cy="1078992"/>
          </a:xfrm>
          <a:prstGeom prst="roundRect">
            <a:avLst>
              <a:gd name="adj" fmla="val 6780"/>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20" name="Shape 18"/>
          <p:cNvSpPr/>
          <p:nvPr/>
        </p:nvSpPr>
        <p:spPr>
          <a:xfrm>
            <a:off x="960120" y="5779008"/>
            <a:ext cx="457200" cy="457200"/>
          </a:xfrm>
          <a:prstGeom prst="ellipse">
            <a:avLst/>
          </a:prstGeom>
          <a:solidFill>
            <a:srgbClr val="B4671A"/>
          </a:solidFill>
          <a:ln/>
        </p:spPr>
      </p:sp>
      <p:sp>
        <p:nvSpPr>
          <p:cNvPr id="21" name="Text 19"/>
          <p:cNvSpPr/>
          <p:nvPr/>
        </p:nvSpPr>
        <p:spPr>
          <a:xfrm>
            <a:off x="960120" y="57790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72768" y="5650992"/>
            <a:ext cx="3840480" cy="777240"/>
          </a:xfrm>
          <a:prstGeom prst="rect">
            <a:avLst/>
          </a:prstGeom>
          <a:noFill/>
          <a:ln/>
        </p:spPr>
        <p:txBody>
          <a:bodyPr wrap="square" lIns="0" tIns="0" rIns="0" bIns="0" rtlCol="0" anchor="ctr"/>
          <a:lstStyle/>
          <a:p>
            <a:pPr indent="0" marL="0">
              <a:lnSpc>
                <a:spcPct val="104000"/>
              </a:lnSpc>
              <a:buNone/>
            </a:pPr>
            <a:r>
              <a:rPr lang="en-US" sz="1600" b="1" dirty="0">
                <a:solidFill>
                  <a:srgbClr val="14212E"/>
                </a:solidFill>
                <a:latin typeface="Calibri" pitchFamily="34" charset="0"/>
                <a:ea typeface="Calibri" pitchFamily="34" charset="-122"/>
                <a:cs typeface="Calibri" pitchFamily="34" charset="-120"/>
              </a:rPr>
              <a:t>What else could produce it?</a:t>
            </a:r>
            <a:endParaRPr lang="en-US" sz="1600" dirty="0"/>
          </a:p>
        </p:txBody>
      </p:sp>
      <p:sp>
        <p:nvSpPr>
          <p:cNvPr id="23" name="Text 21"/>
          <p:cNvSpPr/>
          <p:nvPr/>
        </p:nvSpPr>
        <p:spPr>
          <a:xfrm>
            <a:off x="5577840" y="5650992"/>
            <a:ext cx="5669280" cy="777240"/>
          </a:xfrm>
          <a:prstGeom prst="rect">
            <a:avLst/>
          </a:prstGeom>
          <a:noFill/>
          <a:ln/>
        </p:spPr>
        <p:txBody>
          <a:bodyPr wrap="square" lIns="0" tIns="0" rIns="0" bIns="0" rtlCol="0" anchor="ctr"/>
          <a:lstStyle/>
          <a:p>
            <a:pPr indent="0" marL="0">
              <a:lnSpc>
                <a:spcPct val="106000"/>
              </a:lnSpc>
              <a:buNone/>
            </a:pPr>
            <a:r>
              <a:rPr lang="en-US" sz="1400" dirty="0">
                <a:solidFill>
                  <a:srgbClr val="5A6B7B"/>
                </a:solidFill>
                <a:latin typeface="Calibri" pitchFamily="34" charset="0"/>
                <a:ea typeface="Calibri" pitchFamily="34" charset="-122"/>
                <a:cs typeface="Calibri" pitchFamily="34" charset="-120"/>
              </a:rPr>
              <a:t>We have excluded stimulus, muscle tone, drift and crosstalk. We would genuinely like to know what we are missing.</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384048"/>
            <a:ext cx="10972800" cy="274320"/>
          </a:xfrm>
          <a:prstGeom prst="rect">
            <a:avLst/>
          </a:prstGeom>
          <a:noFill/>
          <a:ln/>
        </p:spPr>
        <p:txBody>
          <a:bodyPr wrap="square" lIns="0" tIns="0" rIns="0" bIns="0" rtlCol="0" anchor="ctr"/>
          <a:lstStyle/>
          <a:p>
            <a:pPr indent="0" marL="0">
              <a:buNone/>
            </a:pPr>
            <a:r>
              <a:rPr lang="en-US" sz="1300" b="1" spc="320" kern="0" dirty="0">
                <a:solidFill>
                  <a:srgbClr val="15718F"/>
                </a:solidFill>
                <a:latin typeface="Calibri" pitchFamily="34" charset="0"/>
                <a:ea typeface="Calibri" pitchFamily="34" charset="-122"/>
                <a:cs typeface="Calibri" pitchFamily="34" charset="-120"/>
              </a:rPr>
              <a:t>EVERYTHING IS PUBLIC</a:t>
            </a:r>
            <a:endParaRPr lang="en-US" sz="1300" dirty="0"/>
          </a:p>
        </p:txBody>
      </p:sp>
      <p:sp>
        <p:nvSpPr>
          <p:cNvPr id="3" name="Text 1"/>
          <p:cNvSpPr/>
          <p:nvPr/>
        </p:nvSpPr>
        <p:spPr>
          <a:xfrm>
            <a:off x="685800" y="694944"/>
            <a:ext cx="10881360" cy="777240"/>
          </a:xfrm>
          <a:prstGeom prst="rect">
            <a:avLst/>
          </a:prstGeom>
          <a:noFill/>
          <a:ln/>
        </p:spPr>
        <p:txBody>
          <a:bodyPr wrap="square" lIns="0" tIns="0" rIns="0" bIns="0" rtlCol="0" anchor="ctr"/>
          <a:lstStyle/>
          <a:p>
            <a:pPr indent="0" marL="0">
              <a:buNone/>
            </a:pPr>
            <a:r>
              <a:rPr lang="en-US" sz="3000" b="1" dirty="0">
                <a:solidFill>
                  <a:srgbClr val="14212E"/>
                </a:solidFill>
                <a:latin typeface="Cambria" pitchFamily="34" charset="0"/>
                <a:ea typeface="Cambria" pitchFamily="34" charset="-122"/>
                <a:cs typeface="Cambria" pitchFamily="34" charset="-120"/>
              </a:rPr>
              <a:t>Code, data pipeline, figures and write-up</a:t>
            </a:r>
            <a:endParaRPr lang="en-US" sz="3000" dirty="0"/>
          </a:p>
        </p:txBody>
      </p:sp>
      <p:sp>
        <p:nvSpPr>
          <p:cNvPr id="4" name="Shape 2"/>
          <p:cNvSpPr/>
          <p:nvPr/>
        </p:nvSpPr>
        <p:spPr>
          <a:xfrm>
            <a:off x="685800" y="2011680"/>
            <a:ext cx="3566160" cy="2743200"/>
          </a:xfrm>
          <a:prstGeom prst="roundRect">
            <a:avLst>
              <a:gd name="adj" fmla="val 2667"/>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5" name="Shape 3"/>
          <p:cNvSpPr/>
          <p:nvPr/>
        </p:nvSpPr>
        <p:spPr>
          <a:xfrm>
            <a:off x="978408" y="2331720"/>
            <a:ext cx="457200" cy="54864"/>
          </a:xfrm>
          <a:prstGeom prst="rect">
            <a:avLst/>
          </a:prstGeom>
          <a:solidFill>
            <a:srgbClr val="15718F"/>
          </a:solidFill>
          <a:ln/>
        </p:spPr>
      </p:sp>
      <p:sp>
        <p:nvSpPr>
          <p:cNvPr id="6" name="Text 4"/>
          <p:cNvSpPr/>
          <p:nvPr/>
        </p:nvSpPr>
        <p:spPr>
          <a:xfrm>
            <a:off x="978408" y="2542032"/>
            <a:ext cx="3017520" cy="457200"/>
          </a:xfrm>
          <a:prstGeom prst="rect">
            <a:avLst/>
          </a:prstGeom>
          <a:noFill/>
          <a:ln/>
        </p:spPr>
        <p:txBody>
          <a:bodyPr wrap="square" lIns="0" tIns="0" rIns="0" bIns="0" rtlCol="0" anchor="ctr"/>
          <a:lstStyle/>
          <a:p>
            <a:pPr indent="0" marL="0">
              <a:buNone/>
            </a:pPr>
            <a:r>
              <a:rPr lang="en-US" sz="2000" b="1" dirty="0">
                <a:solidFill>
                  <a:srgbClr val="14212E"/>
                </a:solidFill>
                <a:latin typeface="Cambria" pitchFamily="34" charset="0"/>
                <a:ea typeface="Cambria" pitchFamily="34" charset="-122"/>
                <a:cs typeface="Cambria" pitchFamily="34" charset="-120"/>
              </a:rPr>
              <a:t>Project page</a:t>
            </a:r>
            <a:endParaRPr lang="en-US" sz="2000" dirty="0"/>
          </a:p>
        </p:txBody>
      </p:sp>
      <p:sp>
        <p:nvSpPr>
          <p:cNvPr id="7" name="Text 5"/>
          <p:cNvSpPr/>
          <p:nvPr/>
        </p:nvSpPr>
        <p:spPr>
          <a:xfrm>
            <a:off x="978408" y="3035808"/>
            <a:ext cx="3063240" cy="502920"/>
          </a:xfrm>
          <a:prstGeom prst="rect">
            <a:avLst/>
          </a:prstGeom>
          <a:noFill/>
          <a:ln/>
        </p:spPr>
        <p:txBody>
          <a:bodyPr wrap="square" lIns="0" tIns="0" rIns="0" bIns="0" rtlCol="0" anchor="ctr"/>
          <a:lstStyle/>
          <a:p>
            <a:pPr indent="0" marL="0">
              <a:lnSpc>
                <a:spcPct val="105000"/>
              </a:lnSpc>
              <a:buNone/>
            </a:pPr>
            <a:r>
              <a:rPr lang="en-US" sz="1250" dirty="0">
                <a:solidFill>
                  <a:srgbClr val="15718F"/>
                </a:solidFill>
                <a:latin typeface="Calibri" pitchFamily="34" charset="0"/>
                <a:ea typeface="Calibri" pitchFamily="34" charset="-122"/>
                <a:cs typeface="Calibri" pitchFamily="34" charset="-120"/>
              </a:rPr>
              <a:t>switchrao777.github.io/hroc-ncan</a:t>
            </a:r>
            <a:endParaRPr lang="en-US" sz="1250" dirty="0"/>
          </a:p>
        </p:txBody>
      </p:sp>
      <p:sp>
        <p:nvSpPr>
          <p:cNvPr id="8" name="Text 6"/>
          <p:cNvSpPr/>
          <p:nvPr/>
        </p:nvSpPr>
        <p:spPr>
          <a:xfrm>
            <a:off x="978408" y="3639312"/>
            <a:ext cx="3017520" cy="914400"/>
          </a:xfrm>
          <a:prstGeom prst="rect">
            <a:avLst/>
          </a:prstGeom>
          <a:noFill/>
          <a:ln/>
        </p:spPr>
        <p:txBody>
          <a:bodyPr wrap="square" lIns="0" tIns="0" rIns="0" bIns="0" rtlCol="0" anchor="ctr"/>
          <a:lstStyle/>
          <a:p>
            <a:pPr indent="0" marL="0">
              <a:lnSpc>
                <a:spcPct val="107000"/>
              </a:lnSpc>
              <a:buNone/>
            </a:pPr>
            <a:r>
              <a:rPr lang="en-US" sz="1400" dirty="0">
                <a:solidFill>
                  <a:srgbClr val="5A6B7B"/>
                </a:solidFill>
                <a:latin typeface="Calibri" pitchFamily="34" charset="0"/>
                <a:ea typeface="Calibri" pitchFamily="34" charset="-122"/>
                <a:cs typeface="Calibri" pitchFamily="34" charset="-120"/>
              </a:rPr>
              <a:t>Findings, figures and links in one place.</a:t>
            </a:r>
            <a:endParaRPr lang="en-US" sz="1400" dirty="0"/>
          </a:p>
        </p:txBody>
      </p:sp>
      <p:sp>
        <p:nvSpPr>
          <p:cNvPr id="9" name="Shape 7"/>
          <p:cNvSpPr/>
          <p:nvPr/>
        </p:nvSpPr>
        <p:spPr>
          <a:xfrm>
            <a:off x="4416552" y="2011680"/>
            <a:ext cx="3566160" cy="2743200"/>
          </a:xfrm>
          <a:prstGeom prst="roundRect">
            <a:avLst>
              <a:gd name="adj" fmla="val 2667"/>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0" name="Shape 8"/>
          <p:cNvSpPr/>
          <p:nvPr/>
        </p:nvSpPr>
        <p:spPr>
          <a:xfrm>
            <a:off x="4709160" y="2331720"/>
            <a:ext cx="457200" cy="54864"/>
          </a:xfrm>
          <a:prstGeom prst="rect">
            <a:avLst/>
          </a:prstGeom>
          <a:solidFill>
            <a:srgbClr val="6B4E8F"/>
          </a:solidFill>
          <a:ln/>
        </p:spPr>
      </p:sp>
      <p:sp>
        <p:nvSpPr>
          <p:cNvPr id="11" name="Text 9"/>
          <p:cNvSpPr/>
          <p:nvPr/>
        </p:nvSpPr>
        <p:spPr>
          <a:xfrm>
            <a:off x="4709160" y="2542032"/>
            <a:ext cx="3017520" cy="457200"/>
          </a:xfrm>
          <a:prstGeom prst="rect">
            <a:avLst/>
          </a:prstGeom>
          <a:noFill/>
          <a:ln/>
        </p:spPr>
        <p:txBody>
          <a:bodyPr wrap="square" lIns="0" tIns="0" rIns="0" bIns="0" rtlCol="0" anchor="ctr"/>
          <a:lstStyle/>
          <a:p>
            <a:pPr indent="0" marL="0">
              <a:buNone/>
            </a:pPr>
            <a:r>
              <a:rPr lang="en-US" sz="2000" b="1" dirty="0">
                <a:solidFill>
                  <a:srgbClr val="14212E"/>
                </a:solidFill>
                <a:latin typeface="Cambria" pitchFamily="34" charset="0"/>
                <a:ea typeface="Cambria" pitchFamily="34" charset="-122"/>
                <a:cs typeface="Cambria" pitchFamily="34" charset="-120"/>
              </a:rPr>
              <a:t>Repository</a:t>
            </a:r>
            <a:endParaRPr lang="en-US" sz="2000" dirty="0"/>
          </a:p>
        </p:txBody>
      </p:sp>
      <p:sp>
        <p:nvSpPr>
          <p:cNvPr id="12" name="Text 10"/>
          <p:cNvSpPr/>
          <p:nvPr/>
        </p:nvSpPr>
        <p:spPr>
          <a:xfrm>
            <a:off x="4709160" y="3035808"/>
            <a:ext cx="3063240" cy="502920"/>
          </a:xfrm>
          <a:prstGeom prst="rect">
            <a:avLst/>
          </a:prstGeom>
          <a:noFill/>
          <a:ln/>
        </p:spPr>
        <p:txBody>
          <a:bodyPr wrap="square" lIns="0" tIns="0" rIns="0" bIns="0" rtlCol="0" anchor="ctr"/>
          <a:lstStyle/>
          <a:p>
            <a:pPr indent="0" marL="0">
              <a:lnSpc>
                <a:spcPct val="105000"/>
              </a:lnSpc>
              <a:buNone/>
            </a:pPr>
            <a:r>
              <a:rPr lang="en-US" sz="1250" dirty="0">
                <a:solidFill>
                  <a:srgbClr val="6B4E8F"/>
                </a:solidFill>
                <a:latin typeface="Calibri" pitchFamily="34" charset="0"/>
                <a:ea typeface="Calibri" pitchFamily="34" charset="-122"/>
                <a:cs typeface="Calibri" pitchFamily="34" charset="-120"/>
              </a:rPr>
              <a:t>github.com/switchrao777/hroc-ncan</a:t>
            </a:r>
            <a:endParaRPr lang="en-US" sz="1250" dirty="0"/>
          </a:p>
        </p:txBody>
      </p:sp>
      <p:sp>
        <p:nvSpPr>
          <p:cNvPr id="13" name="Text 11"/>
          <p:cNvSpPr/>
          <p:nvPr/>
        </p:nvSpPr>
        <p:spPr>
          <a:xfrm>
            <a:off x="4709160" y="3639312"/>
            <a:ext cx="3017520" cy="914400"/>
          </a:xfrm>
          <a:prstGeom prst="rect">
            <a:avLst/>
          </a:prstGeom>
          <a:noFill/>
          <a:ln/>
        </p:spPr>
        <p:txBody>
          <a:bodyPr wrap="square" lIns="0" tIns="0" rIns="0" bIns="0" rtlCol="0" anchor="ctr"/>
          <a:lstStyle/>
          <a:p>
            <a:pPr indent="0" marL="0">
              <a:lnSpc>
                <a:spcPct val="107000"/>
              </a:lnSpc>
              <a:buNone/>
            </a:pPr>
            <a:r>
              <a:rPr lang="en-US" sz="1400" dirty="0">
                <a:solidFill>
                  <a:srgbClr val="5A6B7B"/>
                </a:solidFill>
                <a:latin typeface="Calibri" pitchFamily="34" charset="0"/>
                <a:ea typeface="Calibri" pitchFamily="34" charset="-122"/>
                <a:cs typeface="Calibri" pitchFamily="34" charset="-120"/>
              </a:rPr>
              <a:t>The full pipeline. Two commands per animal, reproducible end to end.</a:t>
            </a:r>
            <a:endParaRPr lang="en-US" sz="1400" dirty="0"/>
          </a:p>
        </p:txBody>
      </p:sp>
      <p:sp>
        <p:nvSpPr>
          <p:cNvPr id="14" name="Shape 12"/>
          <p:cNvSpPr/>
          <p:nvPr/>
        </p:nvSpPr>
        <p:spPr>
          <a:xfrm>
            <a:off x="8147304" y="2011680"/>
            <a:ext cx="3566160" cy="2743200"/>
          </a:xfrm>
          <a:prstGeom prst="roundRect">
            <a:avLst>
              <a:gd name="adj" fmla="val 2667"/>
            </a:avLst>
          </a:prstGeom>
          <a:solidFill>
            <a:srgbClr val="FFFFFF"/>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15" name="Shape 13"/>
          <p:cNvSpPr/>
          <p:nvPr/>
        </p:nvSpPr>
        <p:spPr>
          <a:xfrm>
            <a:off x="8439912" y="2331720"/>
            <a:ext cx="457200" cy="54864"/>
          </a:xfrm>
          <a:prstGeom prst="rect">
            <a:avLst/>
          </a:prstGeom>
          <a:solidFill>
            <a:srgbClr val="3B6E43"/>
          </a:solidFill>
          <a:ln/>
        </p:spPr>
      </p:sp>
      <p:sp>
        <p:nvSpPr>
          <p:cNvPr id="16" name="Text 14"/>
          <p:cNvSpPr/>
          <p:nvPr/>
        </p:nvSpPr>
        <p:spPr>
          <a:xfrm>
            <a:off x="8439912" y="2542032"/>
            <a:ext cx="3017520" cy="457200"/>
          </a:xfrm>
          <a:prstGeom prst="rect">
            <a:avLst/>
          </a:prstGeom>
          <a:noFill/>
          <a:ln/>
        </p:spPr>
        <p:txBody>
          <a:bodyPr wrap="square" lIns="0" tIns="0" rIns="0" bIns="0" rtlCol="0" anchor="ctr"/>
          <a:lstStyle/>
          <a:p>
            <a:pPr indent="0" marL="0">
              <a:buNone/>
            </a:pPr>
            <a:r>
              <a:rPr lang="en-US" sz="2000" b="1" dirty="0">
                <a:solidFill>
                  <a:srgbClr val="14212E"/>
                </a:solidFill>
                <a:latin typeface="Cambria" pitchFamily="34" charset="0"/>
                <a:ea typeface="Cambria" pitchFamily="34" charset="-122"/>
                <a:cs typeface="Cambria" pitchFamily="34" charset="-120"/>
              </a:rPr>
              <a:t>Write-up</a:t>
            </a:r>
            <a:endParaRPr lang="en-US" sz="2000" dirty="0"/>
          </a:p>
        </p:txBody>
      </p:sp>
      <p:sp>
        <p:nvSpPr>
          <p:cNvPr id="17" name="Text 15"/>
          <p:cNvSpPr/>
          <p:nvPr/>
        </p:nvSpPr>
        <p:spPr>
          <a:xfrm>
            <a:off x="8439912" y="3035808"/>
            <a:ext cx="3063240" cy="502920"/>
          </a:xfrm>
          <a:prstGeom prst="rect">
            <a:avLst/>
          </a:prstGeom>
          <a:noFill/>
          <a:ln/>
        </p:spPr>
        <p:txBody>
          <a:bodyPr wrap="square" lIns="0" tIns="0" rIns="0" bIns="0" rtlCol="0" anchor="ctr"/>
          <a:lstStyle/>
          <a:p>
            <a:pPr indent="0" marL="0">
              <a:lnSpc>
                <a:spcPct val="105000"/>
              </a:lnSpc>
              <a:buNone/>
            </a:pPr>
            <a:r>
              <a:rPr lang="en-US" sz="1250" dirty="0">
                <a:solidFill>
                  <a:srgbClr val="3B6E43"/>
                </a:solidFill>
                <a:latin typeface="Calibri" pitchFamily="34" charset="0"/>
                <a:ea typeface="Calibri" pitchFamily="34" charset="-122"/>
                <a:cs typeface="Calibri" pitchFamily="34" charset="-120"/>
              </a:rPr>
              <a:t>docs/HROC_Report.pdf</a:t>
            </a:r>
            <a:endParaRPr lang="en-US" sz="1250" dirty="0"/>
          </a:p>
        </p:txBody>
      </p:sp>
      <p:sp>
        <p:nvSpPr>
          <p:cNvPr id="18" name="Text 16"/>
          <p:cNvSpPr/>
          <p:nvPr/>
        </p:nvSpPr>
        <p:spPr>
          <a:xfrm>
            <a:off x="8439912" y="3639312"/>
            <a:ext cx="3017520" cy="914400"/>
          </a:xfrm>
          <a:prstGeom prst="rect">
            <a:avLst/>
          </a:prstGeom>
          <a:noFill/>
          <a:ln/>
        </p:spPr>
        <p:txBody>
          <a:bodyPr wrap="square" lIns="0" tIns="0" rIns="0" bIns="0" rtlCol="0" anchor="ctr"/>
          <a:lstStyle/>
          <a:p>
            <a:pPr indent="0" marL="0">
              <a:lnSpc>
                <a:spcPct val="107000"/>
              </a:lnSpc>
              <a:buNone/>
            </a:pPr>
            <a:r>
              <a:rPr lang="en-US" sz="1400" dirty="0">
                <a:solidFill>
                  <a:srgbClr val="5A6B7B"/>
                </a:solidFill>
                <a:latin typeface="Calibri" pitchFamily="34" charset="0"/>
                <a:ea typeface="Calibri" pitchFamily="34" charset="-122"/>
                <a:cs typeface="Calibri" pitchFamily="34" charset="-120"/>
              </a:rPr>
              <a:t>Six pages: background, methods, results, limitations, references.</a:t>
            </a:r>
            <a:endParaRPr lang="en-US" sz="1400" dirty="0"/>
          </a:p>
        </p:txBody>
      </p:sp>
      <p:sp>
        <p:nvSpPr>
          <p:cNvPr id="19" name="Shape 17"/>
          <p:cNvSpPr/>
          <p:nvPr/>
        </p:nvSpPr>
        <p:spPr>
          <a:xfrm>
            <a:off x="685800" y="5029200"/>
            <a:ext cx="10881360" cy="1234440"/>
          </a:xfrm>
          <a:prstGeom prst="roundRect">
            <a:avLst>
              <a:gd name="adj" fmla="val 5926"/>
            </a:avLst>
          </a:prstGeom>
          <a:solidFill>
            <a:srgbClr val="F4F7F9"/>
          </a:solidFill>
          <a:ln w="12700">
            <a:solidFill>
              <a:srgbClr val="DDE4EA"/>
            </a:solidFill>
            <a:prstDash val="solid"/>
          </a:ln>
          <a:effectLst>
            <a:outerShdw sx="100000" sy="100000" kx="0" ky="0" algn="bl" rotWithShape="0" blurRad="127000" dist="38100" dir="5400000">
              <a:srgbClr val="0C1620">
                <a:alpha val="11000"/>
              </a:srgbClr>
            </a:outerShdw>
          </a:effectLst>
        </p:spPr>
      </p:sp>
      <p:sp>
        <p:nvSpPr>
          <p:cNvPr id="20" name="Text 18"/>
          <p:cNvSpPr/>
          <p:nvPr/>
        </p:nvSpPr>
        <p:spPr>
          <a:xfrm>
            <a:off x="1005840" y="5193792"/>
            <a:ext cx="5486400" cy="320040"/>
          </a:xfrm>
          <a:prstGeom prst="rect">
            <a:avLst/>
          </a:prstGeom>
          <a:noFill/>
          <a:ln/>
        </p:spPr>
        <p:txBody>
          <a:bodyPr wrap="square" lIns="0" tIns="0" rIns="0" bIns="0" rtlCol="0" anchor="ctr"/>
          <a:lstStyle/>
          <a:p>
            <a:pPr indent="0" marL="0">
              <a:buNone/>
            </a:pPr>
            <a:r>
              <a:rPr lang="en-US" sz="1600" b="1" dirty="0">
                <a:solidFill>
                  <a:srgbClr val="14212E"/>
                </a:solidFill>
                <a:latin typeface="Calibri" pitchFamily="34" charset="0"/>
                <a:ea typeface="Calibri" pitchFamily="34" charset="-122"/>
                <a:cs typeface="Calibri" pitchFamily="34" charset="-120"/>
              </a:rPr>
              <a:t>What is in the repository</a:t>
            </a:r>
            <a:endParaRPr lang="en-US" sz="1600" dirty="0"/>
          </a:p>
        </p:txBody>
      </p:sp>
      <p:sp>
        <p:nvSpPr>
          <p:cNvPr id="21" name="Text 19"/>
          <p:cNvSpPr/>
          <p:nvPr/>
        </p:nvSpPr>
        <p:spPr>
          <a:xfrm>
            <a:off x="1005840" y="5532120"/>
            <a:ext cx="10241280" cy="640080"/>
          </a:xfrm>
          <a:prstGeom prst="rect">
            <a:avLst/>
          </a:prstGeom>
          <a:noFill/>
          <a:ln/>
        </p:spPr>
        <p:txBody>
          <a:bodyPr wrap="square" lIns="0" tIns="0" rIns="0" bIns="0" rtlCol="0" anchor="ctr"/>
          <a:lstStyle/>
          <a:p>
            <a:pPr indent="0" marL="0">
              <a:lnSpc>
                <a:spcPct val="106000"/>
              </a:lnSpc>
              <a:buNone/>
            </a:pPr>
            <a:r>
              <a:rPr lang="en-US" sz="1450" dirty="0">
                <a:solidFill>
                  <a:srgbClr val="5A6B7B"/>
                </a:solidFill>
                <a:latin typeface="Calibri" pitchFamily="34" charset="0"/>
                <a:ea typeface="Calibri" pitchFamily="34" charset="-122"/>
                <a:cs typeface="Calibri" pitchFamily="34" charset="-120"/>
              </a:rPr>
              <a:t>Every decoding and analysis script, the trained encoder, all 90+ figures, per-animal numerical results, a starter notebook, and setup instructions. Raw recordings are available through NCAN.</a:t>
            </a:r>
            <a:endParaRPr lang="en-US" sz="14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1620"/>
        </a:solidFill>
      </p:bgPr>
    </p:bg>
    <p:spTree>
      <p:nvGrpSpPr>
        <p:cNvPr id="1" name=""/>
        <p:cNvGrpSpPr/>
        <p:nvPr/>
      </p:nvGrpSpPr>
      <p:grpSpPr>
        <a:xfrm>
          <a:off x="0" y="0"/>
          <a:ext cx="0" cy="0"/>
          <a:chOff x="0" y="0"/>
          <a:chExt cx="0" cy="0"/>
        </a:xfrm>
      </p:grpSpPr>
      <p:sp>
        <p:nvSpPr>
          <p:cNvPr id="2" name="Shape 0"/>
          <p:cNvSpPr/>
          <p:nvPr/>
        </p:nvSpPr>
        <p:spPr>
          <a:xfrm>
            <a:off x="9966960" y="1188720"/>
            <a:ext cx="1463040" cy="1463040"/>
          </a:xfrm>
          <a:prstGeom prst="ellipse">
            <a:avLst/>
          </a:prstGeom>
          <a:solidFill>
            <a:srgbClr val="15718F">
              <a:alpha val="48000"/>
            </a:srgbClr>
          </a:solidFill>
          <a:ln/>
        </p:spPr>
      </p:sp>
      <p:sp>
        <p:nvSpPr>
          <p:cNvPr id="3" name="Shape 1"/>
          <p:cNvSpPr/>
          <p:nvPr/>
        </p:nvSpPr>
        <p:spPr>
          <a:xfrm>
            <a:off x="10744200" y="2057400"/>
            <a:ext cx="960120" cy="960120"/>
          </a:xfrm>
          <a:prstGeom prst="ellipse">
            <a:avLst/>
          </a:prstGeom>
          <a:solidFill>
            <a:srgbClr val="B4671A">
              <a:alpha val="52000"/>
            </a:srgbClr>
          </a:solidFill>
          <a:ln/>
        </p:spPr>
      </p:sp>
      <p:sp>
        <p:nvSpPr>
          <p:cNvPr id="4" name="Text 2"/>
          <p:cNvSpPr/>
          <p:nvPr/>
        </p:nvSpPr>
        <p:spPr>
          <a:xfrm>
            <a:off x="777240" y="210312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795528" y="3154680"/>
            <a:ext cx="10058400" cy="914400"/>
          </a:xfrm>
          <a:prstGeom prst="rect">
            <a:avLst/>
          </a:prstGeom>
          <a:noFill/>
          <a:ln/>
        </p:spPr>
        <p:txBody>
          <a:bodyPr wrap="square" lIns="0" tIns="0" rIns="0" bIns="0" rtlCol="0" anchor="ctr"/>
          <a:lstStyle/>
          <a:p>
            <a:pPr indent="0" marL="0">
              <a:lnSpc>
                <a:spcPct val="125000"/>
              </a:lnSpc>
              <a:buNone/>
            </a:pPr>
            <a:r>
              <a:rPr lang="en-US" sz="1750" dirty="0">
                <a:solidFill>
                  <a:srgbClr val="C3D0DA"/>
                </a:solidFill>
                <a:latin typeface="Calibri" pitchFamily="34" charset="0"/>
                <a:ea typeface="Calibri" pitchFamily="34" charset="-122"/>
                <a:cs typeface="Calibri" pitchFamily="34" charset="-120"/>
              </a:rPr>
              <a:t>With thanks to Dr. Jonathan Carp and Theresa Vaughan for their guidance throughout this project.</a:t>
            </a:r>
            <a:endParaRPr lang="en-US" sz="1750" dirty="0"/>
          </a:p>
        </p:txBody>
      </p:sp>
      <p:sp>
        <p:nvSpPr>
          <p:cNvPr id="6" name="Text 4"/>
          <p:cNvSpPr/>
          <p:nvPr/>
        </p:nvSpPr>
        <p:spPr>
          <a:xfrm>
            <a:off x="795528" y="5029200"/>
            <a:ext cx="100584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Suchith Rao  ·  Tarun Senthil</a:t>
            </a:r>
            <a:endParaRPr lang="en-US" sz="1700" dirty="0"/>
          </a:p>
        </p:txBody>
      </p:sp>
      <p:sp>
        <p:nvSpPr>
          <p:cNvPr id="7" name="Text 5"/>
          <p:cNvSpPr/>
          <p:nvPr/>
        </p:nvSpPr>
        <p:spPr>
          <a:xfrm>
            <a:off x="795528" y="5440680"/>
            <a:ext cx="10058400" cy="365760"/>
          </a:xfrm>
          <a:prstGeom prst="rect">
            <a:avLst/>
          </a:prstGeom>
          <a:noFill/>
          <a:ln/>
        </p:spPr>
        <p:txBody>
          <a:bodyPr wrap="square" lIns="0" tIns="0" rIns="0" bIns="0" rtlCol="0" anchor="ctr"/>
          <a:lstStyle/>
          <a:p>
            <a:pPr indent="0" marL="0">
              <a:buNone/>
            </a:pPr>
            <a:r>
              <a:rPr lang="en-US" sz="1550" dirty="0">
                <a:solidFill>
                  <a:srgbClr val="7FB8C9"/>
                </a:solidFill>
                <a:latin typeface="Calibri" pitchFamily="34" charset="0"/>
                <a:ea typeface="Calibri" pitchFamily="34" charset="-122"/>
                <a:cs typeface="Calibri" pitchFamily="34" charset="-120"/>
              </a:rPr>
              <a:t>switchrao777.github.io/hroc-ncan</a:t>
            </a:r>
            <a:endParaRPr lang="en-US" sz="1550" dirty="0"/>
          </a:p>
        </p:txBody>
      </p:sp>
      <p:sp>
        <p:nvSpPr>
          <p:cNvPr id="8" name="Text 6"/>
          <p:cNvSpPr/>
          <p:nvPr/>
        </p:nvSpPr>
        <p:spPr>
          <a:xfrm>
            <a:off x="795528" y="6080760"/>
            <a:ext cx="10058400" cy="365760"/>
          </a:xfrm>
          <a:prstGeom prst="rect">
            <a:avLst/>
          </a:prstGeom>
          <a:noFill/>
          <a:ln/>
        </p:spPr>
        <p:txBody>
          <a:bodyPr wrap="square" lIns="0" tIns="0" rIns="0" bIns="0" rtlCol="0" anchor="ctr"/>
          <a:lstStyle/>
          <a:p>
            <a:pPr indent="0" marL="0">
              <a:buNone/>
            </a:pPr>
            <a:r>
              <a:rPr lang="en-US" sz="1550" i="1" dirty="0">
                <a:solidFill>
                  <a:srgbClr val="8B9AA6"/>
                </a:solidFill>
                <a:latin typeface="Calibri" pitchFamily="34" charset="0"/>
                <a:ea typeface="Calibri" pitchFamily="34" charset="-122"/>
                <a:cs typeface="Calibri" pitchFamily="34" charset="-120"/>
              </a:rPr>
              <a:t>Happy to take questions.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Cortical prediction of the H-reflex</dc:title>
  <dc:subject>PptxGenJS Presentation</dc:subject>
  <dc:creator>Suchith Rao &amp; Tarun Senthil</dc:creator>
  <cp:lastModifiedBy>Suchith Rao &amp; Tarun Senthil</cp:lastModifiedBy>
  <cp:revision>1</cp:revision>
  <dcterms:created xsi:type="dcterms:W3CDTF">2026-09-11T17:34:51Z</dcterms:created>
  <dcterms:modified xsi:type="dcterms:W3CDTF">2026-09-11T17:34:51Z</dcterms:modified>
</cp:coreProperties>
</file>