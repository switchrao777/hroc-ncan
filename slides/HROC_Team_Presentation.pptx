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yourselves and the collaboration. We're the machine-learning side of this project, working with Dr Carp on the operant conditioning data. Over the summer we built a pipeline to decode the old paired EMG and ECoG recordings and asked whether cortical activity changes as the spinal cord learns. Six animals, 2.7 million trials.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background for anyone not on this project. The lab conditions rats to raise or lower the soleus H-reflex over weeks; twenty percent counts as success. Chad Boulay's paper showed cortical activity relates to reflex size. Our question is whether that relationship changes with learning and whether it's visible on single trials. Machine learning helps because instead of hand-picking features we let the network learn its own description of each trial, and with 2.7 million trials that's tractable.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data flow. We load the original 2006 MyISAM tables into a local MySQL server, decode each trial — and one thing worth flagging, the format is little-endian, which contradicts the lab's own decoder docstring; decoding it the documented way produces noise. Each trial is two channels, soleus EMG and cortical ECoG, 150 samples at 5 kilohertz. We measure M-wave, H-reflex and pre-stimulus background, store everything as Zarr, then train an autoencoder that compresses each cortical trace to 48 numbers with no labels. Then we freeze it and test what it predicts.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matters because it took us a while to get right. Raw H-reflex amplitude is not interpretable on its own because it scales with stimulus strength — and our M-wave drifted from about 100 to 450 microvolts over the recording, which alone made one early result look backwards. So we control for stimulus using the M-wave in the same trace, and for motoneuron excitability using the background EMG in the twenty milliseconds before the stimulus. We also subtract background from both measures, because rectified background doesn't cancel and it pulls the H over M ratio toward one. Every number from here on has both corrections applied.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animals, three down and three up, ranging from 45 to 210 days of recording. Worth explaining how we found the up-conditioned animals: rather than download forty gigabytes hunting, we read only the log files, which are tiny. The reward criterion is effectively a success readout — the experimenter raises the bar when the rat is beating it. Animal 4's went from 150 to 220 and animal 3's from 90 to 190, so those two learned. Animals 1 and 6 had theirs lowered, so they failed. We also excluded animal 12 — its pre-stimulus cortical signal is under three microvolts against 106 to 128 in the others, so that electrode was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lead with behaviour because it's the check that has to pass before anything else counts. Each animal is aligned to its own training start day. Up animals rise, down animals fall, a seventy-two point separation between groups. Three of five clear the twenty percent criterion in the trained direction. The two that don't come back later as internal controls — that's actually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approach was the obvious one: does the average cortical state move across conditioning. It does move. But three controls all say the same thing. First, if you take baseline-only data and split it as a fake experiment, it drifts as much as the real thing in five of six animals. Second — and this was Dr Carp's suggestion — if you shuffle which trial belongs to which day, the null is essentially zero, so the metric itself is fine. Third, electrode drift doesn't care which direction you trained the animal, and there's no direction difference. The underlying issue is that in one animal learning and electrode drift are both smooth functions of time, so they can't be separated. That's a design limit, not a data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rather than keep fighting that confound, we changed the question. Instead of asking whether the average state moved, we ask whether cortex can predict this particular trial's reflex size. The key design point — and this is the part I'd like feedback on — is that the decoder is trained and tested inside a single five-day block by cross-validation. A slow electrode change shifts training and test trials together, so it cancels. Drift can move a mean; it can't create trial-by-trial predictive structure inside a block. We also remove stimulus and background inside each block, and compare against a shuffle of that block's own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positive result. Cross-validated R-squared sits above the shuffle null in every animal and nearly every block. I want to be careful about the number: our conservative estimate, removing stimulus and background inside each block, is about 0.04. An earlier, looser version of the analysis gave larger numbers, but it removed the covariates globally rather than block by block, and that leaves stimulus variance behind. So 0.04 is the number we stand behind. It is small, but it's consistent across animals and it isn't explainable by stimulus, muscle tone, or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 Carp asked us to partition the variance, and this is the answer. The stimulus dominates at about 47 percent. Background is about 1 percent. Cortex on its own accounts for 21 percent, but most of that overlaps with the stimulus, because the stimulus drives both the cortical evoked response and the reflex. Once stimulus and background are already in the model, cortex adds about 2 percent uniquely. And roughly half the variance is still unexplained, which is normal for single-trial physiology. So the honest claim is a small but real unique cortical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objection is that both channels are recorded simultaneously, so maybe the ECoG electrode is just picking up muscle. Dr Carp suggested the test: correlate cortical power against muscle power and see how much coordination there is. Muscle artefact lives at high frequency, so that's where contamination would show. Above 100 hertz the correlation is plus 0.06 — essentially zero. The low bands are slightly negative. And the lead-lag check has cortex marginally leading muscle, which is the acceptable direction. So we don't think this is contamination.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Dr Carp's suggestion and I think it's the most promising thing we have. The animals differ in how much they learned, and two of them failed to condition at all — those become a built-in negative control. If the cortical effect is really tied to conditioning, it should scale with learning and be absent in the failures. The correlation between learning and the change in coupling is plus 0.64, which is the right direction, and the two failed animals show no increase. But with five animals it's not significant. This is exactly the analysis that adding the remaining animals would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Bidirectional conditioning is solid and reproduced with full control. The single-trial cortical coupling is real but small — R-squared around 0.04 over a zero null, present in every animal, immune to drift by design, and we've ruled out muscle contamination. And the average-state drift question is a no, with three independent controls agreeing, which we think is worth reporting as a caution to anyone attempting this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strengthen this. Adding the remaining animals is the main one — the lab aims for around ten per group and we have five usable. That's also what powers the scaling test. Then frequency-resolved coupling, which sharpens both the result and the contamination argument. And the time course question — does the cortical change lead or follow the behavioural change — which Dr Carp raised and is mechanistically the most interesting version. We're aiming at a machine-learning venue, framed as an extension of Chad's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we'd value your input on. Whether a two percent unique cortical contribution is meaningful enough to publish. Whether the within-block design convinces you the effect isn't recording change. What else could produce this that we haven't ruled out. And whether the negative drift result is worth reporting. Everything is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0058400" y="914400"/>
            <a:ext cx="1371600" cy="1371600"/>
          </a:xfrm>
          <a:prstGeom prst="ellipse">
            <a:avLst/>
          </a:prstGeom>
          <a:solidFill>
            <a:srgbClr val="6D28D9">
              <a:alpha val="45000"/>
            </a:srgbClr>
          </a:solidFill>
          <a:ln/>
        </p:spPr>
      </p:sp>
      <p:sp>
        <p:nvSpPr>
          <p:cNvPr id="3" name="Shape 1"/>
          <p:cNvSpPr/>
          <p:nvPr/>
        </p:nvSpPr>
        <p:spPr>
          <a:xfrm>
            <a:off x="10744200" y="1691640"/>
            <a:ext cx="914400" cy="914400"/>
          </a:xfrm>
          <a:prstGeom prst="ellipse">
            <a:avLst/>
          </a:prstGeom>
          <a:solidFill>
            <a:srgbClr val="0D9488">
              <a:alpha val="55000"/>
            </a:srgbClr>
          </a:solidFill>
          <a:ln/>
        </p:spPr>
      </p:sp>
      <p:sp>
        <p:nvSpPr>
          <p:cNvPr id="4" name="Text 2"/>
          <p:cNvSpPr/>
          <p:nvPr/>
        </p:nvSpPr>
        <p:spPr>
          <a:xfrm>
            <a:off x="731520" y="1371600"/>
            <a:ext cx="9144000" cy="365760"/>
          </a:xfrm>
          <a:prstGeom prst="rect">
            <a:avLst/>
          </a:prstGeom>
          <a:noFill/>
          <a:ln/>
        </p:spPr>
        <p:txBody>
          <a:bodyPr wrap="square" lIns="0" tIns="0" rIns="0" bIns="0" rtlCol="0" anchor="ctr"/>
          <a:lstStyle/>
          <a:p>
            <a:pPr indent="0" marL="0">
              <a:buNone/>
            </a:pPr>
            <a:r>
              <a:rPr lang="en-US" sz="1300" b="1" spc="300" kern="0" dirty="0">
                <a:solidFill>
                  <a:srgbClr val="0D9488"/>
                </a:solidFill>
                <a:latin typeface="Calibri" pitchFamily="34" charset="0"/>
                <a:ea typeface="Calibri" pitchFamily="34" charset="-122"/>
                <a:cs typeface="Calibri" pitchFamily="34" charset="-120"/>
              </a:rPr>
              <a:t>NCAN · WADSWORTH · SUMMER 2026</a:t>
            </a:r>
            <a:endParaRPr lang="en-US" sz="1300" dirty="0"/>
          </a:p>
        </p:txBody>
      </p:sp>
      <p:sp>
        <p:nvSpPr>
          <p:cNvPr id="5" name="Text 3"/>
          <p:cNvSpPr/>
          <p:nvPr/>
        </p:nvSpPr>
        <p:spPr>
          <a:xfrm>
            <a:off x="731520" y="1828800"/>
            <a:ext cx="10424160" cy="1828800"/>
          </a:xfrm>
          <a:prstGeom prst="rect">
            <a:avLst/>
          </a:prstGeom>
          <a:noFill/>
          <a:ln/>
        </p:spPr>
        <p:txBody>
          <a:bodyPr wrap="square" lIns="0" tIns="0" rIns="0" bIns="0" rtlCol="0" anchor="ctr"/>
          <a:lstStyle/>
          <a:p>
            <a:pPr indent="0" marL="0">
              <a:lnSpc>
                <a:spcPct val="98000"/>
              </a:lnSpc>
              <a:buNone/>
            </a:pPr>
            <a:r>
              <a:rPr lang="en-US" sz="4000" b="1" dirty="0">
                <a:solidFill>
                  <a:srgbClr val="FFFFFF"/>
                </a:solidFill>
                <a:latin typeface="Cambria" pitchFamily="34" charset="0"/>
                <a:ea typeface="Cambria" pitchFamily="34" charset="-122"/>
                <a:cs typeface="Cambria" pitchFamily="34" charset="-120"/>
              </a:rPr>
              <a:t>Does cortex track the reflex</a:t>
            </a:r>
            <a:endParaRPr lang="en-US" sz="4000" dirty="0"/>
          </a:p>
          <a:p>
            <a:pPr indent="0" marL="0">
              <a:lnSpc>
                <a:spcPct val="98000"/>
              </a:lnSpc>
              <a:buNone/>
            </a:pPr>
            <a:r>
              <a:rPr lang="en-US" sz="4000" b="1" dirty="0">
                <a:solidFill>
                  <a:srgbClr val="FFFFFF"/>
                </a:solidFill>
                <a:latin typeface="Cambria" pitchFamily="34" charset="0"/>
                <a:ea typeface="Cambria" pitchFamily="34" charset="-122"/>
                <a:cs typeface="Cambria" pitchFamily="34" charset="-120"/>
              </a:rPr>
              <a:t>as the spinal cord learns?</a:t>
            </a:r>
            <a:endParaRPr lang="en-US" sz="4000" dirty="0"/>
          </a:p>
        </p:txBody>
      </p:sp>
      <p:sp>
        <p:nvSpPr>
          <p:cNvPr id="6" name="Text 4"/>
          <p:cNvSpPr/>
          <p:nvPr/>
        </p:nvSpPr>
        <p:spPr>
          <a:xfrm>
            <a:off x="749808" y="3794760"/>
            <a:ext cx="10058400" cy="822960"/>
          </a:xfrm>
          <a:prstGeom prst="rect">
            <a:avLst/>
          </a:prstGeom>
          <a:noFill/>
          <a:ln/>
        </p:spPr>
        <p:txBody>
          <a:bodyPr wrap="square" lIns="0" tIns="0" rIns="0" bIns="0" rtlCol="0" anchor="ctr"/>
          <a:lstStyle/>
          <a:p>
            <a:pPr indent="0" marL="0">
              <a:lnSpc>
                <a:spcPct val="110000"/>
              </a:lnSpc>
              <a:buNone/>
            </a:pPr>
            <a:r>
              <a:rPr lang="en-US" sz="1700" dirty="0">
                <a:solidFill>
                  <a:srgbClr val="CBD5E1"/>
                </a:solidFill>
                <a:latin typeface="Calibri" pitchFamily="34" charset="0"/>
                <a:ea typeface="Calibri" pitchFamily="34" charset="-122"/>
                <a:cs typeface="Calibri" pitchFamily="34" charset="-120"/>
              </a:rPr>
              <a:t>Machine learning on 20-year-old paired EMG + ECoG recordings.</a:t>
            </a:r>
            <a:endParaRPr lang="en-US" sz="1700" dirty="0"/>
          </a:p>
          <a:p>
            <a:pPr indent="0" marL="0">
              <a:lnSpc>
                <a:spcPct val="110000"/>
              </a:lnSpc>
              <a:buNone/>
            </a:pPr>
            <a:r>
              <a:rPr lang="en-US" sz="1700" dirty="0">
                <a:solidFill>
                  <a:srgbClr val="CBD5E1"/>
                </a:solidFill>
                <a:latin typeface="Calibri" pitchFamily="34" charset="0"/>
                <a:ea typeface="Calibri" pitchFamily="34" charset="-122"/>
                <a:cs typeface="Calibri" pitchFamily="34" charset="-120"/>
              </a:rPr>
              <a:t>Six animals, 2.7 million trials.</a:t>
            </a:r>
            <a:endParaRPr lang="en-US" sz="1700" dirty="0"/>
          </a:p>
        </p:txBody>
      </p:sp>
      <p:sp>
        <p:nvSpPr>
          <p:cNvPr id="7" name="Text 5"/>
          <p:cNvSpPr/>
          <p:nvPr/>
        </p:nvSpPr>
        <p:spPr>
          <a:xfrm>
            <a:off x="749808" y="5943600"/>
            <a:ext cx="100584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Suchith Rao &amp; Tarun Senthil</a:t>
            </a:r>
            <a:pPr indent="0" marL="0">
              <a:buNone/>
            </a:pPr>
            <a:r>
              <a:rPr lang="en-US" sz="1400" dirty="0">
                <a:solidFill>
                  <a:srgbClr val="94A3B8"/>
                </a:solidFill>
                <a:latin typeface="Calibri" pitchFamily="34" charset="0"/>
                <a:ea typeface="Calibri" pitchFamily="34" charset="-122"/>
                <a:cs typeface="Calibri" pitchFamily="34" charset="-120"/>
              </a:rPr>
              <a:t>    •    with Dr. Carp    •    21 August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BACKGROUND</a:t>
            </a:r>
            <a:endParaRPr lang="en-US" sz="120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The paradigm, and the open question</a:t>
            </a:r>
            <a:endParaRPr lang="en-US" sz="2800" dirty="0"/>
          </a:p>
        </p:txBody>
      </p:sp>
      <p:sp>
        <p:nvSpPr>
          <p:cNvPr id="4" name="Shape 2"/>
          <p:cNvSpPr/>
          <p:nvPr/>
        </p:nvSpPr>
        <p:spPr>
          <a:xfrm>
            <a:off x="640080" y="1737360"/>
            <a:ext cx="5349240" cy="2103120"/>
          </a:xfrm>
          <a:prstGeom prst="roundRect">
            <a:avLst>
              <a:gd name="adj" fmla="val 3913"/>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Text 3"/>
          <p:cNvSpPr/>
          <p:nvPr/>
        </p:nvSpPr>
        <p:spPr>
          <a:xfrm>
            <a:off x="914400" y="1965960"/>
            <a:ext cx="4572000" cy="3200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What the lab does</a:t>
            </a:r>
            <a:endParaRPr lang="en-US" sz="1500" dirty="0"/>
          </a:p>
        </p:txBody>
      </p:sp>
      <p:sp>
        <p:nvSpPr>
          <p:cNvPr id="6" name="Text 4"/>
          <p:cNvSpPr/>
          <p:nvPr/>
        </p:nvSpPr>
        <p:spPr>
          <a:xfrm>
            <a:off x="914400" y="2377440"/>
            <a:ext cx="4846320" cy="1280160"/>
          </a:xfrm>
          <a:prstGeom prst="rect">
            <a:avLst/>
          </a:prstGeom>
          <a:noFill/>
          <a:ln/>
        </p:spPr>
        <p:txBody>
          <a:bodyPr wrap="square" lIns="0" tIns="0" rIns="0" bIns="0" rtlCol="0" anchor="ctr"/>
          <a:lstStyle/>
          <a:p>
            <a:pPr indent="0" marL="0">
              <a:lnSpc>
                <a:spcPct val="105000"/>
              </a:lnSpc>
              <a:buNone/>
            </a:pPr>
            <a:r>
              <a:rPr lang="en-US" sz="1400" dirty="0">
                <a:solidFill>
                  <a:srgbClr val="1E293B"/>
                </a:solidFill>
                <a:latin typeface="Calibri" pitchFamily="34" charset="0"/>
                <a:ea typeface="Calibri" pitchFamily="34" charset="-122"/>
                <a:cs typeface="Calibri" pitchFamily="34" charset="-120"/>
              </a:rPr>
              <a:t>Rats are rewarded for making the soleus H-reflex smaller (down-conditioning) or larger (up). Over weeks the spinal cord itself changes. Success is a ≥20% shift.</a:t>
            </a:r>
            <a:endParaRPr lang="en-US" sz="1400" dirty="0"/>
          </a:p>
        </p:txBody>
      </p:sp>
      <p:sp>
        <p:nvSpPr>
          <p:cNvPr id="7" name="Shape 5"/>
          <p:cNvSpPr/>
          <p:nvPr/>
        </p:nvSpPr>
        <p:spPr>
          <a:xfrm>
            <a:off x="6172200" y="1737360"/>
            <a:ext cx="5349240" cy="2103120"/>
          </a:xfrm>
          <a:prstGeom prst="roundRect">
            <a:avLst>
              <a:gd name="adj" fmla="val 3913"/>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8" name="Text 6"/>
          <p:cNvSpPr/>
          <p:nvPr/>
        </p:nvSpPr>
        <p:spPr>
          <a:xfrm>
            <a:off x="6446520" y="1965960"/>
            <a:ext cx="4572000" cy="320040"/>
          </a:xfrm>
          <a:prstGeom prst="rect">
            <a:avLst/>
          </a:prstGeom>
          <a:noFill/>
          <a:ln/>
        </p:spPr>
        <p:txBody>
          <a:bodyPr wrap="square" lIns="0" tIns="0" rIns="0" bIns="0" rtlCol="0" anchor="ctr"/>
          <a:lstStyle/>
          <a:p>
            <a:pPr indent="0" marL="0">
              <a:buNone/>
            </a:pPr>
            <a:r>
              <a:rPr lang="en-US" sz="1500" b="1" dirty="0">
                <a:solidFill>
                  <a:srgbClr val="6D28D9"/>
                </a:solidFill>
                <a:latin typeface="Calibri" pitchFamily="34" charset="0"/>
                <a:ea typeface="Calibri" pitchFamily="34" charset="-122"/>
                <a:cs typeface="Calibri" pitchFamily="34" charset="-120"/>
              </a:rPr>
              <a:t>The open question</a:t>
            </a:r>
            <a:endParaRPr lang="en-US" sz="1500" dirty="0"/>
          </a:p>
        </p:txBody>
      </p:sp>
      <p:sp>
        <p:nvSpPr>
          <p:cNvPr id="9" name="Text 7"/>
          <p:cNvSpPr/>
          <p:nvPr/>
        </p:nvSpPr>
        <p:spPr>
          <a:xfrm>
            <a:off x="6446520" y="2377440"/>
            <a:ext cx="4846320" cy="1280160"/>
          </a:xfrm>
          <a:prstGeom prst="rect">
            <a:avLst/>
          </a:prstGeom>
          <a:noFill/>
          <a:ln/>
        </p:spPr>
        <p:txBody>
          <a:bodyPr wrap="square" lIns="0" tIns="0" rIns="0" bIns="0" rtlCol="0" anchor="ctr"/>
          <a:lstStyle/>
          <a:p>
            <a:pPr indent="0" marL="0">
              <a:lnSpc>
                <a:spcPct val="105000"/>
              </a:lnSpc>
              <a:buNone/>
            </a:pPr>
            <a:r>
              <a:rPr lang="en-US" sz="1400" dirty="0">
                <a:solidFill>
                  <a:srgbClr val="1E293B"/>
                </a:solidFill>
                <a:latin typeface="Calibri" pitchFamily="34" charset="0"/>
                <a:ea typeface="Calibri" pitchFamily="34" charset="-122"/>
                <a:cs typeface="Calibri" pitchFamily="34" charset="-120"/>
              </a:rPr>
              <a:t>Boulay et al. showed cortical activity relates to reflex size. Does that relationship CHANGE as the animal learns — and can we see it on single trials?</a:t>
            </a:r>
            <a:endParaRPr lang="en-US" sz="1400" dirty="0"/>
          </a:p>
        </p:txBody>
      </p:sp>
      <p:sp>
        <p:nvSpPr>
          <p:cNvPr id="10" name="Shape 8"/>
          <p:cNvSpPr/>
          <p:nvPr/>
        </p:nvSpPr>
        <p:spPr>
          <a:xfrm>
            <a:off x="640080" y="4069080"/>
            <a:ext cx="10881360" cy="2011680"/>
          </a:xfrm>
          <a:prstGeom prst="roundRect">
            <a:avLst>
              <a:gd name="adj" fmla="val 4091"/>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Text 9"/>
          <p:cNvSpPr/>
          <p:nvPr/>
        </p:nvSpPr>
        <p:spPr>
          <a:xfrm>
            <a:off x="960120" y="4297680"/>
            <a:ext cx="5486400" cy="320040"/>
          </a:xfrm>
          <a:prstGeom prst="rect">
            <a:avLst/>
          </a:prstGeom>
          <a:noFill/>
          <a:ln/>
        </p:spPr>
        <p:txBody>
          <a:bodyPr wrap="square" lIns="0" tIns="0" rIns="0" bIns="0" rtlCol="0" anchor="ctr"/>
          <a:lstStyle/>
          <a:p>
            <a:pPr indent="0" marL="0">
              <a:buNone/>
            </a:pPr>
            <a:r>
              <a:rPr lang="en-US" sz="1500" b="1" dirty="0">
                <a:solidFill>
                  <a:srgbClr val="0D9488"/>
                </a:solidFill>
                <a:latin typeface="Calibri" pitchFamily="34" charset="0"/>
                <a:ea typeface="Calibri" pitchFamily="34" charset="-122"/>
                <a:cs typeface="Calibri" pitchFamily="34" charset="-120"/>
              </a:rPr>
              <a:t>Why machine learning helps here</a:t>
            </a:r>
            <a:endParaRPr lang="en-US" sz="1500" dirty="0"/>
          </a:p>
        </p:txBody>
      </p:sp>
      <p:sp>
        <p:nvSpPr>
          <p:cNvPr id="12" name="Text 10"/>
          <p:cNvSpPr/>
          <p:nvPr/>
        </p:nvSpPr>
        <p:spPr>
          <a:xfrm>
            <a:off x="960120" y="4709160"/>
            <a:ext cx="10241280" cy="1188720"/>
          </a:xfrm>
          <a:prstGeom prst="rect">
            <a:avLst/>
          </a:prstGeom>
          <a:noFill/>
          <a:ln/>
        </p:spPr>
        <p:txBody>
          <a:bodyPr wrap="square" lIns="0" tIns="0" rIns="0" bIns="0" rtlCol="0" anchor="ctr"/>
          <a:lstStyle/>
          <a:p>
            <a:pPr indent="0" marL="0">
              <a:lnSpc>
                <a:spcPct val="105000"/>
              </a:lnSpc>
              <a:buNone/>
            </a:pPr>
            <a:r>
              <a:rPr lang="en-US" sz="1400" dirty="0">
                <a:solidFill>
                  <a:srgbClr val="1E293B"/>
                </a:solidFill>
                <a:latin typeface="Calibri" pitchFamily="34" charset="0"/>
                <a:ea typeface="Calibri" pitchFamily="34" charset="-122"/>
                <a:cs typeface="Calibri" pitchFamily="34" charset="-120"/>
              </a:rPr>
              <a:t>Rather than hand-picking features from the cortical trace, we let a neural network learn its own compact description of each trial, then test what that description can predict. With 2.7 million trials, that is tractable in a way manual feature engineering is not.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METHODS</a:t>
            </a:r>
            <a:endParaRPr lang="en-US" sz="120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The pipeline, end to end</a:t>
            </a:r>
            <a:endParaRPr lang="en-US" sz="2800" dirty="0"/>
          </a:p>
        </p:txBody>
      </p:sp>
      <p:sp>
        <p:nvSpPr>
          <p:cNvPr id="4" name="Shape 2"/>
          <p:cNvSpPr/>
          <p:nvPr/>
        </p:nvSpPr>
        <p:spPr>
          <a:xfrm>
            <a:off x="640080" y="1737360"/>
            <a:ext cx="10881360" cy="713232"/>
          </a:xfrm>
          <a:prstGeom prst="roundRect">
            <a:avLst>
              <a:gd name="adj" fmla="val 11538"/>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Shape 3"/>
          <p:cNvSpPr/>
          <p:nvPr/>
        </p:nvSpPr>
        <p:spPr>
          <a:xfrm>
            <a:off x="868680" y="1874520"/>
            <a:ext cx="438912" cy="438912"/>
          </a:xfrm>
          <a:prstGeom prst="ellipse">
            <a:avLst/>
          </a:prstGeom>
          <a:solidFill>
            <a:srgbClr val="6D28D9"/>
          </a:solidFill>
          <a:ln/>
        </p:spPr>
      </p:sp>
      <p:sp>
        <p:nvSpPr>
          <p:cNvPr id="6" name="Text 4"/>
          <p:cNvSpPr/>
          <p:nvPr/>
        </p:nvSpPr>
        <p:spPr>
          <a:xfrm>
            <a:off x="868680" y="187452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63040" y="1810512"/>
            <a:ext cx="3017520" cy="566928"/>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Raw 2006 database</a:t>
            </a:r>
            <a:endParaRPr lang="en-US" sz="1450" dirty="0"/>
          </a:p>
        </p:txBody>
      </p:sp>
      <p:sp>
        <p:nvSpPr>
          <p:cNvPr id="8" name="Text 6"/>
          <p:cNvSpPr/>
          <p:nvPr/>
        </p:nvSpPr>
        <p:spPr>
          <a:xfrm>
            <a:off x="4572000" y="1810512"/>
            <a:ext cx="6675120" cy="566928"/>
          </a:xfrm>
          <a:prstGeom prst="rect">
            <a:avLst/>
          </a:prstGeom>
          <a:noFill/>
          <a:ln/>
        </p:spPr>
        <p:txBody>
          <a:bodyPr wrap="square" lIns="0" tIns="0" rIns="0" bIns="0" rtlCol="0" anchor="ctr"/>
          <a:lstStyle/>
          <a:p>
            <a:pPr indent="0" marL="0">
              <a:lnSpc>
                <a:spcPct val="100000"/>
              </a:lnSpc>
              <a:buNone/>
            </a:pPr>
            <a:r>
              <a:rPr lang="en-US" sz="1250" dirty="0">
                <a:solidFill>
                  <a:srgbClr val="64748B"/>
                </a:solidFill>
                <a:latin typeface="Calibri" pitchFamily="34" charset="0"/>
                <a:ea typeface="Calibri" pitchFamily="34" charset="-122"/>
                <a:cs typeface="Calibri" pitchFamily="34" charset="-120"/>
              </a:rPr>
              <a:t>MyISAM tables from the Elizan III system, loaded into a local MySQL server.</a:t>
            </a:r>
            <a:endParaRPr lang="en-US" sz="1250" dirty="0"/>
          </a:p>
        </p:txBody>
      </p:sp>
      <p:sp>
        <p:nvSpPr>
          <p:cNvPr id="9" name="Shape 7"/>
          <p:cNvSpPr/>
          <p:nvPr/>
        </p:nvSpPr>
        <p:spPr>
          <a:xfrm>
            <a:off x="640080" y="2523744"/>
            <a:ext cx="10881360" cy="713232"/>
          </a:xfrm>
          <a:prstGeom prst="roundRect">
            <a:avLst>
              <a:gd name="adj" fmla="val 11538"/>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0" name="Shape 8"/>
          <p:cNvSpPr/>
          <p:nvPr/>
        </p:nvSpPr>
        <p:spPr>
          <a:xfrm>
            <a:off x="868680" y="2660904"/>
            <a:ext cx="438912" cy="438912"/>
          </a:xfrm>
          <a:prstGeom prst="ellipse">
            <a:avLst/>
          </a:prstGeom>
          <a:solidFill>
            <a:srgbClr val="6D28D9"/>
          </a:solidFill>
          <a:ln/>
        </p:spPr>
      </p:sp>
      <p:sp>
        <p:nvSpPr>
          <p:cNvPr id="11" name="Text 9"/>
          <p:cNvSpPr/>
          <p:nvPr/>
        </p:nvSpPr>
        <p:spPr>
          <a:xfrm>
            <a:off x="868680" y="26609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63040" y="2596896"/>
            <a:ext cx="3017520" cy="566928"/>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Decode each trial</a:t>
            </a:r>
            <a:endParaRPr lang="en-US" sz="1450" dirty="0"/>
          </a:p>
        </p:txBody>
      </p:sp>
      <p:sp>
        <p:nvSpPr>
          <p:cNvPr id="13" name="Text 11"/>
          <p:cNvSpPr/>
          <p:nvPr/>
        </p:nvSpPr>
        <p:spPr>
          <a:xfrm>
            <a:off x="4572000" y="2596896"/>
            <a:ext cx="6675120" cy="566928"/>
          </a:xfrm>
          <a:prstGeom prst="rect">
            <a:avLst/>
          </a:prstGeom>
          <a:noFill/>
          <a:ln/>
        </p:spPr>
        <p:txBody>
          <a:bodyPr wrap="square" lIns="0" tIns="0" rIns="0" bIns="0" rtlCol="0" anchor="ctr"/>
          <a:lstStyle/>
          <a:p>
            <a:pPr indent="0" marL="0">
              <a:lnSpc>
                <a:spcPct val="100000"/>
              </a:lnSpc>
              <a:buNone/>
            </a:pPr>
            <a:r>
              <a:rPr lang="en-US" sz="1250" dirty="0">
                <a:solidFill>
                  <a:srgbClr val="64748B"/>
                </a:solidFill>
                <a:latin typeface="Calibri" pitchFamily="34" charset="0"/>
                <a:ea typeface="Calibri" pitchFamily="34" charset="-122"/>
                <a:cs typeface="Calibri" pitchFamily="34" charset="-120"/>
              </a:rPr>
              <a:t>Little-endian int16, two channels: soleus EMG and cortical ECoG. 150 samples at 5 kHz = 30 ms.</a:t>
            </a:r>
            <a:endParaRPr lang="en-US" sz="1250" dirty="0"/>
          </a:p>
        </p:txBody>
      </p:sp>
      <p:sp>
        <p:nvSpPr>
          <p:cNvPr id="14" name="Shape 12"/>
          <p:cNvSpPr/>
          <p:nvPr/>
        </p:nvSpPr>
        <p:spPr>
          <a:xfrm>
            <a:off x="640080" y="3310128"/>
            <a:ext cx="10881360" cy="713232"/>
          </a:xfrm>
          <a:prstGeom prst="roundRect">
            <a:avLst>
              <a:gd name="adj" fmla="val 11538"/>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5" name="Shape 13"/>
          <p:cNvSpPr/>
          <p:nvPr/>
        </p:nvSpPr>
        <p:spPr>
          <a:xfrm>
            <a:off x="868680" y="3447288"/>
            <a:ext cx="438912" cy="438912"/>
          </a:xfrm>
          <a:prstGeom prst="ellipse">
            <a:avLst/>
          </a:prstGeom>
          <a:solidFill>
            <a:srgbClr val="0D9488"/>
          </a:solidFill>
          <a:ln/>
        </p:spPr>
      </p:sp>
      <p:sp>
        <p:nvSpPr>
          <p:cNvPr id="16" name="Text 14"/>
          <p:cNvSpPr/>
          <p:nvPr/>
        </p:nvSpPr>
        <p:spPr>
          <a:xfrm>
            <a:off x="868680" y="3447288"/>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63040" y="3383280"/>
            <a:ext cx="3017520" cy="566928"/>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Measure the physiology</a:t>
            </a:r>
            <a:endParaRPr lang="en-US" sz="1450" dirty="0"/>
          </a:p>
        </p:txBody>
      </p:sp>
      <p:sp>
        <p:nvSpPr>
          <p:cNvPr id="18" name="Text 16"/>
          <p:cNvSpPr/>
          <p:nvPr/>
        </p:nvSpPr>
        <p:spPr>
          <a:xfrm>
            <a:off x="4572000" y="3383280"/>
            <a:ext cx="6675120" cy="566928"/>
          </a:xfrm>
          <a:prstGeom prst="rect">
            <a:avLst/>
          </a:prstGeom>
          <a:noFill/>
          <a:ln/>
        </p:spPr>
        <p:txBody>
          <a:bodyPr wrap="square" lIns="0" tIns="0" rIns="0" bIns="0" rtlCol="0" anchor="ctr"/>
          <a:lstStyle/>
          <a:p>
            <a:pPr indent="0" marL="0">
              <a:lnSpc>
                <a:spcPct val="100000"/>
              </a:lnSpc>
              <a:buNone/>
            </a:pPr>
            <a:r>
              <a:rPr lang="en-US" sz="1250" dirty="0">
                <a:solidFill>
                  <a:srgbClr val="64748B"/>
                </a:solidFill>
                <a:latin typeface="Calibri" pitchFamily="34" charset="0"/>
                <a:ea typeface="Calibri" pitchFamily="34" charset="-122"/>
                <a:cs typeface="Calibri" pitchFamily="34" charset="-120"/>
              </a:rPr>
              <a:t>M-wave (2–4 ms), H-reflex (6–9 ms), and pre-stimulus background — all background-subtracted.</a:t>
            </a:r>
            <a:endParaRPr lang="en-US" sz="1250" dirty="0"/>
          </a:p>
        </p:txBody>
      </p:sp>
      <p:sp>
        <p:nvSpPr>
          <p:cNvPr id="19" name="Shape 17"/>
          <p:cNvSpPr/>
          <p:nvPr/>
        </p:nvSpPr>
        <p:spPr>
          <a:xfrm>
            <a:off x="640080" y="4096512"/>
            <a:ext cx="10881360" cy="713232"/>
          </a:xfrm>
          <a:prstGeom prst="roundRect">
            <a:avLst>
              <a:gd name="adj" fmla="val 11538"/>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0" name="Shape 18"/>
          <p:cNvSpPr/>
          <p:nvPr/>
        </p:nvSpPr>
        <p:spPr>
          <a:xfrm>
            <a:off x="868680" y="4233672"/>
            <a:ext cx="438912" cy="438912"/>
          </a:xfrm>
          <a:prstGeom prst="ellipse">
            <a:avLst/>
          </a:prstGeom>
          <a:solidFill>
            <a:srgbClr val="0D9488"/>
          </a:solidFill>
          <a:ln/>
        </p:spPr>
      </p:sp>
      <p:sp>
        <p:nvSpPr>
          <p:cNvPr id="21" name="Text 19"/>
          <p:cNvSpPr/>
          <p:nvPr/>
        </p:nvSpPr>
        <p:spPr>
          <a:xfrm>
            <a:off x="868680" y="4233672"/>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1463040" y="4169664"/>
            <a:ext cx="3017520" cy="566928"/>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Store as Zarr</a:t>
            </a:r>
            <a:endParaRPr lang="en-US" sz="1450" dirty="0"/>
          </a:p>
        </p:txBody>
      </p:sp>
      <p:sp>
        <p:nvSpPr>
          <p:cNvPr id="23" name="Text 21"/>
          <p:cNvSpPr/>
          <p:nvPr/>
        </p:nvSpPr>
        <p:spPr>
          <a:xfrm>
            <a:off x="4572000" y="4169664"/>
            <a:ext cx="6675120" cy="566928"/>
          </a:xfrm>
          <a:prstGeom prst="rect">
            <a:avLst/>
          </a:prstGeom>
          <a:noFill/>
          <a:ln/>
        </p:spPr>
        <p:txBody>
          <a:bodyPr wrap="square" lIns="0" tIns="0" rIns="0" bIns="0" rtlCol="0" anchor="ctr"/>
          <a:lstStyle/>
          <a:p>
            <a:pPr indent="0" marL="0">
              <a:lnSpc>
                <a:spcPct val="100000"/>
              </a:lnSpc>
              <a:buNone/>
            </a:pPr>
            <a:r>
              <a:rPr lang="en-US" sz="1250" dirty="0">
                <a:solidFill>
                  <a:srgbClr val="64748B"/>
                </a:solidFill>
                <a:latin typeface="Calibri" pitchFamily="34" charset="0"/>
                <a:ea typeface="Calibri" pitchFamily="34" charset="-122"/>
                <a:cs typeface="Calibri" pitchFamily="34" charset="-120"/>
              </a:rPr>
              <a:t>One array store per animal: signals, labels, timestamps, covariates. ~2.7M trials total.</a:t>
            </a:r>
            <a:endParaRPr lang="en-US" sz="1250" dirty="0"/>
          </a:p>
        </p:txBody>
      </p:sp>
      <p:sp>
        <p:nvSpPr>
          <p:cNvPr id="24" name="Shape 22"/>
          <p:cNvSpPr/>
          <p:nvPr/>
        </p:nvSpPr>
        <p:spPr>
          <a:xfrm>
            <a:off x="640080" y="4882896"/>
            <a:ext cx="10881360" cy="713232"/>
          </a:xfrm>
          <a:prstGeom prst="roundRect">
            <a:avLst>
              <a:gd name="adj" fmla="val 11538"/>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5" name="Shape 23"/>
          <p:cNvSpPr/>
          <p:nvPr/>
        </p:nvSpPr>
        <p:spPr>
          <a:xfrm>
            <a:off x="868680" y="5020056"/>
            <a:ext cx="438912" cy="438912"/>
          </a:xfrm>
          <a:prstGeom prst="ellipse">
            <a:avLst/>
          </a:prstGeom>
          <a:solidFill>
            <a:srgbClr val="D97706"/>
          </a:solidFill>
          <a:ln/>
        </p:spPr>
      </p:sp>
      <p:sp>
        <p:nvSpPr>
          <p:cNvPr id="26" name="Text 24"/>
          <p:cNvSpPr/>
          <p:nvPr/>
        </p:nvSpPr>
        <p:spPr>
          <a:xfrm>
            <a:off x="868680" y="5020056"/>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p:nvPr/>
        </p:nvSpPr>
        <p:spPr>
          <a:xfrm>
            <a:off x="1463040" y="4956048"/>
            <a:ext cx="3017520" cy="566928"/>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Learn a representation</a:t>
            </a:r>
            <a:endParaRPr lang="en-US" sz="1450" dirty="0"/>
          </a:p>
        </p:txBody>
      </p:sp>
      <p:sp>
        <p:nvSpPr>
          <p:cNvPr id="28" name="Text 26"/>
          <p:cNvSpPr/>
          <p:nvPr/>
        </p:nvSpPr>
        <p:spPr>
          <a:xfrm>
            <a:off x="4572000" y="4956048"/>
            <a:ext cx="6675120" cy="566928"/>
          </a:xfrm>
          <a:prstGeom prst="rect">
            <a:avLst/>
          </a:prstGeom>
          <a:noFill/>
          <a:ln/>
        </p:spPr>
        <p:txBody>
          <a:bodyPr wrap="square" lIns="0" tIns="0" rIns="0" bIns="0" rtlCol="0" anchor="ctr"/>
          <a:lstStyle/>
          <a:p>
            <a:pPr indent="0" marL="0">
              <a:lnSpc>
                <a:spcPct val="100000"/>
              </a:lnSpc>
              <a:buNone/>
            </a:pPr>
            <a:r>
              <a:rPr lang="en-US" sz="1250" dirty="0">
                <a:solidFill>
                  <a:srgbClr val="64748B"/>
                </a:solidFill>
                <a:latin typeface="Calibri" pitchFamily="34" charset="0"/>
                <a:ea typeface="Calibri" pitchFamily="34" charset="-122"/>
                <a:cs typeface="Calibri" pitchFamily="34" charset="-120"/>
              </a:rPr>
              <a:t>Autoencoder compresses each cortical trace to 48 numbers, trained across animals with no labels.</a:t>
            </a:r>
            <a:endParaRPr lang="en-US" sz="1250" dirty="0"/>
          </a:p>
        </p:txBody>
      </p:sp>
      <p:sp>
        <p:nvSpPr>
          <p:cNvPr id="29" name="Shape 27"/>
          <p:cNvSpPr/>
          <p:nvPr/>
        </p:nvSpPr>
        <p:spPr>
          <a:xfrm>
            <a:off x="640080" y="5669280"/>
            <a:ext cx="10881360" cy="713232"/>
          </a:xfrm>
          <a:prstGeom prst="roundRect">
            <a:avLst>
              <a:gd name="adj" fmla="val 11538"/>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30" name="Shape 28"/>
          <p:cNvSpPr/>
          <p:nvPr/>
        </p:nvSpPr>
        <p:spPr>
          <a:xfrm>
            <a:off x="868680" y="5806440"/>
            <a:ext cx="438912" cy="438912"/>
          </a:xfrm>
          <a:prstGeom prst="ellipse">
            <a:avLst/>
          </a:prstGeom>
          <a:solidFill>
            <a:srgbClr val="D97706"/>
          </a:solidFill>
          <a:ln/>
        </p:spPr>
      </p:sp>
      <p:sp>
        <p:nvSpPr>
          <p:cNvPr id="31" name="Text 29"/>
          <p:cNvSpPr/>
          <p:nvPr/>
        </p:nvSpPr>
        <p:spPr>
          <a:xfrm>
            <a:off x="868680" y="580644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2" name="Text 30"/>
          <p:cNvSpPr/>
          <p:nvPr/>
        </p:nvSpPr>
        <p:spPr>
          <a:xfrm>
            <a:off x="1463040" y="5742432"/>
            <a:ext cx="3017520" cy="566928"/>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Test what it predicts</a:t>
            </a:r>
            <a:endParaRPr lang="en-US" sz="1450" dirty="0"/>
          </a:p>
        </p:txBody>
      </p:sp>
      <p:sp>
        <p:nvSpPr>
          <p:cNvPr id="33" name="Text 31"/>
          <p:cNvSpPr/>
          <p:nvPr/>
        </p:nvSpPr>
        <p:spPr>
          <a:xfrm>
            <a:off x="4572000" y="5742432"/>
            <a:ext cx="6675120" cy="566928"/>
          </a:xfrm>
          <a:prstGeom prst="rect">
            <a:avLst/>
          </a:prstGeom>
          <a:noFill/>
          <a:ln/>
        </p:spPr>
        <p:txBody>
          <a:bodyPr wrap="square" lIns="0" tIns="0" rIns="0" bIns="0" rtlCol="0" anchor="ctr"/>
          <a:lstStyle/>
          <a:p>
            <a:pPr indent="0" marL="0">
              <a:lnSpc>
                <a:spcPct val="100000"/>
              </a:lnSpc>
              <a:buNone/>
            </a:pPr>
            <a:r>
              <a:rPr lang="en-US" sz="1250" dirty="0">
                <a:solidFill>
                  <a:srgbClr val="64748B"/>
                </a:solidFill>
                <a:latin typeface="Calibri" pitchFamily="34" charset="0"/>
                <a:ea typeface="Calibri" pitchFamily="34" charset="-122"/>
                <a:cs typeface="Calibri" pitchFamily="34" charset="-120"/>
              </a:rPr>
              <a:t>Freeze it, then ask what the representation says about the reflex — with controls.</a:t>
            </a:r>
            <a:endParaRPr lang="en-US" sz="1250" dirty="0"/>
          </a:p>
        </p:txBody>
      </p:sp>
      <p:sp>
        <p:nvSpPr>
          <p:cNvPr id="34" name="Text 32"/>
          <p:cNvSpPr/>
          <p:nvPr/>
        </p:nvSpPr>
        <p:spPr>
          <a:xfrm>
            <a:off x="658368" y="6446520"/>
            <a:ext cx="10881360" cy="320040"/>
          </a:xfrm>
          <a:prstGeom prst="rect">
            <a:avLst/>
          </a:prstGeom>
          <a:noFill/>
          <a:ln/>
        </p:spPr>
        <p:txBody>
          <a:bodyPr wrap="square" lIns="0" tIns="0" rIns="0" bIns="0"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Everything is scripted and reproducible; one command per animal.</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METHODS · MEASUREMENT</a:t>
            </a:r>
            <a:endParaRPr lang="en-US" sz="120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Getting the reflex measurement right</a:t>
            </a:r>
            <a:endParaRPr lang="en-US" sz="2800" dirty="0"/>
          </a:p>
        </p:txBody>
      </p:sp>
      <p:sp>
        <p:nvSpPr>
          <p:cNvPr id="4" name="Shape 2"/>
          <p:cNvSpPr/>
          <p:nvPr/>
        </p:nvSpPr>
        <p:spPr>
          <a:xfrm>
            <a:off x="640080" y="1783080"/>
            <a:ext cx="10881360" cy="1097280"/>
          </a:xfrm>
          <a:prstGeom prst="roundRect">
            <a:avLst>
              <a:gd name="adj" fmla="val 75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Shape 3"/>
          <p:cNvSpPr/>
          <p:nvPr/>
        </p:nvSpPr>
        <p:spPr>
          <a:xfrm>
            <a:off x="960120" y="2221992"/>
            <a:ext cx="201168" cy="201168"/>
          </a:xfrm>
          <a:prstGeom prst="ellipse">
            <a:avLst/>
          </a:prstGeom>
          <a:solidFill>
            <a:srgbClr val="DC2626"/>
          </a:solidFill>
          <a:ln/>
        </p:spPr>
      </p:sp>
      <p:sp>
        <p:nvSpPr>
          <p:cNvPr id="6" name="Text 4"/>
          <p:cNvSpPr/>
          <p:nvPr/>
        </p:nvSpPr>
        <p:spPr>
          <a:xfrm>
            <a:off x="1371600" y="1911096"/>
            <a:ext cx="3200400" cy="822960"/>
          </a:xfrm>
          <a:prstGeom prst="rect">
            <a:avLst/>
          </a:prstGeom>
          <a:noFill/>
          <a:ln/>
        </p:spPr>
        <p:txBody>
          <a:bodyPr wrap="square" lIns="0" tIns="0" rIns="0" bIns="0" rtlCol="0" anchor="ctr"/>
          <a:lstStyle/>
          <a:p>
            <a:pPr indent="0" marL="0">
              <a:lnSpc>
                <a:spcPct val="100000"/>
              </a:lnSpc>
              <a:buNone/>
            </a:pPr>
            <a:r>
              <a:rPr lang="en-US" sz="1450" b="1" dirty="0">
                <a:solidFill>
                  <a:srgbClr val="1E293B"/>
                </a:solidFill>
                <a:latin typeface="Calibri" pitchFamily="34" charset="0"/>
                <a:ea typeface="Calibri" pitchFamily="34" charset="-122"/>
                <a:cs typeface="Calibri" pitchFamily="34" charset="-120"/>
              </a:rPr>
              <a:t>Raw H is not interpretable</a:t>
            </a:r>
            <a:endParaRPr lang="en-US" sz="1450" dirty="0"/>
          </a:p>
        </p:txBody>
      </p:sp>
      <p:sp>
        <p:nvSpPr>
          <p:cNvPr id="7" name="Text 5"/>
          <p:cNvSpPr/>
          <p:nvPr/>
        </p:nvSpPr>
        <p:spPr>
          <a:xfrm>
            <a:off x="4663440" y="1911096"/>
            <a:ext cx="6583680" cy="822960"/>
          </a:xfrm>
          <a:prstGeom prst="rect">
            <a:avLst/>
          </a:prstGeom>
          <a:noFill/>
          <a:ln/>
        </p:spPr>
        <p:txBody>
          <a:bodyPr wrap="square" lIns="0" tIns="0" rIns="0" bIns="0" rtlCol="0" anchor="ctr"/>
          <a:lstStyle/>
          <a:p>
            <a:pPr indent="0" marL="0">
              <a:lnSpc>
                <a:spcPct val="104000"/>
              </a:lnSpc>
              <a:buNone/>
            </a:pPr>
            <a:r>
              <a:rPr lang="en-US" sz="1250" dirty="0">
                <a:solidFill>
                  <a:srgbClr val="64748B"/>
                </a:solidFill>
                <a:latin typeface="Calibri" pitchFamily="34" charset="0"/>
                <a:ea typeface="Calibri" pitchFamily="34" charset="-122"/>
                <a:cs typeface="Calibri" pitchFamily="34" charset="-120"/>
              </a:rPr>
              <a:t>Reflex size scales with stimulus strength. Our M-wave drifted 100→450 µV over weeks, which alone made an early result look backwards.</a:t>
            </a:r>
            <a:endParaRPr lang="en-US" sz="1250" dirty="0"/>
          </a:p>
        </p:txBody>
      </p:sp>
      <p:sp>
        <p:nvSpPr>
          <p:cNvPr id="8" name="Shape 6"/>
          <p:cNvSpPr/>
          <p:nvPr/>
        </p:nvSpPr>
        <p:spPr>
          <a:xfrm>
            <a:off x="640080" y="2990088"/>
            <a:ext cx="10881360" cy="1097280"/>
          </a:xfrm>
          <a:prstGeom prst="roundRect">
            <a:avLst>
              <a:gd name="adj" fmla="val 75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9" name="Shape 7"/>
          <p:cNvSpPr/>
          <p:nvPr/>
        </p:nvSpPr>
        <p:spPr>
          <a:xfrm>
            <a:off x="960120" y="3429000"/>
            <a:ext cx="201168" cy="201168"/>
          </a:xfrm>
          <a:prstGeom prst="ellipse">
            <a:avLst/>
          </a:prstGeom>
          <a:solidFill>
            <a:srgbClr val="0D9488"/>
          </a:solidFill>
          <a:ln/>
        </p:spPr>
      </p:sp>
      <p:sp>
        <p:nvSpPr>
          <p:cNvPr id="10" name="Text 8"/>
          <p:cNvSpPr/>
          <p:nvPr/>
        </p:nvSpPr>
        <p:spPr>
          <a:xfrm>
            <a:off x="1371600" y="3118104"/>
            <a:ext cx="3200400" cy="822960"/>
          </a:xfrm>
          <a:prstGeom prst="rect">
            <a:avLst/>
          </a:prstGeom>
          <a:noFill/>
          <a:ln/>
        </p:spPr>
        <p:txBody>
          <a:bodyPr wrap="square" lIns="0" tIns="0" rIns="0" bIns="0" rtlCol="0" anchor="ctr"/>
          <a:lstStyle/>
          <a:p>
            <a:pPr indent="0" marL="0">
              <a:lnSpc>
                <a:spcPct val="100000"/>
              </a:lnSpc>
              <a:buNone/>
            </a:pPr>
            <a:r>
              <a:rPr lang="en-US" sz="1450" b="1" dirty="0">
                <a:solidFill>
                  <a:srgbClr val="1E293B"/>
                </a:solidFill>
                <a:latin typeface="Calibri" pitchFamily="34" charset="0"/>
                <a:ea typeface="Calibri" pitchFamily="34" charset="-122"/>
                <a:cs typeface="Calibri" pitchFamily="34" charset="-120"/>
              </a:rPr>
              <a:t>Control for stimulus</a:t>
            </a:r>
            <a:endParaRPr lang="en-US" sz="1450" dirty="0"/>
          </a:p>
        </p:txBody>
      </p:sp>
      <p:sp>
        <p:nvSpPr>
          <p:cNvPr id="11" name="Text 9"/>
          <p:cNvSpPr/>
          <p:nvPr/>
        </p:nvSpPr>
        <p:spPr>
          <a:xfrm>
            <a:off x="4663440" y="3118104"/>
            <a:ext cx="6583680" cy="822960"/>
          </a:xfrm>
          <a:prstGeom prst="rect">
            <a:avLst/>
          </a:prstGeom>
          <a:noFill/>
          <a:ln/>
        </p:spPr>
        <p:txBody>
          <a:bodyPr wrap="square" lIns="0" tIns="0" rIns="0" bIns="0" rtlCol="0" anchor="ctr"/>
          <a:lstStyle/>
          <a:p>
            <a:pPr indent="0" marL="0">
              <a:lnSpc>
                <a:spcPct val="104000"/>
              </a:lnSpc>
              <a:buNone/>
            </a:pPr>
            <a:r>
              <a:rPr lang="en-US" sz="1250" dirty="0">
                <a:solidFill>
                  <a:srgbClr val="64748B"/>
                </a:solidFill>
                <a:latin typeface="Calibri" pitchFamily="34" charset="0"/>
                <a:ea typeface="Calibri" pitchFamily="34" charset="-122"/>
                <a:cs typeface="Calibri" pitchFamily="34" charset="-120"/>
              </a:rPr>
              <a:t>The M-wave is the direct muscle response in the same trace — a per-trial receipt for how much stimulus arrived.</a:t>
            </a:r>
            <a:endParaRPr lang="en-US" sz="1250" dirty="0"/>
          </a:p>
        </p:txBody>
      </p:sp>
      <p:sp>
        <p:nvSpPr>
          <p:cNvPr id="12" name="Shape 10"/>
          <p:cNvSpPr/>
          <p:nvPr/>
        </p:nvSpPr>
        <p:spPr>
          <a:xfrm>
            <a:off x="640080" y="4197096"/>
            <a:ext cx="10881360" cy="1097280"/>
          </a:xfrm>
          <a:prstGeom prst="roundRect">
            <a:avLst>
              <a:gd name="adj" fmla="val 75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3" name="Shape 11"/>
          <p:cNvSpPr/>
          <p:nvPr/>
        </p:nvSpPr>
        <p:spPr>
          <a:xfrm>
            <a:off x="960120" y="4636008"/>
            <a:ext cx="201168" cy="201168"/>
          </a:xfrm>
          <a:prstGeom prst="ellipse">
            <a:avLst/>
          </a:prstGeom>
          <a:solidFill>
            <a:srgbClr val="0D9488"/>
          </a:solidFill>
          <a:ln/>
        </p:spPr>
      </p:sp>
      <p:sp>
        <p:nvSpPr>
          <p:cNvPr id="14" name="Text 12"/>
          <p:cNvSpPr/>
          <p:nvPr/>
        </p:nvSpPr>
        <p:spPr>
          <a:xfrm>
            <a:off x="1371600" y="4325112"/>
            <a:ext cx="3200400" cy="822960"/>
          </a:xfrm>
          <a:prstGeom prst="rect">
            <a:avLst/>
          </a:prstGeom>
          <a:noFill/>
          <a:ln/>
        </p:spPr>
        <p:txBody>
          <a:bodyPr wrap="square" lIns="0" tIns="0" rIns="0" bIns="0" rtlCol="0" anchor="ctr"/>
          <a:lstStyle/>
          <a:p>
            <a:pPr indent="0" marL="0">
              <a:lnSpc>
                <a:spcPct val="100000"/>
              </a:lnSpc>
              <a:buNone/>
            </a:pPr>
            <a:r>
              <a:rPr lang="en-US" sz="1450" b="1" dirty="0">
                <a:solidFill>
                  <a:srgbClr val="1E293B"/>
                </a:solidFill>
                <a:latin typeface="Calibri" pitchFamily="34" charset="0"/>
                <a:ea typeface="Calibri" pitchFamily="34" charset="-122"/>
                <a:cs typeface="Calibri" pitchFamily="34" charset="-120"/>
              </a:rPr>
              <a:t>Control for excitability</a:t>
            </a:r>
            <a:endParaRPr lang="en-US" sz="1450" dirty="0"/>
          </a:p>
        </p:txBody>
      </p:sp>
      <p:sp>
        <p:nvSpPr>
          <p:cNvPr id="15" name="Text 13"/>
          <p:cNvSpPr/>
          <p:nvPr/>
        </p:nvSpPr>
        <p:spPr>
          <a:xfrm>
            <a:off x="4663440" y="4325112"/>
            <a:ext cx="6583680" cy="822960"/>
          </a:xfrm>
          <a:prstGeom prst="rect">
            <a:avLst/>
          </a:prstGeom>
          <a:noFill/>
          <a:ln/>
        </p:spPr>
        <p:txBody>
          <a:bodyPr wrap="square" lIns="0" tIns="0" rIns="0" bIns="0" rtlCol="0" anchor="ctr"/>
          <a:lstStyle/>
          <a:p>
            <a:pPr indent="0" marL="0">
              <a:lnSpc>
                <a:spcPct val="104000"/>
              </a:lnSpc>
              <a:buNone/>
            </a:pPr>
            <a:r>
              <a:rPr lang="en-US" sz="1250" dirty="0">
                <a:solidFill>
                  <a:srgbClr val="64748B"/>
                </a:solidFill>
                <a:latin typeface="Calibri" pitchFamily="34" charset="0"/>
                <a:ea typeface="Calibri" pitchFamily="34" charset="-122"/>
                <a:cs typeface="Calibri" pitchFamily="34" charset="-120"/>
              </a:rPr>
              <a:t>Background EMG in the 20 ms before the stimulus. High background means an excited motoneuron pool and a larger H — not learning.</a:t>
            </a:r>
            <a:endParaRPr lang="en-US" sz="1250" dirty="0"/>
          </a:p>
        </p:txBody>
      </p:sp>
      <p:sp>
        <p:nvSpPr>
          <p:cNvPr id="16" name="Shape 14"/>
          <p:cNvSpPr/>
          <p:nvPr/>
        </p:nvSpPr>
        <p:spPr>
          <a:xfrm>
            <a:off x="640080" y="5404104"/>
            <a:ext cx="10881360" cy="1097280"/>
          </a:xfrm>
          <a:prstGeom prst="roundRect">
            <a:avLst>
              <a:gd name="adj" fmla="val 75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7" name="Shape 15"/>
          <p:cNvSpPr/>
          <p:nvPr/>
        </p:nvSpPr>
        <p:spPr>
          <a:xfrm>
            <a:off x="960120" y="5843016"/>
            <a:ext cx="201168" cy="201168"/>
          </a:xfrm>
          <a:prstGeom prst="ellipse">
            <a:avLst/>
          </a:prstGeom>
          <a:solidFill>
            <a:srgbClr val="D97706"/>
          </a:solidFill>
          <a:ln/>
        </p:spPr>
      </p:sp>
      <p:sp>
        <p:nvSpPr>
          <p:cNvPr id="18" name="Text 16"/>
          <p:cNvSpPr/>
          <p:nvPr/>
        </p:nvSpPr>
        <p:spPr>
          <a:xfrm>
            <a:off x="1371600" y="5532120"/>
            <a:ext cx="3200400" cy="822960"/>
          </a:xfrm>
          <a:prstGeom prst="rect">
            <a:avLst/>
          </a:prstGeom>
          <a:noFill/>
          <a:ln/>
        </p:spPr>
        <p:txBody>
          <a:bodyPr wrap="square" lIns="0" tIns="0" rIns="0" bIns="0" rtlCol="0" anchor="ctr"/>
          <a:lstStyle/>
          <a:p>
            <a:pPr indent="0" marL="0">
              <a:lnSpc>
                <a:spcPct val="100000"/>
              </a:lnSpc>
              <a:buNone/>
            </a:pPr>
            <a:r>
              <a:rPr lang="en-US" sz="1450" b="1" dirty="0">
                <a:solidFill>
                  <a:srgbClr val="1E293B"/>
                </a:solidFill>
                <a:latin typeface="Calibri" pitchFamily="34" charset="0"/>
                <a:ea typeface="Calibri" pitchFamily="34" charset="-122"/>
                <a:cs typeface="Calibri" pitchFamily="34" charset="-120"/>
              </a:rPr>
              <a:t>Subtract background</a:t>
            </a:r>
            <a:endParaRPr lang="en-US" sz="1450" dirty="0"/>
          </a:p>
        </p:txBody>
      </p:sp>
      <p:sp>
        <p:nvSpPr>
          <p:cNvPr id="19" name="Text 17"/>
          <p:cNvSpPr/>
          <p:nvPr/>
        </p:nvSpPr>
        <p:spPr>
          <a:xfrm>
            <a:off x="4663440" y="5532120"/>
            <a:ext cx="6583680" cy="822960"/>
          </a:xfrm>
          <a:prstGeom prst="rect">
            <a:avLst/>
          </a:prstGeom>
          <a:noFill/>
          <a:ln/>
        </p:spPr>
        <p:txBody>
          <a:bodyPr wrap="square" lIns="0" tIns="0" rIns="0" bIns="0" rtlCol="0" anchor="ctr"/>
          <a:lstStyle/>
          <a:p>
            <a:pPr indent="0" marL="0">
              <a:lnSpc>
                <a:spcPct val="104000"/>
              </a:lnSpc>
              <a:buNone/>
            </a:pPr>
            <a:r>
              <a:rPr lang="en-US" sz="1250" dirty="0">
                <a:solidFill>
                  <a:srgbClr val="64748B"/>
                </a:solidFill>
                <a:latin typeface="Calibri" pitchFamily="34" charset="0"/>
                <a:ea typeface="Calibri" pitchFamily="34" charset="-122"/>
                <a:cs typeface="Calibri" pitchFamily="34" charset="-120"/>
              </a:rPr>
              <a:t>We use mean rectified amplitude, and rectified background does not cancel; left in, it pulls H/M toward 1 and can hide a real effect.</a:t>
            </a:r>
            <a:endParaRPr lang="en-US" sz="1250" dirty="0"/>
          </a:p>
        </p:txBody>
      </p:sp>
      <p:sp>
        <p:nvSpPr>
          <p:cNvPr id="20" name="Text 18"/>
          <p:cNvSpPr/>
          <p:nvPr/>
        </p:nvSpPr>
        <p:spPr>
          <a:xfrm>
            <a:off x="658368" y="6400800"/>
            <a:ext cx="10881360" cy="320040"/>
          </a:xfrm>
          <a:prstGeom prst="rect">
            <a:avLst/>
          </a:prstGeom>
          <a:noFill/>
          <a:ln/>
        </p:spPr>
        <p:txBody>
          <a:bodyPr wrap="square" lIns="0" tIns="0" rIns="0" bIns="0" rtlCol="0" anchor="ctr"/>
          <a:lstStyle/>
          <a:p>
            <a:pPr indent="0" marL="0">
              <a:buNone/>
            </a:pPr>
            <a:r>
              <a:rPr lang="en-US" sz="1300" b="1" i="1" dirty="0">
                <a:solidFill>
                  <a:srgbClr val="6D28D9"/>
                </a:solidFill>
                <a:latin typeface="Calibri" pitchFamily="34" charset="0"/>
                <a:ea typeface="Calibri" pitchFamily="34" charset="-122"/>
                <a:cs typeface="Calibri" pitchFamily="34" charset="-120"/>
              </a:rPr>
              <a:t>Every number in this talk is corrected for stimulus and background.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RESULTS · DATASET</a:t>
            </a:r>
            <a:endParaRPr lang="en-US" sz="120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Six animals, both directions</a:t>
            </a:r>
            <a:endParaRPr lang="en-US" sz="2800" dirty="0"/>
          </a:p>
        </p:txBody>
      </p:sp>
      <p:sp>
        <p:nvSpPr>
          <p:cNvPr id="4" name="Shape 2"/>
          <p:cNvSpPr/>
          <p:nvPr/>
        </p:nvSpPr>
        <p:spPr>
          <a:xfrm>
            <a:off x="640080" y="1737360"/>
            <a:ext cx="2624328" cy="1600200"/>
          </a:xfrm>
          <a:prstGeom prst="roundRect">
            <a:avLst>
              <a:gd name="adj" fmla="val 5143"/>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Text 3"/>
          <p:cNvSpPr/>
          <p:nvPr/>
        </p:nvSpPr>
        <p:spPr>
          <a:xfrm>
            <a:off x="640080" y="1901952"/>
            <a:ext cx="2624328" cy="777240"/>
          </a:xfrm>
          <a:prstGeom prst="rect">
            <a:avLst/>
          </a:prstGeom>
          <a:noFill/>
          <a:ln/>
        </p:spPr>
        <p:txBody>
          <a:bodyPr wrap="square" lIns="0" tIns="0" rIns="0" bIns="0" rtlCol="0" anchor="ctr"/>
          <a:lstStyle/>
          <a:p>
            <a:pPr algn="ctr" indent="0" marL="0">
              <a:buNone/>
            </a:pPr>
            <a:r>
              <a:rPr lang="en-US" sz="3400" b="1" dirty="0">
                <a:solidFill>
                  <a:srgbClr val="6D28D9"/>
                </a:solidFill>
                <a:latin typeface="Cambria" pitchFamily="34" charset="0"/>
                <a:ea typeface="Cambria" pitchFamily="34" charset="-122"/>
                <a:cs typeface="Cambria" pitchFamily="34" charset="-120"/>
              </a:rPr>
              <a:t>6</a:t>
            </a:r>
            <a:endParaRPr lang="en-US" sz="3400" dirty="0"/>
          </a:p>
        </p:txBody>
      </p:sp>
      <p:sp>
        <p:nvSpPr>
          <p:cNvPr id="6" name="Text 4"/>
          <p:cNvSpPr/>
          <p:nvPr/>
        </p:nvSpPr>
        <p:spPr>
          <a:xfrm>
            <a:off x="640080" y="2670048"/>
            <a:ext cx="2624328" cy="41148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animals</a:t>
            </a:r>
            <a:endParaRPr lang="en-US" sz="1300" dirty="0"/>
          </a:p>
        </p:txBody>
      </p:sp>
      <p:sp>
        <p:nvSpPr>
          <p:cNvPr id="7" name="Shape 5"/>
          <p:cNvSpPr/>
          <p:nvPr/>
        </p:nvSpPr>
        <p:spPr>
          <a:xfrm>
            <a:off x="3429000" y="1737360"/>
            <a:ext cx="2624328" cy="1600200"/>
          </a:xfrm>
          <a:prstGeom prst="roundRect">
            <a:avLst>
              <a:gd name="adj" fmla="val 5143"/>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8" name="Text 6"/>
          <p:cNvSpPr/>
          <p:nvPr/>
        </p:nvSpPr>
        <p:spPr>
          <a:xfrm>
            <a:off x="3429000" y="1901952"/>
            <a:ext cx="2624328" cy="777240"/>
          </a:xfrm>
          <a:prstGeom prst="rect">
            <a:avLst/>
          </a:prstGeom>
          <a:noFill/>
          <a:ln/>
        </p:spPr>
        <p:txBody>
          <a:bodyPr wrap="square" lIns="0" tIns="0" rIns="0" bIns="0" rtlCol="0" anchor="ctr"/>
          <a:lstStyle/>
          <a:p>
            <a:pPr algn="ctr" indent="0" marL="0">
              <a:buNone/>
            </a:pPr>
            <a:r>
              <a:rPr lang="en-US" sz="3400" b="1" dirty="0">
                <a:solidFill>
                  <a:srgbClr val="0D9488"/>
                </a:solidFill>
                <a:latin typeface="Cambria" pitchFamily="34" charset="0"/>
                <a:ea typeface="Cambria" pitchFamily="34" charset="-122"/>
                <a:cs typeface="Cambria" pitchFamily="34" charset="-120"/>
              </a:rPr>
              <a:t>2.7M</a:t>
            </a:r>
            <a:endParaRPr lang="en-US" sz="3400" dirty="0"/>
          </a:p>
        </p:txBody>
      </p:sp>
      <p:sp>
        <p:nvSpPr>
          <p:cNvPr id="9" name="Text 7"/>
          <p:cNvSpPr/>
          <p:nvPr/>
        </p:nvSpPr>
        <p:spPr>
          <a:xfrm>
            <a:off x="3429000" y="2670048"/>
            <a:ext cx="2624328" cy="41148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trials</a:t>
            </a:r>
            <a:endParaRPr lang="en-US" sz="1300" dirty="0"/>
          </a:p>
        </p:txBody>
      </p:sp>
      <p:sp>
        <p:nvSpPr>
          <p:cNvPr id="10" name="Shape 8"/>
          <p:cNvSpPr/>
          <p:nvPr/>
        </p:nvSpPr>
        <p:spPr>
          <a:xfrm>
            <a:off x="6217920" y="1737360"/>
            <a:ext cx="2624328" cy="1600200"/>
          </a:xfrm>
          <a:prstGeom prst="roundRect">
            <a:avLst>
              <a:gd name="adj" fmla="val 5143"/>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Text 9"/>
          <p:cNvSpPr/>
          <p:nvPr/>
        </p:nvSpPr>
        <p:spPr>
          <a:xfrm>
            <a:off x="6217920" y="1901952"/>
            <a:ext cx="2624328" cy="777240"/>
          </a:xfrm>
          <a:prstGeom prst="rect">
            <a:avLst/>
          </a:prstGeom>
          <a:noFill/>
          <a:ln/>
        </p:spPr>
        <p:txBody>
          <a:bodyPr wrap="square" lIns="0" tIns="0" rIns="0" bIns="0" rtlCol="0" anchor="ctr"/>
          <a:lstStyle/>
          <a:p>
            <a:pPr algn="ctr" indent="0" marL="0">
              <a:buNone/>
            </a:pPr>
            <a:r>
              <a:rPr lang="en-US" sz="3400" b="1" dirty="0">
                <a:solidFill>
                  <a:srgbClr val="D97706"/>
                </a:solidFill>
                <a:latin typeface="Cambria" pitchFamily="34" charset="0"/>
                <a:ea typeface="Cambria" pitchFamily="34" charset="-122"/>
                <a:cs typeface="Cambria" pitchFamily="34" charset="-120"/>
              </a:rPr>
              <a:t>3 / 3</a:t>
            </a:r>
            <a:endParaRPr lang="en-US" sz="3400" dirty="0"/>
          </a:p>
        </p:txBody>
      </p:sp>
      <p:sp>
        <p:nvSpPr>
          <p:cNvPr id="12" name="Text 10"/>
          <p:cNvSpPr/>
          <p:nvPr/>
        </p:nvSpPr>
        <p:spPr>
          <a:xfrm>
            <a:off x="6217920" y="2670048"/>
            <a:ext cx="2624328" cy="41148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down / up</a:t>
            </a:r>
            <a:endParaRPr lang="en-US" sz="1300" dirty="0"/>
          </a:p>
        </p:txBody>
      </p:sp>
      <p:sp>
        <p:nvSpPr>
          <p:cNvPr id="13" name="Shape 11"/>
          <p:cNvSpPr/>
          <p:nvPr/>
        </p:nvSpPr>
        <p:spPr>
          <a:xfrm>
            <a:off x="9006840" y="1737360"/>
            <a:ext cx="2624328" cy="1600200"/>
          </a:xfrm>
          <a:prstGeom prst="roundRect">
            <a:avLst>
              <a:gd name="adj" fmla="val 5143"/>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4" name="Text 12"/>
          <p:cNvSpPr/>
          <p:nvPr/>
        </p:nvSpPr>
        <p:spPr>
          <a:xfrm>
            <a:off x="9006840" y="1901952"/>
            <a:ext cx="2624328" cy="777240"/>
          </a:xfrm>
          <a:prstGeom prst="rect">
            <a:avLst/>
          </a:prstGeom>
          <a:noFill/>
          <a:ln/>
        </p:spPr>
        <p:txBody>
          <a:bodyPr wrap="square" lIns="0" tIns="0" rIns="0" bIns="0" rtlCol="0" anchor="ctr"/>
          <a:lstStyle/>
          <a:p>
            <a:pPr algn="ctr" indent="0" marL="0">
              <a:buNone/>
            </a:pPr>
            <a:r>
              <a:rPr lang="en-US" sz="3400" b="1" dirty="0">
                <a:solidFill>
                  <a:srgbClr val="16A34A"/>
                </a:solidFill>
                <a:latin typeface="Cambria" pitchFamily="34" charset="0"/>
                <a:ea typeface="Cambria" pitchFamily="34" charset="-122"/>
                <a:cs typeface="Cambria" pitchFamily="34" charset="-120"/>
              </a:rPr>
              <a:t>45–210</a:t>
            </a:r>
            <a:endParaRPr lang="en-US" sz="3400" dirty="0"/>
          </a:p>
        </p:txBody>
      </p:sp>
      <p:sp>
        <p:nvSpPr>
          <p:cNvPr id="15" name="Text 13"/>
          <p:cNvSpPr/>
          <p:nvPr/>
        </p:nvSpPr>
        <p:spPr>
          <a:xfrm>
            <a:off x="9006840" y="2670048"/>
            <a:ext cx="2624328" cy="41148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days each</a:t>
            </a:r>
            <a:endParaRPr lang="en-US" sz="1300" dirty="0"/>
          </a:p>
        </p:txBody>
      </p:sp>
      <p:sp>
        <p:nvSpPr>
          <p:cNvPr id="16" name="Shape 14"/>
          <p:cNvSpPr/>
          <p:nvPr/>
        </p:nvSpPr>
        <p:spPr>
          <a:xfrm>
            <a:off x="640080" y="3611880"/>
            <a:ext cx="10881360" cy="1371600"/>
          </a:xfrm>
          <a:prstGeom prst="roundRect">
            <a:avLst>
              <a:gd name="adj" fmla="val 6000"/>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7" name="Text 15"/>
          <p:cNvSpPr/>
          <p:nvPr/>
        </p:nvSpPr>
        <p:spPr>
          <a:xfrm>
            <a:off x="960120" y="3794760"/>
            <a:ext cx="7315200" cy="320040"/>
          </a:xfrm>
          <a:prstGeom prst="rect">
            <a:avLst/>
          </a:prstGeom>
          <a:noFill/>
          <a:ln/>
        </p:spPr>
        <p:txBody>
          <a:bodyPr wrap="square" lIns="0" tIns="0" rIns="0" bIns="0" rtlCol="0" anchor="ctr"/>
          <a:lstStyle/>
          <a:p>
            <a:pPr indent="0" marL="0">
              <a:buNone/>
            </a:pPr>
            <a:r>
              <a:rPr lang="en-US" sz="1450" b="1" dirty="0">
                <a:solidFill>
                  <a:srgbClr val="6D28D9"/>
                </a:solidFill>
                <a:latin typeface="Calibri" pitchFamily="34" charset="0"/>
                <a:ea typeface="Calibri" pitchFamily="34" charset="-122"/>
                <a:cs typeface="Calibri" pitchFamily="34" charset="-120"/>
              </a:rPr>
              <a:t>Finding good up-conditioned animals without downloading everything</a:t>
            </a:r>
            <a:endParaRPr lang="en-US" sz="1450" dirty="0"/>
          </a:p>
        </p:txBody>
      </p:sp>
      <p:sp>
        <p:nvSpPr>
          <p:cNvPr id="18" name="Text 16"/>
          <p:cNvSpPr/>
          <p:nvPr/>
        </p:nvSpPr>
        <p:spPr>
          <a:xfrm>
            <a:off x="960120" y="4160520"/>
            <a:ext cx="10241280" cy="731520"/>
          </a:xfrm>
          <a:prstGeom prst="rect">
            <a:avLst/>
          </a:prstGeom>
          <a:noFill/>
          <a:ln/>
        </p:spPr>
        <p:txBody>
          <a:bodyPr wrap="square" lIns="0" tIns="0" rIns="0" bIns="0" rtlCol="0" anchor="ctr"/>
          <a:lstStyle/>
          <a:p>
            <a:pPr indent="0" marL="0">
              <a:lnSpc>
                <a:spcPct val="104000"/>
              </a:lnSpc>
              <a:buNone/>
            </a:pPr>
            <a:r>
              <a:rPr lang="en-US" sz="1300" dirty="0">
                <a:solidFill>
                  <a:srgbClr val="1E293B"/>
                </a:solidFill>
                <a:latin typeface="Calibri" pitchFamily="34" charset="0"/>
                <a:ea typeface="Calibri" pitchFamily="34" charset="-122"/>
                <a:cs typeface="Calibri" pitchFamily="34" charset="-120"/>
              </a:rPr>
              <a:t>The log files are tiny. The reward criterion is a success readout — the experimenter raises the bar when the rat beats it. Animal 4's went 150→220, animal 3's 90→190. Animals 1 and 6 had theirs lowered, so they failed. We only downloaded the ones that worked.</a:t>
            </a:r>
            <a:endParaRPr lang="en-US" sz="1300" dirty="0"/>
          </a:p>
        </p:txBody>
      </p:sp>
      <p:sp>
        <p:nvSpPr>
          <p:cNvPr id="19" name="Shape 17"/>
          <p:cNvSpPr/>
          <p:nvPr/>
        </p:nvSpPr>
        <p:spPr>
          <a:xfrm>
            <a:off x="640080" y="5166360"/>
            <a:ext cx="10881360" cy="1234440"/>
          </a:xfrm>
          <a:prstGeom prst="roundRect">
            <a:avLst>
              <a:gd name="adj" fmla="val 6667"/>
            </a:avLst>
          </a:prstGeom>
          <a:solidFill>
            <a:srgbClr val="FEF3E2"/>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0" name="Text 18"/>
          <p:cNvSpPr/>
          <p:nvPr/>
        </p:nvSpPr>
        <p:spPr>
          <a:xfrm>
            <a:off x="960120" y="5321808"/>
            <a:ext cx="5486400" cy="320040"/>
          </a:xfrm>
          <a:prstGeom prst="rect">
            <a:avLst/>
          </a:prstGeom>
          <a:noFill/>
          <a:ln/>
        </p:spPr>
        <p:txBody>
          <a:bodyPr wrap="square" lIns="0" tIns="0" rIns="0" bIns="0" rtlCol="0" anchor="ctr"/>
          <a:lstStyle/>
          <a:p>
            <a:pPr indent="0" marL="0">
              <a:buNone/>
            </a:pPr>
            <a:r>
              <a:rPr lang="en-US" sz="1400" b="1" dirty="0">
                <a:solidFill>
                  <a:srgbClr val="D97706"/>
                </a:solidFill>
                <a:latin typeface="Calibri" pitchFamily="34" charset="0"/>
                <a:ea typeface="Calibri" pitchFamily="34" charset="-122"/>
                <a:cs typeface="Calibri" pitchFamily="34" charset="-120"/>
              </a:rPr>
              <a:t>One animal excluded</a:t>
            </a:r>
            <a:endParaRPr lang="en-US" sz="1400" dirty="0"/>
          </a:p>
        </p:txBody>
      </p:sp>
      <p:sp>
        <p:nvSpPr>
          <p:cNvPr id="21" name="Text 19"/>
          <p:cNvSpPr/>
          <p:nvPr/>
        </p:nvSpPr>
        <p:spPr>
          <a:xfrm>
            <a:off x="960120" y="5669280"/>
            <a:ext cx="10241280" cy="640080"/>
          </a:xfrm>
          <a:prstGeom prst="rect">
            <a:avLst/>
          </a:prstGeom>
          <a:noFill/>
          <a:ln/>
        </p:spPr>
        <p:txBody>
          <a:bodyPr wrap="square" lIns="0" tIns="0" rIns="0" bIns="0" rtlCol="0" anchor="ctr"/>
          <a:lstStyle/>
          <a:p>
            <a:pPr indent="0" marL="0">
              <a:lnSpc>
                <a:spcPct val="104000"/>
              </a:lnSpc>
              <a:buNone/>
            </a:pPr>
            <a:r>
              <a:rPr lang="en-US" sz="1300" dirty="0">
                <a:solidFill>
                  <a:srgbClr val="1E293B"/>
                </a:solidFill>
                <a:latin typeface="Calibri" pitchFamily="34" charset="0"/>
                <a:ea typeface="Calibri" pitchFamily="34" charset="-122"/>
                <a:cs typeface="Calibri" pitchFamily="34" charset="-120"/>
              </a:rPr>
              <a:t>Animal 12's pre-stimulus cortical signal is 2.8 µV, versus 106–128 µV in the others — the ECoG electrode was effectively dead. Its apparent weak conditioning was a recording failure.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16A34A"/>
                </a:solidFill>
                <a:latin typeface="Calibri" pitchFamily="34" charset="0"/>
                <a:ea typeface="Calibri" pitchFamily="34" charset="-122"/>
                <a:cs typeface="Calibri" pitchFamily="34" charset="-120"/>
              </a:rPr>
              <a:t>RESULT 1 · BEHAVIOUR</a:t>
            </a:r>
            <a:endParaRPr lang="en-US" sz="120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Conditioning works, in both directions</a:t>
            </a:r>
            <a:endParaRPr lang="en-US" sz="2800" dirty="0"/>
          </a:p>
        </p:txBody>
      </p:sp>
      <p:pic>
        <p:nvPicPr>
          <p:cNvPr id="4" name="Image 0" descr="outputs/updown/updown_contrast.png">    </p:cNvPr>
          <p:cNvPicPr>
            <a:picLocks noChangeAspect="1"/>
          </p:cNvPicPr>
          <p:nvPr/>
        </p:nvPicPr>
        <p:blipFill>
          <a:blip r:embed="rId1"/>
          <a:srcRect l="0" r="0" t="0" b="0"/>
          <a:stretch/>
        </p:blipFill>
        <p:spPr>
          <a:xfrm>
            <a:off x="457200" y="1783080"/>
            <a:ext cx="7040880" cy="2708031"/>
          </a:xfrm>
          <a:prstGeom prst="rect">
            <a:avLst/>
          </a:prstGeom>
        </p:spPr>
      </p:pic>
      <p:sp>
        <p:nvSpPr>
          <p:cNvPr id="5" name="Shape 2"/>
          <p:cNvSpPr/>
          <p:nvPr/>
        </p:nvSpPr>
        <p:spPr>
          <a:xfrm>
            <a:off x="7772400" y="1920240"/>
            <a:ext cx="3749040" cy="3794760"/>
          </a:xfrm>
          <a:prstGeom prst="roundRect">
            <a:avLst>
              <a:gd name="adj" fmla="val 2195"/>
            </a:avLst>
          </a:prstGeom>
          <a:solidFill>
            <a:srgbClr val="F0FDF4"/>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8001000" y="2148840"/>
            <a:ext cx="3291840" cy="320040"/>
          </a:xfrm>
          <a:prstGeom prst="rect">
            <a:avLst/>
          </a:prstGeom>
          <a:noFill/>
          <a:ln/>
        </p:spPr>
        <p:txBody>
          <a:bodyPr wrap="square" lIns="0" tIns="0" rIns="0" bIns="0" rtlCol="0" anchor="ctr"/>
          <a:lstStyle/>
          <a:p>
            <a:pPr indent="0" marL="0">
              <a:buNone/>
            </a:pPr>
            <a:r>
              <a:rPr lang="en-US" sz="1400" b="1" dirty="0">
                <a:solidFill>
                  <a:srgbClr val="16A34A"/>
                </a:solidFill>
                <a:latin typeface="Calibri" pitchFamily="34" charset="0"/>
                <a:ea typeface="Calibri" pitchFamily="34" charset="-122"/>
                <a:cs typeface="Calibri" pitchFamily="34" charset="-120"/>
              </a:rPr>
              <a:t>The positive control</a:t>
            </a:r>
            <a:endParaRPr lang="en-US" sz="1400" dirty="0"/>
          </a:p>
        </p:txBody>
      </p:sp>
      <p:sp>
        <p:nvSpPr>
          <p:cNvPr id="7" name="Text 4"/>
          <p:cNvSpPr/>
          <p:nvPr/>
        </p:nvSpPr>
        <p:spPr>
          <a:xfrm>
            <a:off x="8001000" y="2560320"/>
            <a:ext cx="3337560" cy="1280160"/>
          </a:xfrm>
          <a:prstGeom prst="rect">
            <a:avLst/>
          </a:prstGeom>
          <a:noFill/>
          <a:ln/>
        </p:spPr>
        <p:txBody>
          <a:bodyPr wrap="square" lIns="0" tIns="0" rIns="0" bIns="0" rtlCol="0" anchor="ctr"/>
          <a:lstStyle/>
          <a:p>
            <a:pPr indent="0" marL="0">
              <a:lnSpc>
                <a:spcPct val="105000"/>
              </a:lnSpc>
              <a:buNone/>
            </a:pPr>
            <a:r>
              <a:rPr lang="en-US" sz="1300" dirty="0">
                <a:solidFill>
                  <a:srgbClr val="1E293B"/>
                </a:solidFill>
                <a:latin typeface="Calibri" pitchFamily="34" charset="0"/>
                <a:ea typeface="Calibri" pitchFamily="34" charset="-122"/>
                <a:cs typeface="Calibri" pitchFamily="34" charset="-120"/>
              </a:rPr>
              <a:t>Each animal aligned to its own training start. Red (up) rises, blue (down) falls — a 72 percentage-point group separation.</a:t>
            </a:r>
            <a:endParaRPr lang="en-US" sz="1300" dirty="0"/>
          </a:p>
        </p:txBody>
      </p:sp>
      <p:sp>
        <p:nvSpPr>
          <p:cNvPr id="8" name="Text 5"/>
          <p:cNvSpPr/>
          <p:nvPr/>
        </p:nvSpPr>
        <p:spPr>
          <a:xfrm>
            <a:off x="8001000" y="3931920"/>
            <a:ext cx="3337560" cy="914400"/>
          </a:xfrm>
          <a:prstGeom prst="rect">
            <a:avLst/>
          </a:prstGeom>
          <a:noFill/>
          <a:ln/>
        </p:spPr>
        <p:txBody>
          <a:bodyPr wrap="square" lIns="0" tIns="0" rIns="0" bIns="0" rtlCol="0" anchor="ctr"/>
          <a:lstStyle/>
          <a:p>
            <a:pPr indent="0" marL="0">
              <a:lnSpc>
                <a:spcPct val="105000"/>
              </a:lnSpc>
              <a:buNone/>
            </a:pPr>
            <a:r>
              <a:rPr lang="en-US" sz="1300" b="1" dirty="0">
                <a:solidFill>
                  <a:srgbClr val="1E293B"/>
                </a:solidFill>
                <a:latin typeface="Calibri" pitchFamily="34" charset="0"/>
                <a:ea typeface="Calibri" pitchFamily="34" charset="-122"/>
                <a:cs typeface="Calibri" pitchFamily="34" charset="-120"/>
              </a:rPr>
              <a:t>Three of five animals clear the lab's 20% criterion in the trained direction.</a:t>
            </a:r>
            <a:endParaRPr lang="en-US" sz="1300" dirty="0"/>
          </a:p>
        </p:txBody>
      </p:sp>
      <p:sp>
        <p:nvSpPr>
          <p:cNvPr id="9" name="Text 6"/>
          <p:cNvSpPr/>
          <p:nvPr/>
        </p:nvSpPr>
        <p:spPr>
          <a:xfrm>
            <a:off x="8001000" y="4892040"/>
            <a:ext cx="3337560" cy="777240"/>
          </a:xfrm>
          <a:prstGeom prst="rect">
            <a:avLst/>
          </a:prstGeom>
          <a:noFill/>
          <a:ln/>
        </p:spPr>
        <p:txBody>
          <a:bodyPr wrap="square" lIns="0" tIns="0" rIns="0" bIns="0" rtlCol="0" anchor="ctr"/>
          <a:lstStyle/>
          <a:p>
            <a:pPr indent="0" marL="0">
              <a:lnSpc>
                <a:spcPct val="104000"/>
              </a:lnSpc>
              <a:buNone/>
            </a:pPr>
            <a:r>
              <a:rPr lang="en-US" sz="1200" i="1" dirty="0">
                <a:solidFill>
                  <a:srgbClr val="64748B"/>
                </a:solidFill>
                <a:latin typeface="Calibri" pitchFamily="34" charset="0"/>
                <a:ea typeface="Calibri" pitchFamily="34" charset="-122"/>
                <a:cs typeface="Calibri" pitchFamily="34" charset="-120"/>
              </a:rPr>
              <a:t>The two that don't become internal controls later in the talk.</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D97706"/>
                </a:solidFill>
                <a:latin typeface="Calibri" pitchFamily="34" charset="0"/>
                <a:ea typeface="Calibri" pitchFamily="34" charset="-122"/>
                <a:cs typeface="Calibri" pitchFamily="34" charset="-120"/>
              </a:rPr>
              <a:t>RESULT 2 · A NEGATIVE RESULT</a:t>
            </a:r>
            <a:endParaRPr lang="en-US" sz="120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Average cortical state drifts — but not from learning</a:t>
            </a:r>
            <a:endParaRPr lang="en-US" sz="2800" dirty="0"/>
          </a:p>
        </p:txBody>
      </p:sp>
      <p:sp>
        <p:nvSpPr>
          <p:cNvPr id="4" name="Shape 2"/>
          <p:cNvSpPr/>
          <p:nvPr/>
        </p:nvSpPr>
        <p:spPr>
          <a:xfrm>
            <a:off x="640080" y="1737360"/>
            <a:ext cx="10881360" cy="1234440"/>
          </a:xfrm>
          <a:prstGeom prst="roundRect">
            <a:avLst>
              <a:gd name="adj" fmla="val 6667"/>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Text 3"/>
          <p:cNvSpPr/>
          <p:nvPr/>
        </p:nvSpPr>
        <p:spPr>
          <a:xfrm>
            <a:off x="960120" y="1901952"/>
            <a:ext cx="10241280" cy="91440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Our first approach was to ask whether the average cortical state moves across conditioning. It does. But three controls say that movement is the recording changing over weeks, not learning.</a:t>
            </a:r>
            <a:endParaRPr lang="en-US" sz="1450" dirty="0"/>
          </a:p>
        </p:txBody>
      </p:sp>
      <p:sp>
        <p:nvSpPr>
          <p:cNvPr id="6" name="Shape 4"/>
          <p:cNvSpPr/>
          <p:nvPr/>
        </p:nvSpPr>
        <p:spPr>
          <a:xfrm>
            <a:off x="640080" y="3200400"/>
            <a:ext cx="10881360" cy="960120"/>
          </a:xfrm>
          <a:prstGeom prst="roundRect">
            <a:avLst>
              <a:gd name="adj" fmla="val 8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7" name="Text 5"/>
          <p:cNvSpPr/>
          <p:nvPr/>
        </p:nvSpPr>
        <p:spPr>
          <a:xfrm>
            <a:off x="960120" y="3310128"/>
            <a:ext cx="2377440" cy="731520"/>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Baseline sham</a:t>
            </a:r>
            <a:endParaRPr lang="en-US" sz="1400" dirty="0"/>
          </a:p>
        </p:txBody>
      </p:sp>
      <p:sp>
        <p:nvSpPr>
          <p:cNvPr id="8" name="Text 6"/>
          <p:cNvSpPr/>
          <p:nvPr/>
        </p:nvSpPr>
        <p:spPr>
          <a:xfrm>
            <a:off x="3429000" y="3310128"/>
            <a:ext cx="4206240" cy="731520"/>
          </a:xfrm>
          <a:prstGeom prst="rect">
            <a:avLst/>
          </a:prstGeom>
          <a:noFill/>
          <a:ln/>
        </p:spPr>
        <p:txBody>
          <a:bodyPr wrap="square" lIns="0" tIns="0" rIns="0" bIns="0" rtlCol="0" anchor="ctr"/>
          <a:lstStyle/>
          <a:p>
            <a:pPr indent="0" marL="0">
              <a:lnSpc>
                <a:spcPct val="103000"/>
              </a:lnSpc>
              <a:buNone/>
            </a:pPr>
            <a:r>
              <a:rPr lang="en-US" sz="1200" dirty="0">
                <a:solidFill>
                  <a:srgbClr val="64748B"/>
                </a:solidFill>
                <a:latin typeface="Calibri" pitchFamily="34" charset="0"/>
                <a:ea typeface="Calibri" pitchFamily="34" charset="-122"/>
                <a:cs typeface="Calibri" pitchFamily="34" charset="-120"/>
              </a:rPr>
              <a:t>Split baseline-only data as a fake experiment. Nothing happened, so it should be flat.</a:t>
            </a:r>
            <a:endParaRPr lang="en-US" sz="1200" dirty="0"/>
          </a:p>
        </p:txBody>
      </p:sp>
      <p:sp>
        <p:nvSpPr>
          <p:cNvPr id="9" name="Text 7"/>
          <p:cNvSpPr/>
          <p:nvPr/>
        </p:nvSpPr>
        <p:spPr>
          <a:xfrm>
            <a:off x="7772400" y="3310128"/>
            <a:ext cx="3474720" cy="731520"/>
          </a:xfrm>
          <a:prstGeom prst="rect">
            <a:avLst/>
          </a:prstGeom>
          <a:noFill/>
          <a:ln/>
        </p:spPr>
        <p:txBody>
          <a:bodyPr wrap="square" lIns="0" tIns="0" rIns="0" bIns="0" rtlCol="0" anchor="ctr"/>
          <a:lstStyle/>
          <a:p>
            <a:pPr indent="0" marL="0">
              <a:lnSpc>
                <a:spcPct val="103000"/>
              </a:lnSpc>
              <a:buNone/>
            </a:pPr>
            <a:r>
              <a:rPr lang="en-US" sz="1200" b="1" dirty="0">
                <a:solidFill>
                  <a:srgbClr val="DC2626"/>
                </a:solidFill>
                <a:latin typeface="Calibri" pitchFamily="34" charset="0"/>
                <a:ea typeface="Calibri" pitchFamily="34" charset="-122"/>
                <a:cs typeface="Calibri" pitchFamily="34" charset="-120"/>
              </a:rPr>
              <a:t>Drifts as much as the real thing — 5 of 6 animals</a:t>
            </a:r>
            <a:endParaRPr lang="en-US" sz="1200" dirty="0"/>
          </a:p>
        </p:txBody>
      </p:sp>
      <p:sp>
        <p:nvSpPr>
          <p:cNvPr id="10" name="Shape 8"/>
          <p:cNvSpPr/>
          <p:nvPr/>
        </p:nvSpPr>
        <p:spPr>
          <a:xfrm>
            <a:off x="640080" y="4270248"/>
            <a:ext cx="10881360" cy="960120"/>
          </a:xfrm>
          <a:prstGeom prst="roundRect">
            <a:avLst>
              <a:gd name="adj" fmla="val 8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Text 9"/>
          <p:cNvSpPr/>
          <p:nvPr/>
        </p:nvSpPr>
        <p:spPr>
          <a:xfrm>
            <a:off x="960120" y="4379976"/>
            <a:ext cx="2377440" cy="731520"/>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Randomised order</a:t>
            </a:r>
            <a:endParaRPr lang="en-US" sz="1400" dirty="0"/>
          </a:p>
        </p:txBody>
      </p:sp>
      <p:sp>
        <p:nvSpPr>
          <p:cNvPr id="12" name="Text 10"/>
          <p:cNvSpPr/>
          <p:nvPr/>
        </p:nvSpPr>
        <p:spPr>
          <a:xfrm>
            <a:off x="3429000" y="4379976"/>
            <a:ext cx="4206240" cy="731520"/>
          </a:xfrm>
          <a:prstGeom prst="rect">
            <a:avLst/>
          </a:prstGeom>
          <a:noFill/>
          <a:ln/>
        </p:spPr>
        <p:txBody>
          <a:bodyPr wrap="square" lIns="0" tIns="0" rIns="0" bIns="0" rtlCol="0" anchor="ctr"/>
          <a:lstStyle/>
          <a:p>
            <a:pPr indent="0" marL="0">
              <a:lnSpc>
                <a:spcPct val="103000"/>
              </a:lnSpc>
              <a:buNone/>
            </a:pPr>
            <a:r>
              <a:rPr lang="en-US" sz="1200" dirty="0">
                <a:solidFill>
                  <a:srgbClr val="64748B"/>
                </a:solidFill>
                <a:latin typeface="Calibri" pitchFamily="34" charset="0"/>
                <a:ea typeface="Calibri" pitchFamily="34" charset="-122"/>
                <a:cs typeface="Calibri" pitchFamily="34" charset="-120"/>
              </a:rPr>
              <a:t>Shuffle which trial belongs to which day. Breaks time structure, keeps the numbers.</a:t>
            </a:r>
            <a:endParaRPr lang="en-US" sz="1200" dirty="0"/>
          </a:p>
        </p:txBody>
      </p:sp>
      <p:sp>
        <p:nvSpPr>
          <p:cNvPr id="13" name="Text 11"/>
          <p:cNvSpPr/>
          <p:nvPr/>
        </p:nvSpPr>
        <p:spPr>
          <a:xfrm>
            <a:off x="7772400" y="4379976"/>
            <a:ext cx="3474720" cy="731520"/>
          </a:xfrm>
          <a:prstGeom prst="rect">
            <a:avLst/>
          </a:prstGeom>
          <a:noFill/>
          <a:ln/>
        </p:spPr>
        <p:txBody>
          <a:bodyPr wrap="square" lIns="0" tIns="0" rIns="0" bIns="0" rtlCol="0" anchor="ctr"/>
          <a:lstStyle/>
          <a:p>
            <a:pPr indent="0" marL="0">
              <a:lnSpc>
                <a:spcPct val="103000"/>
              </a:lnSpc>
              <a:buNone/>
            </a:pPr>
            <a:r>
              <a:rPr lang="en-US" sz="1200" b="1" dirty="0">
                <a:solidFill>
                  <a:srgbClr val="16A34A"/>
                </a:solidFill>
                <a:latin typeface="Calibri" pitchFamily="34" charset="0"/>
                <a:ea typeface="Calibri" pitchFamily="34" charset="-122"/>
                <a:cs typeface="Calibri" pitchFamily="34" charset="-120"/>
              </a:rPr>
              <a:t>Null ≈ 0 — so the metric itself is sound</a:t>
            </a:r>
            <a:endParaRPr lang="en-US" sz="1200" dirty="0"/>
          </a:p>
        </p:txBody>
      </p:sp>
      <p:sp>
        <p:nvSpPr>
          <p:cNvPr id="14" name="Shape 12"/>
          <p:cNvSpPr/>
          <p:nvPr/>
        </p:nvSpPr>
        <p:spPr>
          <a:xfrm>
            <a:off x="640080" y="5340096"/>
            <a:ext cx="10881360" cy="960120"/>
          </a:xfrm>
          <a:prstGeom prst="roundRect">
            <a:avLst>
              <a:gd name="adj" fmla="val 8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5" name="Text 13"/>
          <p:cNvSpPr/>
          <p:nvPr/>
        </p:nvSpPr>
        <p:spPr>
          <a:xfrm>
            <a:off x="960120" y="5449824"/>
            <a:ext cx="2377440" cy="731520"/>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Direction contrast</a:t>
            </a:r>
            <a:endParaRPr lang="en-US" sz="1400" dirty="0"/>
          </a:p>
        </p:txBody>
      </p:sp>
      <p:sp>
        <p:nvSpPr>
          <p:cNvPr id="16" name="Text 14"/>
          <p:cNvSpPr/>
          <p:nvPr/>
        </p:nvSpPr>
        <p:spPr>
          <a:xfrm>
            <a:off x="3429000" y="5449824"/>
            <a:ext cx="4206240" cy="731520"/>
          </a:xfrm>
          <a:prstGeom prst="rect">
            <a:avLst/>
          </a:prstGeom>
          <a:noFill/>
          <a:ln/>
        </p:spPr>
        <p:txBody>
          <a:bodyPr wrap="square" lIns="0" tIns="0" rIns="0" bIns="0" rtlCol="0" anchor="ctr"/>
          <a:lstStyle/>
          <a:p>
            <a:pPr indent="0" marL="0">
              <a:lnSpc>
                <a:spcPct val="103000"/>
              </a:lnSpc>
              <a:buNone/>
            </a:pPr>
            <a:r>
              <a:rPr lang="en-US" sz="1200" dirty="0">
                <a:solidFill>
                  <a:srgbClr val="64748B"/>
                </a:solidFill>
                <a:latin typeface="Calibri" pitchFamily="34" charset="0"/>
                <a:ea typeface="Calibri" pitchFamily="34" charset="-122"/>
                <a:cs typeface="Calibri" pitchFamily="34" charset="-120"/>
              </a:rPr>
              <a:t>Electrode drift is direction-independent; learning is not.</a:t>
            </a:r>
            <a:endParaRPr lang="en-US" sz="1200" dirty="0"/>
          </a:p>
        </p:txBody>
      </p:sp>
      <p:sp>
        <p:nvSpPr>
          <p:cNvPr id="17" name="Text 15"/>
          <p:cNvSpPr/>
          <p:nvPr/>
        </p:nvSpPr>
        <p:spPr>
          <a:xfrm>
            <a:off x="7772400" y="5449824"/>
            <a:ext cx="3474720" cy="731520"/>
          </a:xfrm>
          <a:prstGeom prst="rect">
            <a:avLst/>
          </a:prstGeom>
          <a:noFill/>
          <a:ln/>
        </p:spPr>
        <p:txBody>
          <a:bodyPr wrap="square" lIns="0" tIns="0" rIns="0" bIns="0" rtlCol="0" anchor="ctr"/>
          <a:lstStyle/>
          <a:p>
            <a:pPr indent="0" marL="0">
              <a:lnSpc>
                <a:spcPct val="103000"/>
              </a:lnSpc>
              <a:buNone/>
            </a:pPr>
            <a:r>
              <a:rPr lang="en-US" sz="1200" b="1" dirty="0">
                <a:solidFill>
                  <a:srgbClr val="DC2626"/>
                </a:solidFill>
                <a:latin typeface="Calibri" pitchFamily="34" charset="0"/>
                <a:ea typeface="Calibri" pitchFamily="34" charset="-122"/>
                <a:cs typeface="Calibri" pitchFamily="34" charset="-120"/>
              </a:rPr>
              <a:t>Up 21.9 vs down 34.6, t = −1.01, n.s.</a:t>
            </a:r>
            <a:endParaRPr lang="en-US" sz="1200" dirty="0"/>
          </a:p>
        </p:txBody>
      </p:sp>
      <p:sp>
        <p:nvSpPr>
          <p:cNvPr id="18" name="Text 16"/>
          <p:cNvSpPr/>
          <p:nvPr/>
        </p:nvSpPr>
        <p:spPr>
          <a:xfrm>
            <a:off x="658368" y="6419088"/>
            <a:ext cx="10881360" cy="320040"/>
          </a:xfrm>
          <a:prstGeom prst="rect">
            <a:avLst/>
          </a:prstGeom>
          <a:noFill/>
          <a:ln/>
        </p:spPr>
        <p:txBody>
          <a:bodyPr wrap="square" lIns="0" tIns="0" rIns="0" bIns="0" rtlCol="0" anchor="ctr"/>
          <a:lstStyle/>
          <a:p>
            <a:pPr indent="0" marL="0">
              <a:buNone/>
            </a:pPr>
            <a:r>
              <a:rPr lang="en-US" sz="1250" i="1" dirty="0">
                <a:solidFill>
                  <a:srgbClr val="6D28D9"/>
                </a:solidFill>
                <a:latin typeface="Calibri" pitchFamily="34" charset="0"/>
                <a:ea typeface="Calibri" pitchFamily="34" charset="-122"/>
                <a:cs typeface="Calibri" pitchFamily="34" charset="-120"/>
              </a:rPr>
              <a:t>In a single animal, learning and electrode drift are both smooth in time — they cannot be separated. That is a design limit, not a data problem.</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6D28D9"/>
                </a:solidFill>
                <a:latin typeface="Calibri" pitchFamily="34" charset="0"/>
                <a:ea typeface="Calibri" pitchFamily="34" charset="-122"/>
                <a:cs typeface="Calibri" pitchFamily="34" charset="-120"/>
              </a:rPr>
              <a:t>APPROACH</a:t>
            </a:r>
            <a:endParaRPr lang="en-US" sz="120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A question that drift cannot contaminate</a:t>
            </a:r>
            <a:endParaRPr lang="en-US" sz="2800" dirty="0"/>
          </a:p>
        </p:txBody>
      </p:sp>
      <p:sp>
        <p:nvSpPr>
          <p:cNvPr id="4" name="Shape 2"/>
          <p:cNvSpPr/>
          <p:nvPr/>
        </p:nvSpPr>
        <p:spPr>
          <a:xfrm>
            <a:off x="640080" y="1783080"/>
            <a:ext cx="5349240" cy="1691640"/>
          </a:xfrm>
          <a:prstGeom prst="roundRect">
            <a:avLst>
              <a:gd name="adj" fmla="val 4865"/>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Text 3"/>
          <p:cNvSpPr/>
          <p:nvPr/>
        </p:nvSpPr>
        <p:spPr>
          <a:xfrm>
            <a:off x="914400" y="1965960"/>
            <a:ext cx="4572000" cy="320040"/>
          </a:xfrm>
          <a:prstGeom prst="rect">
            <a:avLst/>
          </a:prstGeom>
          <a:noFill/>
          <a:ln/>
        </p:spPr>
        <p:txBody>
          <a:bodyPr wrap="square" lIns="0" tIns="0" rIns="0" bIns="0" rtlCol="0" anchor="ctr"/>
          <a:lstStyle/>
          <a:p>
            <a:pPr indent="0" marL="0">
              <a:buNone/>
            </a:pPr>
            <a:r>
              <a:rPr lang="en-US" sz="1300" b="1" dirty="0">
                <a:solidFill>
                  <a:srgbClr val="64748B"/>
                </a:solidFill>
                <a:latin typeface="Calibri" pitchFamily="34" charset="0"/>
                <a:ea typeface="Calibri" pitchFamily="34" charset="-122"/>
                <a:cs typeface="Calibri" pitchFamily="34" charset="-120"/>
              </a:rPr>
              <a:t>Instead of</a:t>
            </a:r>
            <a:endParaRPr lang="en-US" sz="1300" dirty="0"/>
          </a:p>
        </p:txBody>
      </p:sp>
      <p:sp>
        <p:nvSpPr>
          <p:cNvPr id="6" name="Text 4"/>
          <p:cNvSpPr/>
          <p:nvPr/>
        </p:nvSpPr>
        <p:spPr>
          <a:xfrm>
            <a:off x="914400" y="2331720"/>
            <a:ext cx="4846320" cy="914400"/>
          </a:xfrm>
          <a:prstGeom prst="rect">
            <a:avLst/>
          </a:prstGeom>
          <a:noFill/>
          <a:ln/>
        </p:spPr>
        <p:txBody>
          <a:bodyPr wrap="square" lIns="0" tIns="0" rIns="0" bIns="0" rtlCol="0" anchor="ctr"/>
          <a:lstStyle/>
          <a:p>
            <a:pPr indent="0" marL="0">
              <a:lnSpc>
                <a:spcPct val="105000"/>
              </a:lnSpc>
              <a:buNone/>
            </a:pPr>
            <a:r>
              <a:rPr lang="en-US" sz="1600" i="1" dirty="0">
                <a:solidFill>
                  <a:srgbClr val="1E293B"/>
                </a:solidFill>
                <a:latin typeface="Cambria" pitchFamily="34" charset="0"/>
                <a:ea typeface="Cambria" pitchFamily="34" charset="-122"/>
                <a:cs typeface="Cambria" pitchFamily="34" charset="-120"/>
              </a:rPr>
              <a:t>"Did the average cortical state move over weeks?"</a:t>
            </a:r>
            <a:endParaRPr lang="en-US" sz="1600" dirty="0"/>
          </a:p>
        </p:txBody>
      </p:sp>
      <p:sp>
        <p:nvSpPr>
          <p:cNvPr id="7" name="Shape 5"/>
          <p:cNvSpPr/>
          <p:nvPr/>
        </p:nvSpPr>
        <p:spPr>
          <a:xfrm>
            <a:off x="6172200" y="1783080"/>
            <a:ext cx="5349240" cy="1691640"/>
          </a:xfrm>
          <a:prstGeom prst="roundRect">
            <a:avLst>
              <a:gd name="adj" fmla="val 4865"/>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8" name="Text 6"/>
          <p:cNvSpPr/>
          <p:nvPr/>
        </p:nvSpPr>
        <p:spPr>
          <a:xfrm>
            <a:off x="6446520" y="1965960"/>
            <a:ext cx="4572000" cy="320040"/>
          </a:xfrm>
          <a:prstGeom prst="rect">
            <a:avLst/>
          </a:prstGeom>
          <a:noFill/>
          <a:ln/>
        </p:spPr>
        <p:txBody>
          <a:bodyPr wrap="square" lIns="0" tIns="0" rIns="0" bIns="0" rtlCol="0" anchor="ctr"/>
          <a:lstStyle/>
          <a:p>
            <a:pPr indent="0" marL="0">
              <a:buNone/>
            </a:pPr>
            <a:r>
              <a:rPr lang="en-US" sz="1300" b="1" dirty="0">
                <a:solidFill>
                  <a:srgbClr val="6D28D9"/>
                </a:solidFill>
                <a:latin typeface="Calibri" pitchFamily="34" charset="0"/>
                <a:ea typeface="Calibri" pitchFamily="34" charset="-122"/>
                <a:cs typeface="Calibri" pitchFamily="34" charset="-120"/>
              </a:rPr>
              <a:t>We ask</a:t>
            </a:r>
            <a:endParaRPr lang="en-US" sz="1300" dirty="0"/>
          </a:p>
        </p:txBody>
      </p:sp>
      <p:sp>
        <p:nvSpPr>
          <p:cNvPr id="9" name="Text 7"/>
          <p:cNvSpPr/>
          <p:nvPr/>
        </p:nvSpPr>
        <p:spPr>
          <a:xfrm>
            <a:off x="6446520" y="2331720"/>
            <a:ext cx="4846320" cy="914400"/>
          </a:xfrm>
          <a:prstGeom prst="rect">
            <a:avLst/>
          </a:prstGeom>
          <a:noFill/>
          <a:ln/>
        </p:spPr>
        <p:txBody>
          <a:bodyPr wrap="square" lIns="0" tIns="0" rIns="0" bIns="0" rtlCol="0" anchor="ctr"/>
          <a:lstStyle/>
          <a:p>
            <a:pPr indent="0" marL="0">
              <a:lnSpc>
                <a:spcPct val="105000"/>
              </a:lnSpc>
              <a:buNone/>
            </a:pPr>
            <a:r>
              <a:rPr lang="en-US" sz="1600" b="1" i="1" dirty="0">
                <a:solidFill>
                  <a:srgbClr val="6D28D9"/>
                </a:solidFill>
                <a:latin typeface="Cambria" pitchFamily="34" charset="0"/>
                <a:ea typeface="Cambria" pitchFamily="34" charset="-122"/>
                <a:cs typeface="Cambria" pitchFamily="34" charset="-120"/>
              </a:rPr>
              <a:t>"Can cortex predict this trial's reflex size?"</a:t>
            </a:r>
            <a:endParaRPr lang="en-US" sz="1600" dirty="0"/>
          </a:p>
        </p:txBody>
      </p:sp>
      <p:sp>
        <p:nvSpPr>
          <p:cNvPr id="10" name="Shape 8"/>
          <p:cNvSpPr/>
          <p:nvPr/>
        </p:nvSpPr>
        <p:spPr>
          <a:xfrm>
            <a:off x="640080" y="3749040"/>
            <a:ext cx="10881360" cy="1554480"/>
          </a:xfrm>
          <a:prstGeom prst="roundRect">
            <a:avLst>
              <a:gd name="adj" fmla="val 5294"/>
            </a:avLst>
          </a:prstGeom>
          <a:solidFill>
            <a:srgbClr val="F0FDF4"/>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Text 9"/>
          <p:cNvSpPr/>
          <p:nvPr/>
        </p:nvSpPr>
        <p:spPr>
          <a:xfrm>
            <a:off x="960120" y="3931920"/>
            <a:ext cx="5486400" cy="320040"/>
          </a:xfrm>
          <a:prstGeom prst="rect">
            <a:avLst/>
          </a:prstGeom>
          <a:noFill/>
          <a:ln/>
        </p:spPr>
        <p:txBody>
          <a:bodyPr wrap="square" lIns="0" tIns="0" rIns="0" bIns="0" rtlCol="0" anchor="ctr"/>
          <a:lstStyle/>
          <a:p>
            <a:pPr indent="0" marL="0">
              <a:buNone/>
            </a:pPr>
            <a:r>
              <a:rPr lang="en-US" sz="1500" b="1" dirty="0">
                <a:solidFill>
                  <a:srgbClr val="16A34A"/>
                </a:solidFill>
                <a:latin typeface="Calibri" pitchFamily="34" charset="0"/>
                <a:ea typeface="Calibri" pitchFamily="34" charset="-122"/>
                <a:cs typeface="Calibri" pitchFamily="34" charset="-120"/>
              </a:rPr>
              <a:t>Why drift cannot fake this</a:t>
            </a:r>
            <a:endParaRPr lang="en-US" sz="1500" dirty="0"/>
          </a:p>
        </p:txBody>
      </p:sp>
      <p:sp>
        <p:nvSpPr>
          <p:cNvPr id="12" name="Text 10"/>
          <p:cNvSpPr/>
          <p:nvPr/>
        </p:nvSpPr>
        <p:spPr>
          <a:xfrm>
            <a:off x="960120" y="4315968"/>
            <a:ext cx="10241280" cy="914400"/>
          </a:xfrm>
          <a:prstGeom prst="rect">
            <a:avLst/>
          </a:prstGeom>
          <a:noFill/>
          <a:ln/>
        </p:spPr>
        <p:txBody>
          <a:bodyPr wrap="square" lIns="0" tIns="0" rIns="0" bIns="0" rtlCol="0" anchor="ctr"/>
          <a:lstStyle/>
          <a:p>
            <a:pPr indent="0" marL="0">
              <a:lnSpc>
                <a:spcPct val="105000"/>
              </a:lnSpc>
              <a:buNone/>
            </a:pPr>
            <a:r>
              <a:rPr lang="en-US" sz="1400" dirty="0">
                <a:solidFill>
                  <a:srgbClr val="1E293B"/>
                </a:solidFill>
                <a:latin typeface="Calibri" pitchFamily="34" charset="0"/>
                <a:ea typeface="Calibri" pitchFamily="34" charset="-122"/>
                <a:cs typeface="Calibri" pitchFamily="34" charset="-120"/>
              </a:rPr>
              <a:t>The decoder is trained and tested inside a single 5-day block, by cross-validation. A slow electrode change shifts the training and test trials together, so it cancels. Drift can move a mean; it cannot create trial-by-trial predictive structure within a block.</a:t>
            </a:r>
            <a:endParaRPr lang="en-US" sz="1400" dirty="0"/>
          </a:p>
        </p:txBody>
      </p:sp>
      <p:sp>
        <p:nvSpPr>
          <p:cNvPr id="13" name="Shape 11"/>
          <p:cNvSpPr/>
          <p:nvPr/>
        </p:nvSpPr>
        <p:spPr>
          <a:xfrm>
            <a:off x="640080" y="5532120"/>
            <a:ext cx="10881360" cy="566928"/>
          </a:xfrm>
          <a:prstGeom prst="roundRect">
            <a:avLst>
              <a:gd name="adj" fmla="val 1451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4" name="Shape 12"/>
          <p:cNvSpPr/>
          <p:nvPr/>
        </p:nvSpPr>
        <p:spPr>
          <a:xfrm>
            <a:off x="960120" y="5705856"/>
            <a:ext cx="201168" cy="201168"/>
          </a:xfrm>
          <a:prstGeom prst="ellipse">
            <a:avLst/>
          </a:prstGeom>
          <a:solidFill>
            <a:srgbClr val="6D28D9"/>
          </a:solidFill>
          <a:ln/>
        </p:spPr>
      </p:sp>
      <p:sp>
        <p:nvSpPr>
          <p:cNvPr id="15" name="Text 13"/>
          <p:cNvSpPr/>
          <p:nvPr/>
        </p:nvSpPr>
        <p:spPr>
          <a:xfrm>
            <a:off x="1371600" y="5577840"/>
            <a:ext cx="9692640" cy="475488"/>
          </a:xfrm>
          <a:prstGeom prst="rect">
            <a:avLst/>
          </a:prstGeom>
          <a:noFill/>
          <a:ln/>
        </p:spPr>
        <p:txBody>
          <a:bodyPr wrap="square" lIns="0" tIns="0" rIns="0" bIns="0" rtlCol="0" anchor="ctr"/>
          <a:lstStyle/>
          <a:p>
            <a:pPr indent="0" marL="0">
              <a:buNone/>
            </a:pPr>
            <a:r>
              <a:rPr lang="en-US" sz="1350" dirty="0">
                <a:solidFill>
                  <a:srgbClr val="1E293B"/>
                </a:solidFill>
                <a:latin typeface="Calibri" pitchFamily="34" charset="0"/>
                <a:ea typeface="Calibri" pitchFamily="34" charset="-122"/>
                <a:cs typeface="Calibri" pitchFamily="34" charset="-120"/>
              </a:rPr>
              <a:t>Stimulus and background removed inside each block</a:t>
            </a:r>
            <a:endParaRPr lang="en-US" sz="1350" dirty="0"/>
          </a:p>
        </p:txBody>
      </p:sp>
      <p:sp>
        <p:nvSpPr>
          <p:cNvPr id="16" name="Shape 14"/>
          <p:cNvSpPr/>
          <p:nvPr/>
        </p:nvSpPr>
        <p:spPr>
          <a:xfrm>
            <a:off x="640080" y="6190488"/>
            <a:ext cx="10881360" cy="566928"/>
          </a:xfrm>
          <a:prstGeom prst="roundRect">
            <a:avLst>
              <a:gd name="adj" fmla="val 1451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7" name="Shape 15"/>
          <p:cNvSpPr/>
          <p:nvPr/>
        </p:nvSpPr>
        <p:spPr>
          <a:xfrm>
            <a:off x="960120" y="6364224"/>
            <a:ext cx="201168" cy="201168"/>
          </a:xfrm>
          <a:prstGeom prst="ellipse">
            <a:avLst/>
          </a:prstGeom>
          <a:solidFill>
            <a:srgbClr val="6D28D9"/>
          </a:solidFill>
          <a:ln/>
        </p:spPr>
      </p:sp>
      <p:sp>
        <p:nvSpPr>
          <p:cNvPr id="18" name="Text 16"/>
          <p:cNvSpPr/>
          <p:nvPr/>
        </p:nvSpPr>
        <p:spPr>
          <a:xfrm>
            <a:off x="1371600" y="6236208"/>
            <a:ext cx="9692640" cy="475488"/>
          </a:xfrm>
          <a:prstGeom prst="rect">
            <a:avLst/>
          </a:prstGeom>
          <a:noFill/>
          <a:ln/>
        </p:spPr>
        <p:txBody>
          <a:bodyPr wrap="square" lIns="0" tIns="0" rIns="0" bIns="0" rtlCol="0" anchor="ctr"/>
          <a:lstStyle/>
          <a:p>
            <a:pPr indent="0" marL="0">
              <a:buNone/>
            </a:pPr>
            <a:r>
              <a:rPr lang="en-US" sz="1350" dirty="0">
                <a:solidFill>
                  <a:srgbClr val="1E293B"/>
                </a:solidFill>
                <a:latin typeface="Calibri" pitchFamily="34" charset="0"/>
                <a:ea typeface="Calibri" pitchFamily="34" charset="-122"/>
                <a:cs typeface="Calibri" pitchFamily="34" charset="-120"/>
              </a:rPr>
              <a:t>Compared against a shuffle of the same block's labels</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16A34A"/>
                </a:solidFill>
                <a:latin typeface="Calibri" pitchFamily="34" charset="0"/>
                <a:ea typeface="Calibri" pitchFamily="34" charset="-122"/>
                <a:cs typeface="Calibri" pitchFamily="34" charset="-120"/>
              </a:rPr>
              <a:t>RESULT 3 · THE POSITIVE FINDING</a:t>
            </a:r>
            <a:endParaRPr lang="en-US" sz="120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Cortex predicts reflex size on single trials</a:t>
            </a:r>
            <a:endParaRPr lang="en-US" sz="2800" dirty="0"/>
          </a:p>
        </p:txBody>
      </p:sp>
      <p:pic>
        <p:nvPicPr>
          <p:cNvPr id="4" name="Image 0" descr="outputs/coupling/coupling_group.png">    </p:cNvPr>
          <p:cNvPicPr>
            <a:picLocks noChangeAspect="1"/>
          </p:cNvPicPr>
          <p:nvPr/>
        </p:nvPicPr>
        <p:blipFill>
          <a:blip r:embed="rId1"/>
          <a:srcRect l="0" r="0" t="0" b="0"/>
          <a:stretch/>
        </p:blipFill>
        <p:spPr>
          <a:xfrm>
            <a:off x="502920" y="1783080"/>
            <a:ext cx="6485839" cy="3749040"/>
          </a:xfrm>
          <a:prstGeom prst="rect">
            <a:avLst/>
          </a:prstGeom>
        </p:spPr>
      </p:pic>
      <p:sp>
        <p:nvSpPr>
          <p:cNvPr id="5" name="Shape 2"/>
          <p:cNvSpPr/>
          <p:nvPr/>
        </p:nvSpPr>
        <p:spPr>
          <a:xfrm>
            <a:off x="7589520" y="1920240"/>
            <a:ext cx="3931920" cy="3794760"/>
          </a:xfrm>
          <a:prstGeom prst="roundRect">
            <a:avLst>
              <a:gd name="adj" fmla="val 2169"/>
            </a:avLst>
          </a:prstGeom>
          <a:solidFill>
            <a:srgbClr val="F0FDF4"/>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7818120" y="2148840"/>
            <a:ext cx="3474720" cy="320040"/>
          </a:xfrm>
          <a:prstGeom prst="rect">
            <a:avLst/>
          </a:prstGeom>
          <a:noFill/>
          <a:ln/>
        </p:spPr>
        <p:txBody>
          <a:bodyPr wrap="square" lIns="0" tIns="0" rIns="0" bIns="0" rtlCol="0" anchor="ctr"/>
          <a:lstStyle/>
          <a:p>
            <a:pPr indent="0" marL="0">
              <a:buNone/>
            </a:pPr>
            <a:r>
              <a:rPr lang="en-US" sz="1400" b="1" dirty="0">
                <a:solidFill>
                  <a:srgbClr val="16A34A"/>
                </a:solidFill>
                <a:latin typeface="Calibri" pitchFamily="34" charset="0"/>
                <a:ea typeface="Calibri" pitchFamily="34" charset="-122"/>
                <a:cs typeface="Calibri" pitchFamily="34" charset="-120"/>
              </a:rPr>
              <a:t>Present in every animal</a:t>
            </a:r>
            <a:endParaRPr lang="en-US" sz="1400" dirty="0"/>
          </a:p>
        </p:txBody>
      </p:sp>
      <p:sp>
        <p:nvSpPr>
          <p:cNvPr id="7" name="Text 4"/>
          <p:cNvSpPr/>
          <p:nvPr/>
        </p:nvSpPr>
        <p:spPr>
          <a:xfrm>
            <a:off x="7818120" y="2560320"/>
            <a:ext cx="3520440" cy="1188720"/>
          </a:xfrm>
          <a:prstGeom prst="rect">
            <a:avLst/>
          </a:prstGeom>
          <a:noFill/>
          <a:ln/>
        </p:spPr>
        <p:txBody>
          <a:bodyPr wrap="square" lIns="0" tIns="0" rIns="0" bIns="0" rtlCol="0" anchor="ctr"/>
          <a:lstStyle/>
          <a:p>
            <a:pPr indent="0" marL="0">
              <a:lnSpc>
                <a:spcPct val="105000"/>
              </a:lnSpc>
              <a:buNone/>
            </a:pPr>
            <a:r>
              <a:rPr lang="en-US" sz="1300" dirty="0">
                <a:solidFill>
                  <a:srgbClr val="1E293B"/>
                </a:solidFill>
                <a:latin typeface="Calibri" pitchFamily="34" charset="0"/>
                <a:ea typeface="Calibri" pitchFamily="34" charset="-122"/>
                <a:cs typeface="Calibri" pitchFamily="34" charset="-120"/>
              </a:rPr>
              <a:t>Cross-validated R² is above the shuffle null in every animal and nearly every block, after stimulus and background are removed.</a:t>
            </a:r>
            <a:endParaRPr lang="en-US" sz="1300" dirty="0"/>
          </a:p>
        </p:txBody>
      </p:sp>
      <p:sp>
        <p:nvSpPr>
          <p:cNvPr id="8" name="Text 5"/>
          <p:cNvSpPr/>
          <p:nvPr/>
        </p:nvSpPr>
        <p:spPr>
          <a:xfrm>
            <a:off x="7818120" y="3840480"/>
            <a:ext cx="3520440" cy="822960"/>
          </a:xfrm>
          <a:prstGeom prst="rect">
            <a:avLst/>
          </a:prstGeom>
          <a:noFill/>
          <a:ln/>
        </p:spPr>
        <p:txBody>
          <a:bodyPr wrap="square" lIns="0" tIns="0" rIns="0" bIns="0" rtlCol="0" anchor="ctr"/>
          <a:lstStyle/>
          <a:p>
            <a:pPr indent="0" marL="0">
              <a:lnSpc>
                <a:spcPct val="110000"/>
              </a:lnSpc>
              <a:buNone/>
            </a:pPr>
            <a:r>
              <a:rPr lang="en-US" sz="1700" b="1" dirty="0">
                <a:solidFill>
                  <a:srgbClr val="1E293B"/>
                </a:solidFill>
                <a:latin typeface="Cambria" pitchFamily="34" charset="0"/>
                <a:ea typeface="Cambria" pitchFamily="34" charset="-122"/>
                <a:cs typeface="Cambria" pitchFamily="34" charset="-120"/>
              </a:rPr>
              <a:t>Conservative estimate: R² ≈ 0.04</a:t>
            </a:r>
            <a:endParaRPr lang="en-US" sz="1700" dirty="0"/>
          </a:p>
          <a:p>
            <a:pPr indent="0" marL="0">
              <a:lnSpc>
                <a:spcPct val="110000"/>
              </a:lnSpc>
              <a:buNone/>
            </a:pPr>
            <a:r>
              <a:rPr lang="en-US" sz="1700" b="1" dirty="0">
                <a:solidFill>
                  <a:srgbClr val="1E293B"/>
                </a:solidFill>
                <a:latin typeface="Cambria" pitchFamily="34" charset="0"/>
                <a:ea typeface="Cambria" pitchFamily="34" charset="-122"/>
                <a:cs typeface="Cambria" pitchFamily="34" charset="-120"/>
              </a:rPr>
              <a:t>null ≈ −0.01</a:t>
            </a:r>
            <a:endParaRPr lang="en-US" sz="1700" dirty="0"/>
          </a:p>
        </p:txBody>
      </p:sp>
      <p:sp>
        <p:nvSpPr>
          <p:cNvPr id="9" name="Text 6"/>
          <p:cNvSpPr/>
          <p:nvPr/>
        </p:nvSpPr>
        <p:spPr>
          <a:xfrm>
            <a:off x="7818120" y="4754880"/>
            <a:ext cx="3520440" cy="914400"/>
          </a:xfrm>
          <a:prstGeom prst="rect">
            <a:avLst/>
          </a:prstGeom>
          <a:noFill/>
          <a:ln/>
        </p:spPr>
        <p:txBody>
          <a:bodyPr wrap="square" lIns="0" tIns="0" rIns="0" bIns="0" rtlCol="0" anchor="ctr"/>
          <a:lstStyle/>
          <a:p>
            <a:pPr indent="0" marL="0">
              <a:lnSpc>
                <a:spcPct val="105000"/>
              </a:lnSpc>
              <a:buNone/>
            </a:pPr>
            <a:r>
              <a:rPr lang="en-US" sz="1250" i="1" dirty="0">
                <a:solidFill>
                  <a:srgbClr val="64748B"/>
                </a:solidFill>
                <a:latin typeface="Calibri" pitchFamily="34" charset="0"/>
                <a:ea typeface="Calibri" pitchFamily="34" charset="-122"/>
                <a:cs typeface="Calibri" pitchFamily="34" charset="-120"/>
              </a:rPr>
              <a:t>Small, but consistent and not explainable by stimulus, muscle tone, or drift.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RESULT 3 · IN CONTEXT</a:t>
            </a:r>
            <a:endParaRPr lang="en-US" sz="120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What actually explains reflex size?</a:t>
            </a:r>
            <a:endParaRPr lang="en-US" sz="2800" dirty="0"/>
          </a:p>
        </p:txBody>
      </p:sp>
      <p:sp>
        <p:nvSpPr>
          <p:cNvPr id="4" name="Shape 2"/>
          <p:cNvSpPr/>
          <p:nvPr/>
        </p:nvSpPr>
        <p:spPr>
          <a:xfrm>
            <a:off x="640080" y="1783080"/>
            <a:ext cx="10881360" cy="868680"/>
          </a:xfrm>
          <a:prstGeom prst="roundRect">
            <a:avLst>
              <a:gd name="adj" fmla="val 9474"/>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Text 3"/>
          <p:cNvSpPr/>
          <p:nvPr/>
        </p:nvSpPr>
        <p:spPr>
          <a:xfrm>
            <a:off x="960120" y="1920240"/>
            <a:ext cx="402336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Stimulus (M-wave)</a:t>
            </a:r>
            <a:endParaRPr lang="en-US" sz="1450" dirty="0"/>
          </a:p>
        </p:txBody>
      </p:sp>
      <p:sp>
        <p:nvSpPr>
          <p:cNvPr id="6" name="Text 4"/>
          <p:cNvSpPr/>
          <p:nvPr/>
        </p:nvSpPr>
        <p:spPr>
          <a:xfrm>
            <a:off x="5120640" y="1920240"/>
            <a:ext cx="1371600" cy="594360"/>
          </a:xfrm>
          <a:prstGeom prst="rect">
            <a:avLst/>
          </a:prstGeom>
          <a:noFill/>
          <a:ln/>
        </p:spPr>
        <p:txBody>
          <a:bodyPr wrap="square" lIns="0" tIns="0" rIns="0" bIns="0" rtlCol="0" anchor="ctr"/>
          <a:lstStyle/>
          <a:p>
            <a:pPr algn="r" indent="0" marL="0">
              <a:buNone/>
            </a:pPr>
            <a:r>
              <a:rPr lang="en-US" sz="2200" b="1" dirty="0">
                <a:solidFill>
                  <a:srgbClr val="6D28D9"/>
                </a:solidFill>
                <a:latin typeface="Cambria" pitchFamily="34" charset="0"/>
                <a:ea typeface="Cambria" pitchFamily="34" charset="-122"/>
                <a:cs typeface="Cambria" pitchFamily="34" charset="-120"/>
              </a:rPr>
              <a:t>47%</a:t>
            </a:r>
            <a:endParaRPr lang="en-US" sz="2200" dirty="0"/>
          </a:p>
        </p:txBody>
      </p:sp>
      <p:sp>
        <p:nvSpPr>
          <p:cNvPr id="7" name="Text 5"/>
          <p:cNvSpPr/>
          <p:nvPr/>
        </p:nvSpPr>
        <p:spPr>
          <a:xfrm>
            <a:off x="6766560" y="1920240"/>
            <a:ext cx="4480560" cy="594360"/>
          </a:xfrm>
          <a:prstGeom prst="rect">
            <a:avLst/>
          </a:prstGeom>
          <a:noFill/>
          <a:ln/>
        </p:spPr>
        <p:txBody>
          <a:bodyPr wrap="square" lIns="0" tIns="0" rIns="0" bIns="0" rtlCol="0" anchor="ctr"/>
          <a:lstStyle/>
          <a:p>
            <a:pPr indent="0" marL="0">
              <a:lnSpc>
                <a:spcPct val="102000"/>
              </a:lnSpc>
              <a:buNone/>
            </a:pPr>
            <a:r>
              <a:rPr lang="en-US" sz="1200" dirty="0">
                <a:solidFill>
                  <a:srgbClr val="64748B"/>
                </a:solidFill>
                <a:latin typeface="Calibri" pitchFamily="34" charset="0"/>
                <a:ea typeface="Calibri" pitchFamily="34" charset="-122"/>
                <a:cs typeface="Calibri" pitchFamily="34" charset="-120"/>
              </a:rPr>
              <a:t>By far the dominant factor — how much stimulus reached the muscle.</a:t>
            </a:r>
            <a:endParaRPr lang="en-US" sz="1200" dirty="0"/>
          </a:p>
        </p:txBody>
      </p:sp>
      <p:sp>
        <p:nvSpPr>
          <p:cNvPr id="8" name="Shape 6"/>
          <p:cNvSpPr/>
          <p:nvPr/>
        </p:nvSpPr>
        <p:spPr>
          <a:xfrm>
            <a:off x="640080" y="2743200"/>
            <a:ext cx="10881360" cy="868680"/>
          </a:xfrm>
          <a:prstGeom prst="roundRect">
            <a:avLst>
              <a:gd name="adj" fmla="val 9474"/>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9" name="Text 7"/>
          <p:cNvSpPr/>
          <p:nvPr/>
        </p:nvSpPr>
        <p:spPr>
          <a:xfrm>
            <a:off x="960120" y="2880360"/>
            <a:ext cx="402336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Background excitability</a:t>
            </a:r>
            <a:endParaRPr lang="en-US" sz="1450" dirty="0"/>
          </a:p>
        </p:txBody>
      </p:sp>
      <p:sp>
        <p:nvSpPr>
          <p:cNvPr id="10" name="Text 8"/>
          <p:cNvSpPr/>
          <p:nvPr/>
        </p:nvSpPr>
        <p:spPr>
          <a:xfrm>
            <a:off x="5120640" y="2880360"/>
            <a:ext cx="1371600" cy="594360"/>
          </a:xfrm>
          <a:prstGeom prst="rect">
            <a:avLst/>
          </a:prstGeom>
          <a:noFill/>
          <a:ln/>
        </p:spPr>
        <p:txBody>
          <a:bodyPr wrap="square" lIns="0" tIns="0" rIns="0" bIns="0" rtlCol="0" anchor="ctr"/>
          <a:lstStyle/>
          <a:p>
            <a:pPr algn="r" indent="0" marL="0">
              <a:buNone/>
            </a:pPr>
            <a:r>
              <a:rPr lang="en-US" sz="2200" b="1" dirty="0">
                <a:solidFill>
                  <a:srgbClr val="0D9488"/>
                </a:solidFill>
                <a:latin typeface="Cambria" pitchFamily="34" charset="0"/>
                <a:ea typeface="Cambria" pitchFamily="34" charset="-122"/>
                <a:cs typeface="Cambria" pitchFamily="34" charset="-120"/>
              </a:rPr>
              <a:t>1%</a:t>
            </a:r>
            <a:endParaRPr lang="en-US" sz="2200" dirty="0"/>
          </a:p>
        </p:txBody>
      </p:sp>
      <p:sp>
        <p:nvSpPr>
          <p:cNvPr id="11" name="Text 9"/>
          <p:cNvSpPr/>
          <p:nvPr/>
        </p:nvSpPr>
        <p:spPr>
          <a:xfrm>
            <a:off x="6766560" y="2880360"/>
            <a:ext cx="4480560" cy="594360"/>
          </a:xfrm>
          <a:prstGeom prst="rect">
            <a:avLst/>
          </a:prstGeom>
          <a:noFill/>
          <a:ln/>
        </p:spPr>
        <p:txBody>
          <a:bodyPr wrap="square" lIns="0" tIns="0" rIns="0" bIns="0" rtlCol="0" anchor="ctr"/>
          <a:lstStyle/>
          <a:p>
            <a:pPr indent="0" marL="0">
              <a:lnSpc>
                <a:spcPct val="102000"/>
              </a:lnSpc>
              <a:buNone/>
            </a:pPr>
            <a:r>
              <a:rPr lang="en-US" sz="1200" dirty="0">
                <a:solidFill>
                  <a:srgbClr val="64748B"/>
                </a:solidFill>
                <a:latin typeface="Calibri" pitchFamily="34" charset="0"/>
                <a:ea typeface="Calibri" pitchFamily="34" charset="-122"/>
                <a:cs typeface="Calibri" pitchFamily="34" charset="-120"/>
              </a:rPr>
              <a:t>Small on its own, but a necessary control.</a:t>
            </a:r>
            <a:endParaRPr lang="en-US" sz="1200" dirty="0"/>
          </a:p>
        </p:txBody>
      </p:sp>
      <p:sp>
        <p:nvSpPr>
          <p:cNvPr id="12" name="Shape 10"/>
          <p:cNvSpPr/>
          <p:nvPr/>
        </p:nvSpPr>
        <p:spPr>
          <a:xfrm>
            <a:off x="640080" y="3703320"/>
            <a:ext cx="10881360" cy="868680"/>
          </a:xfrm>
          <a:prstGeom prst="roundRect">
            <a:avLst>
              <a:gd name="adj" fmla="val 9474"/>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3" name="Text 11"/>
          <p:cNvSpPr/>
          <p:nvPr/>
        </p:nvSpPr>
        <p:spPr>
          <a:xfrm>
            <a:off x="960120" y="3840480"/>
            <a:ext cx="402336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Cortical activity, alone</a:t>
            </a:r>
            <a:endParaRPr lang="en-US" sz="1450" dirty="0"/>
          </a:p>
        </p:txBody>
      </p:sp>
      <p:sp>
        <p:nvSpPr>
          <p:cNvPr id="14" name="Text 12"/>
          <p:cNvSpPr/>
          <p:nvPr/>
        </p:nvSpPr>
        <p:spPr>
          <a:xfrm>
            <a:off x="5120640" y="3840480"/>
            <a:ext cx="1371600" cy="594360"/>
          </a:xfrm>
          <a:prstGeom prst="rect">
            <a:avLst/>
          </a:prstGeom>
          <a:noFill/>
          <a:ln/>
        </p:spPr>
        <p:txBody>
          <a:bodyPr wrap="square" lIns="0" tIns="0" rIns="0" bIns="0" rtlCol="0" anchor="ctr"/>
          <a:lstStyle/>
          <a:p>
            <a:pPr algn="r" indent="0" marL="0">
              <a:buNone/>
            </a:pPr>
            <a:r>
              <a:rPr lang="en-US" sz="2200" b="1" dirty="0">
                <a:solidFill>
                  <a:srgbClr val="2563EB"/>
                </a:solidFill>
                <a:latin typeface="Cambria" pitchFamily="34" charset="0"/>
                <a:ea typeface="Cambria" pitchFamily="34" charset="-122"/>
                <a:cs typeface="Cambria" pitchFamily="34" charset="-120"/>
              </a:rPr>
              <a:t>21%</a:t>
            </a:r>
            <a:endParaRPr lang="en-US" sz="2200" dirty="0"/>
          </a:p>
        </p:txBody>
      </p:sp>
      <p:sp>
        <p:nvSpPr>
          <p:cNvPr id="15" name="Text 13"/>
          <p:cNvSpPr/>
          <p:nvPr/>
        </p:nvSpPr>
        <p:spPr>
          <a:xfrm>
            <a:off x="6766560" y="3840480"/>
            <a:ext cx="4480560" cy="594360"/>
          </a:xfrm>
          <a:prstGeom prst="rect">
            <a:avLst/>
          </a:prstGeom>
          <a:noFill/>
          <a:ln/>
        </p:spPr>
        <p:txBody>
          <a:bodyPr wrap="square" lIns="0" tIns="0" rIns="0" bIns="0" rtlCol="0" anchor="ctr"/>
          <a:lstStyle/>
          <a:p>
            <a:pPr indent="0" marL="0">
              <a:lnSpc>
                <a:spcPct val="102000"/>
              </a:lnSpc>
              <a:buNone/>
            </a:pPr>
            <a:r>
              <a:rPr lang="en-US" sz="1200" dirty="0">
                <a:solidFill>
                  <a:srgbClr val="64748B"/>
                </a:solidFill>
                <a:latin typeface="Calibri" pitchFamily="34" charset="0"/>
                <a:ea typeface="Calibri" pitchFamily="34" charset="-122"/>
                <a:cs typeface="Calibri" pitchFamily="34" charset="-120"/>
              </a:rPr>
              <a:t>Mostly overlapping with stimulus, since stimulus drives both.</a:t>
            </a:r>
            <a:endParaRPr lang="en-US" sz="1200" dirty="0"/>
          </a:p>
        </p:txBody>
      </p:sp>
      <p:sp>
        <p:nvSpPr>
          <p:cNvPr id="16" name="Shape 14"/>
          <p:cNvSpPr/>
          <p:nvPr/>
        </p:nvSpPr>
        <p:spPr>
          <a:xfrm>
            <a:off x="640080" y="4663440"/>
            <a:ext cx="10881360" cy="868680"/>
          </a:xfrm>
          <a:prstGeom prst="roundRect">
            <a:avLst>
              <a:gd name="adj" fmla="val 9474"/>
            </a:avLst>
          </a:prstGeom>
          <a:solidFill>
            <a:srgbClr val="F0FDF4"/>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7" name="Text 15"/>
          <p:cNvSpPr/>
          <p:nvPr/>
        </p:nvSpPr>
        <p:spPr>
          <a:xfrm>
            <a:off x="960120" y="4800600"/>
            <a:ext cx="402336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Cortex, unique contribution</a:t>
            </a:r>
            <a:endParaRPr lang="en-US" sz="1450" dirty="0"/>
          </a:p>
        </p:txBody>
      </p:sp>
      <p:sp>
        <p:nvSpPr>
          <p:cNvPr id="18" name="Text 16"/>
          <p:cNvSpPr/>
          <p:nvPr/>
        </p:nvSpPr>
        <p:spPr>
          <a:xfrm>
            <a:off x="5120640" y="4800600"/>
            <a:ext cx="1371600" cy="594360"/>
          </a:xfrm>
          <a:prstGeom prst="rect">
            <a:avLst/>
          </a:prstGeom>
          <a:noFill/>
          <a:ln/>
        </p:spPr>
        <p:txBody>
          <a:bodyPr wrap="square" lIns="0" tIns="0" rIns="0" bIns="0" rtlCol="0" anchor="ctr"/>
          <a:lstStyle/>
          <a:p>
            <a:pPr algn="r" indent="0" marL="0">
              <a:buNone/>
            </a:pPr>
            <a:r>
              <a:rPr lang="en-US" sz="2200" b="1" dirty="0">
                <a:solidFill>
                  <a:srgbClr val="16A34A"/>
                </a:solidFill>
                <a:latin typeface="Cambria" pitchFamily="34" charset="0"/>
                <a:ea typeface="Cambria" pitchFamily="34" charset="-122"/>
                <a:cs typeface="Cambria" pitchFamily="34" charset="-120"/>
              </a:rPr>
              <a:t>2%</a:t>
            </a:r>
            <a:endParaRPr lang="en-US" sz="2200" dirty="0"/>
          </a:p>
        </p:txBody>
      </p:sp>
      <p:sp>
        <p:nvSpPr>
          <p:cNvPr id="19" name="Text 17"/>
          <p:cNvSpPr/>
          <p:nvPr/>
        </p:nvSpPr>
        <p:spPr>
          <a:xfrm>
            <a:off x="6766560" y="4800600"/>
            <a:ext cx="4480560" cy="594360"/>
          </a:xfrm>
          <a:prstGeom prst="rect">
            <a:avLst/>
          </a:prstGeom>
          <a:noFill/>
          <a:ln/>
        </p:spPr>
        <p:txBody>
          <a:bodyPr wrap="square" lIns="0" tIns="0" rIns="0" bIns="0" rtlCol="0" anchor="ctr"/>
          <a:lstStyle/>
          <a:p>
            <a:pPr indent="0" marL="0">
              <a:lnSpc>
                <a:spcPct val="102000"/>
              </a:lnSpc>
              <a:buNone/>
            </a:pPr>
            <a:r>
              <a:rPr lang="en-US" sz="1200" dirty="0">
                <a:solidFill>
                  <a:srgbClr val="64748B"/>
                </a:solidFill>
                <a:latin typeface="Calibri" pitchFamily="34" charset="0"/>
                <a:ea typeface="Calibri" pitchFamily="34" charset="-122"/>
                <a:cs typeface="Calibri" pitchFamily="34" charset="-120"/>
              </a:rPr>
              <a:t>What cortex adds once stimulus and background are already known.</a:t>
            </a:r>
            <a:endParaRPr lang="en-US" sz="1200" dirty="0"/>
          </a:p>
        </p:txBody>
      </p:sp>
      <p:sp>
        <p:nvSpPr>
          <p:cNvPr id="20" name="Shape 18"/>
          <p:cNvSpPr/>
          <p:nvPr/>
        </p:nvSpPr>
        <p:spPr>
          <a:xfrm>
            <a:off x="640080" y="5623560"/>
            <a:ext cx="10881360" cy="868680"/>
          </a:xfrm>
          <a:prstGeom prst="roundRect">
            <a:avLst>
              <a:gd name="adj" fmla="val 9474"/>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1" name="Text 19"/>
          <p:cNvSpPr/>
          <p:nvPr/>
        </p:nvSpPr>
        <p:spPr>
          <a:xfrm>
            <a:off x="960120" y="5760720"/>
            <a:ext cx="402336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Unexplained</a:t>
            </a:r>
            <a:endParaRPr lang="en-US" sz="1450" dirty="0"/>
          </a:p>
        </p:txBody>
      </p:sp>
      <p:sp>
        <p:nvSpPr>
          <p:cNvPr id="22" name="Text 20"/>
          <p:cNvSpPr/>
          <p:nvPr/>
        </p:nvSpPr>
        <p:spPr>
          <a:xfrm>
            <a:off x="5120640" y="5760720"/>
            <a:ext cx="1371600" cy="594360"/>
          </a:xfrm>
          <a:prstGeom prst="rect">
            <a:avLst/>
          </a:prstGeom>
          <a:noFill/>
          <a:ln/>
        </p:spPr>
        <p:txBody>
          <a:bodyPr wrap="square" lIns="0" tIns="0" rIns="0" bIns="0" rtlCol="0" anchor="ctr"/>
          <a:lstStyle/>
          <a:p>
            <a:pPr algn="r" indent="0" marL="0">
              <a:buNone/>
            </a:pPr>
            <a:r>
              <a:rPr lang="en-US" sz="2200" b="1" dirty="0">
                <a:solidFill>
                  <a:srgbClr val="64748B"/>
                </a:solidFill>
                <a:latin typeface="Cambria" pitchFamily="34" charset="0"/>
                <a:ea typeface="Cambria" pitchFamily="34" charset="-122"/>
                <a:cs typeface="Cambria" pitchFamily="34" charset="-120"/>
              </a:rPr>
              <a:t>51%</a:t>
            </a:r>
            <a:endParaRPr lang="en-US" sz="2200" dirty="0"/>
          </a:p>
        </p:txBody>
      </p:sp>
      <p:sp>
        <p:nvSpPr>
          <p:cNvPr id="23" name="Text 21"/>
          <p:cNvSpPr/>
          <p:nvPr/>
        </p:nvSpPr>
        <p:spPr>
          <a:xfrm>
            <a:off x="6766560" y="5760720"/>
            <a:ext cx="4480560" cy="594360"/>
          </a:xfrm>
          <a:prstGeom prst="rect">
            <a:avLst/>
          </a:prstGeom>
          <a:noFill/>
          <a:ln/>
        </p:spPr>
        <p:txBody>
          <a:bodyPr wrap="square" lIns="0" tIns="0" rIns="0" bIns="0" rtlCol="0" anchor="ctr"/>
          <a:lstStyle/>
          <a:p>
            <a:pPr indent="0" marL="0">
              <a:lnSpc>
                <a:spcPct val="102000"/>
              </a:lnSpc>
              <a:buNone/>
            </a:pPr>
            <a:r>
              <a:rPr lang="en-US" sz="1200" dirty="0">
                <a:solidFill>
                  <a:srgbClr val="64748B"/>
                </a:solidFill>
                <a:latin typeface="Calibri" pitchFamily="34" charset="0"/>
                <a:ea typeface="Calibri" pitchFamily="34" charset="-122"/>
                <a:cs typeface="Calibri" pitchFamily="34" charset="-120"/>
              </a:rPr>
              <a:t>Trial-to-trial variability we cannot yet account for.</a:t>
            </a:r>
            <a:endParaRPr lang="en-US" sz="1200" dirty="0"/>
          </a:p>
        </p:txBody>
      </p:sp>
      <p:sp>
        <p:nvSpPr>
          <p:cNvPr id="24" name="Text 22"/>
          <p:cNvSpPr/>
          <p:nvPr/>
        </p:nvSpPr>
        <p:spPr>
          <a:xfrm>
            <a:off x="658368" y="6537960"/>
            <a:ext cx="10881360" cy="320040"/>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Percentages are variance in H-reflex amplitude explained, cross-validated within blocks, averaged over five animals.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RESULT 4 · IS IT REALLY CORTICAL?</a:t>
            </a:r>
            <a:endParaRPr lang="en-US" sz="120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Ruling out muscle contamination</a:t>
            </a:r>
            <a:endParaRPr lang="en-US" sz="2800" dirty="0"/>
          </a:p>
        </p:txBody>
      </p:sp>
      <p:pic>
        <p:nvPicPr>
          <p:cNvPr id="4" name="Image 0" descr="outputs/verify/verification.png">    </p:cNvPr>
          <p:cNvPicPr>
            <a:picLocks noChangeAspect="1"/>
          </p:cNvPicPr>
          <p:nvPr/>
        </p:nvPicPr>
        <p:blipFill>
          <a:blip r:embed="rId1"/>
          <a:srcRect l="0" r="0" t="0" b="0"/>
          <a:stretch/>
        </p:blipFill>
        <p:spPr>
          <a:xfrm>
            <a:off x="457200" y="1874520"/>
            <a:ext cx="6949440" cy="2672862"/>
          </a:xfrm>
          <a:prstGeom prst="rect">
            <a:avLst/>
          </a:prstGeom>
        </p:spPr>
      </p:pic>
      <p:sp>
        <p:nvSpPr>
          <p:cNvPr id="5" name="Shape 2"/>
          <p:cNvSpPr/>
          <p:nvPr/>
        </p:nvSpPr>
        <p:spPr>
          <a:xfrm>
            <a:off x="7635240" y="1920240"/>
            <a:ext cx="3886200" cy="3840480"/>
          </a:xfrm>
          <a:prstGeom prst="roundRect">
            <a:avLst>
              <a:gd name="adj" fmla="val 2143"/>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7863840" y="2148840"/>
            <a:ext cx="3383280" cy="320040"/>
          </a:xfrm>
          <a:prstGeom prst="rect">
            <a:avLst/>
          </a:prstGeom>
          <a:noFill/>
          <a:ln/>
        </p:spPr>
        <p:txBody>
          <a:bodyPr wrap="square" lIns="0" tIns="0" rIns="0" bIns="0" rtlCol="0" anchor="ctr"/>
          <a:lstStyle/>
          <a:p>
            <a:pPr indent="0" marL="0">
              <a:buNone/>
            </a:pPr>
            <a:r>
              <a:rPr lang="en-US" sz="1400" b="1" dirty="0">
                <a:solidFill>
                  <a:srgbClr val="D97706"/>
                </a:solidFill>
                <a:latin typeface="Calibri" pitchFamily="34" charset="0"/>
                <a:ea typeface="Calibri" pitchFamily="34" charset="-122"/>
                <a:cs typeface="Calibri" pitchFamily="34" charset="-120"/>
              </a:rPr>
              <a:t>The objection</a:t>
            </a:r>
            <a:endParaRPr lang="en-US" sz="1400" dirty="0"/>
          </a:p>
        </p:txBody>
      </p:sp>
      <p:sp>
        <p:nvSpPr>
          <p:cNvPr id="7" name="Text 4"/>
          <p:cNvSpPr/>
          <p:nvPr/>
        </p:nvSpPr>
        <p:spPr>
          <a:xfrm>
            <a:off x="7863840" y="2542032"/>
            <a:ext cx="3429000" cy="914400"/>
          </a:xfrm>
          <a:prstGeom prst="rect">
            <a:avLst/>
          </a:prstGeom>
          <a:noFill/>
          <a:ln/>
        </p:spPr>
        <p:txBody>
          <a:bodyPr wrap="square" lIns="0" tIns="0" rIns="0" bIns="0" rtlCol="0" anchor="ctr"/>
          <a:lstStyle/>
          <a:p>
            <a:pPr indent="0" marL="0">
              <a:lnSpc>
                <a:spcPct val="105000"/>
              </a:lnSpc>
              <a:buNone/>
            </a:pPr>
            <a:r>
              <a:rPr lang="en-US" sz="1300" dirty="0">
                <a:solidFill>
                  <a:srgbClr val="1E293B"/>
                </a:solidFill>
                <a:latin typeface="Calibri" pitchFamily="34" charset="0"/>
                <a:ea typeface="Calibri" pitchFamily="34" charset="-122"/>
                <a:cs typeface="Calibri" pitchFamily="34" charset="-120"/>
              </a:rPr>
              <a:t>Both channels record at once, so the ECoG electrode might simply be picking up muscle activity.</a:t>
            </a:r>
            <a:endParaRPr lang="en-US" sz="1300" dirty="0"/>
          </a:p>
        </p:txBody>
      </p:sp>
      <p:sp>
        <p:nvSpPr>
          <p:cNvPr id="8" name="Text 5"/>
          <p:cNvSpPr/>
          <p:nvPr/>
        </p:nvSpPr>
        <p:spPr>
          <a:xfrm>
            <a:off x="7863840" y="3566160"/>
            <a:ext cx="3383280" cy="320040"/>
          </a:xfrm>
          <a:prstGeom prst="rect">
            <a:avLst/>
          </a:prstGeom>
          <a:noFill/>
          <a:ln/>
        </p:spPr>
        <p:txBody>
          <a:bodyPr wrap="square" lIns="0" tIns="0" rIns="0" bIns="0" rtlCol="0" anchor="ctr"/>
          <a:lstStyle/>
          <a:p>
            <a:pPr indent="0" marL="0">
              <a:buNone/>
            </a:pPr>
            <a:r>
              <a:rPr lang="en-US" sz="1400" b="1" dirty="0">
                <a:solidFill>
                  <a:srgbClr val="0D9488"/>
                </a:solidFill>
                <a:latin typeface="Calibri" pitchFamily="34" charset="0"/>
                <a:ea typeface="Calibri" pitchFamily="34" charset="-122"/>
                <a:cs typeface="Calibri" pitchFamily="34" charset="-120"/>
              </a:rPr>
              <a:t>The test</a:t>
            </a:r>
            <a:endParaRPr lang="en-US" sz="1400" dirty="0"/>
          </a:p>
        </p:txBody>
      </p:sp>
      <p:sp>
        <p:nvSpPr>
          <p:cNvPr id="9" name="Text 6"/>
          <p:cNvSpPr/>
          <p:nvPr/>
        </p:nvSpPr>
        <p:spPr>
          <a:xfrm>
            <a:off x="7863840" y="3931920"/>
            <a:ext cx="3429000" cy="1097280"/>
          </a:xfrm>
          <a:prstGeom prst="rect">
            <a:avLst/>
          </a:prstGeom>
          <a:noFill/>
          <a:ln/>
        </p:spPr>
        <p:txBody>
          <a:bodyPr wrap="square" lIns="0" tIns="0" rIns="0" bIns="0" rtlCol="0" anchor="ctr"/>
          <a:lstStyle/>
          <a:p>
            <a:pPr indent="0" marL="0">
              <a:lnSpc>
                <a:spcPct val="105000"/>
              </a:lnSpc>
              <a:buNone/>
            </a:pPr>
            <a:r>
              <a:rPr lang="en-US" sz="1300" dirty="0">
                <a:solidFill>
                  <a:srgbClr val="1E293B"/>
                </a:solidFill>
                <a:latin typeface="Calibri" pitchFamily="34" charset="0"/>
                <a:ea typeface="Calibri" pitchFamily="34" charset="-122"/>
                <a:cs typeface="Calibri" pitchFamily="34" charset="-120"/>
              </a:rPr>
              <a:t>Correlate cortical against muscle power, band by band. Muscle artefact lives at high frequency, so contamination would show up there.</a:t>
            </a:r>
            <a:endParaRPr lang="en-US" sz="1300" dirty="0"/>
          </a:p>
        </p:txBody>
      </p:sp>
      <p:sp>
        <p:nvSpPr>
          <p:cNvPr id="10" name="Text 7"/>
          <p:cNvSpPr/>
          <p:nvPr/>
        </p:nvSpPr>
        <p:spPr>
          <a:xfrm>
            <a:off x="7863840" y="5074920"/>
            <a:ext cx="3429000" cy="731520"/>
          </a:xfrm>
          <a:prstGeom prst="rect">
            <a:avLst/>
          </a:prstGeom>
          <a:noFill/>
          <a:ln/>
        </p:spPr>
        <p:txBody>
          <a:bodyPr wrap="square" lIns="0" tIns="0" rIns="0" bIns="0" rtlCol="0" anchor="ctr"/>
          <a:lstStyle/>
          <a:p>
            <a:pPr indent="0" marL="0">
              <a:lnSpc>
                <a:spcPct val="110000"/>
              </a:lnSpc>
              <a:buNone/>
            </a:pPr>
            <a:r>
              <a:rPr lang="en-US" sz="1400" b="1" dirty="0">
                <a:solidFill>
                  <a:srgbClr val="16A34A"/>
                </a:solidFill>
                <a:latin typeface="Calibri" pitchFamily="34" charset="0"/>
                <a:ea typeface="Calibri" pitchFamily="34" charset="-122"/>
                <a:cs typeface="Calibri" pitchFamily="34" charset="-120"/>
              </a:rPr>
              <a:t>Above 100 Hz: r = +0.06.</a:t>
            </a:r>
            <a:endParaRPr lang="en-US" sz="1400" dirty="0"/>
          </a:p>
          <a:p>
            <a:pPr indent="0" marL="0">
              <a:lnSpc>
                <a:spcPct val="110000"/>
              </a:lnSpc>
              <a:buNone/>
            </a:pPr>
            <a:r>
              <a:rPr lang="en-US" sz="1400" b="1" dirty="0">
                <a:solidFill>
                  <a:srgbClr val="16A34A"/>
                </a:solidFill>
                <a:latin typeface="Calibri" pitchFamily="34" charset="0"/>
                <a:ea typeface="Calibri" pitchFamily="34" charset="-122"/>
                <a:cs typeface="Calibri" pitchFamily="34" charset="-120"/>
              </a:rPr>
              <a:t>No contamination.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6D28D9"/>
                </a:solidFill>
                <a:latin typeface="Calibri" pitchFamily="34" charset="0"/>
                <a:ea typeface="Calibri" pitchFamily="34" charset="-122"/>
                <a:cs typeface="Calibri" pitchFamily="34" charset="-120"/>
              </a:rPr>
              <a:t>RESULT 5 · THE INTERNAL CONTROL</a:t>
            </a:r>
            <a:endParaRPr lang="en-US" sz="120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Does the effect scale with how much they learned?</a:t>
            </a:r>
            <a:endParaRPr lang="en-US" sz="2800" dirty="0"/>
          </a:p>
        </p:txBody>
      </p:sp>
      <p:pic>
        <p:nvPicPr>
          <p:cNvPr id="4" name="Image 0" descr="outputs/scaling/scaling.png">    </p:cNvPr>
          <p:cNvPicPr>
            <a:picLocks noChangeAspect="1"/>
          </p:cNvPicPr>
          <p:nvPr/>
        </p:nvPicPr>
        <p:blipFill>
          <a:blip r:embed="rId1"/>
          <a:srcRect l="0" r="0" t="0" b="0"/>
          <a:stretch/>
        </p:blipFill>
        <p:spPr>
          <a:xfrm>
            <a:off x="457200" y="1874520"/>
            <a:ext cx="6949440" cy="2672862"/>
          </a:xfrm>
          <a:prstGeom prst="rect">
            <a:avLst/>
          </a:prstGeom>
        </p:spPr>
      </p:pic>
      <p:sp>
        <p:nvSpPr>
          <p:cNvPr id="5" name="Shape 2"/>
          <p:cNvSpPr/>
          <p:nvPr/>
        </p:nvSpPr>
        <p:spPr>
          <a:xfrm>
            <a:off x="7635240" y="1920240"/>
            <a:ext cx="3886200" cy="3840480"/>
          </a:xfrm>
          <a:prstGeom prst="roundRect">
            <a:avLst>
              <a:gd name="adj" fmla="val 2143"/>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7863840" y="2148840"/>
            <a:ext cx="3383280" cy="320040"/>
          </a:xfrm>
          <a:prstGeom prst="rect">
            <a:avLst/>
          </a:prstGeom>
          <a:noFill/>
          <a:ln/>
        </p:spPr>
        <p:txBody>
          <a:bodyPr wrap="square" lIns="0" tIns="0" rIns="0" bIns="0" rtlCol="0" anchor="ctr"/>
          <a:lstStyle/>
          <a:p>
            <a:pPr indent="0" marL="0">
              <a:buNone/>
            </a:pPr>
            <a:r>
              <a:rPr lang="en-US" sz="1400" b="1" dirty="0">
                <a:solidFill>
                  <a:srgbClr val="6D28D9"/>
                </a:solidFill>
                <a:latin typeface="Calibri" pitchFamily="34" charset="0"/>
                <a:ea typeface="Calibri" pitchFamily="34" charset="-122"/>
                <a:cs typeface="Calibri" pitchFamily="34" charset="-120"/>
              </a:rPr>
              <a:t>The logic</a:t>
            </a:r>
            <a:endParaRPr lang="en-US" sz="1400" dirty="0"/>
          </a:p>
        </p:txBody>
      </p:sp>
      <p:sp>
        <p:nvSpPr>
          <p:cNvPr id="7" name="Text 4"/>
          <p:cNvSpPr/>
          <p:nvPr/>
        </p:nvSpPr>
        <p:spPr>
          <a:xfrm>
            <a:off x="7863840" y="2542032"/>
            <a:ext cx="3429000" cy="1463040"/>
          </a:xfrm>
          <a:prstGeom prst="rect">
            <a:avLst/>
          </a:prstGeom>
          <a:noFill/>
          <a:ln/>
        </p:spPr>
        <p:txBody>
          <a:bodyPr wrap="square" lIns="0" tIns="0" rIns="0" bIns="0" rtlCol="0" anchor="ctr"/>
          <a:lstStyle/>
          <a:p>
            <a:pPr indent="0" marL="0">
              <a:lnSpc>
                <a:spcPct val="105000"/>
              </a:lnSpc>
              <a:buNone/>
            </a:pPr>
            <a:r>
              <a:rPr lang="en-US" sz="1300" dirty="0">
                <a:solidFill>
                  <a:srgbClr val="1E293B"/>
                </a:solidFill>
                <a:latin typeface="Calibri" pitchFamily="34" charset="0"/>
                <a:ea typeface="Calibri" pitchFamily="34" charset="-122"/>
                <a:cs typeface="Calibri" pitchFamily="34" charset="-120"/>
              </a:rPr>
              <a:t>Animals differ in how much they learned, and two failed outright. If the cortical effect is tied to conditioning, it should track learning — and be absent in the animals that failed.</a:t>
            </a:r>
            <a:endParaRPr lang="en-US" sz="1300" dirty="0"/>
          </a:p>
        </p:txBody>
      </p:sp>
      <p:sp>
        <p:nvSpPr>
          <p:cNvPr id="8" name="Text 5"/>
          <p:cNvSpPr/>
          <p:nvPr/>
        </p:nvSpPr>
        <p:spPr>
          <a:xfrm>
            <a:off x="7863840" y="4114800"/>
            <a:ext cx="3429000" cy="822960"/>
          </a:xfrm>
          <a:prstGeom prst="rect">
            <a:avLst/>
          </a:prstGeom>
          <a:noFill/>
          <a:ln/>
        </p:spPr>
        <p:txBody>
          <a:bodyPr wrap="square" lIns="0" tIns="0" rIns="0" bIns="0" rtlCol="0" anchor="ctr"/>
          <a:lstStyle/>
          <a:p>
            <a:pPr indent="0" marL="0">
              <a:lnSpc>
                <a:spcPct val="105000"/>
              </a:lnSpc>
              <a:buNone/>
            </a:pPr>
            <a:r>
              <a:rPr lang="en-US" sz="1400" b="1" dirty="0">
                <a:solidFill>
                  <a:srgbClr val="1E293B"/>
                </a:solidFill>
                <a:latin typeface="Calibri" pitchFamily="34" charset="0"/>
                <a:ea typeface="Calibri" pitchFamily="34" charset="-122"/>
                <a:cs typeface="Calibri" pitchFamily="34" charset="-120"/>
              </a:rPr>
              <a:t>r = +0.64 between learning and the change in coupling.</a:t>
            </a:r>
            <a:endParaRPr lang="en-US" sz="1400" dirty="0"/>
          </a:p>
        </p:txBody>
      </p:sp>
      <p:sp>
        <p:nvSpPr>
          <p:cNvPr id="9" name="Text 6"/>
          <p:cNvSpPr/>
          <p:nvPr/>
        </p:nvSpPr>
        <p:spPr>
          <a:xfrm>
            <a:off x="7863840" y="4937760"/>
            <a:ext cx="3429000" cy="822960"/>
          </a:xfrm>
          <a:prstGeom prst="rect">
            <a:avLst/>
          </a:prstGeom>
          <a:noFill/>
          <a:ln/>
        </p:spPr>
        <p:txBody>
          <a:bodyPr wrap="square" lIns="0" tIns="0" rIns="0" bIns="0" rtlCol="0" anchor="ctr"/>
          <a:lstStyle/>
          <a:p>
            <a:pPr indent="0" marL="0">
              <a:lnSpc>
                <a:spcPct val="104000"/>
              </a:lnSpc>
              <a:buNone/>
            </a:pPr>
            <a:r>
              <a:rPr lang="en-US" sz="1200" i="1" dirty="0">
                <a:solidFill>
                  <a:srgbClr val="D97706"/>
                </a:solidFill>
                <a:latin typeface="Calibri" pitchFamily="34" charset="0"/>
                <a:ea typeface="Calibri" pitchFamily="34" charset="-122"/>
                <a:cs typeface="Calibri" pitchFamily="34" charset="-120"/>
              </a:rPr>
              <a:t>Encouraging direction, but n = 5 — not significant. This is the analysis more animals would power.</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SUMMARY</a:t>
            </a:r>
            <a:endParaRPr lang="en-US" sz="120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Where this stands</a:t>
            </a:r>
            <a:endParaRPr lang="en-US" sz="2800" dirty="0"/>
          </a:p>
        </p:txBody>
      </p:sp>
      <p:sp>
        <p:nvSpPr>
          <p:cNvPr id="4" name="Shape 2"/>
          <p:cNvSpPr/>
          <p:nvPr/>
        </p:nvSpPr>
        <p:spPr>
          <a:xfrm>
            <a:off x="640080" y="1828800"/>
            <a:ext cx="3538728" cy="3931920"/>
          </a:xfrm>
          <a:prstGeom prst="roundRect">
            <a:avLst>
              <a:gd name="adj" fmla="val 23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Shape 3"/>
          <p:cNvSpPr/>
          <p:nvPr/>
        </p:nvSpPr>
        <p:spPr>
          <a:xfrm>
            <a:off x="914400" y="2103120"/>
            <a:ext cx="2377440" cy="457200"/>
          </a:xfrm>
          <a:prstGeom prst="roundRect">
            <a:avLst>
              <a:gd name="adj" fmla="val 20000"/>
            </a:avLst>
          </a:prstGeom>
          <a:solidFill>
            <a:srgbClr val="16A34A"/>
          </a:solidFill>
          <a:ln/>
        </p:spPr>
      </p:sp>
      <p:sp>
        <p:nvSpPr>
          <p:cNvPr id="6" name="Text 4"/>
          <p:cNvSpPr/>
          <p:nvPr/>
        </p:nvSpPr>
        <p:spPr>
          <a:xfrm>
            <a:off x="914400" y="2103120"/>
            <a:ext cx="2377440" cy="457200"/>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SOLID</a:t>
            </a:r>
            <a:endParaRPr lang="en-US" sz="1200" dirty="0"/>
          </a:p>
        </p:txBody>
      </p:sp>
      <p:sp>
        <p:nvSpPr>
          <p:cNvPr id="7" name="Text 5"/>
          <p:cNvSpPr/>
          <p:nvPr/>
        </p:nvSpPr>
        <p:spPr>
          <a:xfrm>
            <a:off x="914400" y="2743200"/>
            <a:ext cx="3017520" cy="731520"/>
          </a:xfrm>
          <a:prstGeom prst="rect">
            <a:avLst/>
          </a:prstGeom>
          <a:noFill/>
          <a:ln/>
        </p:spPr>
        <p:txBody>
          <a:bodyPr wrap="square" lIns="0" tIns="0" rIns="0" bIns="0" rtlCol="0" anchor="ctr"/>
          <a:lstStyle/>
          <a:p>
            <a:pPr indent="0" marL="0">
              <a:lnSpc>
                <a:spcPct val="100000"/>
              </a:lnSpc>
              <a:buNone/>
            </a:pPr>
            <a:r>
              <a:rPr lang="en-US" sz="1550" b="1" dirty="0">
                <a:solidFill>
                  <a:srgbClr val="1E293B"/>
                </a:solidFill>
                <a:latin typeface="Calibri" pitchFamily="34" charset="0"/>
                <a:ea typeface="Calibri" pitchFamily="34" charset="-122"/>
                <a:cs typeface="Calibri" pitchFamily="34" charset="-120"/>
              </a:rPr>
              <a:t>Bidirectional conditioning</a:t>
            </a:r>
            <a:endParaRPr lang="en-US" sz="1550" dirty="0"/>
          </a:p>
        </p:txBody>
      </p:sp>
      <p:sp>
        <p:nvSpPr>
          <p:cNvPr id="8" name="Text 6"/>
          <p:cNvSpPr/>
          <p:nvPr/>
        </p:nvSpPr>
        <p:spPr>
          <a:xfrm>
            <a:off x="914400" y="3611880"/>
            <a:ext cx="3063240" cy="2011680"/>
          </a:xfrm>
          <a:prstGeom prst="rect">
            <a:avLst/>
          </a:prstGeom>
          <a:noFill/>
          <a:ln/>
        </p:spPr>
        <p:txBody>
          <a:bodyPr wrap="square" lIns="0" tIns="0" rIns="0" bIns="0" rtlCol="0" anchor="ctr"/>
          <a:lstStyle/>
          <a:p>
            <a:pPr indent="0" marL="0">
              <a:lnSpc>
                <a:spcPct val="107000"/>
              </a:lnSpc>
              <a:buNone/>
            </a:pPr>
            <a:r>
              <a:rPr lang="en-US" sz="1250" dirty="0">
                <a:solidFill>
                  <a:srgbClr val="64748B"/>
                </a:solidFill>
                <a:latin typeface="Calibri" pitchFamily="34" charset="0"/>
                <a:ea typeface="Calibri" pitchFamily="34" charset="-122"/>
                <a:cs typeface="Calibri" pitchFamily="34" charset="-120"/>
              </a:rPr>
              <a:t>Reproduced with full stimulus and background control. Three of five animals clear the 20% criterion.</a:t>
            </a:r>
            <a:endParaRPr lang="en-US" sz="1250" dirty="0"/>
          </a:p>
        </p:txBody>
      </p:sp>
      <p:sp>
        <p:nvSpPr>
          <p:cNvPr id="9" name="Shape 7"/>
          <p:cNvSpPr/>
          <p:nvPr/>
        </p:nvSpPr>
        <p:spPr>
          <a:xfrm>
            <a:off x="4370832" y="1828800"/>
            <a:ext cx="3538728" cy="3931920"/>
          </a:xfrm>
          <a:prstGeom prst="roundRect">
            <a:avLst>
              <a:gd name="adj" fmla="val 23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0" name="Shape 8"/>
          <p:cNvSpPr/>
          <p:nvPr/>
        </p:nvSpPr>
        <p:spPr>
          <a:xfrm>
            <a:off x="4645152" y="2103120"/>
            <a:ext cx="2377440" cy="457200"/>
          </a:xfrm>
          <a:prstGeom prst="roundRect">
            <a:avLst>
              <a:gd name="adj" fmla="val 20000"/>
            </a:avLst>
          </a:prstGeom>
          <a:solidFill>
            <a:srgbClr val="0D9488"/>
          </a:solidFill>
          <a:ln/>
        </p:spPr>
      </p:sp>
      <p:sp>
        <p:nvSpPr>
          <p:cNvPr id="11" name="Text 9"/>
          <p:cNvSpPr/>
          <p:nvPr/>
        </p:nvSpPr>
        <p:spPr>
          <a:xfrm>
            <a:off x="4645152" y="2103120"/>
            <a:ext cx="2377440" cy="457200"/>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REAL, SMALL</a:t>
            </a:r>
            <a:endParaRPr lang="en-US" sz="1200" dirty="0"/>
          </a:p>
        </p:txBody>
      </p:sp>
      <p:sp>
        <p:nvSpPr>
          <p:cNvPr id="12" name="Text 10"/>
          <p:cNvSpPr/>
          <p:nvPr/>
        </p:nvSpPr>
        <p:spPr>
          <a:xfrm>
            <a:off x="4645152" y="2743200"/>
            <a:ext cx="3017520" cy="731520"/>
          </a:xfrm>
          <a:prstGeom prst="rect">
            <a:avLst/>
          </a:prstGeom>
          <a:noFill/>
          <a:ln/>
        </p:spPr>
        <p:txBody>
          <a:bodyPr wrap="square" lIns="0" tIns="0" rIns="0" bIns="0" rtlCol="0" anchor="ctr"/>
          <a:lstStyle/>
          <a:p>
            <a:pPr indent="0" marL="0">
              <a:lnSpc>
                <a:spcPct val="100000"/>
              </a:lnSpc>
              <a:buNone/>
            </a:pPr>
            <a:r>
              <a:rPr lang="en-US" sz="1550" b="1" dirty="0">
                <a:solidFill>
                  <a:srgbClr val="1E293B"/>
                </a:solidFill>
                <a:latin typeface="Calibri" pitchFamily="34" charset="0"/>
                <a:ea typeface="Calibri" pitchFamily="34" charset="-122"/>
                <a:cs typeface="Calibri" pitchFamily="34" charset="-120"/>
              </a:rPr>
              <a:t>Single-trial cortical coupling</a:t>
            </a:r>
            <a:endParaRPr lang="en-US" sz="1550" dirty="0"/>
          </a:p>
        </p:txBody>
      </p:sp>
      <p:sp>
        <p:nvSpPr>
          <p:cNvPr id="13" name="Text 11"/>
          <p:cNvSpPr/>
          <p:nvPr/>
        </p:nvSpPr>
        <p:spPr>
          <a:xfrm>
            <a:off x="4645152" y="3611880"/>
            <a:ext cx="3063240" cy="2011680"/>
          </a:xfrm>
          <a:prstGeom prst="rect">
            <a:avLst/>
          </a:prstGeom>
          <a:noFill/>
          <a:ln/>
        </p:spPr>
        <p:txBody>
          <a:bodyPr wrap="square" lIns="0" tIns="0" rIns="0" bIns="0" rtlCol="0" anchor="ctr"/>
          <a:lstStyle/>
          <a:p>
            <a:pPr indent="0" marL="0">
              <a:lnSpc>
                <a:spcPct val="107000"/>
              </a:lnSpc>
              <a:buNone/>
            </a:pPr>
            <a:r>
              <a:rPr lang="en-US" sz="1250" dirty="0">
                <a:solidFill>
                  <a:srgbClr val="64748B"/>
                </a:solidFill>
                <a:latin typeface="Calibri" pitchFamily="34" charset="0"/>
                <a:ea typeface="Calibri" pitchFamily="34" charset="-122"/>
                <a:cs typeface="Calibri" pitchFamily="34" charset="-120"/>
              </a:rPr>
              <a:t>R² ≈ 0.04 over a ≈0 null, in every animal. Drift-immune by design; contamination ruled out.</a:t>
            </a:r>
            <a:endParaRPr lang="en-US" sz="1250" dirty="0"/>
          </a:p>
        </p:txBody>
      </p:sp>
      <p:sp>
        <p:nvSpPr>
          <p:cNvPr id="14" name="Shape 12"/>
          <p:cNvSpPr/>
          <p:nvPr/>
        </p:nvSpPr>
        <p:spPr>
          <a:xfrm>
            <a:off x="8101584" y="1828800"/>
            <a:ext cx="3538728" cy="3931920"/>
          </a:xfrm>
          <a:prstGeom prst="roundRect">
            <a:avLst>
              <a:gd name="adj" fmla="val 23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5" name="Shape 13"/>
          <p:cNvSpPr/>
          <p:nvPr/>
        </p:nvSpPr>
        <p:spPr>
          <a:xfrm>
            <a:off x="8375904" y="2103120"/>
            <a:ext cx="2377440" cy="457200"/>
          </a:xfrm>
          <a:prstGeom prst="roundRect">
            <a:avLst>
              <a:gd name="adj" fmla="val 20000"/>
            </a:avLst>
          </a:prstGeom>
          <a:solidFill>
            <a:srgbClr val="D97706"/>
          </a:solidFill>
          <a:ln/>
        </p:spPr>
      </p:sp>
      <p:sp>
        <p:nvSpPr>
          <p:cNvPr id="16" name="Text 14"/>
          <p:cNvSpPr/>
          <p:nvPr/>
        </p:nvSpPr>
        <p:spPr>
          <a:xfrm>
            <a:off x="8375904" y="2103120"/>
            <a:ext cx="2377440" cy="457200"/>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NO</a:t>
            </a:r>
            <a:endParaRPr lang="en-US" sz="1200" dirty="0"/>
          </a:p>
        </p:txBody>
      </p:sp>
      <p:sp>
        <p:nvSpPr>
          <p:cNvPr id="17" name="Text 15"/>
          <p:cNvSpPr/>
          <p:nvPr/>
        </p:nvSpPr>
        <p:spPr>
          <a:xfrm>
            <a:off x="8375904" y="2743200"/>
            <a:ext cx="3017520" cy="731520"/>
          </a:xfrm>
          <a:prstGeom prst="rect">
            <a:avLst/>
          </a:prstGeom>
          <a:noFill/>
          <a:ln/>
        </p:spPr>
        <p:txBody>
          <a:bodyPr wrap="square" lIns="0" tIns="0" rIns="0" bIns="0" rtlCol="0" anchor="ctr"/>
          <a:lstStyle/>
          <a:p>
            <a:pPr indent="0" marL="0">
              <a:lnSpc>
                <a:spcPct val="100000"/>
              </a:lnSpc>
              <a:buNone/>
            </a:pPr>
            <a:r>
              <a:rPr lang="en-US" sz="1550" b="1" dirty="0">
                <a:solidFill>
                  <a:srgbClr val="1E293B"/>
                </a:solidFill>
                <a:latin typeface="Calibri" pitchFamily="34" charset="0"/>
                <a:ea typeface="Calibri" pitchFamily="34" charset="-122"/>
                <a:cs typeface="Calibri" pitchFamily="34" charset="-120"/>
              </a:rPr>
              <a:t>Average-state drift = learning</a:t>
            </a:r>
            <a:endParaRPr lang="en-US" sz="1550" dirty="0"/>
          </a:p>
        </p:txBody>
      </p:sp>
      <p:sp>
        <p:nvSpPr>
          <p:cNvPr id="18" name="Text 16"/>
          <p:cNvSpPr/>
          <p:nvPr/>
        </p:nvSpPr>
        <p:spPr>
          <a:xfrm>
            <a:off x="8375904" y="3611880"/>
            <a:ext cx="3063240" cy="2011680"/>
          </a:xfrm>
          <a:prstGeom prst="rect">
            <a:avLst/>
          </a:prstGeom>
          <a:noFill/>
          <a:ln/>
        </p:spPr>
        <p:txBody>
          <a:bodyPr wrap="square" lIns="0" tIns="0" rIns="0" bIns="0" rtlCol="0" anchor="ctr"/>
          <a:lstStyle/>
          <a:p>
            <a:pPr indent="0" marL="0">
              <a:lnSpc>
                <a:spcPct val="107000"/>
              </a:lnSpc>
              <a:buNone/>
            </a:pPr>
            <a:r>
              <a:rPr lang="en-US" sz="1250" dirty="0">
                <a:solidFill>
                  <a:srgbClr val="64748B"/>
                </a:solidFill>
                <a:latin typeface="Calibri" pitchFamily="34" charset="0"/>
                <a:ea typeface="Calibri" pitchFamily="34" charset="-122"/>
                <a:cs typeface="Calibri" pitchFamily="34" charset="-120"/>
              </a:rPr>
              <a:t>Three independent controls agree it reflects recording change. Worth reporting as a caution.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NEXT</a:t>
            </a:r>
            <a:endParaRPr lang="en-US" sz="1200" dirty="0"/>
          </a:p>
        </p:txBody>
      </p:sp>
      <p:sp>
        <p:nvSpPr>
          <p:cNvPr id="3" name="Text 1"/>
          <p:cNvSpPr/>
          <p:nvPr/>
        </p:nvSpPr>
        <p:spPr>
          <a:xfrm>
            <a:off x="640080" y="457200"/>
            <a:ext cx="11064240" cy="685800"/>
          </a:xfrm>
          <a:prstGeom prst="rect">
            <a:avLst/>
          </a:prstGeom>
          <a:noFill/>
          <a:ln/>
        </p:spPr>
        <p:txBody>
          <a:bodyPr wrap="square" lIns="0" tIns="0" rIns="0" bIns="0" rtlCol="0" anchor="ctr"/>
          <a:lstStyle/>
          <a:p>
            <a:pPr indent="0" marL="0">
              <a:buNone/>
            </a:pPr>
            <a:r>
              <a:rPr lang="en-US" sz="2800" b="1" dirty="0">
                <a:solidFill>
                  <a:srgbClr val="1E293B"/>
                </a:solidFill>
                <a:latin typeface="Cambria" pitchFamily="34" charset="0"/>
                <a:ea typeface="Cambria" pitchFamily="34" charset="-122"/>
                <a:cs typeface="Cambria" pitchFamily="34" charset="-120"/>
              </a:rPr>
              <a:t>What would strengthen this</a:t>
            </a:r>
            <a:endParaRPr lang="en-US" sz="2800" dirty="0"/>
          </a:p>
        </p:txBody>
      </p:sp>
      <p:sp>
        <p:nvSpPr>
          <p:cNvPr id="4" name="Shape 2"/>
          <p:cNvSpPr/>
          <p:nvPr/>
        </p:nvSpPr>
        <p:spPr>
          <a:xfrm>
            <a:off x="640080" y="1920240"/>
            <a:ext cx="10881360" cy="914400"/>
          </a:xfrm>
          <a:prstGeom prst="roundRect">
            <a:avLst>
              <a:gd name="adj" fmla="val 90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Shape 3"/>
          <p:cNvSpPr/>
          <p:nvPr/>
        </p:nvSpPr>
        <p:spPr>
          <a:xfrm>
            <a:off x="896112" y="2157984"/>
            <a:ext cx="438912" cy="438912"/>
          </a:xfrm>
          <a:prstGeom prst="ellipse">
            <a:avLst/>
          </a:prstGeom>
          <a:solidFill>
            <a:srgbClr val="6D28D9"/>
          </a:solidFill>
          <a:ln/>
        </p:spPr>
      </p:sp>
      <p:sp>
        <p:nvSpPr>
          <p:cNvPr id="6" name="Text 4"/>
          <p:cNvSpPr/>
          <p:nvPr/>
        </p:nvSpPr>
        <p:spPr>
          <a:xfrm>
            <a:off x="896112" y="21579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17904" y="2084832"/>
            <a:ext cx="356616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Add the remaining animals</a:t>
            </a:r>
            <a:endParaRPr lang="en-US" sz="1450" dirty="0"/>
          </a:p>
        </p:txBody>
      </p:sp>
      <p:sp>
        <p:nvSpPr>
          <p:cNvPr id="8" name="Text 6"/>
          <p:cNvSpPr/>
          <p:nvPr/>
        </p:nvSpPr>
        <p:spPr>
          <a:xfrm>
            <a:off x="5212080" y="2084832"/>
            <a:ext cx="6035040" cy="59436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7, 8, 13, 14, 15 are scanned and ready. The lab aims for ~10 per group; we have 5 usable.</a:t>
            </a:r>
            <a:endParaRPr lang="en-US" sz="1250" dirty="0"/>
          </a:p>
        </p:txBody>
      </p:sp>
      <p:sp>
        <p:nvSpPr>
          <p:cNvPr id="9" name="Shape 7"/>
          <p:cNvSpPr/>
          <p:nvPr/>
        </p:nvSpPr>
        <p:spPr>
          <a:xfrm>
            <a:off x="640080" y="2944368"/>
            <a:ext cx="10881360" cy="914400"/>
          </a:xfrm>
          <a:prstGeom prst="roundRect">
            <a:avLst>
              <a:gd name="adj" fmla="val 90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0" name="Shape 8"/>
          <p:cNvSpPr/>
          <p:nvPr/>
        </p:nvSpPr>
        <p:spPr>
          <a:xfrm>
            <a:off x="896112" y="3182112"/>
            <a:ext cx="438912" cy="438912"/>
          </a:xfrm>
          <a:prstGeom prst="ellipse">
            <a:avLst/>
          </a:prstGeom>
          <a:solidFill>
            <a:srgbClr val="6D28D9"/>
          </a:solidFill>
          <a:ln/>
        </p:spPr>
      </p:sp>
      <p:sp>
        <p:nvSpPr>
          <p:cNvPr id="11" name="Text 9"/>
          <p:cNvSpPr/>
          <p:nvPr/>
        </p:nvSpPr>
        <p:spPr>
          <a:xfrm>
            <a:off x="896112" y="3182112"/>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517904" y="3108960"/>
            <a:ext cx="356616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Power the scaling test</a:t>
            </a:r>
            <a:endParaRPr lang="en-US" sz="1450" dirty="0"/>
          </a:p>
        </p:txBody>
      </p:sp>
      <p:sp>
        <p:nvSpPr>
          <p:cNvPr id="13" name="Text 11"/>
          <p:cNvSpPr/>
          <p:nvPr/>
        </p:nvSpPr>
        <p:spPr>
          <a:xfrm>
            <a:off x="5212080" y="3108960"/>
            <a:ext cx="6035040" cy="59436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With ~10 animals the learning-vs-coupling correlation becomes a real test rather than a hint.</a:t>
            </a:r>
            <a:endParaRPr lang="en-US" sz="1250" dirty="0"/>
          </a:p>
        </p:txBody>
      </p:sp>
      <p:sp>
        <p:nvSpPr>
          <p:cNvPr id="14" name="Shape 12"/>
          <p:cNvSpPr/>
          <p:nvPr/>
        </p:nvSpPr>
        <p:spPr>
          <a:xfrm>
            <a:off x="640080" y="3968496"/>
            <a:ext cx="10881360" cy="914400"/>
          </a:xfrm>
          <a:prstGeom prst="roundRect">
            <a:avLst>
              <a:gd name="adj" fmla="val 90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5" name="Shape 13"/>
          <p:cNvSpPr/>
          <p:nvPr/>
        </p:nvSpPr>
        <p:spPr>
          <a:xfrm>
            <a:off x="896112" y="4206240"/>
            <a:ext cx="438912" cy="438912"/>
          </a:xfrm>
          <a:prstGeom prst="ellipse">
            <a:avLst/>
          </a:prstGeom>
          <a:solidFill>
            <a:srgbClr val="0D9488"/>
          </a:solidFill>
          <a:ln/>
        </p:spPr>
      </p:sp>
      <p:sp>
        <p:nvSpPr>
          <p:cNvPr id="16" name="Text 14"/>
          <p:cNvSpPr/>
          <p:nvPr/>
        </p:nvSpPr>
        <p:spPr>
          <a:xfrm>
            <a:off x="896112" y="420624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517904" y="4133088"/>
            <a:ext cx="356616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Frequency-resolved coupling</a:t>
            </a:r>
            <a:endParaRPr lang="en-US" sz="1450" dirty="0"/>
          </a:p>
        </p:txBody>
      </p:sp>
      <p:sp>
        <p:nvSpPr>
          <p:cNvPr id="18" name="Text 16"/>
          <p:cNvSpPr/>
          <p:nvPr/>
        </p:nvSpPr>
        <p:spPr>
          <a:xfrm>
            <a:off x="5212080" y="4133088"/>
            <a:ext cx="6035040" cy="59436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Which bands carry the reflex information? Sharpens both the result and the contamination argument.</a:t>
            </a:r>
            <a:endParaRPr lang="en-US" sz="1250" dirty="0"/>
          </a:p>
        </p:txBody>
      </p:sp>
      <p:sp>
        <p:nvSpPr>
          <p:cNvPr id="19" name="Shape 17"/>
          <p:cNvSpPr/>
          <p:nvPr/>
        </p:nvSpPr>
        <p:spPr>
          <a:xfrm>
            <a:off x="640080" y="4992624"/>
            <a:ext cx="10881360" cy="914400"/>
          </a:xfrm>
          <a:prstGeom prst="roundRect">
            <a:avLst>
              <a:gd name="adj" fmla="val 90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0" name="Shape 18"/>
          <p:cNvSpPr/>
          <p:nvPr/>
        </p:nvSpPr>
        <p:spPr>
          <a:xfrm>
            <a:off x="896112" y="5230368"/>
            <a:ext cx="438912" cy="438912"/>
          </a:xfrm>
          <a:prstGeom prst="ellipse">
            <a:avLst/>
          </a:prstGeom>
          <a:solidFill>
            <a:srgbClr val="0D9488"/>
          </a:solidFill>
          <a:ln/>
        </p:spPr>
      </p:sp>
      <p:sp>
        <p:nvSpPr>
          <p:cNvPr id="21" name="Text 19"/>
          <p:cNvSpPr/>
          <p:nvPr/>
        </p:nvSpPr>
        <p:spPr>
          <a:xfrm>
            <a:off x="896112" y="5230368"/>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1517904" y="5157216"/>
            <a:ext cx="3566160" cy="594360"/>
          </a:xfrm>
          <a:prstGeom prst="rect">
            <a:avLst/>
          </a:prstGeom>
          <a:noFill/>
          <a:ln/>
        </p:spPr>
        <p:txBody>
          <a:bodyPr wrap="square" lIns="0" tIns="0" rIns="0" bIns="0" rtlCol="0" anchor="ctr"/>
          <a:lstStyle/>
          <a:p>
            <a:pPr indent="0" marL="0">
              <a:buNone/>
            </a:pPr>
            <a:r>
              <a:rPr lang="en-US" sz="1450" b="1" dirty="0">
                <a:solidFill>
                  <a:srgbClr val="1E293B"/>
                </a:solidFill>
                <a:latin typeface="Calibri" pitchFamily="34" charset="0"/>
                <a:ea typeface="Calibri" pitchFamily="34" charset="-122"/>
                <a:cs typeface="Calibri" pitchFamily="34" charset="-120"/>
              </a:rPr>
              <a:t>Time course</a:t>
            </a:r>
            <a:endParaRPr lang="en-US" sz="1450" dirty="0"/>
          </a:p>
        </p:txBody>
      </p:sp>
      <p:sp>
        <p:nvSpPr>
          <p:cNvPr id="23" name="Text 21"/>
          <p:cNvSpPr/>
          <p:nvPr/>
        </p:nvSpPr>
        <p:spPr>
          <a:xfrm>
            <a:off x="5212080" y="5157216"/>
            <a:ext cx="6035040" cy="594360"/>
          </a:xfrm>
          <a:prstGeom prst="rect">
            <a:avLst/>
          </a:prstGeom>
          <a:noFill/>
          <a:ln/>
        </p:spPr>
        <p:txBody>
          <a:bodyPr wrap="square" lIns="0" tIns="0" rIns="0" bIns="0" rtlCol="0" anchor="ctr"/>
          <a:lstStyle/>
          <a:p>
            <a:pPr indent="0" marL="0">
              <a:lnSpc>
                <a:spcPct val="102000"/>
              </a:lnSpc>
              <a:buNone/>
            </a:pPr>
            <a:r>
              <a:rPr lang="en-US" sz="1250" dirty="0">
                <a:solidFill>
                  <a:srgbClr val="64748B"/>
                </a:solidFill>
                <a:latin typeface="Calibri" pitchFamily="34" charset="0"/>
                <a:ea typeface="Calibri" pitchFamily="34" charset="-122"/>
                <a:cs typeface="Calibri" pitchFamily="34" charset="-120"/>
              </a:rPr>
              <a:t>Does cortical change lead or follow the behavioural change? Carp's suggestion, and mechanistically the interesting question.</a:t>
            </a:r>
            <a:endParaRPr lang="en-US" sz="1250" dirty="0"/>
          </a:p>
        </p:txBody>
      </p:sp>
      <p:sp>
        <p:nvSpPr>
          <p:cNvPr id="24" name="Shape 22"/>
          <p:cNvSpPr/>
          <p:nvPr/>
        </p:nvSpPr>
        <p:spPr>
          <a:xfrm>
            <a:off x="640080" y="6126480"/>
            <a:ext cx="10881360" cy="731520"/>
          </a:xfrm>
          <a:prstGeom prst="roundRect">
            <a:avLst>
              <a:gd name="adj" fmla="val 11250"/>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5" name="Text 23"/>
          <p:cNvSpPr/>
          <p:nvPr/>
        </p:nvSpPr>
        <p:spPr>
          <a:xfrm>
            <a:off x="960120" y="6263640"/>
            <a:ext cx="10241280" cy="457200"/>
          </a:xfrm>
          <a:prstGeom prst="rect">
            <a:avLst/>
          </a:prstGeom>
          <a:noFill/>
          <a:ln/>
        </p:spPr>
        <p:txBody>
          <a:bodyPr wrap="square" lIns="0" tIns="0" rIns="0" bIns="0" rtlCol="0" anchor="ctr"/>
          <a:lstStyle/>
          <a:p>
            <a:pPr indent="0" marL="0">
              <a:buNone/>
            </a:pPr>
            <a:r>
              <a:rPr lang="en-US" sz="1350" b="1" dirty="0">
                <a:solidFill>
                  <a:srgbClr val="6D28D9"/>
                </a:solidFill>
                <a:latin typeface="Calibri" pitchFamily="34" charset="0"/>
                <a:ea typeface="Calibri" pitchFamily="34" charset="-122"/>
                <a:cs typeface="Calibri" pitchFamily="34" charset="-120"/>
              </a:rPr>
              <a:t>Target venue: a machine-learning conference (ICML / NeurIPS), framed as an extension of Boulay et al.</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548640"/>
            <a:ext cx="10058400" cy="365760"/>
          </a:xfrm>
          <a:prstGeom prst="rect">
            <a:avLst/>
          </a:prstGeom>
          <a:noFill/>
          <a:ln/>
        </p:spPr>
        <p:txBody>
          <a:bodyPr wrap="square" lIns="0" tIns="0" rIns="0" bIns="0" rtlCol="0" anchor="ctr"/>
          <a:lstStyle/>
          <a:p>
            <a:pPr indent="0" marL="0">
              <a:buNone/>
            </a:pPr>
            <a:r>
              <a:rPr lang="en-US" sz="1400" b="1" spc="300" kern="0" dirty="0">
                <a:solidFill>
                  <a:srgbClr val="0D9488"/>
                </a:solidFill>
                <a:latin typeface="Calibri" pitchFamily="34" charset="0"/>
                <a:ea typeface="Calibri" pitchFamily="34" charset="-122"/>
                <a:cs typeface="Calibri" pitchFamily="34" charset="-120"/>
              </a:rPr>
              <a:t>QUESTIONS FOR YOU</a:t>
            </a:r>
            <a:endParaRPr lang="en-US" sz="1400" dirty="0"/>
          </a:p>
        </p:txBody>
      </p:sp>
      <p:sp>
        <p:nvSpPr>
          <p:cNvPr id="3" name="Text 1"/>
          <p:cNvSpPr/>
          <p:nvPr/>
        </p:nvSpPr>
        <p:spPr>
          <a:xfrm>
            <a:off x="731520" y="96012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Where we'd value your input</a:t>
            </a:r>
            <a:endParaRPr lang="en-US" sz="2800" dirty="0"/>
          </a:p>
        </p:txBody>
      </p:sp>
      <p:sp>
        <p:nvSpPr>
          <p:cNvPr id="4" name="Shape 2"/>
          <p:cNvSpPr/>
          <p:nvPr/>
        </p:nvSpPr>
        <p:spPr>
          <a:xfrm>
            <a:off x="731520" y="1920240"/>
            <a:ext cx="5257800" cy="1874520"/>
          </a:xfrm>
          <a:prstGeom prst="roundRect">
            <a:avLst>
              <a:gd name="adj" fmla="val 4390"/>
            </a:avLst>
          </a:prstGeom>
          <a:solidFill>
            <a:srgbClr val="1E293B"/>
          </a:solidFill>
          <a:ln w="12700">
            <a:solidFill>
              <a:srgbClr val="334155"/>
            </a:solidFill>
            <a:prstDash val="solid"/>
          </a:ln>
        </p:spPr>
      </p:sp>
      <p:sp>
        <p:nvSpPr>
          <p:cNvPr id="5" name="Shape 3"/>
          <p:cNvSpPr/>
          <p:nvPr/>
        </p:nvSpPr>
        <p:spPr>
          <a:xfrm>
            <a:off x="1005840" y="2194560"/>
            <a:ext cx="438912" cy="438912"/>
          </a:xfrm>
          <a:prstGeom prst="ellipse">
            <a:avLst/>
          </a:prstGeom>
          <a:solidFill>
            <a:srgbClr val="6D28D9"/>
          </a:solidFill>
          <a:ln/>
        </p:spPr>
      </p:sp>
      <p:sp>
        <p:nvSpPr>
          <p:cNvPr id="6" name="Text 4"/>
          <p:cNvSpPr/>
          <p:nvPr/>
        </p:nvSpPr>
        <p:spPr>
          <a:xfrm>
            <a:off x="1005840" y="219456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72768" y="2157984"/>
            <a:ext cx="4251960" cy="566928"/>
          </a:xfrm>
          <a:prstGeom prst="rect">
            <a:avLst/>
          </a:prstGeom>
          <a:noFill/>
          <a:ln/>
        </p:spPr>
        <p:txBody>
          <a:bodyPr wrap="square" lIns="0" tIns="0" rIns="0" bIns="0" rtlCol="0" anchor="ctr"/>
          <a:lstStyle/>
          <a:p>
            <a:pPr indent="0" marL="0">
              <a:lnSpc>
                <a:spcPct val="95000"/>
              </a:lnSpc>
              <a:buNone/>
            </a:pPr>
            <a:r>
              <a:rPr lang="en-US" sz="1400" b="1" dirty="0">
                <a:solidFill>
                  <a:srgbClr val="FFFFFF"/>
                </a:solidFill>
                <a:latin typeface="Calibri" pitchFamily="34" charset="0"/>
                <a:ea typeface="Calibri" pitchFamily="34" charset="-122"/>
                <a:cs typeface="Calibri" pitchFamily="34" charset="-120"/>
              </a:rPr>
              <a:t>Is a 2% unique cortical contribution meaningful?</a:t>
            </a:r>
            <a:endParaRPr lang="en-US" sz="1400" dirty="0"/>
          </a:p>
        </p:txBody>
      </p:sp>
      <p:sp>
        <p:nvSpPr>
          <p:cNvPr id="8" name="Text 6"/>
          <p:cNvSpPr/>
          <p:nvPr/>
        </p:nvSpPr>
        <p:spPr>
          <a:xfrm>
            <a:off x="1024128" y="2834640"/>
            <a:ext cx="4709160" cy="868680"/>
          </a:xfrm>
          <a:prstGeom prst="rect">
            <a:avLst/>
          </a:prstGeom>
          <a:noFill/>
          <a:ln/>
        </p:spPr>
        <p:txBody>
          <a:bodyPr wrap="square" lIns="0" tIns="0" rIns="0" bIns="0" rtlCol="0" anchor="ctr"/>
          <a:lstStyle/>
          <a:p>
            <a:pPr indent="0" marL="0">
              <a:lnSpc>
                <a:spcPct val="105000"/>
              </a:lnSpc>
              <a:buNone/>
            </a:pPr>
            <a:r>
              <a:rPr lang="en-US" sz="1200" dirty="0">
                <a:solidFill>
                  <a:srgbClr val="CBD5E1"/>
                </a:solidFill>
                <a:latin typeface="Calibri" pitchFamily="34" charset="0"/>
                <a:ea typeface="Calibri" pitchFamily="34" charset="-122"/>
                <a:cs typeface="Calibri" pitchFamily="34" charset="-120"/>
              </a:rPr>
              <a:t>It is small but consistent and survives every control we can think of. Is that a result worth publishing?</a:t>
            </a:r>
            <a:endParaRPr lang="en-US" sz="1200" dirty="0"/>
          </a:p>
        </p:txBody>
      </p:sp>
      <p:sp>
        <p:nvSpPr>
          <p:cNvPr id="9" name="Shape 7"/>
          <p:cNvSpPr/>
          <p:nvPr/>
        </p:nvSpPr>
        <p:spPr>
          <a:xfrm>
            <a:off x="6263640" y="1920240"/>
            <a:ext cx="5257800" cy="1874520"/>
          </a:xfrm>
          <a:prstGeom prst="roundRect">
            <a:avLst>
              <a:gd name="adj" fmla="val 4390"/>
            </a:avLst>
          </a:prstGeom>
          <a:solidFill>
            <a:srgbClr val="1E293B"/>
          </a:solidFill>
          <a:ln w="12700">
            <a:solidFill>
              <a:srgbClr val="334155"/>
            </a:solidFill>
            <a:prstDash val="solid"/>
          </a:ln>
        </p:spPr>
      </p:sp>
      <p:sp>
        <p:nvSpPr>
          <p:cNvPr id="10" name="Shape 8"/>
          <p:cNvSpPr/>
          <p:nvPr/>
        </p:nvSpPr>
        <p:spPr>
          <a:xfrm>
            <a:off x="6537960" y="2194560"/>
            <a:ext cx="438912" cy="438912"/>
          </a:xfrm>
          <a:prstGeom prst="ellipse">
            <a:avLst/>
          </a:prstGeom>
          <a:solidFill>
            <a:srgbClr val="6D28D9"/>
          </a:solidFill>
          <a:ln/>
        </p:spPr>
      </p:sp>
      <p:sp>
        <p:nvSpPr>
          <p:cNvPr id="11" name="Text 9"/>
          <p:cNvSpPr/>
          <p:nvPr/>
        </p:nvSpPr>
        <p:spPr>
          <a:xfrm>
            <a:off x="6537960" y="219456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7104888" y="2157984"/>
            <a:ext cx="4251960" cy="566928"/>
          </a:xfrm>
          <a:prstGeom prst="rect">
            <a:avLst/>
          </a:prstGeom>
          <a:noFill/>
          <a:ln/>
        </p:spPr>
        <p:txBody>
          <a:bodyPr wrap="square" lIns="0" tIns="0" rIns="0" bIns="0" rtlCol="0" anchor="ctr"/>
          <a:lstStyle/>
          <a:p>
            <a:pPr indent="0" marL="0">
              <a:lnSpc>
                <a:spcPct val="95000"/>
              </a:lnSpc>
              <a:buNone/>
            </a:pPr>
            <a:r>
              <a:rPr lang="en-US" sz="1400" b="1" dirty="0">
                <a:solidFill>
                  <a:srgbClr val="FFFFFF"/>
                </a:solidFill>
                <a:latin typeface="Calibri" pitchFamily="34" charset="0"/>
                <a:ea typeface="Calibri" pitchFamily="34" charset="-122"/>
                <a:cs typeface="Calibri" pitchFamily="34" charset="-120"/>
              </a:rPr>
              <a:t>Is the within-block design convincing?</a:t>
            </a:r>
            <a:endParaRPr lang="en-US" sz="1400" dirty="0"/>
          </a:p>
        </p:txBody>
      </p:sp>
      <p:sp>
        <p:nvSpPr>
          <p:cNvPr id="13" name="Text 11"/>
          <p:cNvSpPr/>
          <p:nvPr/>
        </p:nvSpPr>
        <p:spPr>
          <a:xfrm>
            <a:off x="6556248" y="2834640"/>
            <a:ext cx="4709160" cy="868680"/>
          </a:xfrm>
          <a:prstGeom prst="rect">
            <a:avLst/>
          </a:prstGeom>
          <a:noFill/>
          <a:ln/>
        </p:spPr>
        <p:txBody>
          <a:bodyPr wrap="square" lIns="0" tIns="0" rIns="0" bIns="0" rtlCol="0" anchor="ctr"/>
          <a:lstStyle/>
          <a:p>
            <a:pPr indent="0" marL="0">
              <a:lnSpc>
                <a:spcPct val="105000"/>
              </a:lnSpc>
              <a:buNone/>
            </a:pPr>
            <a:r>
              <a:rPr lang="en-US" sz="1200" dirty="0">
                <a:solidFill>
                  <a:srgbClr val="CBD5E1"/>
                </a:solidFill>
                <a:latin typeface="Calibri" pitchFamily="34" charset="0"/>
                <a:ea typeface="Calibri" pitchFamily="34" charset="-122"/>
                <a:cs typeface="Calibri" pitchFamily="34" charset="-120"/>
              </a:rPr>
              <a:t>Train and test inside one 5-day block so drift cancels. Does that satisfy you that the effect isn't recording change?</a:t>
            </a:r>
            <a:endParaRPr lang="en-US" sz="1200" dirty="0"/>
          </a:p>
        </p:txBody>
      </p:sp>
      <p:sp>
        <p:nvSpPr>
          <p:cNvPr id="14" name="Shape 12"/>
          <p:cNvSpPr/>
          <p:nvPr/>
        </p:nvSpPr>
        <p:spPr>
          <a:xfrm>
            <a:off x="731520" y="4069080"/>
            <a:ext cx="5257800" cy="1874520"/>
          </a:xfrm>
          <a:prstGeom prst="roundRect">
            <a:avLst>
              <a:gd name="adj" fmla="val 4390"/>
            </a:avLst>
          </a:prstGeom>
          <a:solidFill>
            <a:srgbClr val="1E293B"/>
          </a:solidFill>
          <a:ln w="12700">
            <a:solidFill>
              <a:srgbClr val="334155"/>
            </a:solidFill>
            <a:prstDash val="solid"/>
          </a:ln>
        </p:spPr>
      </p:sp>
      <p:sp>
        <p:nvSpPr>
          <p:cNvPr id="15" name="Shape 13"/>
          <p:cNvSpPr/>
          <p:nvPr/>
        </p:nvSpPr>
        <p:spPr>
          <a:xfrm>
            <a:off x="1005840" y="4343400"/>
            <a:ext cx="438912" cy="438912"/>
          </a:xfrm>
          <a:prstGeom prst="ellipse">
            <a:avLst/>
          </a:prstGeom>
          <a:solidFill>
            <a:srgbClr val="0D9488"/>
          </a:solidFill>
          <a:ln/>
        </p:spPr>
      </p:sp>
      <p:sp>
        <p:nvSpPr>
          <p:cNvPr id="16" name="Text 14"/>
          <p:cNvSpPr/>
          <p:nvPr/>
        </p:nvSpPr>
        <p:spPr>
          <a:xfrm>
            <a:off x="1005840" y="434340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572768" y="4306824"/>
            <a:ext cx="4251960" cy="566928"/>
          </a:xfrm>
          <a:prstGeom prst="rect">
            <a:avLst/>
          </a:prstGeom>
          <a:noFill/>
          <a:ln/>
        </p:spPr>
        <p:txBody>
          <a:bodyPr wrap="square" lIns="0" tIns="0" rIns="0" bIns="0" rtlCol="0" anchor="ctr"/>
          <a:lstStyle/>
          <a:p>
            <a:pPr indent="0" marL="0">
              <a:lnSpc>
                <a:spcPct val="95000"/>
              </a:lnSpc>
              <a:buNone/>
            </a:pPr>
            <a:r>
              <a:rPr lang="en-US" sz="1400" b="1" dirty="0">
                <a:solidFill>
                  <a:srgbClr val="FFFFFF"/>
                </a:solidFill>
                <a:latin typeface="Calibri" pitchFamily="34" charset="0"/>
                <a:ea typeface="Calibri" pitchFamily="34" charset="-122"/>
                <a:cs typeface="Calibri" pitchFamily="34" charset="-120"/>
              </a:rPr>
              <a:t>What else could produce this?</a:t>
            </a:r>
            <a:endParaRPr lang="en-US" sz="1400" dirty="0"/>
          </a:p>
        </p:txBody>
      </p:sp>
      <p:sp>
        <p:nvSpPr>
          <p:cNvPr id="18" name="Text 16"/>
          <p:cNvSpPr/>
          <p:nvPr/>
        </p:nvSpPr>
        <p:spPr>
          <a:xfrm>
            <a:off x="1024128" y="4983480"/>
            <a:ext cx="4709160" cy="868680"/>
          </a:xfrm>
          <a:prstGeom prst="rect">
            <a:avLst/>
          </a:prstGeom>
          <a:noFill/>
          <a:ln/>
        </p:spPr>
        <p:txBody>
          <a:bodyPr wrap="square" lIns="0" tIns="0" rIns="0" bIns="0" rtlCol="0" anchor="ctr"/>
          <a:lstStyle/>
          <a:p>
            <a:pPr indent="0" marL="0">
              <a:lnSpc>
                <a:spcPct val="105000"/>
              </a:lnSpc>
              <a:buNone/>
            </a:pPr>
            <a:r>
              <a:rPr lang="en-US" sz="1200" dirty="0">
                <a:solidFill>
                  <a:srgbClr val="CBD5E1"/>
                </a:solidFill>
                <a:latin typeface="Calibri" pitchFamily="34" charset="0"/>
                <a:ea typeface="Calibri" pitchFamily="34" charset="-122"/>
                <a:cs typeface="Calibri" pitchFamily="34" charset="-120"/>
              </a:rPr>
              <a:t>We've ruled out stimulus, muscle tone, drift, and crosstalk. What are we missing?</a:t>
            </a:r>
            <a:endParaRPr lang="en-US" sz="1200" dirty="0"/>
          </a:p>
        </p:txBody>
      </p:sp>
      <p:sp>
        <p:nvSpPr>
          <p:cNvPr id="19" name="Shape 17"/>
          <p:cNvSpPr/>
          <p:nvPr/>
        </p:nvSpPr>
        <p:spPr>
          <a:xfrm>
            <a:off x="6263640" y="4069080"/>
            <a:ext cx="5257800" cy="1874520"/>
          </a:xfrm>
          <a:prstGeom prst="roundRect">
            <a:avLst>
              <a:gd name="adj" fmla="val 4390"/>
            </a:avLst>
          </a:prstGeom>
          <a:solidFill>
            <a:srgbClr val="1E293B"/>
          </a:solidFill>
          <a:ln w="12700">
            <a:solidFill>
              <a:srgbClr val="334155"/>
            </a:solidFill>
            <a:prstDash val="solid"/>
          </a:ln>
        </p:spPr>
      </p:sp>
      <p:sp>
        <p:nvSpPr>
          <p:cNvPr id="20" name="Shape 18"/>
          <p:cNvSpPr/>
          <p:nvPr/>
        </p:nvSpPr>
        <p:spPr>
          <a:xfrm>
            <a:off x="6537960" y="4343400"/>
            <a:ext cx="438912" cy="438912"/>
          </a:xfrm>
          <a:prstGeom prst="ellipse">
            <a:avLst/>
          </a:prstGeom>
          <a:solidFill>
            <a:srgbClr val="0D9488"/>
          </a:solidFill>
          <a:ln/>
        </p:spPr>
      </p:sp>
      <p:sp>
        <p:nvSpPr>
          <p:cNvPr id="21" name="Text 19"/>
          <p:cNvSpPr/>
          <p:nvPr/>
        </p:nvSpPr>
        <p:spPr>
          <a:xfrm>
            <a:off x="6537960" y="434340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7104888" y="4306824"/>
            <a:ext cx="4251960" cy="566928"/>
          </a:xfrm>
          <a:prstGeom prst="rect">
            <a:avLst/>
          </a:prstGeom>
          <a:noFill/>
          <a:ln/>
        </p:spPr>
        <p:txBody>
          <a:bodyPr wrap="square" lIns="0" tIns="0" rIns="0" bIns="0" rtlCol="0" anchor="ctr"/>
          <a:lstStyle/>
          <a:p>
            <a:pPr indent="0" marL="0">
              <a:lnSpc>
                <a:spcPct val="95000"/>
              </a:lnSpc>
              <a:buNone/>
            </a:pPr>
            <a:r>
              <a:rPr lang="en-US" sz="1400" b="1" dirty="0">
                <a:solidFill>
                  <a:srgbClr val="FFFFFF"/>
                </a:solidFill>
                <a:latin typeface="Calibri" pitchFamily="34" charset="0"/>
                <a:ea typeface="Calibri" pitchFamily="34" charset="-122"/>
                <a:cs typeface="Calibri" pitchFamily="34" charset="-120"/>
              </a:rPr>
              <a:t>Is the negative result worth reporting?</a:t>
            </a:r>
            <a:endParaRPr lang="en-US" sz="1400" dirty="0"/>
          </a:p>
        </p:txBody>
      </p:sp>
      <p:sp>
        <p:nvSpPr>
          <p:cNvPr id="23" name="Text 21"/>
          <p:cNvSpPr/>
          <p:nvPr/>
        </p:nvSpPr>
        <p:spPr>
          <a:xfrm>
            <a:off x="6556248" y="4983480"/>
            <a:ext cx="4709160" cy="868680"/>
          </a:xfrm>
          <a:prstGeom prst="rect">
            <a:avLst/>
          </a:prstGeom>
          <a:noFill/>
          <a:ln/>
        </p:spPr>
        <p:txBody>
          <a:bodyPr wrap="square" lIns="0" tIns="0" rIns="0" bIns="0" rtlCol="0" anchor="ctr"/>
          <a:lstStyle/>
          <a:p>
            <a:pPr indent="0" marL="0">
              <a:lnSpc>
                <a:spcPct val="105000"/>
              </a:lnSpc>
              <a:buNone/>
            </a:pPr>
            <a:r>
              <a:rPr lang="en-US" sz="1200" dirty="0">
                <a:solidFill>
                  <a:srgbClr val="CBD5E1"/>
                </a:solidFill>
                <a:latin typeface="Calibri" pitchFamily="34" charset="0"/>
                <a:ea typeface="Calibri" pitchFamily="34" charset="-122"/>
                <a:cs typeface="Calibri" pitchFamily="34" charset="-120"/>
              </a:rPr>
              <a:t>Three controls say average-state drift reflects recording, not learning. Useful caution, or a distraction?</a:t>
            </a:r>
            <a:endParaRPr lang="en-US" sz="1200" dirty="0"/>
          </a:p>
        </p:txBody>
      </p:sp>
      <p:sp>
        <p:nvSpPr>
          <p:cNvPr id="24" name="Text 22"/>
          <p:cNvSpPr/>
          <p:nvPr/>
        </p:nvSpPr>
        <p:spPr>
          <a:xfrm>
            <a:off x="731520" y="6355080"/>
            <a:ext cx="10698480" cy="365760"/>
          </a:xfrm>
          <a:prstGeom prst="rect">
            <a:avLst/>
          </a:prstGeom>
          <a:noFill/>
          <a:ln/>
        </p:spPr>
        <p:txBody>
          <a:bodyPr wrap="square" lIns="0" tIns="0" rIns="0" bIns="0" rtlCol="0" anchor="ctr"/>
          <a:lstStyle/>
          <a:p>
            <a:pPr indent="0" marL="0">
              <a:buNone/>
            </a:pPr>
            <a:r>
              <a:rPr lang="en-US" sz="1250" i="1" dirty="0">
                <a:solidFill>
                  <a:srgbClr val="94A3B8"/>
                </a:solidFill>
                <a:latin typeface="Calibri" pitchFamily="34" charset="0"/>
                <a:ea typeface="Calibri" pitchFamily="34" charset="-122"/>
                <a:cs typeface="Calibri" pitchFamily="34" charset="-120"/>
              </a:rPr>
              <a:t>Code, figures and per-animal results: github.com/switchrao777/hroc-ncan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Cortical Correlates of H-Reflex Operant Conditioning</dc:title>
  <dc:subject>PptxGenJS Presentation</dc:subject>
  <dc:creator>Suchith Rao &amp; Tarun Senthil</dc:creator>
  <cp:lastModifiedBy>Suchith Rao &amp; Tarun Senthil</cp:lastModifiedBy>
  <cp:revision>1</cp:revision>
  <dcterms:created xsi:type="dcterms:W3CDTF">2026-08-12T18:13:52Z</dcterms:created>
  <dcterms:modified xsi:type="dcterms:W3CDTF">2026-08-12T18:13:52Z</dcterms:modified>
</cp:coreProperties>
</file>