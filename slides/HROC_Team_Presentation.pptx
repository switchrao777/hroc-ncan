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yourselves. We're the machine-learning side of this project. Over the summer we took the archived paired EMG and ECoG recordings and asked a simple question: on any given trial, does the brain signal tell us anything about how big the reflex is going to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anyone not close to this: a small shock to the leg nerve produces a reflex in the soleus. The rat is rewarded when that reflex is bigger, or smaller, than a threshold. Over weeks it shifts, and twenty percent counts as success. What's already known from Chad Boulay's paper is that cortical activity influences reflex size. What we're asking is whether you can see that on a single trial, and whether it changes with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Orientation before any results. Every shock gives us one trial — a thirty millisecond window at five kilohertz, two channels recorded simultaneously. The spike at zero is the stimulus artifact. The bump at two to four milliseconds is the M-wave, the nerve firing the muscle directly. The bump at six to nine is the H-reflex, which went to the spinal cord and back. That's the one conditioning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animals, three trained down and three up, 45 to 210 days each. Worth explaining how we chose them. Rather than download forty gigabytes hunting for good animals, we read only the log files, which are tiny. The experimenter raises the reward threshold whenever the rat starts beating it — so the threshold history tells you how the animal was doing. We downloaded signal data only for the ones that learned. We also dropped animal 12: its pre-stimulus cortical signal is under three microvolts against 106 to 128 in the others, so that electrode was dead.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in five steps. Recover the old database tables, decode each trial into two channels, measure the physiology, learn a compact summary of the brain trace with no labels, and then test what that summary predicts. The step that made all of it possible: the archived decoder documents these files as big-endian and they aren't. Decoded as documented you get noise. Decoded correctly, the M-wave and H-reflex show up exactly where the experimenters' own notes said they would, which is how we knew we had it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matters because getting it wrong cost us a result. A bigger shock makes a bigger reflex with no learning involved, and across these recordings the delivered stimulus roughly quadrupled. Early on that made one of our findings come out backwards. The fix is that the M-wave sits in the same trace and reflects only the stimulus, so it's a per-trial receipt for how much shock arrived. Dr Carp added the second one: the reflex also depends on how active the muscle already was, so we measure the twenty milliseconds before each shock. Every number from here on has both corrections applied.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lead with behaviour because it's the check that has to pass before anything else counts. Each animal is aligned to its own training start day. Up-trained animals rise, down-trained fall. Three of five clear the twenty percent criterion in the trained direction, and the two that don't come back later as a built-in negative control. Note this is after removing stimulus and background, so it isn't the stimulus creeping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difficulty. Two things change slowly over the same weeks: the animal's learning, and the chronically implanted electrode. Inside a single animal, both are smooth functions of time, so no amount of analysis can separate them. That's a limitation of the design, not of the data, and it shaped everything we did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approach was the obvious one: measure how far the average brain state moves across training. It does move. But three tests say that movement is the recording rather than the animal. First, if you take baseline-only data and pretend half of it was training, it moves just as much, in five of six animals. Second — and this was Dr Carp's suggestion — if you shuffle which trial belongs to which day, nothing moves, so the measure itself is fine. Third, electrode drift doesn't care which direction you trained the animal, and there's no difference between the up and down groups. Two of those three were his suggestions and they changed our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rather than keep fighting that confound, we changed the question. Instead of asking whether the average state moved, we ask whether the brain can predict this particular trial's reflex. The key point, and the one I'd most like feedback on: we train and test inside a single five-day window. A slowly drifting electrode moves the training and test trials together, so it cancels. Drift can shift an average, but it cannot invent a trial-by-trial relationship inside five days. And within each window we still remove stimulus and background first, and compare against a shuffle of that same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positive result. In 99 of 101 five-day windows, the real data beat its own shuffled version, and it holds in all five animals. On the statistics — I want to be careful here. Counting each window as independent would badly overstate it, because windows within an animal share an electrode. Counting the animal as the unit of analysis gives t of 3.81 on four degrees of freedom, p equals 0.019. So the effect is small in size but almost never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Carp asked us to split the variance up, and this is the answer. The stimulus dominates at 47 percent. Background is one. The brain on its own looks like 21 percent, but most of that overlaps with the stimulus, because the stimulus drives both the cortical response and the reflex. Once the other two are in the model, the brain adds about two percent that's uniquely its own. And about half the variation is still unexplained, which is normal for single-trial physiology.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everything we tried to kill the result with. Five it survives, two it fails — and the two failures are what told us the average-state approach was the wrong question. Most of these were Dr Carp's suggestions. If anyone here can think of something we haven't tried, that's exactly what I'd like from this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analysis I think is most promising, and it was Dr Carp's suggestion. Animals differ in how much they learned, and two failed outright — those become a built-in negative control. The correlation between how much an animal learned and how much its brain coupling changed is plus 0.71, and the two that failed show no increase. With five animals that's a direction rather than a result. Five more are downloaded and ready to process, and that's what would settle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we'd value your input on. Whether a two percent unique contribution is worth reporting. Whether the within-window design convinces you the electrode isn't producing it. What else could produce this that we haven't excluded. And whether the negative result is worth publishing as a warning. Everything is on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C1620"/>
        </a:solidFill>
      </p:bgPr>
    </p:bg>
    <p:spTree>
      <p:nvGrpSpPr>
        <p:cNvPr id="1" name=""/>
        <p:cNvGrpSpPr/>
        <p:nvPr/>
      </p:nvGrpSpPr>
      <p:grpSpPr>
        <a:xfrm>
          <a:off x="0" y="0"/>
          <a:ext cx="0" cy="0"/>
          <a:chOff x="0" y="0"/>
          <a:chExt cx="0" cy="0"/>
        </a:xfrm>
      </p:grpSpPr>
      <p:sp>
        <p:nvSpPr>
          <p:cNvPr id="2" name="Shape 0"/>
          <p:cNvSpPr/>
          <p:nvPr/>
        </p:nvSpPr>
        <p:spPr>
          <a:xfrm>
            <a:off x="9966960" y="1005840"/>
            <a:ext cx="1463040" cy="1463040"/>
          </a:xfrm>
          <a:prstGeom prst="ellipse">
            <a:avLst/>
          </a:prstGeom>
          <a:solidFill>
            <a:srgbClr val="15718F">
              <a:alpha val="48000"/>
            </a:srgbClr>
          </a:solidFill>
          <a:ln/>
        </p:spPr>
      </p:sp>
      <p:sp>
        <p:nvSpPr>
          <p:cNvPr id="3" name="Shape 1"/>
          <p:cNvSpPr/>
          <p:nvPr/>
        </p:nvSpPr>
        <p:spPr>
          <a:xfrm>
            <a:off x="10744200" y="1874520"/>
            <a:ext cx="960120" cy="960120"/>
          </a:xfrm>
          <a:prstGeom prst="ellipse">
            <a:avLst/>
          </a:prstGeom>
          <a:solidFill>
            <a:srgbClr val="B4671A">
              <a:alpha val="52000"/>
            </a:srgbClr>
          </a:solidFill>
          <a:ln/>
        </p:spPr>
      </p:sp>
      <p:sp>
        <p:nvSpPr>
          <p:cNvPr id="4" name="Text 2"/>
          <p:cNvSpPr/>
          <p:nvPr/>
        </p:nvSpPr>
        <p:spPr>
          <a:xfrm>
            <a:off x="777240" y="1417320"/>
            <a:ext cx="9144000" cy="365760"/>
          </a:xfrm>
          <a:prstGeom prst="rect">
            <a:avLst/>
          </a:prstGeom>
          <a:noFill/>
          <a:ln/>
        </p:spPr>
        <p:txBody>
          <a:bodyPr wrap="square" lIns="0" tIns="0" rIns="0" bIns="0" rtlCol="0" anchor="ctr"/>
          <a:lstStyle/>
          <a:p>
            <a:pPr indent="0" marL="0">
              <a:buNone/>
            </a:pPr>
            <a:r>
              <a:rPr lang="en-US" sz="1300" b="1" spc="300" kern="0" dirty="0">
                <a:solidFill>
                  <a:srgbClr val="7FB8C9"/>
                </a:solidFill>
                <a:latin typeface="Calibri" pitchFamily="34" charset="0"/>
                <a:ea typeface="Calibri" pitchFamily="34" charset="-122"/>
                <a:cs typeface="Calibri" pitchFamily="34" charset="-120"/>
              </a:rPr>
              <a:t>NCAN · WADSWORTH CENTER · SUMMER 2026</a:t>
            </a:r>
            <a:endParaRPr lang="en-US" sz="1300" dirty="0"/>
          </a:p>
        </p:txBody>
      </p:sp>
      <p:sp>
        <p:nvSpPr>
          <p:cNvPr id="5" name="Text 3"/>
          <p:cNvSpPr/>
          <p:nvPr/>
        </p:nvSpPr>
        <p:spPr>
          <a:xfrm>
            <a:off x="777240" y="1874520"/>
            <a:ext cx="10332720" cy="1828800"/>
          </a:xfrm>
          <a:prstGeom prst="rect">
            <a:avLst/>
          </a:prstGeom>
          <a:noFill/>
          <a:ln/>
        </p:spPr>
        <p:txBody>
          <a:bodyPr wrap="square" lIns="0" tIns="0" rIns="0" bIns="0" rtlCol="0" anchor="ctr"/>
          <a:lstStyle/>
          <a:p>
            <a:pPr indent="0" marL="0">
              <a:lnSpc>
                <a:spcPct val="98000"/>
              </a:lnSpc>
              <a:buNone/>
            </a:pPr>
            <a:r>
              <a:rPr lang="en-US" sz="4100" b="1" dirty="0">
                <a:solidFill>
                  <a:srgbClr val="FFFFFF"/>
                </a:solidFill>
                <a:latin typeface="Cambria" pitchFamily="34" charset="0"/>
                <a:ea typeface="Cambria" pitchFamily="34" charset="-122"/>
                <a:cs typeface="Cambria" pitchFamily="34" charset="-120"/>
              </a:rPr>
              <a:t>Can the brain tell us</a:t>
            </a:r>
            <a:endParaRPr lang="en-US" sz="4100" dirty="0"/>
          </a:p>
          <a:p>
            <a:pPr indent="0" marL="0">
              <a:lnSpc>
                <a:spcPct val="98000"/>
              </a:lnSpc>
              <a:buNone/>
            </a:pPr>
            <a:r>
              <a:rPr lang="en-US" sz="4100" b="1" dirty="0">
                <a:solidFill>
                  <a:srgbClr val="FFFFFF"/>
                </a:solidFill>
                <a:latin typeface="Cambria" pitchFamily="34" charset="0"/>
                <a:ea typeface="Cambria" pitchFamily="34" charset="-122"/>
                <a:cs typeface="Cambria" pitchFamily="34" charset="-120"/>
              </a:rPr>
              <a:t>how big the reflex will be?</a:t>
            </a:r>
            <a:endParaRPr lang="en-US" sz="4100" dirty="0"/>
          </a:p>
        </p:txBody>
      </p:sp>
      <p:sp>
        <p:nvSpPr>
          <p:cNvPr id="6" name="Text 4"/>
          <p:cNvSpPr/>
          <p:nvPr/>
        </p:nvSpPr>
        <p:spPr>
          <a:xfrm>
            <a:off x="795528" y="3886200"/>
            <a:ext cx="10058400" cy="457200"/>
          </a:xfrm>
          <a:prstGeom prst="rect">
            <a:avLst/>
          </a:prstGeom>
          <a:noFill/>
          <a:ln/>
        </p:spPr>
        <p:txBody>
          <a:bodyPr wrap="square" lIns="0" tIns="0" rIns="0" bIns="0" rtlCol="0" anchor="ctr"/>
          <a:lstStyle/>
          <a:p>
            <a:pPr indent="0" marL="0">
              <a:buNone/>
            </a:pPr>
            <a:r>
              <a:rPr lang="en-US" sz="1750" dirty="0">
                <a:solidFill>
                  <a:srgbClr val="C3D0DA"/>
                </a:solidFill>
                <a:latin typeface="Calibri" pitchFamily="34" charset="0"/>
                <a:ea typeface="Calibri" pitchFamily="34" charset="-122"/>
                <a:cs typeface="Calibri" pitchFamily="34" charset="-120"/>
              </a:rPr>
              <a:t>Machine learning on twenty-year-old paired muscle and brain recordings.</a:t>
            </a:r>
            <a:endParaRPr lang="en-US" sz="1750" dirty="0"/>
          </a:p>
        </p:txBody>
      </p:sp>
      <p:sp>
        <p:nvSpPr>
          <p:cNvPr id="7" name="Text 5"/>
          <p:cNvSpPr/>
          <p:nvPr/>
        </p:nvSpPr>
        <p:spPr>
          <a:xfrm>
            <a:off x="795528" y="5989320"/>
            <a:ext cx="10058400" cy="365760"/>
          </a:xfrm>
          <a:prstGeom prst="rect">
            <a:avLst/>
          </a:prstGeom>
          <a:noFill/>
          <a:ln/>
        </p:spPr>
        <p:txBody>
          <a:bodyPr wrap="square" lIns="0" tIns="0" rIns="0" bIns="0" rtlCol="0" anchor="ctr"/>
          <a:lstStyle/>
          <a:p>
            <a:pPr indent="0" marL="0">
              <a:buNone/>
            </a:pPr>
            <a:r>
              <a:rPr lang="en-US" sz="1400" dirty="0">
                <a:solidFill>
                  <a:srgbClr val="8B9AA6"/>
                </a:solidFill>
                <a:latin typeface="Calibri" pitchFamily="34" charset="0"/>
                <a:ea typeface="Calibri" pitchFamily="34" charset="-122"/>
                <a:cs typeface="Calibri" pitchFamily="34" charset="-120"/>
              </a:rPr>
              <a:t>Suchith Rao  ·  Tarun Senthil        with Dr. Jonathan Carp and Teresa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9AA8B4"/>
                </a:solidFill>
                <a:latin typeface="Calibri" pitchFamily="34" charset="0"/>
                <a:ea typeface="Calibri" pitchFamily="34" charset="-122"/>
                <a:cs typeface="Calibri" pitchFamily="34" charset="-120"/>
              </a:rPr>
              <a:t>BACKGROUND</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What the animals are doing</a:t>
            </a:r>
            <a:endParaRPr lang="en-US" sz="3100" dirty="0"/>
          </a:p>
        </p:txBody>
      </p:sp>
      <p:sp>
        <p:nvSpPr>
          <p:cNvPr id="4" name="Shape 2"/>
          <p:cNvSpPr/>
          <p:nvPr/>
        </p:nvSpPr>
        <p:spPr>
          <a:xfrm>
            <a:off x="685800"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Shape 3"/>
          <p:cNvSpPr/>
          <p:nvPr/>
        </p:nvSpPr>
        <p:spPr>
          <a:xfrm>
            <a:off x="978408" y="2377440"/>
            <a:ext cx="475488" cy="475488"/>
          </a:xfrm>
          <a:prstGeom prst="ellipse">
            <a:avLst/>
          </a:prstGeom>
          <a:solidFill>
            <a:srgbClr val="B4671A"/>
          </a:solidFill>
          <a:ln/>
        </p:spPr>
      </p:sp>
      <p:sp>
        <p:nvSpPr>
          <p:cNvPr id="6" name="Text 4"/>
          <p:cNvSpPr/>
          <p:nvPr/>
        </p:nvSpPr>
        <p:spPr>
          <a:xfrm>
            <a:off x="978408" y="237744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1</a:t>
            </a:r>
            <a:endParaRPr lang="en-US" sz="1700" dirty="0"/>
          </a:p>
        </p:txBody>
      </p:sp>
      <p:sp>
        <p:nvSpPr>
          <p:cNvPr id="7" name="Text 5"/>
          <p:cNvSpPr/>
          <p:nvPr/>
        </p:nvSpPr>
        <p:spPr>
          <a:xfrm>
            <a:off x="978408" y="3017520"/>
            <a:ext cx="3017520" cy="457200"/>
          </a:xfrm>
          <a:prstGeom prst="rect">
            <a:avLst/>
          </a:prstGeom>
          <a:noFill/>
          <a:ln/>
        </p:spPr>
        <p:txBody>
          <a:bodyPr wrap="square" lIns="0" tIns="0" rIns="0" bIns="0" rtlCol="0" anchor="ctr"/>
          <a:lstStyle/>
          <a:p>
            <a:pPr indent="0" marL="0">
              <a:buNone/>
            </a:pPr>
            <a:r>
              <a:rPr lang="en-US" sz="2100" b="1" dirty="0">
                <a:solidFill>
                  <a:srgbClr val="14212E"/>
                </a:solidFill>
                <a:latin typeface="Cambria" pitchFamily="34" charset="0"/>
                <a:ea typeface="Cambria" pitchFamily="34" charset="-122"/>
                <a:cs typeface="Cambria" pitchFamily="34" charset="-120"/>
              </a:rPr>
              <a:t>The reflex</a:t>
            </a:r>
            <a:endParaRPr lang="en-US" sz="2100" dirty="0"/>
          </a:p>
        </p:txBody>
      </p:sp>
      <p:sp>
        <p:nvSpPr>
          <p:cNvPr id="8" name="Text 6"/>
          <p:cNvSpPr/>
          <p:nvPr/>
        </p:nvSpPr>
        <p:spPr>
          <a:xfrm>
            <a:off x="978408" y="3566160"/>
            <a:ext cx="3017520" cy="1188720"/>
          </a:xfrm>
          <a:prstGeom prst="rect">
            <a:avLst/>
          </a:prstGeom>
          <a:noFill/>
          <a:ln/>
        </p:spPr>
        <p:txBody>
          <a:bodyPr wrap="square" lIns="0" tIns="0" rIns="0" bIns="0" rtlCol="0" anchor="ctr"/>
          <a:lstStyle/>
          <a:p>
            <a:pPr indent="0" marL="0">
              <a:lnSpc>
                <a:spcPct val="108000"/>
              </a:lnSpc>
              <a:buNone/>
            </a:pPr>
            <a:r>
              <a:rPr lang="en-US" sz="1350" dirty="0">
                <a:solidFill>
                  <a:srgbClr val="5A6B7B"/>
                </a:solidFill>
                <a:latin typeface="Calibri" pitchFamily="34" charset="0"/>
                <a:ea typeface="Calibri" pitchFamily="34" charset="-122"/>
                <a:cs typeface="Calibri" pitchFamily="34" charset="-120"/>
              </a:rPr>
              <a:t>A small shock to the leg nerve produces a reflex twitch in the soleus muscle. Its size is what we measure.</a:t>
            </a:r>
            <a:endParaRPr lang="en-US" sz="1350" dirty="0"/>
          </a:p>
        </p:txBody>
      </p:sp>
      <p:sp>
        <p:nvSpPr>
          <p:cNvPr id="9" name="Shape 7"/>
          <p:cNvSpPr/>
          <p:nvPr/>
        </p:nvSpPr>
        <p:spPr>
          <a:xfrm>
            <a:off x="4416552"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Shape 8"/>
          <p:cNvSpPr/>
          <p:nvPr/>
        </p:nvSpPr>
        <p:spPr>
          <a:xfrm>
            <a:off x="4709160" y="2377440"/>
            <a:ext cx="475488" cy="475488"/>
          </a:xfrm>
          <a:prstGeom prst="ellipse">
            <a:avLst/>
          </a:prstGeom>
          <a:solidFill>
            <a:srgbClr val="15718F"/>
          </a:solidFill>
          <a:ln/>
        </p:spPr>
      </p:sp>
      <p:sp>
        <p:nvSpPr>
          <p:cNvPr id="11" name="Text 9"/>
          <p:cNvSpPr/>
          <p:nvPr/>
        </p:nvSpPr>
        <p:spPr>
          <a:xfrm>
            <a:off x="4709160" y="237744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2</a:t>
            </a:r>
            <a:endParaRPr lang="en-US" sz="1700" dirty="0"/>
          </a:p>
        </p:txBody>
      </p:sp>
      <p:sp>
        <p:nvSpPr>
          <p:cNvPr id="12" name="Text 10"/>
          <p:cNvSpPr/>
          <p:nvPr/>
        </p:nvSpPr>
        <p:spPr>
          <a:xfrm>
            <a:off x="4709160" y="3017520"/>
            <a:ext cx="3017520" cy="457200"/>
          </a:xfrm>
          <a:prstGeom prst="rect">
            <a:avLst/>
          </a:prstGeom>
          <a:noFill/>
          <a:ln/>
        </p:spPr>
        <p:txBody>
          <a:bodyPr wrap="square" lIns="0" tIns="0" rIns="0" bIns="0" rtlCol="0" anchor="ctr"/>
          <a:lstStyle/>
          <a:p>
            <a:pPr indent="0" marL="0">
              <a:buNone/>
            </a:pPr>
            <a:r>
              <a:rPr lang="en-US" sz="2100" b="1" dirty="0">
                <a:solidFill>
                  <a:srgbClr val="14212E"/>
                </a:solidFill>
                <a:latin typeface="Cambria" pitchFamily="34" charset="0"/>
                <a:ea typeface="Cambria" pitchFamily="34" charset="-122"/>
                <a:cs typeface="Cambria" pitchFamily="34" charset="-120"/>
              </a:rPr>
              <a:t>The training</a:t>
            </a:r>
            <a:endParaRPr lang="en-US" sz="2100" dirty="0"/>
          </a:p>
        </p:txBody>
      </p:sp>
      <p:sp>
        <p:nvSpPr>
          <p:cNvPr id="13" name="Text 11"/>
          <p:cNvSpPr/>
          <p:nvPr/>
        </p:nvSpPr>
        <p:spPr>
          <a:xfrm>
            <a:off x="4709160" y="3566160"/>
            <a:ext cx="3017520" cy="1188720"/>
          </a:xfrm>
          <a:prstGeom prst="rect">
            <a:avLst/>
          </a:prstGeom>
          <a:noFill/>
          <a:ln/>
        </p:spPr>
        <p:txBody>
          <a:bodyPr wrap="square" lIns="0" tIns="0" rIns="0" bIns="0" rtlCol="0" anchor="ctr"/>
          <a:lstStyle/>
          <a:p>
            <a:pPr indent="0" marL="0">
              <a:lnSpc>
                <a:spcPct val="108000"/>
              </a:lnSpc>
              <a:buNone/>
            </a:pPr>
            <a:r>
              <a:rPr lang="en-US" sz="1350" dirty="0">
                <a:solidFill>
                  <a:srgbClr val="5A6B7B"/>
                </a:solidFill>
                <a:latin typeface="Calibri" pitchFamily="34" charset="0"/>
                <a:ea typeface="Calibri" pitchFamily="34" charset="-122"/>
                <a:cs typeface="Calibri" pitchFamily="34" charset="-120"/>
              </a:rPr>
              <a:t>The rat is rewarded whenever the reflex is bigger than a threshold — or smaller, depending on the group.</a:t>
            </a:r>
            <a:endParaRPr lang="en-US" sz="1350" dirty="0"/>
          </a:p>
        </p:txBody>
      </p:sp>
      <p:sp>
        <p:nvSpPr>
          <p:cNvPr id="14" name="Shape 12"/>
          <p:cNvSpPr/>
          <p:nvPr/>
        </p:nvSpPr>
        <p:spPr>
          <a:xfrm>
            <a:off x="8147304" y="2057400"/>
            <a:ext cx="3566160" cy="2834640"/>
          </a:xfrm>
          <a:prstGeom prst="roundRect">
            <a:avLst>
              <a:gd name="adj" fmla="val 258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Shape 13"/>
          <p:cNvSpPr/>
          <p:nvPr/>
        </p:nvSpPr>
        <p:spPr>
          <a:xfrm>
            <a:off x="8439912" y="2377440"/>
            <a:ext cx="475488" cy="475488"/>
          </a:xfrm>
          <a:prstGeom prst="ellipse">
            <a:avLst/>
          </a:prstGeom>
          <a:solidFill>
            <a:srgbClr val="3B6E43"/>
          </a:solidFill>
          <a:ln/>
        </p:spPr>
      </p:sp>
      <p:sp>
        <p:nvSpPr>
          <p:cNvPr id="16" name="Text 14"/>
          <p:cNvSpPr/>
          <p:nvPr/>
        </p:nvSpPr>
        <p:spPr>
          <a:xfrm>
            <a:off x="8439912" y="2377440"/>
            <a:ext cx="475488" cy="47548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3</a:t>
            </a:r>
            <a:endParaRPr lang="en-US" sz="1700" dirty="0"/>
          </a:p>
        </p:txBody>
      </p:sp>
      <p:sp>
        <p:nvSpPr>
          <p:cNvPr id="17" name="Text 15"/>
          <p:cNvSpPr/>
          <p:nvPr/>
        </p:nvSpPr>
        <p:spPr>
          <a:xfrm>
            <a:off x="8439912" y="3017520"/>
            <a:ext cx="3017520" cy="457200"/>
          </a:xfrm>
          <a:prstGeom prst="rect">
            <a:avLst/>
          </a:prstGeom>
          <a:noFill/>
          <a:ln/>
        </p:spPr>
        <p:txBody>
          <a:bodyPr wrap="square" lIns="0" tIns="0" rIns="0" bIns="0" rtlCol="0" anchor="ctr"/>
          <a:lstStyle/>
          <a:p>
            <a:pPr indent="0" marL="0">
              <a:buNone/>
            </a:pPr>
            <a:r>
              <a:rPr lang="en-US" sz="2100" b="1" dirty="0">
                <a:solidFill>
                  <a:srgbClr val="14212E"/>
                </a:solidFill>
                <a:latin typeface="Cambria" pitchFamily="34" charset="0"/>
                <a:ea typeface="Cambria" pitchFamily="34" charset="-122"/>
                <a:cs typeface="Cambria" pitchFamily="34" charset="-120"/>
              </a:rPr>
              <a:t>The learning</a:t>
            </a:r>
            <a:endParaRPr lang="en-US" sz="2100" dirty="0"/>
          </a:p>
        </p:txBody>
      </p:sp>
      <p:sp>
        <p:nvSpPr>
          <p:cNvPr id="18" name="Text 16"/>
          <p:cNvSpPr/>
          <p:nvPr/>
        </p:nvSpPr>
        <p:spPr>
          <a:xfrm>
            <a:off x="8439912" y="3566160"/>
            <a:ext cx="3017520" cy="1188720"/>
          </a:xfrm>
          <a:prstGeom prst="rect">
            <a:avLst/>
          </a:prstGeom>
          <a:noFill/>
          <a:ln/>
        </p:spPr>
        <p:txBody>
          <a:bodyPr wrap="square" lIns="0" tIns="0" rIns="0" bIns="0" rtlCol="0" anchor="ctr"/>
          <a:lstStyle/>
          <a:p>
            <a:pPr indent="0" marL="0">
              <a:lnSpc>
                <a:spcPct val="108000"/>
              </a:lnSpc>
              <a:buNone/>
            </a:pPr>
            <a:r>
              <a:rPr lang="en-US" sz="1350" dirty="0">
                <a:solidFill>
                  <a:srgbClr val="5A6B7B"/>
                </a:solidFill>
                <a:latin typeface="Calibri" pitchFamily="34" charset="0"/>
                <a:ea typeface="Calibri" pitchFamily="34" charset="-122"/>
                <a:cs typeface="Calibri" pitchFamily="34" charset="-120"/>
              </a:rPr>
              <a:t>Over weeks the reflex shifts in the trained direction. A 20% change counts as success. The change is in the spinal cord.</a:t>
            </a:r>
            <a:endParaRPr lang="en-US" sz="1350" dirty="0"/>
          </a:p>
        </p:txBody>
      </p:sp>
      <p:sp>
        <p:nvSpPr>
          <p:cNvPr id="19" name="Shape 17"/>
          <p:cNvSpPr/>
          <p:nvPr/>
        </p:nvSpPr>
        <p:spPr>
          <a:xfrm>
            <a:off x="685800" y="5166360"/>
            <a:ext cx="10881360" cy="868680"/>
          </a:xfrm>
          <a:prstGeom prst="roundRect">
            <a:avLst>
              <a:gd name="adj" fmla="val 8421"/>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1005840" y="5303520"/>
            <a:ext cx="10241280" cy="594360"/>
          </a:xfrm>
          <a:prstGeom prst="rect">
            <a:avLst/>
          </a:prstGeom>
          <a:noFill/>
          <a:ln/>
        </p:spPr>
        <p:txBody>
          <a:bodyPr wrap="square" lIns="0" tIns="0" rIns="0" bIns="0" rtlCol="0" anchor="ctr"/>
          <a:lstStyle/>
          <a:p>
            <a:pPr indent="0" marL="0">
              <a:buNone/>
            </a:pPr>
            <a:r>
              <a:rPr lang="en-US" sz="1400" b="1" dirty="0">
                <a:solidFill>
                  <a:srgbClr val="15718F"/>
                </a:solidFill>
                <a:latin typeface="Calibri" pitchFamily="34" charset="0"/>
                <a:ea typeface="Calibri" pitchFamily="34" charset="-122"/>
                <a:cs typeface="Calibri" pitchFamily="34" charset="-120"/>
              </a:rPr>
              <a:t>Known already:  </a:t>
            </a:r>
            <a:pPr indent="0" marL="0">
              <a:buNone/>
            </a:pPr>
            <a:r>
              <a:rPr lang="en-US" sz="1400" dirty="0">
                <a:solidFill>
                  <a:srgbClr val="14212E"/>
                </a:solidFill>
                <a:latin typeface="Calibri" pitchFamily="34" charset="0"/>
                <a:ea typeface="Calibri" pitchFamily="34" charset="-122"/>
                <a:cs typeface="Calibri" pitchFamily="34" charset="-120"/>
              </a:rPr>
              <a:t>cortical activity influences reflex size (Boulay, Chen &amp; Wolpaw 2015).   </a:t>
            </a:r>
            <a:pPr indent="0" marL="0">
              <a:buNone/>
            </a:pPr>
            <a:r>
              <a:rPr lang="en-US" sz="1400" b="1" dirty="0">
                <a:solidFill>
                  <a:srgbClr val="15718F"/>
                </a:solidFill>
                <a:latin typeface="Calibri" pitchFamily="34" charset="0"/>
                <a:ea typeface="Calibri" pitchFamily="34" charset="-122"/>
                <a:cs typeface="Calibri" pitchFamily="34" charset="-120"/>
              </a:rPr>
              <a:t>Our question:  </a:t>
            </a:r>
            <a:pPr indent="0" marL="0">
              <a:buNone/>
            </a:pPr>
            <a:r>
              <a:rPr lang="en-US" sz="1400" dirty="0">
                <a:solidFill>
                  <a:srgbClr val="14212E"/>
                </a:solidFill>
                <a:latin typeface="Calibri" pitchFamily="34" charset="0"/>
                <a:ea typeface="Calibri" pitchFamily="34" charset="-122"/>
                <a:cs typeface="Calibri" pitchFamily="34" charset="-120"/>
              </a:rPr>
              <a:t>is that visible on a single trial, and does it change as the animal learns?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9AA8B4"/>
                </a:solidFill>
                <a:latin typeface="Calibri" pitchFamily="34" charset="0"/>
                <a:ea typeface="Calibri" pitchFamily="34" charset="-122"/>
                <a:cs typeface="Calibri" pitchFamily="34" charset="-120"/>
              </a:rPr>
              <a:t>ORIENTATION</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What a single trial looks like</a:t>
            </a:r>
            <a:endParaRPr lang="en-US" sz="3100" dirty="0"/>
          </a:p>
        </p:txBody>
      </p:sp>
      <p:sp>
        <p:nvSpPr>
          <p:cNvPr id="4" name="Text 2"/>
          <p:cNvSpPr/>
          <p:nvPr/>
        </p:nvSpPr>
        <p:spPr>
          <a:xfrm>
            <a:off x="685800" y="1572768"/>
            <a:ext cx="10881360" cy="548640"/>
          </a:xfrm>
          <a:prstGeom prst="rect">
            <a:avLst/>
          </a:prstGeom>
          <a:noFill/>
          <a:ln/>
        </p:spPr>
        <p:txBody>
          <a:bodyPr wrap="square" lIns="0" tIns="0" rIns="0" bIns="0" rtlCol="0" anchor="ctr"/>
          <a:lstStyle/>
          <a:p>
            <a:pPr indent="0" marL="0">
              <a:lnSpc>
                <a:spcPct val="106000"/>
              </a:lnSpc>
              <a:buNone/>
            </a:pPr>
            <a:r>
              <a:rPr lang="en-US" sz="1550" dirty="0">
                <a:solidFill>
                  <a:srgbClr val="5A6B7B"/>
                </a:solidFill>
                <a:latin typeface="Calibri" pitchFamily="34" charset="0"/>
                <a:ea typeface="Calibri" pitchFamily="34" charset="-122"/>
                <a:cs typeface="Calibri" pitchFamily="34" charset="-120"/>
              </a:rPr>
              <a:t>Every shock produces one trial: a 30-millisecond window, recorded on two electrodes at the same moment.</a:t>
            </a:r>
            <a:endParaRPr lang="en-US" sz="1550" dirty="0"/>
          </a:p>
        </p:txBody>
      </p:sp>
      <p:pic>
        <p:nvPicPr>
          <p:cNvPr id="5" name="Image 0" descr="/Users/suchithrao/Downloads/hroc-training/outputs/validate/avg_emg.png">    </p:cNvPr>
          <p:cNvPicPr>
            <a:picLocks noChangeAspect="1"/>
          </p:cNvPicPr>
          <p:nvPr/>
        </p:nvPicPr>
        <p:blipFill>
          <a:blip r:embed="rId1"/>
          <a:srcRect l="0" r="0" t="0" b="0"/>
          <a:stretch/>
        </p:blipFill>
        <p:spPr>
          <a:xfrm>
            <a:off x="685800" y="2240280"/>
            <a:ext cx="6400800" cy="3200400"/>
          </a:xfrm>
          <a:prstGeom prst="rect">
            <a:avLst/>
          </a:prstGeom>
        </p:spPr>
      </p:pic>
      <p:sp>
        <p:nvSpPr>
          <p:cNvPr id="6" name="Shape 3"/>
          <p:cNvSpPr/>
          <p:nvPr/>
        </p:nvSpPr>
        <p:spPr>
          <a:xfrm>
            <a:off x="7726680" y="2286000"/>
            <a:ext cx="3840480" cy="3200400"/>
          </a:xfrm>
          <a:prstGeom prst="roundRect">
            <a:avLst>
              <a:gd name="adj" fmla="val 2286"/>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7" name="Text 4"/>
          <p:cNvSpPr/>
          <p:nvPr/>
        </p:nvSpPr>
        <p:spPr>
          <a:xfrm>
            <a:off x="8001000" y="2487168"/>
            <a:ext cx="3291840" cy="320040"/>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Reading the trace</a:t>
            </a:r>
            <a:endParaRPr lang="en-US" sz="1400" dirty="0"/>
          </a:p>
        </p:txBody>
      </p:sp>
      <p:sp>
        <p:nvSpPr>
          <p:cNvPr id="8" name="Shape 5"/>
          <p:cNvSpPr/>
          <p:nvPr/>
        </p:nvSpPr>
        <p:spPr>
          <a:xfrm>
            <a:off x="8028432" y="3008376"/>
            <a:ext cx="146304" cy="146304"/>
          </a:xfrm>
          <a:prstGeom prst="ellipse">
            <a:avLst/>
          </a:prstGeom>
          <a:solidFill>
            <a:srgbClr val="9AA8B4"/>
          </a:solidFill>
          <a:ln/>
        </p:spPr>
      </p:sp>
      <p:sp>
        <p:nvSpPr>
          <p:cNvPr id="9" name="Text 6"/>
          <p:cNvSpPr/>
          <p:nvPr/>
        </p:nvSpPr>
        <p:spPr>
          <a:xfrm>
            <a:off x="8275320" y="2889504"/>
            <a:ext cx="3017520" cy="292608"/>
          </a:xfrm>
          <a:prstGeom prst="rect">
            <a:avLst/>
          </a:prstGeom>
          <a:noFill/>
          <a:ln/>
        </p:spPr>
        <p:txBody>
          <a:bodyPr wrap="square" lIns="0" tIns="0" rIns="0" bIns="0" rtlCol="0" anchor="ctr"/>
          <a:lstStyle/>
          <a:p>
            <a:pPr indent="0" marL="0">
              <a:buNone/>
            </a:pPr>
            <a:r>
              <a:rPr lang="en-US" sz="1250" b="1" dirty="0">
                <a:solidFill>
                  <a:srgbClr val="14212E"/>
                </a:solidFill>
                <a:latin typeface="Calibri" pitchFamily="34" charset="0"/>
                <a:ea typeface="Calibri" pitchFamily="34" charset="-122"/>
                <a:cs typeface="Calibri" pitchFamily="34" charset="-120"/>
              </a:rPr>
              <a:t>The spike at zero</a:t>
            </a:r>
            <a:endParaRPr lang="en-US" sz="1250" dirty="0"/>
          </a:p>
        </p:txBody>
      </p:sp>
      <p:sp>
        <p:nvSpPr>
          <p:cNvPr id="10" name="Text 7"/>
          <p:cNvSpPr/>
          <p:nvPr/>
        </p:nvSpPr>
        <p:spPr>
          <a:xfrm>
            <a:off x="8275320" y="3163824"/>
            <a:ext cx="3017520" cy="566928"/>
          </a:xfrm>
          <a:prstGeom prst="rect">
            <a:avLst/>
          </a:prstGeom>
          <a:noFill/>
          <a:ln/>
        </p:spPr>
        <p:txBody>
          <a:bodyPr wrap="square" lIns="0" tIns="0" rIns="0" bIns="0" rtlCol="0" anchor="ctr"/>
          <a:lstStyle/>
          <a:p>
            <a:pPr indent="0" marL="0">
              <a:lnSpc>
                <a:spcPct val="105000"/>
              </a:lnSpc>
              <a:buNone/>
            </a:pPr>
            <a:r>
              <a:rPr lang="en-US" sz="1150" dirty="0">
                <a:solidFill>
                  <a:srgbClr val="5A6B7B"/>
                </a:solidFill>
                <a:latin typeface="Calibri" pitchFamily="34" charset="0"/>
                <a:ea typeface="Calibri" pitchFamily="34" charset="-122"/>
                <a:cs typeface="Calibri" pitchFamily="34" charset="-120"/>
              </a:rPr>
              <a:t>the stimulus itself, an electrical artifact</a:t>
            </a:r>
            <a:endParaRPr lang="en-US" sz="1150" dirty="0"/>
          </a:p>
        </p:txBody>
      </p:sp>
      <p:sp>
        <p:nvSpPr>
          <p:cNvPr id="11" name="Shape 8"/>
          <p:cNvSpPr/>
          <p:nvPr/>
        </p:nvSpPr>
        <p:spPr>
          <a:xfrm>
            <a:off x="8028432" y="3922776"/>
            <a:ext cx="146304" cy="146304"/>
          </a:xfrm>
          <a:prstGeom prst="ellipse">
            <a:avLst/>
          </a:prstGeom>
          <a:solidFill>
            <a:srgbClr val="B4671A"/>
          </a:solidFill>
          <a:ln/>
        </p:spPr>
      </p:sp>
      <p:sp>
        <p:nvSpPr>
          <p:cNvPr id="12" name="Text 9"/>
          <p:cNvSpPr/>
          <p:nvPr/>
        </p:nvSpPr>
        <p:spPr>
          <a:xfrm>
            <a:off x="8275320" y="3803904"/>
            <a:ext cx="3017520" cy="292608"/>
          </a:xfrm>
          <a:prstGeom prst="rect">
            <a:avLst/>
          </a:prstGeom>
          <a:noFill/>
          <a:ln/>
        </p:spPr>
        <p:txBody>
          <a:bodyPr wrap="square" lIns="0" tIns="0" rIns="0" bIns="0" rtlCol="0" anchor="ctr"/>
          <a:lstStyle/>
          <a:p>
            <a:pPr indent="0" marL="0">
              <a:buNone/>
            </a:pPr>
            <a:r>
              <a:rPr lang="en-US" sz="1250" b="1" dirty="0">
                <a:solidFill>
                  <a:srgbClr val="14212E"/>
                </a:solidFill>
                <a:latin typeface="Calibri" pitchFamily="34" charset="0"/>
                <a:ea typeface="Calibri" pitchFamily="34" charset="-122"/>
                <a:cs typeface="Calibri" pitchFamily="34" charset="-120"/>
              </a:rPr>
              <a:t>M-wave, 2–4 ms</a:t>
            </a:r>
            <a:endParaRPr lang="en-US" sz="1250" dirty="0"/>
          </a:p>
        </p:txBody>
      </p:sp>
      <p:sp>
        <p:nvSpPr>
          <p:cNvPr id="13" name="Text 10"/>
          <p:cNvSpPr/>
          <p:nvPr/>
        </p:nvSpPr>
        <p:spPr>
          <a:xfrm>
            <a:off x="8275320" y="4078224"/>
            <a:ext cx="3017520" cy="566928"/>
          </a:xfrm>
          <a:prstGeom prst="rect">
            <a:avLst/>
          </a:prstGeom>
          <a:noFill/>
          <a:ln/>
        </p:spPr>
        <p:txBody>
          <a:bodyPr wrap="square" lIns="0" tIns="0" rIns="0" bIns="0" rtlCol="0" anchor="ctr"/>
          <a:lstStyle/>
          <a:p>
            <a:pPr indent="0" marL="0">
              <a:lnSpc>
                <a:spcPct val="105000"/>
              </a:lnSpc>
              <a:buNone/>
            </a:pPr>
            <a:r>
              <a:rPr lang="en-US" sz="1150" dirty="0">
                <a:solidFill>
                  <a:srgbClr val="5A6B7B"/>
                </a:solidFill>
                <a:latin typeface="Calibri" pitchFamily="34" charset="0"/>
                <a:ea typeface="Calibri" pitchFamily="34" charset="-122"/>
                <a:cs typeface="Calibri" pitchFamily="34" charset="-120"/>
              </a:rPr>
              <a:t>the nerve firing the muscle directly</a:t>
            </a:r>
            <a:endParaRPr lang="en-US" sz="1150" dirty="0"/>
          </a:p>
        </p:txBody>
      </p:sp>
      <p:sp>
        <p:nvSpPr>
          <p:cNvPr id="14" name="Shape 11"/>
          <p:cNvSpPr/>
          <p:nvPr/>
        </p:nvSpPr>
        <p:spPr>
          <a:xfrm>
            <a:off x="8028432" y="4837176"/>
            <a:ext cx="146304" cy="146304"/>
          </a:xfrm>
          <a:prstGeom prst="ellipse">
            <a:avLst/>
          </a:prstGeom>
          <a:solidFill>
            <a:srgbClr val="15718F"/>
          </a:solidFill>
          <a:ln/>
        </p:spPr>
      </p:sp>
      <p:sp>
        <p:nvSpPr>
          <p:cNvPr id="15" name="Text 12"/>
          <p:cNvSpPr/>
          <p:nvPr/>
        </p:nvSpPr>
        <p:spPr>
          <a:xfrm>
            <a:off x="8275320" y="4718304"/>
            <a:ext cx="3017520" cy="292608"/>
          </a:xfrm>
          <a:prstGeom prst="rect">
            <a:avLst/>
          </a:prstGeom>
          <a:noFill/>
          <a:ln/>
        </p:spPr>
        <p:txBody>
          <a:bodyPr wrap="square" lIns="0" tIns="0" rIns="0" bIns="0" rtlCol="0" anchor="ctr"/>
          <a:lstStyle/>
          <a:p>
            <a:pPr indent="0" marL="0">
              <a:buNone/>
            </a:pPr>
            <a:r>
              <a:rPr lang="en-US" sz="1250" b="1" dirty="0">
                <a:solidFill>
                  <a:srgbClr val="14212E"/>
                </a:solidFill>
                <a:latin typeface="Calibri" pitchFamily="34" charset="0"/>
                <a:ea typeface="Calibri" pitchFamily="34" charset="-122"/>
                <a:cs typeface="Calibri" pitchFamily="34" charset="-120"/>
              </a:rPr>
              <a:t>H-reflex, 6–9 ms</a:t>
            </a:r>
            <a:endParaRPr lang="en-US" sz="1250" dirty="0"/>
          </a:p>
        </p:txBody>
      </p:sp>
      <p:sp>
        <p:nvSpPr>
          <p:cNvPr id="16" name="Text 13"/>
          <p:cNvSpPr/>
          <p:nvPr/>
        </p:nvSpPr>
        <p:spPr>
          <a:xfrm>
            <a:off x="8275320" y="4992624"/>
            <a:ext cx="3017520" cy="566928"/>
          </a:xfrm>
          <a:prstGeom prst="rect">
            <a:avLst/>
          </a:prstGeom>
          <a:noFill/>
          <a:ln/>
        </p:spPr>
        <p:txBody>
          <a:bodyPr wrap="square" lIns="0" tIns="0" rIns="0" bIns="0" rtlCol="0" anchor="ctr"/>
          <a:lstStyle/>
          <a:p>
            <a:pPr indent="0" marL="0">
              <a:lnSpc>
                <a:spcPct val="105000"/>
              </a:lnSpc>
              <a:buNone/>
            </a:pPr>
            <a:r>
              <a:rPr lang="en-US" sz="1150" dirty="0">
                <a:solidFill>
                  <a:srgbClr val="5A6B7B"/>
                </a:solidFill>
                <a:latin typeface="Calibri" pitchFamily="34" charset="0"/>
                <a:ea typeface="Calibri" pitchFamily="34" charset="-122"/>
                <a:cs typeface="Calibri" pitchFamily="34" charset="-120"/>
              </a:rPr>
              <a:t>the signal that travelled to the spinal cord and back — this is what conditioning changes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9AA8B4"/>
                </a:solidFill>
                <a:latin typeface="Calibri" pitchFamily="34" charset="0"/>
                <a:ea typeface="Calibri" pitchFamily="34" charset="-122"/>
                <a:cs typeface="Calibri" pitchFamily="34" charset="-120"/>
              </a:rPr>
              <a:t>THE DATASET</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Six animals, 2.7 million trials</a:t>
            </a:r>
            <a:endParaRPr lang="en-US" sz="3100" dirty="0"/>
          </a:p>
        </p:txBody>
      </p:sp>
      <p:sp>
        <p:nvSpPr>
          <p:cNvPr id="4" name="Shape 2"/>
          <p:cNvSpPr/>
          <p:nvPr/>
        </p:nvSpPr>
        <p:spPr>
          <a:xfrm>
            <a:off x="685800" y="1965960"/>
            <a:ext cx="2651760" cy="1691640"/>
          </a:xfrm>
          <a:prstGeom prst="roundRect">
            <a:avLst>
              <a:gd name="adj" fmla="val 432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685800" y="2194560"/>
            <a:ext cx="2651760" cy="777240"/>
          </a:xfrm>
          <a:prstGeom prst="rect">
            <a:avLst/>
          </a:prstGeom>
          <a:noFill/>
          <a:ln/>
        </p:spPr>
        <p:txBody>
          <a:bodyPr wrap="square" lIns="0" tIns="0" rIns="0" bIns="0" rtlCol="0" anchor="ctr"/>
          <a:lstStyle/>
          <a:p>
            <a:pPr algn="ctr" indent="0" marL="0">
              <a:buNone/>
            </a:pPr>
            <a:r>
              <a:rPr lang="en-US" sz="3300" b="1" dirty="0">
                <a:solidFill>
                  <a:srgbClr val="15718F"/>
                </a:solidFill>
                <a:latin typeface="Cambria" pitchFamily="34" charset="0"/>
                <a:ea typeface="Cambria" pitchFamily="34" charset="-122"/>
                <a:cs typeface="Cambria" pitchFamily="34" charset="-120"/>
              </a:rPr>
              <a:t>2.7M</a:t>
            </a:r>
            <a:endParaRPr lang="en-US" sz="3300" dirty="0"/>
          </a:p>
        </p:txBody>
      </p:sp>
      <p:sp>
        <p:nvSpPr>
          <p:cNvPr id="6" name="Text 4"/>
          <p:cNvSpPr/>
          <p:nvPr/>
        </p:nvSpPr>
        <p:spPr>
          <a:xfrm>
            <a:off x="685800" y="2971800"/>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trials decoded</a:t>
            </a:r>
            <a:endParaRPr lang="en-US" sz="1250" dirty="0"/>
          </a:p>
        </p:txBody>
      </p:sp>
      <p:sp>
        <p:nvSpPr>
          <p:cNvPr id="7" name="Shape 5"/>
          <p:cNvSpPr/>
          <p:nvPr/>
        </p:nvSpPr>
        <p:spPr>
          <a:xfrm>
            <a:off x="3474720" y="1965960"/>
            <a:ext cx="2651760" cy="1691640"/>
          </a:xfrm>
          <a:prstGeom prst="roundRect">
            <a:avLst>
              <a:gd name="adj" fmla="val 432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3474720" y="2194560"/>
            <a:ext cx="2651760" cy="777240"/>
          </a:xfrm>
          <a:prstGeom prst="rect">
            <a:avLst/>
          </a:prstGeom>
          <a:noFill/>
          <a:ln/>
        </p:spPr>
        <p:txBody>
          <a:bodyPr wrap="square" lIns="0" tIns="0" rIns="0" bIns="0" rtlCol="0" anchor="ctr"/>
          <a:lstStyle/>
          <a:p>
            <a:pPr algn="ctr" indent="0" marL="0">
              <a:buNone/>
            </a:pPr>
            <a:r>
              <a:rPr lang="en-US" sz="3300" b="1" dirty="0">
                <a:solidFill>
                  <a:srgbClr val="15718F"/>
                </a:solidFill>
                <a:latin typeface="Cambria" pitchFamily="34" charset="0"/>
                <a:ea typeface="Cambria" pitchFamily="34" charset="-122"/>
                <a:cs typeface="Cambria" pitchFamily="34" charset="-120"/>
              </a:rPr>
              <a:t>6</a:t>
            </a:r>
            <a:endParaRPr lang="en-US" sz="3300" dirty="0"/>
          </a:p>
        </p:txBody>
      </p:sp>
      <p:sp>
        <p:nvSpPr>
          <p:cNvPr id="9" name="Text 7"/>
          <p:cNvSpPr/>
          <p:nvPr/>
        </p:nvSpPr>
        <p:spPr>
          <a:xfrm>
            <a:off x="3474720" y="2971800"/>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animals</a:t>
            </a:r>
            <a:endParaRPr lang="en-US" sz="1250" dirty="0"/>
          </a:p>
        </p:txBody>
      </p:sp>
      <p:sp>
        <p:nvSpPr>
          <p:cNvPr id="10" name="Shape 8"/>
          <p:cNvSpPr/>
          <p:nvPr/>
        </p:nvSpPr>
        <p:spPr>
          <a:xfrm>
            <a:off x="6263640" y="1965960"/>
            <a:ext cx="2651760" cy="1691640"/>
          </a:xfrm>
          <a:prstGeom prst="roundRect">
            <a:avLst>
              <a:gd name="adj" fmla="val 432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Text 9"/>
          <p:cNvSpPr/>
          <p:nvPr/>
        </p:nvSpPr>
        <p:spPr>
          <a:xfrm>
            <a:off x="6263640" y="2194560"/>
            <a:ext cx="2651760" cy="777240"/>
          </a:xfrm>
          <a:prstGeom prst="rect">
            <a:avLst/>
          </a:prstGeom>
          <a:noFill/>
          <a:ln/>
        </p:spPr>
        <p:txBody>
          <a:bodyPr wrap="square" lIns="0" tIns="0" rIns="0" bIns="0" rtlCol="0" anchor="ctr"/>
          <a:lstStyle/>
          <a:p>
            <a:pPr algn="ctr" indent="0" marL="0">
              <a:buNone/>
            </a:pPr>
            <a:r>
              <a:rPr lang="en-US" sz="3300" b="1" dirty="0">
                <a:solidFill>
                  <a:srgbClr val="B4671A"/>
                </a:solidFill>
                <a:latin typeface="Cambria" pitchFamily="34" charset="0"/>
                <a:ea typeface="Cambria" pitchFamily="34" charset="-122"/>
                <a:cs typeface="Cambria" pitchFamily="34" charset="-120"/>
              </a:rPr>
              <a:t>3 / 3</a:t>
            </a:r>
            <a:endParaRPr lang="en-US" sz="3300" dirty="0"/>
          </a:p>
        </p:txBody>
      </p:sp>
      <p:sp>
        <p:nvSpPr>
          <p:cNvPr id="12" name="Text 10"/>
          <p:cNvSpPr/>
          <p:nvPr/>
        </p:nvSpPr>
        <p:spPr>
          <a:xfrm>
            <a:off x="6263640" y="2971800"/>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down / up</a:t>
            </a:r>
            <a:endParaRPr lang="en-US" sz="1250" dirty="0"/>
          </a:p>
        </p:txBody>
      </p:sp>
      <p:sp>
        <p:nvSpPr>
          <p:cNvPr id="13" name="Shape 11"/>
          <p:cNvSpPr/>
          <p:nvPr/>
        </p:nvSpPr>
        <p:spPr>
          <a:xfrm>
            <a:off x="9052560" y="1965960"/>
            <a:ext cx="2651760" cy="1691640"/>
          </a:xfrm>
          <a:prstGeom prst="roundRect">
            <a:avLst>
              <a:gd name="adj" fmla="val 4324"/>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9052560" y="2194560"/>
            <a:ext cx="2651760" cy="777240"/>
          </a:xfrm>
          <a:prstGeom prst="rect">
            <a:avLst/>
          </a:prstGeom>
          <a:noFill/>
          <a:ln/>
        </p:spPr>
        <p:txBody>
          <a:bodyPr wrap="square" lIns="0" tIns="0" rIns="0" bIns="0" rtlCol="0" anchor="ctr"/>
          <a:lstStyle/>
          <a:p>
            <a:pPr algn="ctr" indent="0" marL="0">
              <a:buNone/>
            </a:pPr>
            <a:r>
              <a:rPr lang="en-US" sz="3300" b="1" dirty="0">
                <a:solidFill>
                  <a:srgbClr val="3B6E43"/>
                </a:solidFill>
                <a:latin typeface="Cambria" pitchFamily="34" charset="0"/>
                <a:ea typeface="Cambria" pitchFamily="34" charset="-122"/>
                <a:cs typeface="Cambria" pitchFamily="34" charset="-120"/>
              </a:rPr>
              <a:t>45–210</a:t>
            </a:r>
            <a:endParaRPr lang="en-US" sz="3300" dirty="0"/>
          </a:p>
        </p:txBody>
      </p:sp>
      <p:sp>
        <p:nvSpPr>
          <p:cNvPr id="15" name="Text 13"/>
          <p:cNvSpPr/>
          <p:nvPr/>
        </p:nvSpPr>
        <p:spPr>
          <a:xfrm>
            <a:off x="9052560" y="2971800"/>
            <a:ext cx="2651760" cy="411480"/>
          </a:xfrm>
          <a:prstGeom prst="rect">
            <a:avLst/>
          </a:prstGeom>
          <a:noFill/>
          <a:ln/>
        </p:spPr>
        <p:txBody>
          <a:bodyPr wrap="square" lIns="0" tIns="0" rIns="0" bIns="0" rtlCol="0" anchor="ctr"/>
          <a:lstStyle/>
          <a:p>
            <a:pPr algn="ctr" indent="0" marL="0">
              <a:buNone/>
            </a:pPr>
            <a:r>
              <a:rPr lang="en-US" sz="1250" dirty="0">
                <a:solidFill>
                  <a:srgbClr val="5A6B7B"/>
                </a:solidFill>
                <a:latin typeface="Calibri" pitchFamily="34" charset="0"/>
                <a:ea typeface="Calibri" pitchFamily="34" charset="-122"/>
                <a:cs typeface="Calibri" pitchFamily="34" charset="-120"/>
              </a:rPr>
              <a:t>days each</a:t>
            </a:r>
            <a:endParaRPr lang="en-US" sz="1250" dirty="0"/>
          </a:p>
        </p:txBody>
      </p:sp>
      <p:sp>
        <p:nvSpPr>
          <p:cNvPr id="16" name="Shape 14"/>
          <p:cNvSpPr/>
          <p:nvPr/>
        </p:nvSpPr>
        <p:spPr>
          <a:xfrm>
            <a:off x="685800" y="3931920"/>
            <a:ext cx="10881360" cy="1371600"/>
          </a:xfrm>
          <a:prstGeom prst="roundRect">
            <a:avLst>
              <a:gd name="adj" fmla="val 5333"/>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4114800"/>
            <a:ext cx="8229600" cy="320040"/>
          </a:xfrm>
          <a:prstGeom prst="rect">
            <a:avLst/>
          </a:prstGeom>
          <a:noFill/>
          <a:ln/>
        </p:spPr>
        <p:txBody>
          <a:bodyPr wrap="square" lIns="0" tIns="0" rIns="0" bIns="0" rtlCol="0" anchor="ctr"/>
          <a:lstStyle/>
          <a:p>
            <a:pPr indent="0" marL="0">
              <a:buNone/>
            </a:pPr>
            <a:r>
              <a:rPr lang="en-US" sz="1450" b="1" dirty="0">
                <a:solidFill>
                  <a:srgbClr val="15718F"/>
                </a:solidFill>
                <a:latin typeface="Calibri" pitchFamily="34" charset="0"/>
                <a:ea typeface="Calibri" pitchFamily="34" charset="-122"/>
                <a:cs typeface="Calibri" pitchFamily="34" charset="-120"/>
              </a:rPr>
              <a:t>Finding the animals that actually learned — without downloading everything</a:t>
            </a:r>
            <a:endParaRPr lang="en-US" sz="1450" dirty="0"/>
          </a:p>
        </p:txBody>
      </p:sp>
      <p:sp>
        <p:nvSpPr>
          <p:cNvPr id="18" name="Text 16"/>
          <p:cNvSpPr/>
          <p:nvPr/>
        </p:nvSpPr>
        <p:spPr>
          <a:xfrm>
            <a:off x="1005840" y="4480560"/>
            <a:ext cx="10241280" cy="77724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The log files are tiny. The experimenter raises the reward threshold whenever the rat starts beating it, so the threshold history is a record of how the animal was doing. We read only the logs, then downloaded the signal data for the animals that had learned.</a:t>
            </a:r>
            <a:endParaRPr lang="en-US" sz="1350" dirty="0"/>
          </a:p>
        </p:txBody>
      </p:sp>
      <p:sp>
        <p:nvSpPr>
          <p:cNvPr id="19" name="Shape 17"/>
          <p:cNvSpPr/>
          <p:nvPr/>
        </p:nvSpPr>
        <p:spPr>
          <a:xfrm>
            <a:off x="685800" y="5486400"/>
            <a:ext cx="10881360" cy="822960"/>
          </a:xfrm>
          <a:prstGeom prst="roundRect">
            <a:avLst>
              <a:gd name="adj" fmla="val 8889"/>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1005840" y="5623560"/>
            <a:ext cx="10241280" cy="548640"/>
          </a:xfrm>
          <a:prstGeom prst="rect">
            <a:avLst/>
          </a:prstGeom>
          <a:noFill/>
          <a:ln/>
        </p:spPr>
        <p:txBody>
          <a:bodyPr wrap="square" lIns="0" tIns="0" rIns="0" bIns="0" rtlCol="0" anchor="ctr"/>
          <a:lstStyle/>
          <a:p>
            <a:pPr indent="0" marL="0">
              <a:buNone/>
            </a:pPr>
            <a:r>
              <a:rPr lang="en-US" sz="1350" b="1" dirty="0">
                <a:solidFill>
                  <a:srgbClr val="B4671A"/>
                </a:solidFill>
                <a:latin typeface="Calibri" pitchFamily="34" charset="0"/>
                <a:ea typeface="Calibri" pitchFamily="34" charset="-122"/>
                <a:cs typeface="Calibri" pitchFamily="34" charset="-120"/>
              </a:rPr>
              <a:t>One animal excluded.  </a:t>
            </a:r>
            <a:pPr indent="0" marL="0">
              <a:buNone/>
            </a:pPr>
            <a:r>
              <a:rPr lang="en-US" sz="1350" dirty="0">
                <a:solidFill>
                  <a:srgbClr val="14212E"/>
                </a:solidFill>
                <a:latin typeface="Calibri" pitchFamily="34" charset="0"/>
                <a:ea typeface="Calibri" pitchFamily="34" charset="-122"/>
                <a:cs typeface="Calibri" pitchFamily="34" charset="-120"/>
              </a:rPr>
              <a:t>A12's pre-stimulus cortical signal is 2.8 µV against 106–128 µV in the others — that electrode was dead.</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9AA8B4"/>
                </a:solidFill>
                <a:latin typeface="Calibri" pitchFamily="34" charset="0"/>
                <a:ea typeface="Calibri" pitchFamily="34" charset="-122"/>
                <a:cs typeface="Calibri" pitchFamily="34" charset="-120"/>
              </a:rPr>
              <a:t>METHODS</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How the data becomes a model</a:t>
            </a:r>
            <a:endParaRPr lang="en-US" sz="3100" dirty="0"/>
          </a:p>
        </p:txBody>
      </p:sp>
      <p:sp>
        <p:nvSpPr>
          <p:cNvPr id="4" name="Shape 2"/>
          <p:cNvSpPr/>
          <p:nvPr/>
        </p:nvSpPr>
        <p:spPr>
          <a:xfrm>
            <a:off x="685800" y="2286000"/>
            <a:ext cx="2048256" cy="2286000"/>
          </a:xfrm>
          <a:prstGeom prst="roundRect">
            <a:avLst>
              <a:gd name="adj" fmla="val 357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886968" y="2487168"/>
            <a:ext cx="1097280" cy="274320"/>
          </a:xfrm>
          <a:prstGeom prst="rect">
            <a:avLst/>
          </a:prstGeom>
          <a:noFill/>
          <a:ln/>
        </p:spPr>
        <p:txBody>
          <a:bodyPr wrap="square" lIns="0" tIns="0" rIns="0" bIns="0" rtlCol="0" anchor="ctr"/>
          <a:lstStyle/>
          <a:p>
            <a:pPr indent="0" marL="0">
              <a:buNone/>
            </a:pPr>
            <a:r>
              <a:rPr lang="en-US" sz="1100" b="1" spc="150" kern="0" dirty="0">
                <a:solidFill>
                  <a:srgbClr val="B4671A"/>
                </a:solidFill>
                <a:latin typeface="Calibri" pitchFamily="34" charset="0"/>
                <a:ea typeface="Calibri" pitchFamily="34" charset="-122"/>
                <a:cs typeface="Calibri" pitchFamily="34" charset="-120"/>
              </a:rPr>
              <a:t>01</a:t>
            </a:r>
            <a:endParaRPr lang="en-US" sz="1100" dirty="0"/>
          </a:p>
        </p:txBody>
      </p:sp>
      <p:sp>
        <p:nvSpPr>
          <p:cNvPr id="6" name="Text 4"/>
          <p:cNvSpPr/>
          <p:nvPr/>
        </p:nvSpPr>
        <p:spPr>
          <a:xfrm>
            <a:off x="886968" y="2834640"/>
            <a:ext cx="1645920" cy="41148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Recover</a:t>
            </a:r>
            <a:endParaRPr lang="en-US" sz="1900" dirty="0"/>
          </a:p>
        </p:txBody>
      </p:sp>
      <p:sp>
        <p:nvSpPr>
          <p:cNvPr id="7" name="Text 5"/>
          <p:cNvSpPr/>
          <p:nvPr/>
        </p:nvSpPr>
        <p:spPr>
          <a:xfrm>
            <a:off x="886968" y="3310128"/>
            <a:ext cx="1645920" cy="1097280"/>
          </a:xfrm>
          <a:prstGeom prst="rect">
            <a:avLst/>
          </a:prstGeom>
          <a:noFill/>
          <a:ln/>
        </p:spPr>
        <p:txBody>
          <a:bodyPr wrap="square" lIns="0" tIns="0" rIns="0" bIns="0" rtlCol="0" anchor="ctr"/>
          <a:lstStyle/>
          <a:p>
            <a:pPr indent="0" marL="0">
              <a:lnSpc>
                <a:spcPct val="108000"/>
              </a:lnSpc>
              <a:buNone/>
            </a:pPr>
            <a:r>
              <a:rPr lang="en-US" sz="1200" dirty="0">
                <a:solidFill>
                  <a:srgbClr val="5A6B7B"/>
                </a:solidFill>
                <a:latin typeface="Calibri" pitchFamily="34" charset="0"/>
                <a:ea typeface="Calibri" pitchFamily="34" charset="-122"/>
                <a:cs typeface="Calibri" pitchFamily="34" charset="-120"/>
              </a:rPr>
              <a:t>2006 database tables loaded into a local server</a:t>
            </a:r>
            <a:endParaRPr lang="en-US" sz="1200" dirty="0"/>
          </a:p>
        </p:txBody>
      </p:sp>
      <p:sp>
        <p:nvSpPr>
          <p:cNvPr id="8" name="Text 6"/>
          <p:cNvSpPr/>
          <p:nvPr/>
        </p:nvSpPr>
        <p:spPr>
          <a:xfrm>
            <a:off x="2743200" y="3200400"/>
            <a:ext cx="182880" cy="365760"/>
          </a:xfrm>
          <a:prstGeom prst="rect">
            <a:avLst/>
          </a:prstGeom>
          <a:noFill/>
          <a:ln/>
        </p:spPr>
        <p:txBody>
          <a:bodyPr wrap="square" lIns="0" tIns="0" rIns="0" bIns="0" rtlCol="0" anchor="ctr"/>
          <a:lstStyle/>
          <a:p>
            <a:pPr algn="ctr" indent="0" marL="0">
              <a:buNone/>
            </a:pPr>
            <a:r>
              <a:rPr lang="en-US" sz="1500" dirty="0">
                <a:solidFill>
                  <a:srgbClr val="9AA8B4"/>
                </a:solidFill>
                <a:latin typeface="Calibri" pitchFamily="34" charset="0"/>
                <a:ea typeface="Calibri" pitchFamily="34" charset="-122"/>
                <a:cs typeface="Calibri" pitchFamily="34" charset="-120"/>
              </a:rPr>
              <a:t>→</a:t>
            </a:r>
            <a:endParaRPr lang="en-US" sz="1500" dirty="0"/>
          </a:p>
        </p:txBody>
      </p:sp>
      <p:sp>
        <p:nvSpPr>
          <p:cNvPr id="9" name="Shape 7"/>
          <p:cNvSpPr/>
          <p:nvPr/>
        </p:nvSpPr>
        <p:spPr>
          <a:xfrm>
            <a:off x="2935224" y="2286000"/>
            <a:ext cx="2048256" cy="2286000"/>
          </a:xfrm>
          <a:prstGeom prst="roundRect">
            <a:avLst>
              <a:gd name="adj" fmla="val 357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Text 8"/>
          <p:cNvSpPr/>
          <p:nvPr/>
        </p:nvSpPr>
        <p:spPr>
          <a:xfrm>
            <a:off x="3136392" y="2487168"/>
            <a:ext cx="1097280" cy="274320"/>
          </a:xfrm>
          <a:prstGeom prst="rect">
            <a:avLst/>
          </a:prstGeom>
          <a:noFill/>
          <a:ln/>
        </p:spPr>
        <p:txBody>
          <a:bodyPr wrap="square" lIns="0" tIns="0" rIns="0" bIns="0" rtlCol="0" anchor="ctr"/>
          <a:lstStyle/>
          <a:p>
            <a:pPr indent="0" marL="0">
              <a:buNone/>
            </a:pPr>
            <a:r>
              <a:rPr lang="en-US" sz="1100" b="1" spc="150" kern="0" dirty="0">
                <a:solidFill>
                  <a:srgbClr val="B4671A"/>
                </a:solidFill>
                <a:latin typeface="Calibri" pitchFamily="34" charset="0"/>
                <a:ea typeface="Calibri" pitchFamily="34" charset="-122"/>
                <a:cs typeface="Calibri" pitchFamily="34" charset="-120"/>
              </a:rPr>
              <a:t>02</a:t>
            </a:r>
            <a:endParaRPr lang="en-US" sz="1100" dirty="0"/>
          </a:p>
        </p:txBody>
      </p:sp>
      <p:sp>
        <p:nvSpPr>
          <p:cNvPr id="11" name="Text 9"/>
          <p:cNvSpPr/>
          <p:nvPr/>
        </p:nvSpPr>
        <p:spPr>
          <a:xfrm>
            <a:off x="3136392" y="2834640"/>
            <a:ext cx="1645920" cy="41148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Decode</a:t>
            </a:r>
            <a:endParaRPr lang="en-US" sz="1900" dirty="0"/>
          </a:p>
        </p:txBody>
      </p:sp>
      <p:sp>
        <p:nvSpPr>
          <p:cNvPr id="12" name="Text 10"/>
          <p:cNvSpPr/>
          <p:nvPr/>
        </p:nvSpPr>
        <p:spPr>
          <a:xfrm>
            <a:off x="3136392" y="3310128"/>
            <a:ext cx="1645920" cy="1097280"/>
          </a:xfrm>
          <a:prstGeom prst="rect">
            <a:avLst/>
          </a:prstGeom>
          <a:noFill/>
          <a:ln/>
        </p:spPr>
        <p:txBody>
          <a:bodyPr wrap="square" lIns="0" tIns="0" rIns="0" bIns="0" rtlCol="0" anchor="ctr"/>
          <a:lstStyle/>
          <a:p>
            <a:pPr indent="0" marL="0">
              <a:lnSpc>
                <a:spcPct val="108000"/>
              </a:lnSpc>
              <a:buNone/>
            </a:pPr>
            <a:r>
              <a:rPr lang="en-US" sz="1200" dirty="0">
                <a:solidFill>
                  <a:srgbClr val="5A6B7B"/>
                </a:solidFill>
                <a:latin typeface="Calibri" pitchFamily="34" charset="0"/>
                <a:ea typeface="Calibri" pitchFamily="34" charset="-122"/>
                <a:cs typeface="Calibri" pitchFamily="34" charset="-120"/>
              </a:rPr>
              <a:t>each trial into two channels of microvolts</a:t>
            </a:r>
            <a:endParaRPr lang="en-US" sz="1200" dirty="0"/>
          </a:p>
        </p:txBody>
      </p:sp>
      <p:sp>
        <p:nvSpPr>
          <p:cNvPr id="13" name="Text 11"/>
          <p:cNvSpPr/>
          <p:nvPr/>
        </p:nvSpPr>
        <p:spPr>
          <a:xfrm>
            <a:off x="4992624" y="3200400"/>
            <a:ext cx="182880" cy="365760"/>
          </a:xfrm>
          <a:prstGeom prst="rect">
            <a:avLst/>
          </a:prstGeom>
          <a:noFill/>
          <a:ln/>
        </p:spPr>
        <p:txBody>
          <a:bodyPr wrap="square" lIns="0" tIns="0" rIns="0" bIns="0" rtlCol="0" anchor="ctr"/>
          <a:lstStyle/>
          <a:p>
            <a:pPr algn="ctr" indent="0" marL="0">
              <a:buNone/>
            </a:pPr>
            <a:r>
              <a:rPr lang="en-US" sz="1500" dirty="0">
                <a:solidFill>
                  <a:srgbClr val="9AA8B4"/>
                </a:solidFill>
                <a:latin typeface="Calibri" pitchFamily="34" charset="0"/>
                <a:ea typeface="Calibri" pitchFamily="34" charset="-122"/>
                <a:cs typeface="Calibri" pitchFamily="34" charset="-120"/>
              </a:rPr>
              <a:t>→</a:t>
            </a:r>
            <a:endParaRPr lang="en-US" sz="1500" dirty="0"/>
          </a:p>
        </p:txBody>
      </p:sp>
      <p:sp>
        <p:nvSpPr>
          <p:cNvPr id="14" name="Shape 12"/>
          <p:cNvSpPr/>
          <p:nvPr/>
        </p:nvSpPr>
        <p:spPr>
          <a:xfrm>
            <a:off x="5184648" y="2286000"/>
            <a:ext cx="2048256" cy="2286000"/>
          </a:xfrm>
          <a:prstGeom prst="roundRect">
            <a:avLst>
              <a:gd name="adj" fmla="val 357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5" name="Text 13"/>
          <p:cNvSpPr/>
          <p:nvPr/>
        </p:nvSpPr>
        <p:spPr>
          <a:xfrm>
            <a:off x="5385816" y="2487168"/>
            <a:ext cx="1097280" cy="274320"/>
          </a:xfrm>
          <a:prstGeom prst="rect">
            <a:avLst/>
          </a:prstGeom>
          <a:noFill/>
          <a:ln/>
        </p:spPr>
        <p:txBody>
          <a:bodyPr wrap="square" lIns="0" tIns="0" rIns="0" bIns="0" rtlCol="0" anchor="ctr"/>
          <a:lstStyle/>
          <a:p>
            <a:pPr indent="0" marL="0">
              <a:buNone/>
            </a:pPr>
            <a:r>
              <a:rPr lang="en-US" sz="1100" b="1" spc="150" kern="0" dirty="0">
                <a:solidFill>
                  <a:srgbClr val="B4671A"/>
                </a:solidFill>
                <a:latin typeface="Calibri" pitchFamily="34" charset="0"/>
                <a:ea typeface="Calibri" pitchFamily="34" charset="-122"/>
                <a:cs typeface="Calibri" pitchFamily="34" charset="-120"/>
              </a:rPr>
              <a:t>03</a:t>
            </a:r>
            <a:endParaRPr lang="en-US" sz="1100" dirty="0"/>
          </a:p>
        </p:txBody>
      </p:sp>
      <p:sp>
        <p:nvSpPr>
          <p:cNvPr id="16" name="Text 14"/>
          <p:cNvSpPr/>
          <p:nvPr/>
        </p:nvSpPr>
        <p:spPr>
          <a:xfrm>
            <a:off x="5385816" y="2834640"/>
            <a:ext cx="1645920" cy="41148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Measure</a:t>
            </a:r>
            <a:endParaRPr lang="en-US" sz="1900" dirty="0"/>
          </a:p>
        </p:txBody>
      </p:sp>
      <p:sp>
        <p:nvSpPr>
          <p:cNvPr id="17" name="Text 15"/>
          <p:cNvSpPr/>
          <p:nvPr/>
        </p:nvSpPr>
        <p:spPr>
          <a:xfrm>
            <a:off x="5385816" y="3310128"/>
            <a:ext cx="1645920" cy="1097280"/>
          </a:xfrm>
          <a:prstGeom prst="rect">
            <a:avLst/>
          </a:prstGeom>
          <a:noFill/>
          <a:ln/>
        </p:spPr>
        <p:txBody>
          <a:bodyPr wrap="square" lIns="0" tIns="0" rIns="0" bIns="0" rtlCol="0" anchor="ctr"/>
          <a:lstStyle/>
          <a:p>
            <a:pPr indent="0" marL="0">
              <a:lnSpc>
                <a:spcPct val="108000"/>
              </a:lnSpc>
              <a:buNone/>
            </a:pPr>
            <a:r>
              <a:rPr lang="en-US" sz="1200" dirty="0">
                <a:solidFill>
                  <a:srgbClr val="5A6B7B"/>
                </a:solidFill>
                <a:latin typeface="Calibri" pitchFamily="34" charset="0"/>
                <a:ea typeface="Calibri" pitchFamily="34" charset="-122"/>
                <a:cs typeface="Calibri" pitchFamily="34" charset="-120"/>
              </a:rPr>
              <a:t>M-wave, H-reflex, pre-stimulus background</a:t>
            </a:r>
            <a:endParaRPr lang="en-US" sz="1200" dirty="0"/>
          </a:p>
        </p:txBody>
      </p:sp>
      <p:sp>
        <p:nvSpPr>
          <p:cNvPr id="18" name="Text 16"/>
          <p:cNvSpPr/>
          <p:nvPr/>
        </p:nvSpPr>
        <p:spPr>
          <a:xfrm>
            <a:off x="7242048" y="3200400"/>
            <a:ext cx="182880" cy="365760"/>
          </a:xfrm>
          <a:prstGeom prst="rect">
            <a:avLst/>
          </a:prstGeom>
          <a:noFill/>
          <a:ln/>
        </p:spPr>
        <p:txBody>
          <a:bodyPr wrap="square" lIns="0" tIns="0" rIns="0" bIns="0" rtlCol="0" anchor="ctr"/>
          <a:lstStyle/>
          <a:p>
            <a:pPr algn="ctr" indent="0" marL="0">
              <a:buNone/>
            </a:pPr>
            <a:r>
              <a:rPr lang="en-US" sz="1500" dirty="0">
                <a:solidFill>
                  <a:srgbClr val="9AA8B4"/>
                </a:solidFill>
                <a:latin typeface="Calibri" pitchFamily="34" charset="0"/>
                <a:ea typeface="Calibri" pitchFamily="34" charset="-122"/>
                <a:cs typeface="Calibri" pitchFamily="34" charset="-120"/>
              </a:rPr>
              <a:t>→</a:t>
            </a:r>
            <a:endParaRPr lang="en-US" sz="1500" dirty="0"/>
          </a:p>
        </p:txBody>
      </p:sp>
      <p:sp>
        <p:nvSpPr>
          <p:cNvPr id="19" name="Shape 17"/>
          <p:cNvSpPr/>
          <p:nvPr/>
        </p:nvSpPr>
        <p:spPr>
          <a:xfrm>
            <a:off x="7434072" y="2286000"/>
            <a:ext cx="2048256" cy="2286000"/>
          </a:xfrm>
          <a:prstGeom prst="roundRect">
            <a:avLst>
              <a:gd name="adj" fmla="val 357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0" name="Text 18"/>
          <p:cNvSpPr/>
          <p:nvPr/>
        </p:nvSpPr>
        <p:spPr>
          <a:xfrm>
            <a:off x="7635240" y="2487168"/>
            <a:ext cx="1097280" cy="274320"/>
          </a:xfrm>
          <a:prstGeom prst="rect">
            <a:avLst/>
          </a:prstGeom>
          <a:noFill/>
          <a:ln/>
        </p:spPr>
        <p:txBody>
          <a:bodyPr wrap="square" lIns="0" tIns="0" rIns="0" bIns="0" rtlCol="0" anchor="ctr"/>
          <a:lstStyle/>
          <a:p>
            <a:pPr indent="0" marL="0">
              <a:buNone/>
            </a:pPr>
            <a:r>
              <a:rPr lang="en-US" sz="1100" b="1" spc="150" kern="0" dirty="0">
                <a:solidFill>
                  <a:srgbClr val="B4671A"/>
                </a:solidFill>
                <a:latin typeface="Calibri" pitchFamily="34" charset="0"/>
                <a:ea typeface="Calibri" pitchFamily="34" charset="-122"/>
                <a:cs typeface="Calibri" pitchFamily="34" charset="-120"/>
              </a:rPr>
              <a:t>04</a:t>
            </a:r>
            <a:endParaRPr lang="en-US" sz="1100" dirty="0"/>
          </a:p>
        </p:txBody>
      </p:sp>
      <p:sp>
        <p:nvSpPr>
          <p:cNvPr id="21" name="Text 19"/>
          <p:cNvSpPr/>
          <p:nvPr/>
        </p:nvSpPr>
        <p:spPr>
          <a:xfrm>
            <a:off x="7635240" y="2834640"/>
            <a:ext cx="1645920" cy="41148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Learn</a:t>
            </a:r>
            <a:endParaRPr lang="en-US" sz="1900" dirty="0"/>
          </a:p>
        </p:txBody>
      </p:sp>
      <p:sp>
        <p:nvSpPr>
          <p:cNvPr id="22" name="Text 20"/>
          <p:cNvSpPr/>
          <p:nvPr/>
        </p:nvSpPr>
        <p:spPr>
          <a:xfrm>
            <a:off x="7635240" y="3310128"/>
            <a:ext cx="1645920" cy="1097280"/>
          </a:xfrm>
          <a:prstGeom prst="rect">
            <a:avLst/>
          </a:prstGeom>
          <a:noFill/>
          <a:ln/>
        </p:spPr>
        <p:txBody>
          <a:bodyPr wrap="square" lIns="0" tIns="0" rIns="0" bIns="0" rtlCol="0" anchor="ctr"/>
          <a:lstStyle/>
          <a:p>
            <a:pPr indent="0" marL="0">
              <a:lnSpc>
                <a:spcPct val="108000"/>
              </a:lnSpc>
              <a:buNone/>
            </a:pPr>
            <a:r>
              <a:rPr lang="en-US" sz="1200" dirty="0">
                <a:solidFill>
                  <a:srgbClr val="5A6B7B"/>
                </a:solidFill>
                <a:latin typeface="Calibri" pitchFamily="34" charset="0"/>
                <a:ea typeface="Calibri" pitchFamily="34" charset="-122"/>
                <a:cs typeface="Calibri" pitchFamily="34" charset="-120"/>
              </a:rPr>
              <a:t>a 48-number summary of each brain trace</a:t>
            </a:r>
            <a:endParaRPr lang="en-US" sz="1200" dirty="0"/>
          </a:p>
        </p:txBody>
      </p:sp>
      <p:sp>
        <p:nvSpPr>
          <p:cNvPr id="23" name="Text 21"/>
          <p:cNvSpPr/>
          <p:nvPr/>
        </p:nvSpPr>
        <p:spPr>
          <a:xfrm>
            <a:off x="9491472" y="3200400"/>
            <a:ext cx="182880" cy="365760"/>
          </a:xfrm>
          <a:prstGeom prst="rect">
            <a:avLst/>
          </a:prstGeom>
          <a:noFill/>
          <a:ln/>
        </p:spPr>
        <p:txBody>
          <a:bodyPr wrap="square" lIns="0" tIns="0" rIns="0" bIns="0" rtlCol="0" anchor="ctr"/>
          <a:lstStyle/>
          <a:p>
            <a:pPr algn="ctr" indent="0" marL="0">
              <a:buNone/>
            </a:pPr>
            <a:r>
              <a:rPr lang="en-US" sz="1500" dirty="0">
                <a:solidFill>
                  <a:srgbClr val="9AA8B4"/>
                </a:solidFill>
                <a:latin typeface="Calibri" pitchFamily="34" charset="0"/>
                <a:ea typeface="Calibri" pitchFamily="34" charset="-122"/>
                <a:cs typeface="Calibri" pitchFamily="34" charset="-120"/>
              </a:rPr>
              <a:t>→</a:t>
            </a:r>
            <a:endParaRPr lang="en-US" sz="1500" dirty="0"/>
          </a:p>
        </p:txBody>
      </p:sp>
      <p:sp>
        <p:nvSpPr>
          <p:cNvPr id="24" name="Shape 22"/>
          <p:cNvSpPr/>
          <p:nvPr/>
        </p:nvSpPr>
        <p:spPr>
          <a:xfrm>
            <a:off x="9683496" y="2286000"/>
            <a:ext cx="2048256" cy="2286000"/>
          </a:xfrm>
          <a:prstGeom prst="roundRect">
            <a:avLst>
              <a:gd name="adj" fmla="val 357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5" name="Text 23"/>
          <p:cNvSpPr/>
          <p:nvPr/>
        </p:nvSpPr>
        <p:spPr>
          <a:xfrm>
            <a:off x="9884664" y="2487168"/>
            <a:ext cx="1097280" cy="274320"/>
          </a:xfrm>
          <a:prstGeom prst="rect">
            <a:avLst/>
          </a:prstGeom>
          <a:noFill/>
          <a:ln/>
        </p:spPr>
        <p:txBody>
          <a:bodyPr wrap="square" lIns="0" tIns="0" rIns="0" bIns="0" rtlCol="0" anchor="ctr"/>
          <a:lstStyle/>
          <a:p>
            <a:pPr indent="0" marL="0">
              <a:buNone/>
            </a:pPr>
            <a:r>
              <a:rPr lang="en-US" sz="1100" b="1" spc="150" kern="0" dirty="0">
                <a:solidFill>
                  <a:srgbClr val="B4671A"/>
                </a:solidFill>
                <a:latin typeface="Calibri" pitchFamily="34" charset="0"/>
                <a:ea typeface="Calibri" pitchFamily="34" charset="-122"/>
                <a:cs typeface="Calibri" pitchFamily="34" charset="-120"/>
              </a:rPr>
              <a:t>05</a:t>
            </a:r>
            <a:endParaRPr lang="en-US" sz="1100" dirty="0"/>
          </a:p>
        </p:txBody>
      </p:sp>
      <p:sp>
        <p:nvSpPr>
          <p:cNvPr id="26" name="Text 24"/>
          <p:cNvSpPr/>
          <p:nvPr/>
        </p:nvSpPr>
        <p:spPr>
          <a:xfrm>
            <a:off x="9884664" y="2834640"/>
            <a:ext cx="1645920" cy="411480"/>
          </a:xfrm>
          <a:prstGeom prst="rect">
            <a:avLst/>
          </a:prstGeom>
          <a:noFill/>
          <a:ln/>
        </p:spPr>
        <p:txBody>
          <a:bodyPr wrap="square" lIns="0" tIns="0" rIns="0" bIns="0" rtlCol="0" anchor="ctr"/>
          <a:lstStyle/>
          <a:p>
            <a:pPr indent="0" marL="0">
              <a:buNone/>
            </a:pPr>
            <a:r>
              <a:rPr lang="en-US" sz="1900" b="1" dirty="0">
                <a:solidFill>
                  <a:srgbClr val="14212E"/>
                </a:solidFill>
                <a:latin typeface="Cambria" pitchFamily="34" charset="0"/>
                <a:ea typeface="Cambria" pitchFamily="34" charset="-122"/>
                <a:cs typeface="Cambria" pitchFamily="34" charset="-120"/>
              </a:rPr>
              <a:t>Test</a:t>
            </a:r>
            <a:endParaRPr lang="en-US" sz="1900" dirty="0"/>
          </a:p>
        </p:txBody>
      </p:sp>
      <p:sp>
        <p:nvSpPr>
          <p:cNvPr id="27" name="Text 25"/>
          <p:cNvSpPr/>
          <p:nvPr/>
        </p:nvSpPr>
        <p:spPr>
          <a:xfrm>
            <a:off x="9884664" y="3310128"/>
            <a:ext cx="1645920" cy="1097280"/>
          </a:xfrm>
          <a:prstGeom prst="rect">
            <a:avLst/>
          </a:prstGeom>
          <a:noFill/>
          <a:ln/>
        </p:spPr>
        <p:txBody>
          <a:bodyPr wrap="square" lIns="0" tIns="0" rIns="0" bIns="0" rtlCol="0" anchor="ctr"/>
          <a:lstStyle/>
          <a:p>
            <a:pPr indent="0" marL="0">
              <a:lnSpc>
                <a:spcPct val="108000"/>
              </a:lnSpc>
              <a:buNone/>
            </a:pPr>
            <a:r>
              <a:rPr lang="en-US" sz="1200" dirty="0">
                <a:solidFill>
                  <a:srgbClr val="5A6B7B"/>
                </a:solidFill>
                <a:latin typeface="Calibri" pitchFamily="34" charset="0"/>
                <a:ea typeface="Calibri" pitchFamily="34" charset="-122"/>
                <a:cs typeface="Calibri" pitchFamily="34" charset="-120"/>
              </a:rPr>
              <a:t>what that summary predicts, against controls</a:t>
            </a:r>
            <a:endParaRPr lang="en-US" sz="1200" dirty="0"/>
          </a:p>
        </p:txBody>
      </p:sp>
      <p:sp>
        <p:nvSpPr>
          <p:cNvPr id="28" name="Shape 26"/>
          <p:cNvSpPr/>
          <p:nvPr/>
        </p:nvSpPr>
        <p:spPr>
          <a:xfrm>
            <a:off x="685800" y="4892040"/>
            <a:ext cx="10881360" cy="1234440"/>
          </a:xfrm>
          <a:prstGeom prst="roundRect">
            <a:avLst>
              <a:gd name="adj" fmla="val 5926"/>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9" name="Text 27"/>
          <p:cNvSpPr/>
          <p:nvPr/>
        </p:nvSpPr>
        <p:spPr>
          <a:xfrm>
            <a:off x="1005840" y="5047488"/>
            <a:ext cx="7315200" cy="320040"/>
          </a:xfrm>
          <a:prstGeom prst="rect">
            <a:avLst/>
          </a:prstGeom>
          <a:noFill/>
          <a:ln/>
        </p:spPr>
        <p:txBody>
          <a:bodyPr wrap="square" lIns="0" tIns="0" rIns="0" bIns="0" rtlCol="0" anchor="ctr"/>
          <a:lstStyle/>
          <a:p>
            <a:pPr indent="0" marL="0">
              <a:buNone/>
            </a:pPr>
            <a:r>
              <a:rPr lang="en-US" sz="1400" b="1" dirty="0">
                <a:solidFill>
                  <a:srgbClr val="14212E"/>
                </a:solidFill>
                <a:latin typeface="Calibri" pitchFamily="34" charset="0"/>
                <a:ea typeface="Calibri" pitchFamily="34" charset="-122"/>
                <a:cs typeface="Calibri" pitchFamily="34" charset="-120"/>
              </a:rPr>
              <a:t>The step that made it possible</a:t>
            </a:r>
            <a:endParaRPr lang="en-US" sz="1400" dirty="0"/>
          </a:p>
        </p:txBody>
      </p:sp>
      <p:sp>
        <p:nvSpPr>
          <p:cNvPr id="30" name="Text 28"/>
          <p:cNvSpPr/>
          <p:nvPr/>
        </p:nvSpPr>
        <p:spPr>
          <a:xfrm>
            <a:off x="1005840" y="5394960"/>
            <a:ext cx="10241280" cy="640080"/>
          </a:xfrm>
          <a:prstGeom prst="rect">
            <a:avLst/>
          </a:prstGeom>
          <a:noFill/>
          <a:ln/>
        </p:spPr>
        <p:txBody>
          <a:bodyPr wrap="square" lIns="0" tIns="0" rIns="0" bIns="0" rtlCol="0" anchor="ctr"/>
          <a:lstStyle/>
          <a:p>
            <a:pPr indent="0" marL="0">
              <a:lnSpc>
                <a:spcPct val="106000"/>
              </a:lnSpc>
              <a:buNone/>
            </a:pPr>
            <a:r>
              <a:rPr lang="en-US" sz="1350" dirty="0">
                <a:solidFill>
                  <a:srgbClr val="5A6B7B"/>
                </a:solidFill>
                <a:latin typeface="Calibri" pitchFamily="34" charset="0"/>
                <a:ea typeface="Calibri" pitchFamily="34" charset="-122"/>
                <a:cs typeface="Calibri" pitchFamily="34" charset="-120"/>
              </a:rPr>
              <a:t>The archived decoder documents these files as big-endian. They are not. Decoded as documented the signal is noise; decoded correctly the M-wave and H-reflex appear exactly where the experimenters' notes said they would.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METHODS · THE TRAP</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Why the reflex size alone tells you nothing</a:t>
            </a:r>
            <a:endParaRPr lang="en-US" sz="3100" dirty="0"/>
          </a:p>
        </p:txBody>
      </p:sp>
      <p:sp>
        <p:nvSpPr>
          <p:cNvPr id="4" name="Shape 2"/>
          <p:cNvSpPr/>
          <p:nvPr/>
        </p:nvSpPr>
        <p:spPr>
          <a:xfrm>
            <a:off x="685800" y="2011680"/>
            <a:ext cx="5349240" cy="2286000"/>
          </a:xfrm>
          <a:prstGeom prst="roundRect">
            <a:avLst>
              <a:gd name="adj" fmla="val 3200"/>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212848"/>
            <a:ext cx="4572000" cy="320040"/>
          </a:xfrm>
          <a:prstGeom prst="rect">
            <a:avLst/>
          </a:prstGeom>
          <a:noFill/>
          <a:ln/>
        </p:spPr>
        <p:txBody>
          <a:bodyPr wrap="square" lIns="0" tIns="0" rIns="0" bIns="0" rtlCol="0" anchor="ctr"/>
          <a:lstStyle/>
          <a:p>
            <a:pPr indent="0" marL="0">
              <a:buNone/>
            </a:pPr>
            <a:r>
              <a:rPr lang="en-US" sz="1450" b="1" dirty="0">
                <a:solidFill>
                  <a:srgbClr val="B4671A"/>
                </a:solidFill>
                <a:latin typeface="Calibri" pitchFamily="34" charset="0"/>
                <a:ea typeface="Calibri" pitchFamily="34" charset="-122"/>
                <a:cs typeface="Calibri" pitchFamily="34" charset="-120"/>
              </a:rPr>
              <a:t>The problem</a:t>
            </a:r>
            <a:endParaRPr lang="en-US" sz="1450" dirty="0"/>
          </a:p>
        </p:txBody>
      </p:sp>
      <p:sp>
        <p:nvSpPr>
          <p:cNvPr id="6" name="Text 4"/>
          <p:cNvSpPr/>
          <p:nvPr/>
        </p:nvSpPr>
        <p:spPr>
          <a:xfrm>
            <a:off x="960120" y="2578608"/>
            <a:ext cx="4846320" cy="100584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A bigger shock makes a bigger reflex — no learning required. Across these recordings the delivered stimulus roughly quadrupled.</a:t>
            </a:r>
            <a:endParaRPr lang="en-US" sz="1400" dirty="0"/>
          </a:p>
        </p:txBody>
      </p:sp>
      <p:sp>
        <p:nvSpPr>
          <p:cNvPr id="7" name="Text 5"/>
          <p:cNvSpPr/>
          <p:nvPr/>
        </p:nvSpPr>
        <p:spPr>
          <a:xfrm>
            <a:off x="960120" y="3657600"/>
            <a:ext cx="4846320" cy="45720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Early on, this made one of our results come out backwards.</a:t>
            </a:r>
            <a:endParaRPr lang="en-US" sz="1250" dirty="0"/>
          </a:p>
        </p:txBody>
      </p:sp>
      <p:sp>
        <p:nvSpPr>
          <p:cNvPr id="8" name="Shape 6"/>
          <p:cNvSpPr/>
          <p:nvPr/>
        </p:nvSpPr>
        <p:spPr>
          <a:xfrm>
            <a:off x="6217920" y="2011680"/>
            <a:ext cx="5349240" cy="2286000"/>
          </a:xfrm>
          <a:prstGeom prst="roundRect">
            <a:avLst>
              <a:gd name="adj" fmla="val 3200"/>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6492240" y="2212848"/>
            <a:ext cx="4572000" cy="320040"/>
          </a:xfrm>
          <a:prstGeom prst="rect">
            <a:avLst/>
          </a:prstGeom>
          <a:noFill/>
          <a:ln/>
        </p:spPr>
        <p:txBody>
          <a:bodyPr wrap="square" lIns="0" tIns="0" rIns="0" bIns="0" rtlCol="0" anchor="ctr"/>
          <a:lstStyle/>
          <a:p>
            <a:pPr indent="0" marL="0">
              <a:buNone/>
            </a:pPr>
            <a:r>
              <a:rPr lang="en-US" sz="1450" b="1" dirty="0">
                <a:solidFill>
                  <a:srgbClr val="15718F"/>
                </a:solidFill>
                <a:latin typeface="Calibri" pitchFamily="34" charset="0"/>
                <a:ea typeface="Calibri" pitchFamily="34" charset="-122"/>
                <a:cs typeface="Calibri" pitchFamily="34" charset="-120"/>
              </a:rPr>
              <a:t>The fix</a:t>
            </a:r>
            <a:endParaRPr lang="en-US" sz="1450" dirty="0"/>
          </a:p>
        </p:txBody>
      </p:sp>
      <p:sp>
        <p:nvSpPr>
          <p:cNvPr id="10" name="Text 8"/>
          <p:cNvSpPr/>
          <p:nvPr/>
        </p:nvSpPr>
        <p:spPr>
          <a:xfrm>
            <a:off x="6492240" y="2578608"/>
            <a:ext cx="4846320" cy="118872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The M-wave is in the same trace and reflects only the stimulus. It is a per-trial receipt for how much shock arrived. We remove its influence from everything.</a:t>
            </a:r>
            <a:endParaRPr lang="en-US" sz="1400" dirty="0"/>
          </a:p>
        </p:txBody>
      </p:sp>
      <p:sp>
        <p:nvSpPr>
          <p:cNvPr id="11" name="Shape 9"/>
          <p:cNvSpPr/>
          <p:nvPr/>
        </p:nvSpPr>
        <p:spPr>
          <a:xfrm>
            <a:off x="685800" y="4572000"/>
            <a:ext cx="10881360" cy="1051560"/>
          </a:xfrm>
          <a:prstGeom prst="roundRect">
            <a:avLst>
              <a:gd name="adj" fmla="val 6957"/>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2" name="Text 10"/>
          <p:cNvSpPr/>
          <p:nvPr/>
        </p:nvSpPr>
        <p:spPr>
          <a:xfrm>
            <a:off x="1005840" y="4754880"/>
            <a:ext cx="10241280" cy="731520"/>
          </a:xfrm>
          <a:prstGeom prst="rect">
            <a:avLst/>
          </a:prstGeom>
          <a:noFill/>
          <a:ln/>
        </p:spPr>
        <p:txBody>
          <a:bodyPr wrap="square" lIns="0" tIns="0" rIns="0" bIns="0" rtlCol="0" anchor="ctr"/>
          <a:lstStyle/>
          <a:p>
            <a:pPr indent="0" marL="0">
              <a:lnSpc>
                <a:spcPct val="106000"/>
              </a:lnSpc>
              <a:buNone/>
            </a:pPr>
            <a:r>
              <a:rPr lang="en-US" sz="1400" b="1" dirty="0">
                <a:solidFill>
                  <a:srgbClr val="15718F"/>
                </a:solidFill>
                <a:latin typeface="Calibri" pitchFamily="34" charset="0"/>
                <a:ea typeface="Calibri" pitchFamily="34" charset="-122"/>
                <a:cs typeface="Calibri" pitchFamily="34" charset="-120"/>
              </a:rPr>
              <a:t>Dr. Carp's addition:  </a:t>
            </a:r>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the reflex also depends on how active the muscle already was. We now measure the 20 ms before each shock and remove that too. Every number in this talk has both corrections applied.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3B6E43"/>
                </a:solidFill>
                <a:latin typeface="Calibri" pitchFamily="34" charset="0"/>
                <a:ea typeface="Calibri" pitchFamily="34" charset="-122"/>
                <a:cs typeface="Calibri" pitchFamily="34" charset="-120"/>
              </a:rPr>
              <a:t>RESULT 1 · BEHAVIOUR</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Conditioning works, in both directions</a:t>
            </a:r>
            <a:endParaRPr lang="en-US" sz="3100" dirty="0"/>
          </a:p>
        </p:txBody>
      </p:sp>
      <p:pic>
        <p:nvPicPr>
          <p:cNvPr id="4" name="Image 0" descr="/Users/suchithrao/Downloads/hroc-training/outputs/updown/updown_contrast.png">    </p:cNvPr>
          <p:cNvPicPr>
            <a:picLocks noChangeAspect="1"/>
          </p:cNvPicPr>
          <p:nvPr/>
        </p:nvPicPr>
        <p:blipFill>
          <a:blip r:embed="rId1"/>
          <a:srcRect l="0" r="0" t="0" b="0"/>
          <a:stretch/>
        </p:blipFill>
        <p:spPr>
          <a:xfrm>
            <a:off x="566928" y="1920240"/>
            <a:ext cx="6903720" cy="2655277"/>
          </a:xfrm>
          <a:prstGeom prst="rect">
            <a:avLst/>
          </a:prstGeom>
        </p:spPr>
      </p:pic>
      <p:sp>
        <p:nvSpPr>
          <p:cNvPr id="5" name="Shape 2"/>
          <p:cNvSpPr/>
          <p:nvPr/>
        </p:nvSpPr>
        <p:spPr>
          <a:xfrm>
            <a:off x="7680960" y="2057400"/>
            <a:ext cx="3886200" cy="3566160"/>
          </a:xfrm>
          <a:prstGeom prst="roundRect">
            <a:avLst>
              <a:gd name="adj" fmla="val 2051"/>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Shape 3"/>
          <p:cNvSpPr/>
          <p:nvPr/>
        </p:nvSpPr>
        <p:spPr>
          <a:xfrm>
            <a:off x="7955280" y="2286000"/>
            <a:ext cx="2194560" cy="384048"/>
          </a:xfrm>
          <a:prstGeom prst="roundRect">
            <a:avLst>
              <a:gd name="adj" fmla="val 19048"/>
            </a:avLst>
          </a:prstGeom>
          <a:solidFill>
            <a:srgbClr val="3B6E43"/>
          </a:solidFill>
          <a:ln/>
        </p:spPr>
      </p:sp>
      <p:sp>
        <p:nvSpPr>
          <p:cNvPr id="7" name="Text 4"/>
          <p:cNvSpPr/>
          <p:nvPr/>
        </p:nvSpPr>
        <p:spPr>
          <a:xfrm>
            <a:off x="7955280" y="2286000"/>
            <a:ext cx="2194560" cy="384048"/>
          </a:xfrm>
          <a:prstGeom prst="rect">
            <a:avLst/>
          </a:prstGeom>
          <a:noFill/>
          <a:ln/>
        </p:spPr>
        <p:txBody>
          <a:bodyPr wrap="square" lIns="0" tIns="0" rIns="0" bIns="0" rtlCol="0" anchor="ctr"/>
          <a:lstStyle/>
          <a:p>
            <a:pPr algn="ctr" indent="0" marL="0">
              <a:buNone/>
            </a:pPr>
            <a:r>
              <a:rPr lang="en-US" sz="1150" b="1" spc="80" kern="0" dirty="0">
                <a:solidFill>
                  <a:srgbClr val="FFFFFF"/>
                </a:solidFill>
                <a:latin typeface="Calibri" pitchFamily="34" charset="0"/>
                <a:ea typeface="Calibri" pitchFamily="34" charset="-122"/>
                <a:cs typeface="Calibri" pitchFamily="34" charset="-120"/>
              </a:rPr>
              <a:t>POSITIVE CONTROL</a:t>
            </a:r>
            <a:endParaRPr lang="en-US" sz="1150" dirty="0"/>
          </a:p>
        </p:txBody>
      </p:sp>
      <p:sp>
        <p:nvSpPr>
          <p:cNvPr id="8" name="Text 5"/>
          <p:cNvSpPr/>
          <p:nvPr/>
        </p:nvSpPr>
        <p:spPr>
          <a:xfrm>
            <a:off x="7955280" y="2880360"/>
            <a:ext cx="3383280" cy="1005840"/>
          </a:xfrm>
          <a:prstGeom prst="rect">
            <a:avLst/>
          </a:prstGeom>
          <a:noFill/>
          <a:ln/>
        </p:spPr>
        <p:txBody>
          <a:bodyPr wrap="square" lIns="0" tIns="0" rIns="0" bIns="0" rtlCol="0" anchor="ctr"/>
          <a:lstStyle/>
          <a:p>
            <a:pPr indent="0" marL="0">
              <a:lnSpc>
                <a:spcPct val="106000"/>
              </a:lnSpc>
              <a:buNone/>
            </a:pPr>
            <a:r>
              <a:rPr lang="en-US" sz="1350" dirty="0">
                <a:solidFill>
                  <a:srgbClr val="14212E"/>
                </a:solidFill>
                <a:latin typeface="Calibri" pitchFamily="34" charset="0"/>
                <a:ea typeface="Calibri" pitchFamily="34" charset="-122"/>
                <a:cs typeface="Calibri" pitchFamily="34" charset="-120"/>
              </a:rPr>
              <a:t>Each animal is lined up to its own training start day. Up-trained animals (red) rise; down-trained (blue) fall.</a:t>
            </a:r>
            <a:endParaRPr lang="en-US" sz="1350" dirty="0"/>
          </a:p>
        </p:txBody>
      </p:sp>
      <p:sp>
        <p:nvSpPr>
          <p:cNvPr id="9" name="Text 6"/>
          <p:cNvSpPr/>
          <p:nvPr/>
        </p:nvSpPr>
        <p:spPr>
          <a:xfrm>
            <a:off x="7955280" y="3977640"/>
            <a:ext cx="3383280" cy="731520"/>
          </a:xfrm>
          <a:prstGeom prst="rect">
            <a:avLst/>
          </a:prstGeom>
          <a:noFill/>
          <a:ln/>
        </p:spPr>
        <p:txBody>
          <a:bodyPr wrap="square" lIns="0" tIns="0" rIns="0" bIns="0" rtlCol="0" anchor="ctr"/>
          <a:lstStyle/>
          <a:p>
            <a:pPr indent="0" marL="0">
              <a:lnSpc>
                <a:spcPct val="106000"/>
              </a:lnSpc>
              <a:buNone/>
            </a:pPr>
            <a:r>
              <a:rPr lang="en-US" sz="1350" b="1" dirty="0">
                <a:solidFill>
                  <a:srgbClr val="14212E"/>
                </a:solidFill>
                <a:latin typeface="Calibri" pitchFamily="34" charset="0"/>
                <a:ea typeface="Calibri" pitchFamily="34" charset="-122"/>
                <a:cs typeface="Calibri" pitchFamily="34" charset="-120"/>
              </a:rPr>
              <a:t>Three of five clear the 20% criterion in the trained direction.</a:t>
            </a:r>
            <a:endParaRPr lang="en-US" sz="1350" dirty="0"/>
          </a:p>
        </p:txBody>
      </p:sp>
      <p:sp>
        <p:nvSpPr>
          <p:cNvPr id="10" name="Text 7"/>
          <p:cNvSpPr/>
          <p:nvPr/>
        </p:nvSpPr>
        <p:spPr>
          <a:xfrm>
            <a:off x="7955280" y="4800600"/>
            <a:ext cx="3383280" cy="640080"/>
          </a:xfrm>
          <a:prstGeom prst="rect">
            <a:avLst/>
          </a:prstGeom>
          <a:noFill/>
          <a:ln/>
        </p:spPr>
        <p:txBody>
          <a:bodyPr wrap="square" lIns="0" tIns="0" rIns="0" bIns="0" rtlCol="0" anchor="ctr"/>
          <a:lstStyle/>
          <a:p>
            <a:pPr indent="0" marL="0">
              <a:lnSpc>
                <a:spcPct val="105000"/>
              </a:lnSpc>
              <a:buNone/>
            </a:pPr>
            <a:r>
              <a:rPr lang="en-US" sz="1200" i="1" dirty="0">
                <a:solidFill>
                  <a:srgbClr val="5A6B7B"/>
                </a:solidFill>
                <a:latin typeface="Calibri" pitchFamily="34" charset="0"/>
                <a:ea typeface="Calibri" pitchFamily="34" charset="-122"/>
                <a:cs typeface="Calibri" pitchFamily="34" charset="-120"/>
              </a:rPr>
              <a:t>The two that don't become a built-in control later.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B4671A"/>
                </a:solidFill>
                <a:latin typeface="Calibri" pitchFamily="34" charset="0"/>
                <a:ea typeface="Calibri" pitchFamily="34" charset="-122"/>
                <a:cs typeface="Calibri" pitchFamily="34" charset="-120"/>
              </a:rPr>
              <a:t>THE HARD PART</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Two things change slowly over weeks</a:t>
            </a:r>
            <a:endParaRPr lang="en-US" sz="3100" dirty="0"/>
          </a:p>
        </p:txBody>
      </p:sp>
      <p:sp>
        <p:nvSpPr>
          <p:cNvPr id="4" name="Text 2"/>
          <p:cNvSpPr/>
          <p:nvPr/>
        </p:nvSpPr>
        <p:spPr>
          <a:xfrm>
            <a:off x="685800" y="1572768"/>
            <a:ext cx="10881360" cy="548640"/>
          </a:xfrm>
          <a:prstGeom prst="rect">
            <a:avLst/>
          </a:prstGeom>
          <a:noFill/>
          <a:ln/>
        </p:spPr>
        <p:txBody>
          <a:bodyPr wrap="square" lIns="0" tIns="0" rIns="0" bIns="0" rtlCol="0" anchor="ctr"/>
          <a:lstStyle/>
          <a:p>
            <a:pPr indent="0" marL="0">
              <a:lnSpc>
                <a:spcPct val="106000"/>
              </a:lnSpc>
              <a:buNone/>
            </a:pPr>
            <a:r>
              <a:rPr lang="en-US" sz="1550" dirty="0">
                <a:solidFill>
                  <a:srgbClr val="5A6B7B"/>
                </a:solidFill>
                <a:latin typeface="Calibri" pitchFamily="34" charset="0"/>
                <a:ea typeface="Calibri" pitchFamily="34" charset="-122"/>
                <a:cs typeface="Calibri" pitchFamily="34" charset="-120"/>
              </a:rPr>
              <a:t>This is the central difficulty, and it took us a while to see it clearly.</a:t>
            </a:r>
            <a:endParaRPr lang="en-US" sz="1550" dirty="0"/>
          </a:p>
        </p:txBody>
      </p:sp>
      <p:sp>
        <p:nvSpPr>
          <p:cNvPr id="5" name="Shape 3"/>
          <p:cNvSpPr/>
          <p:nvPr/>
        </p:nvSpPr>
        <p:spPr>
          <a:xfrm>
            <a:off x="685800" y="2286000"/>
            <a:ext cx="5349240" cy="2103120"/>
          </a:xfrm>
          <a:prstGeom prst="roundRect">
            <a:avLst>
              <a:gd name="adj" fmla="val 3478"/>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4"/>
          <p:cNvSpPr/>
          <p:nvPr/>
        </p:nvSpPr>
        <p:spPr>
          <a:xfrm>
            <a:off x="960120" y="2514600"/>
            <a:ext cx="4572000" cy="365760"/>
          </a:xfrm>
          <a:prstGeom prst="rect">
            <a:avLst/>
          </a:prstGeom>
          <a:noFill/>
          <a:ln/>
        </p:spPr>
        <p:txBody>
          <a:bodyPr wrap="square" lIns="0" tIns="0" rIns="0" bIns="0" rtlCol="0" anchor="ctr"/>
          <a:lstStyle/>
          <a:p>
            <a:pPr indent="0" marL="0">
              <a:buNone/>
            </a:pPr>
            <a:r>
              <a:rPr lang="en-US" sz="2100" b="1" dirty="0">
                <a:solidFill>
                  <a:srgbClr val="15718F"/>
                </a:solidFill>
                <a:latin typeface="Cambria" pitchFamily="34" charset="0"/>
                <a:ea typeface="Cambria" pitchFamily="34" charset="-122"/>
                <a:cs typeface="Cambria" pitchFamily="34" charset="-120"/>
              </a:rPr>
              <a:t>Learning</a:t>
            </a:r>
            <a:endParaRPr lang="en-US" sz="2100" dirty="0"/>
          </a:p>
        </p:txBody>
      </p:sp>
      <p:sp>
        <p:nvSpPr>
          <p:cNvPr id="7" name="Text 5"/>
          <p:cNvSpPr/>
          <p:nvPr/>
        </p:nvSpPr>
        <p:spPr>
          <a:xfrm>
            <a:off x="960120" y="2971800"/>
            <a:ext cx="4846320" cy="91440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The animal's reflex shifts gradually across weeks of training.</a:t>
            </a:r>
            <a:endParaRPr lang="en-US" sz="1400" dirty="0"/>
          </a:p>
        </p:txBody>
      </p:sp>
      <p:sp>
        <p:nvSpPr>
          <p:cNvPr id="8" name="Shape 6"/>
          <p:cNvSpPr/>
          <p:nvPr/>
        </p:nvSpPr>
        <p:spPr>
          <a:xfrm>
            <a:off x="6217920" y="2286000"/>
            <a:ext cx="5349240" cy="2103120"/>
          </a:xfrm>
          <a:prstGeom prst="roundRect">
            <a:avLst>
              <a:gd name="adj" fmla="val 3478"/>
            </a:avLst>
          </a:prstGeom>
          <a:solidFill>
            <a:srgbClr val="FBF3EA"/>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6492240" y="2514600"/>
            <a:ext cx="4572000" cy="365760"/>
          </a:xfrm>
          <a:prstGeom prst="rect">
            <a:avLst/>
          </a:prstGeom>
          <a:noFill/>
          <a:ln/>
        </p:spPr>
        <p:txBody>
          <a:bodyPr wrap="square" lIns="0" tIns="0" rIns="0" bIns="0" rtlCol="0" anchor="ctr"/>
          <a:lstStyle/>
          <a:p>
            <a:pPr indent="0" marL="0">
              <a:buNone/>
            </a:pPr>
            <a:r>
              <a:rPr lang="en-US" sz="2100" b="1" dirty="0">
                <a:solidFill>
                  <a:srgbClr val="B4671A"/>
                </a:solidFill>
                <a:latin typeface="Cambria" pitchFamily="34" charset="0"/>
                <a:ea typeface="Cambria" pitchFamily="34" charset="-122"/>
                <a:cs typeface="Cambria" pitchFamily="34" charset="-120"/>
              </a:rPr>
              <a:t>Electrode drift</a:t>
            </a:r>
            <a:endParaRPr lang="en-US" sz="2100" dirty="0"/>
          </a:p>
        </p:txBody>
      </p:sp>
      <p:sp>
        <p:nvSpPr>
          <p:cNvPr id="10" name="Text 8"/>
          <p:cNvSpPr/>
          <p:nvPr/>
        </p:nvSpPr>
        <p:spPr>
          <a:xfrm>
            <a:off x="6492240" y="2971800"/>
            <a:ext cx="4846320" cy="91440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A chronically implanted electrode also changes gradually across the same weeks.</a:t>
            </a:r>
            <a:endParaRPr lang="en-US" sz="1400" dirty="0"/>
          </a:p>
        </p:txBody>
      </p:sp>
      <p:sp>
        <p:nvSpPr>
          <p:cNvPr id="11" name="Shape 9"/>
          <p:cNvSpPr/>
          <p:nvPr/>
        </p:nvSpPr>
        <p:spPr>
          <a:xfrm>
            <a:off x="685800" y="4663440"/>
            <a:ext cx="10881360" cy="1371600"/>
          </a:xfrm>
          <a:prstGeom prst="roundRect">
            <a:avLst>
              <a:gd name="adj" fmla="val 5333"/>
            </a:avLst>
          </a:prstGeom>
          <a:solidFill>
            <a:srgbClr val="0C1620"/>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2" name="Text 10"/>
          <p:cNvSpPr/>
          <p:nvPr/>
        </p:nvSpPr>
        <p:spPr>
          <a:xfrm>
            <a:off x="1051560" y="4892040"/>
            <a:ext cx="10149840" cy="457200"/>
          </a:xfrm>
          <a:prstGeom prst="rect">
            <a:avLst/>
          </a:prstGeom>
          <a:noFill/>
          <a:ln/>
        </p:spPr>
        <p:txBody>
          <a:bodyPr wrap="square" lIns="0" tIns="0" rIns="0" bIns="0"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Inside one animal, both are smooth functions of time — so no amount of analysis can tell them apart.</a:t>
            </a:r>
            <a:endParaRPr lang="en-US" sz="1900" dirty="0"/>
          </a:p>
        </p:txBody>
      </p:sp>
      <p:sp>
        <p:nvSpPr>
          <p:cNvPr id="13" name="Text 11"/>
          <p:cNvSpPr/>
          <p:nvPr/>
        </p:nvSpPr>
        <p:spPr>
          <a:xfrm>
            <a:off x="1051560" y="5394960"/>
            <a:ext cx="10149840" cy="411480"/>
          </a:xfrm>
          <a:prstGeom prst="rect">
            <a:avLst/>
          </a:prstGeom>
          <a:noFill/>
          <a:ln/>
        </p:spPr>
        <p:txBody>
          <a:bodyPr wrap="square" lIns="0" tIns="0" rIns="0" bIns="0" rtlCol="0" anchor="ctr"/>
          <a:lstStyle/>
          <a:p>
            <a:pPr indent="0" marL="0">
              <a:buNone/>
            </a:pPr>
            <a:r>
              <a:rPr lang="en-US" sz="1350" dirty="0">
                <a:solidFill>
                  <a:srgbClr val="AFC0CC"/>
                </a:solidFill>
                <a:latin typeface="Calibri" pitchFamily="34" charset="0"/>
                <a:ea typeface="Calibri" pitchFamily="34" charset="-122"/>
                <a:cs typeface="Calibri" pitchFamily="34" charset="-120"/>
              </a:rPr>
              <a:t>That is a limitation of the study design, not of the data. It shaped everything we did next.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A44430"/>
                </a:solidFill>
                <a:latin typeface="Calibri" pitchFamily="34" charset="0"/>
                <a:ea typeface="Calibri" pitchFamily="34" charset="-122"/>
                <a:cs typeface="Calibri" pitchFamily="34" charset="-120"/>
              </a:rPr>
              <a:t>RESULT 2 · A NEGATIVE RESULT</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Our first approach did not survive its controls</a:t>
            </a:r>
            <a:endParaRPr lang="en-US" sz="3100" dirty="0"/>
          </a:p>
        </p:txBody>
      </p:sp>
      <p:sp>
        <p:nvSpPr>
          <p:cNvPr id="4" name="Text 2"/>
          <p:cNvSpPr/>
          <p:nvPr/>
        </p:nvSpPr>
        <p:spPr>
          <a:xfrm>
            <a:off x="685800" y="1572768"/>
            <a:ext cx="10881360" cy="548640"/>
          </a:xfrm>
          <a:prstGeom prst="rect">
            <a:avLst/>
          </a:prstGeom>
          <a:noFill/>
          <a:ln/>
        </p:spPr>
        <p:txBody>
          <a:bodyPr wrap="square" lIns="0" tIns="0" rIns="0" bIns="0" rtlCol="0" anchor="ctr"/>
          <a:lstStyle/>
          <a:p>
            <a:pPr indent="0" marL="0">
              <a:lnSpc>
                <a:spcPct val="106000"/>
              </a:lnSpc>
              <a:buNone/>
            </a:pPr>
            <a:r>
              <a:rPr lang="en-US" sz="1550" dirty="0">
                <a:solidFill>
                  <a:srgbClr val="5A6B7B"/>
                </a:solidFill>
                <a:latin typeface="Calibri" pitchFamily="34" charset="0"/>
                <a:ea typeface="Calibri" pitchFamily="34" charset="-122"/>
                <a:cs typeface="Calibri" pitchFamily="34" charset="-120"/>
              </a:rPr>
              <a:t>We measured how far the average brain state moved across training. It moves — but three tests say the movement is the recording, not the animal.</a:t>
            </a:r>
            <a:endParaRPr lang="en-US" sz="1550" dirty="0"/>
          </a:p>
        </p:txBody>
      </p:sp>
      <p:sp>
        <p:nvSpPr>
          <p:cNvPr id="5" name="Shape 3"/>
          <p:cNvSpPr/>
          <p:nvPr/>
        </p:nvSpPr>
        <p:spPr>
          <a:xfrm>
            <a:off x="685800" y="2606040"/>
            <a:ext cx="10881360" cy="1024128"/>
          </a:xfrm>
          <a:prstGeom prst="roundRect">
            <a:avLst>
              <a:gd name="adj" fmla="val 7143"/>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4"/>
          <p:cNvSpPr/>
          <p:nvPr/>
        </p:nvSpPr>
        <p:spPr>
          <a:xfrm>
            <a:off x="1005840" y="2734056"/>
            <a:ext cx="3931920" cy="777240"/>
          </a:xfrm>
          <a:prstGeom prst="rect">
            <a:avLst/>
          </a:prstGeom>
          <a:noFill/>
          <a:ln/>
        </p:spPr>
        <p:txBody>
          <a:bodyPr wrap="square" lIns="0" tIns="0" rIns="0" bIns="0" rtlCol="0" anchor="ctr"/>
          <a:lstStyle/>
          <a:p>
            <a:pPr indent="0" marL="0">
              <a:lnSpc>
                <a:spcPct val="105000"/>
              </a:lnSpc>
              <a:buNone/>
            </a:pPr>
            <a:r>
              <a:rPr lang="en-US" sz="1350" b="1" dirty="0">
                <a:solidFill>
                  <a:srgbClr val="14212E"/>
                </a:solidFill>
                <a:latin typeface="Calibri" pitchFamily="34" charset="0"/>
                <a:ea typeface="Calibri" pitchFamily="34" charset="-122"/>
                <a:cs typeface="Calibri" pitchFamily="34" charset="-120"/>
              </a:rPr>
              <a:t>Take baseline-only data and pretend half of it was training</a:t>
            </a:r>
            <a:endParaRPr lang="en-US" sz="1350" dirty="0"/>
          </a:p>
        </p:txBody>
      </p:sp>
      <p:sp>
        <p:nvSpPr>
          <p:cNvPr id="7" name="Text 5"/>
          <p:cNvSpPr/>
          <p:nvPr/>
        </p:nvSpPr>
        <p:spPr>
          <a:xfrm>
            <a:off x="5120640" y="2734056"/>
            <a:ext cx="3200400" cy="777240"/>
          </a:xfrm>
          <a:prstGeom prst="rect">
            <a:avLst/>
          </a:prstGeom>
          <a:noFill/>
          <a:ln/>
        </p:spPr>
        <p:txBody>
          <a:bodyPr wrap="square" lIns="0" tIns="0" rIns="0" bIns="0" rtlCol="0" anchor="ctr"/>
          <a:lstStyle/>
          <a:p>
            <a:pPr indent="0" marL="0">
              <a:lnSpc>
                <a:spcPct val="105000"/>
              </a:lnSpc>
              <a:buNone/>
            </a:pPr>
            <a:r>
              <a:rPr lang="en-US" sz="1200" dirty="0">
                <a:solidFill>
                  <a:srgbClr val="5A6B7B"/>
                </a:solidFill>
                <a:latin typeface="Calibri" pitchFamily="34" charset="0"/>
                <a:ea typeface="Calibri" pitchFamily="34" charset="-122"/>
                <a:cs typeface="Calibri" pitchFamily="34" charset="-120"/>
              </a:rPr>
              <a:t>Nothing happened, so it should show no movement</a:t>
            </a:r>
            <a:endParaRPr lang="en-US" sz="1200" dirty="0"/>
          </a:p>
        </p:txBody>
      </p:sp>
      <p:sp>
        <p:nvSpPr>
          <p:cNvPr id="8" name="Text 6"/>
          <p:cNvSpPr/>
          <p:nvPr/>
        </p:nvSpPr>
        <p:spPr>
          <a:xfrm>
            <a:off x="8503920" y="2734056"/>
            <a:ext cx="2834640" cy="777240"/>
          </a:xfrm>
          <a:prstGeom prst="rect">
            <a:avLst/>
          </a:prstGeom>
          <a:noFill/>
          <a:ln/>
        </p:spPr>
        <p:txBody>
          <a:bodyPr wrap="square" lIns="0" tIns="0" rIns="0" bIns="0" rtlCol="0" anchor="ctr"/>
          <a:lstStyle/>
          <a:p>
            <a:pPr indent="0" marL="0">
              <a:lnSpc>
                <a:spcPct val="105000"/>
              </a:lnSpc>
              <a:buNone/>
            </a:pPr>
            <a:r>
              <a:rPr lang="en-US" sz="1250" b="1" dirty="0">
                <a:solidFill>
                  <a:srgbClr val="A44430"/>
                </a:solidFill>
                <a:latin typeface="Calibri" pitchFamily="34" charset="0"/>
                <a:ea typeface="Calibri" pitchFamily="34" charset="-122"/>
                <a:cs typeface="Calibri" pitchFamily="34" charset="-120"/>
              </a:rPr>
              <a:t>It moves just as much — 5 of 6 animals</a:t>
            </a:r>
            <a:endParaRPr lang="en-US" sz="1250" dirty="0"/>
          </a:p>
        </p:txBody>
      </p:sp>
      <p:sp>
        <p:nvSpPr>
          <p:cNvPr id="9" name="Shape 7"/>
          <p:cNvSpPr/>
          <p:nvPr/>
        </p:nvSpPr>
        <p:spPr>
          <a:xfrm>
            <a:off x="685800" y="3739896"/>
            <a:ext cx="10881360" cy="1024128"/>
          </a:xfrm>
          <a:prstGeom prst="roundRect">
            <a:avLst>
              <a:gd name="adj" fmla="val 7143"/>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0" name="Text 8"/>
          <p:cNvSpPr/>
          <p:nvPr/>
        </p:nvSpPr>
        <p:spPr>
          <a:xfrm>
            <a:off x="1005840" y="3867912"/>
            <a:ext cx="3931920" cy="777240"/>
          </a:xfrm>
          <a:prstGeom prst="rect">
            <a:avLst/>
          </a:prstGeom>
          <a:noFill/>
          <a:ln/>
        </p:spPr>
        <p:txBody>
          <a:bodyPr wrap="square" lIns="0" tIns="0" rIns="0" bIns="0" rtlCol="0" anchor="ctr"/>
          <a:lstStyle/>
          <a:p>
            <a:pPr indent="0" marL="0">
              <a:lnSpc>
                <a:spcPct val="105000"/>
              </a:lnSpc>
              <a:buNone/>
            </a:pPr>
            <a:r>
              <a:rPr lang="en-US" sz="1350" b="1" dirty="0">
                <a:solidFill>
                  <a:srgbClr val="14212E"/>
                </a:solidFill>
                <a:latin typeface="Calibri" pitchFamily="34" charset="0"/>
                <a:ea typeface="Calibri" pitchFamily="34" charset="-122"/>
                <a:cs typeface="Calibri" pitchFamily="34" charset="-120"/>
              </a:rPr>
              <a:t>Shuffle which trial belongs to which day</a:t>
            </a:r>
            <a:endParaRPr lang="en-US" sz="1350" dirty="0"/>
          </a:p>
        </p:txBody>
      </p:sp>
      <p:sp>
        <p:nvSpPr>
          <p:cNvPr id="11" name="Text 9"/>
          <p:cNvSpPr/>
          <p:nvPr/>
        </p:nvSpPr>
        <p:spPr>
          <a:xfrm>
            <a:off x="5120640" y="3867912"/>
            <a:ext cx="3200400" cy="777240"/>
          </a:xfrm>
          <a:prstGeom prst="rect">
            <a:avLst/>
          </a:prstGeom>
          <a:noFill/>
          <a:ln/>
        </p:spPr>
        <p:txBody>
          <a:bodyPr wrap="square" lIns="0" tIns="0" rIns="0" bIns="0" rtlCol="0" anchor="ctr"/>
          <a:lstStyle/>
          <a:p>
            <a:pPr indent="0" marL="0">
              <a:lnSpc>
                <a:spcPct val="105000"/>
              </a:lnSpc>
              <a:buNone/>
            </a:pPr>
            <a:r>
              <a:rPr lang="en-US" sz="1200" dirty="0">
                <a:solidFill>
                  <a:srgbClr val="5A6B7B"/>
                </a:solidFill>
                <a:latin typeface="Calibri" pitchFamily="34" charset="0"/>
                <a:ea typeface="Calibri" pitchFamily="34" charset="-122"/>
                <a:cs typeface="Calibri" pitchFamily="34" charset="-120"/>
              </a:rPr>
              <a:t>Keeps the numbers, destroys the timeline</a:t>
            </a:r>
            <a:endParaRPr lang="en-US" sz="1200" dirty="0"/>
          </a:p>
        </p:txBody>
      </p:sp>
      <p:sp>
        <p:nvSpPr>
          <p:cNvPr id="12" name="Text 10"/>
          <p:cNvSpPr/>
          <p:nvPr/>
        </p:nvSpPr>
        <p:spPr>
          <a:xfrm>
            <a:off x="8503920" y="3867912"/>
            <a:ext cx="2834640" cy="777240"/>
          </a:xfrm>
          <a:prstGeom prst="rect">
            <a:avLst/>
          </a:prstGeom>
          <a:noFill/>
          <a:ln/>
        </p:spPr>
        <p:txBody>
          <a:bodyPr wrap="square" lIns="0" tIns="0" rIns="0" bIns="0" rtlCol="0" anchor="ctr"/>
          <a:lstStyle/>
          <a:p>
            <a:pPr indent="0" marL="0">
              <a:lnSpc>
                <a:spcPct val="105000"/>
              </a:lnSpc>
              <a:buNone/>
            </a:pPr>
            <a:r>
              <a:rPr lang="en-US" sz="1250" b="1" dirty="0">
                <a:solidFill>
                  <a:srgbClr val="3B6E43"/>
                </a:solidFill>
                <a:latin typeface="Calibri" pitchFamily="34" charset="0"/>
                <a:ea typeface="Calibri" pitchFamily="34" charset="-122"/>
                <a:cs typeface="Calibri" pitchFamily="34" charset="-120"/>
              </a:rPr>
              <a:t>No movement — so the measure itself is sound</a:t>
            </a:r>
            <a:endParaRPr lang="en-US" sz="1250" dirty="0"/>
          </a:p>
        </p:txBody>
      </p:sp>
      <p:sp>
        <p:nvSpPr>
          <p:cNvPr id="13" name="Shape 11"/>
          <p:cNvSpPr/>
          <p:nvPr/>
        </p:nvSpPr>
        <p:spPr>
          <a:xfrm>
            <a:off x="685800" y="4873752"/>
            <a:ext cx="10881360" cy="1024128"/>
          </a:xfrm>
          <a:prstGeom prst="roundRect">
            <a:avLst>
              <a:gd name="adj" fmla="val 7143"/>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05840" y="5001768"/>
            <a:ext cx="3931920" cy="777240"/>
          </a:xfrm>
          <a:prstGeom prst="rect">
            <a:avLst/>
          </a:prstGeom>
          <a:noFill/>
          <a:ln/>
        </p:spPr>
        <p:txBody>
          <a:bodyPr wrap="square" lIns="0" tIns="0" rIns="0" bIns="0" rtlCol="0" anchor="ctr"/>
          <a:lstStyle/>
          <a:p>
            <a:pPr indent="0" marL="0">
              <a:lnSpc>
                <a:spcPct val="105000"/>
              </a:lnSpc>
              <a:buNone/>
            </a:pPr>
            <a:r>
              <a:rPr lang="en-US" sz="1350" b="1" dirty="0">
                <a:solidFill>
                  <a:srgbClr val="14212E"/>
                </a:solidFill>
                <a:latin typeface="Calibri" pitchFamily="34" charset="0"/>
                <a:ea typeface="Calibri" pitchFamily="34" charset="-122"/>
                <a:cs typeface="Calibri" pitchFamily="34" charset="-120"/>
              </a:rPr>
              <a:t>Compare animals trained up against trained down</a:t>
            </a:r>
            <a:endParaRPr lang="en-US" sz="1350" dirty="0"/>
          </a:p>
        </p:txBody>
      </p:sp>
      <p:sp>
        <p:nvSpPr>
          <p:cNvPr id="15" name="Text 13"/>
          <p:cNvSpPr/>
          <p:nvPr/>
        </p:nvSpPr>
        <p:spPr>
          <a:xfrm>
            <a:off x="5120640" y="5001768"/>
            <a:ext cx="3200400" cy="777240"/>
          </a:xfrm>
          <a:prstGeom prst="rect">
            <a:avLst/>
          </a:prstGeom>
          <a:noFill/>
          <a:ln/>
        </p:spPr>
        <p:txBody>
          <a:bodyPr wrap="square" lIns="0" tIns="0" rIns="0" bIns="0" rtlCol="0" anchor="ctr"/>
          <a:lstStyle/>
          <a:p>
            <a:pPr indent="0" marL="0">
              <a:lnSpc>
                <a:spcPct val="105000"/>
              </a:lnSpc>
              <a:buNone/>
            </a:pPr>
            <a:r>
              <a:rPr lang="en-US" sz="1200" dirty="0">
                <a:solidFill>
                  <a:srgbClr val="5A6B7B"/>
                </a:solidFill>
                <a:latin typeface="Calibri" pitchFamily="34" charset="0"/>
                <a:ea typeface="Calibri" pitchFamily="34" charset="-122"/>
                <a:cs typeface="Calibri" pitchFamily="34" charset="-120"/>
              </a:rPr>
              <a:t>Electrode drift doesn't care which way you trained</a:t>
            </a:r>
            <a:endParaRPr lang="en-US" sz="1200" dirty="0"/>
          </a:p>
        </p:txBody>
      </p:sp>
      <p:sp>
        <p:nvSpPr>
          <p:cNvPr id="16" name="Text 14"/>
          <p:cNvSpPr/>
          <p:nvPr/>
        </p:nvSpPr>
        <p:spPr>
          <a:xfrm>
            <a:off x="8503920" y="5001768"/>
            <a:ext cx="2834640" cy="777240"/>
          </a:xfrm>
          <a:prstGeom prst="rect">
            <a:avLst/>
          </a:prstGeom>
          <a:noFill/>
          <a:ln/>
        </p:spPr>
        <p:txBody>
          <a:bodyPr wrap="square" lIns="0" tIns="0" rIns="0" bIns="0" rtlCol="0" anchor="ctr"/>
          <a:lstStyle/>
          <a:p>
            <a:pPr indent="0" marL="0">
              <a:lnSpc>
                <a:spcPct val="105000"/>
              </a:lnSpc>
              <a:buNone/>
            </a:pPr>
            <a:r>
              <a:rPr lang="en-US" sz="1250" b="1" dirty="0">
                <a:solidFill>
                  <a:srgbClr val="A44430"/>
                </a:solidFill>
                <a:latin typeface="Calibri" pitchFamily="34" charset="0"/>
                <a:ea typeface="Calibri" pitchFamily="34" charset="-122"/>
                <a:cs typeface="Calibri" pitchFamily="34" charset="-120"/>
              </a:rPr>
              <a:t>No difference between the groups</a:t>
            </a:r>
            <a:endParaRPr lang="en-US" sz="1250" dirty="0"/>
          </a:p>
        </p:txBody>
      </p:sp>
      <p:sp>
        <p:nvSpPr>
          <p:cNvPr id="17" name="Text 15"/>
          <p:cNvSpPr/>
          <p:nvPr/>
        </p:nvSpPr>
        <p:spPr>
          <a:xfrm>
            <a:off x="704088" y="6172200"/>
            <a:ext cx="10881360" cy="32004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Two of these three were Dr. Carp's suggestions. They changed our conclusion.</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THE IDEA</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Ask a question drift cannot fake</a:t>
            </a:r>
            <a:endParaRPr lang="en-US" sz="3100" dirty="0"/>
          </a:p>
        </p:txBody>
      </p:sp>
      <p:sp>
        <p:nvSpPr>
          <p:cNvPr id="4" name="Shape 2"/>
          <p:cNvSpPr/>
          <p:nvPr/>
        </p:nvSpPr>
        <p:spPr>
          <a:xfrm>
            <a:off x="685800" y="1965960"/>
            <a:ext cx="5349240" cy="1600200"/>
          </a:xfrm>
          <a:prstGeom prst="roundRect">
            <a:avLst>
              <a:gd name="adj" fmla="val 4571"/>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960120" y="2148840"/>
            <a:ext cx="4572000" cy="274320"/>
          </a:xfrm>
          <a:prstGeom prst="rect">
            <a:avLst/>
          </a:prstGeom>
          <a:noFill/>
          <a:ln/>
        </p:spPr>
        <p:txBody>
          <a:bodyPr wrap="square" lIns="0" tIns="0" rIns="0" bIns="0" rtlCol="0" anchor="ctr"/>
          <a:lstStyle/>
          <a:p>
            <a:pPr indent="0" marL="0">
              <a:buNone/>
            </a:pPr>
            <a:r>
              <a:rPr lang="en-US" sz="1250" b="1" dirty="0">
                <a:solidFill>
                  <a:srgbClr val="9AA8B4"/>
                </a:solidFill>
                <a:latin typeface="Calibri" pitchFamily="34" charset="0"/>
                <a:ea typeface="Calibri" pitchFamily="34" charset="-122"/>
                <a:cs typeface="Calibri" pitchFamily="34" charset="-120"/>
              </a:rPr>
              <a:t>Instead of</a:t>
            </a:r>
            <a:endParaRPr lang="en-US" sz="1250" dirty="0"/>
          </a:p>
        </p:txBody>
      </p:sp>
      <p:sp>
        <p:nvSpPr>
          <p:cNvPr id="6" name="Text 4"/>
          <p:cNvSpPr/>
          <p:nvPr/>
        </p:nvSpPr>
        <p:spPr>
          <a:xfrm>
            <a:off x="960120" y="2468880"/>
            <a:ext cx="4846320" cy="868680"/>
          </a:xfrm>
          <a:prstGeom prst="rect">
            <a:avLst/>
          </a:prstGeom>
          <a:noFill/>
          <a:ln/>
        </p:spPr>
        <p:txBody>
          <a:bodyPr wrap="square" lIns="0" tIns="0" rIns="0" bIns="0" rtlCol="0" anchor="ctr"/>
          <a:lstStyle/>
          <a:p>
            <a:pPr indent="0" marL="0">
              <a:lnSpc>
                <a:spcPct val="105000"/>
              </a:lnSpc>
              <a:buNone/>
            </a:pPr>
            <a:r>
              <a:rPr lang="en-US" sz="1700" i="1" dirty="0">
                <a:solidFill>
                  <a:srgbClr val="5A6B7B"/>
                </a:solidFill>
                <a:latin typeface="Cambria" pitchFamily="34" charset="0"/>
                <a:ea typeface="Cambria" pitchFamily="34" charset="-122"/>
                <a:cs typeface="Cambria" pitchFamily="34" charset="-120"/>
              </a:rPr>
              <a:t>“Did the average brain state move over weeks?”</a:t>
            </a:r>
            <a:endParaRPr lang="en-US" sz="1700" dirty="0"/>
          </a:p>
        </p:txBody>
      </p:sp>
      <p:sp>
        <p:nvSpPr>
          <p:cNvPr id="7" name="Shape 5"/>
          <p:cNvSpPr/>
          <p:nvPr/>
        </p:nvSpPr>
        <p:spPr>
          <a:xfrm>
            <a:off x="6217920" y="1965960"/>
            <a:ext cx="5349240" cy="1600200"/>
          </a:xfrm>
          <a:prstGeom prst="roundRect">
            <a:avLst>
              <a:gd name="adj" fmla="val 4571"/>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8" name="Text 6"/>
          <p:cNvSpPr/>
          <p:nvPr/>
        </p:nvSpPr>
        <p:spPr>
          <a:xfrm>
            <a:off x="6492240" y="2148840"/>
            <a:ext cx="4572000" cy="274320"/>
          </a:xfrm>
          <a:prstGeom prst="rect">
            <a:avLst/>
          </a:prstGeom>
          <a:noFill/>
          <a:ln/>
        </p:spPr>
        <p:txBody>
          <a:bodyPr wrap="square" lIns="0" tIns="0" rIns="0" bIns="0" rtlCol="0" anchor="ctr"/>
          <a:lstStyle/>
          <a:p>
            <a:pPr indent="0" marL="0">
              <a:buNone/>
            </a:pPr>
            <a:r>
              <a:rPr lang="en-US" sz="1250" b="1" dirty="0">
                <a:solidFill>
                  <a:srgbClr val="15718F"/>
                </a:solidFill>
                <a:latin typeface="Calibri" pitchFamily="34" charset="0"/>
                <a:ea typeface="Calibri" pitchFamily="34" charset="-122"/>
                <a:cs typeface="Calibri" pitchFamily="34" charset="-120"/>
              </a:rPr>
              <a:t>We ask</a:t>
            </a:r>
            <a:endParaRPr lang="en-US" sz="1250" dirty="0"/>
          </a:p>
        </p:txBody>
      </p:sp>
      <p:sp>
        <p:nvSpPr>
          <p:cNvPr id="9" name="Text 7"/>
          <p:cNvSpPr/>
          <p:nvPr/>
        </p:nvSpPr>
        <p:spPr>
          <a:xfrm>
            <a:off x="6492240" y="2468880"/>
            <a:ext cx="4846320" cy="868680"/>
          </a:xfrm>
          <a:prstGeom prst="rect">
            <a:avLst/>
          </a:prstGeom>
          <a:noFill/>
          <a:ln/>
        </p:spPr>
        <p:txBody>
          <a:bodyPr wrap="square" lIns="0" tIns="0" rIns="0" bIns="0" rtlCol="0" anchor="ctr"/>
          <a:lstStyle/>
          <a:p>
            <a:pPr indent="0" marL="0">
              <a:lnSpc>
                <a:spcPct val="105000"/>
              </a:lnSpc>
              <a:buNone/>
            </a:pPr>
            <a:r>
              <a:rPr lang="en-US" sz="1800" b="1" i="1" dirty="0">
                <a:solidFill>
                  <a:srgbClr val="15718F"/>
                </a:solidFill>
                <a:latin typeface="Cambria" pitchFamily="34" charset="0"/>
                <a:ea typeface="Cambria" pitchFamily="34" charset="-122"/>
                <a:cs typeface="Cambria" pitchFamily="34" charset="-120"/>
              </a:rPr>
              <a:t>“Can the brain predict this trial's reflex?”</a:t>
            </a:r>
            <a:endParaRPr lang="en-US" sz="1800" dirty="0"/>
          </a:p>
        </p:txBody>
      </p:sp>
      <p:sp>
        <p:nvSpPr>
          <p:cNvPr id="10" name="Shape 8"/>
          <p:cNvSpPr/>
          <p:nvPr/>
        </p:nvSpPr>
        <p:spPr>
          <a:xfrm>
            <a:off x="685800" y="3840480"/>
            <a:ext cx="10881360" cy="1463040"/>
          </a:xfrm>
          <a:prstGeom prst="roundRect">
            <a:avLst>
              <a:gd name="adj" fmla="val 5000"/>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1" name="Text 9"/>
          <p:cNvSpPr/>
          <p:nvPr/>
        </p:nvSpPr>
        <p:spPr>
          <a:xfrm>
            <a:off x="1005840" y="4023360"/>
            <a:ext cx="5486400" cy="320040"/>
          </a:xfrm>
          <a:prstGeom prst="rect">
            <a:avLst/>
          </a:prstGeom>
          <a:noFill/>
          <a:ln/>
        </p:spPr>
        <p:txBody>
          <a:bodyPr wrap="square" lIns="0" tIns="0" rIns="0" bIns="0" rtlCol="0" anchor="ctr"/>
          <a:lstStyle/>
          <a:p>
            <a:pPr indent="0" marL="0">
              <a:buNone/>
            </a:pPr>
            <a:r>
              <a:rPr lang="en-US" sz="1450" b="1" dirty="0">
                <a:solidFill>
                  <a:srgbClr val="3B6E43"/>
                </a:solidFill>
                <a:latin typeface="Calibri" pitchFamily="34" charset="0"/>
                <a:ea typeface="Calibri" pitchFamily="34" charset="-122"/>
                <a:cs typeface="Calibri" pitchFamily="34" charset="-120"/>
              </a:rPr>
              <a:t>Why drift cannot produce this</a:t>
            </a:r>
            <a:endParaRPr lang="en-US" sz="1450" dirty="0"/>
          </a:p>
        </p:txBody>
      </p:sp>
      <p:sp>
        <p:nvSpPr>
          <p:cNvPr id="12" name="Text 10"/>
          <p:cNvSpPr/>
          <p:nvPr/>
        </p:nvSpPr>
        <p:spPr>
          <a:xfrm>
            <a:off x="1005840" y="4389120"/>
            <a:ext cx="10241280" cy="868680"/>
          </a:xfrm>
          <a:prstGeom prst="rect">
            <a:avLst/>
          </a:prstGeom>
          <a:noFill/>
          <a:ln/>
        </p:spPr>
        <p:txBody>
          <a:bodyPr wrap="square" lIns="0" tIns="0" rIns="0" bIns="0" rtlCol="0" anchor="ctr"/>
          <a:lstStyle/>
          <a:p>
            <a:pPr indent="0" marL="0">
              <a:lnSpc>
                <a:spcPct val="106000"/>
              </a:lnSpc>
              <a:buNone/>
            </a:pPr>
            <a:r>
              <a:rPr lang="en-US" sz="1400" dirty="0">
                <a:solidFill>
                  <a:srgbClr val="14212E"/>
                </a:solidFill>
                <a:latin typeface="Calibri" pitchFamily="34" charset="0"/>
                <a:ea typeface="Calibri" pitchFamily="34" charset="-122"/>
                <a:cs typeface="Calibri" pitchFamily="34" charset="-120"/>
              </a:rPr>
              <a:t>We train and test the prediction inside a single five-day window. A slowly drifting electrode moves the training trials and the test trials together, so it cancels. Drift can shift an average. It cannot invent a trial-by-trial relationship inside five days.</a:t>
            </a:r>
            <a:endParaRPr lang="en-US" sz="1400" dirty="0"/>
          </a:p>
        </p:txBody>
      </p:sp>
      <p:sp>
        <p:nvSpPr>
          <p:cNvPr id="13" name="Shape 11"/>
          <p:cNvSpPr/>
          <p:nvPr/>
        </p:nvSpPr>
        <p:spPr>
          <a:xfrm>
            <a:off x="685800" y="5532120"/>
            <a:ext cx="10881360" cy="777240"/>
          </a:xfrm>
          <a:prstGeom prst="roundRect">
            <a:avLst>
              <a:gd name="adj" fmla="val 9412"/>
            </a:avLst>
          </a:prstGeom>
          <a:solidFill>
            <a:srgbClr val="F4F7F9"/>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4" name="Text 12"/>
          <p:cNvSpPr/>
          <p:nvPr/>
        </p:nvSpPr>
        <p:spPr>
          <a:xfrm>
            <a:off x="1005840" y="5669280"/>
            <a:ext cx="10241280" cy="502920"/>
          </a:xfrm>
          <a:prstGeom prst="rect">
            <a:avLst/>
          </a:prstGeom>
          <a:noFill/>
          <a:ln/>
        </p:spPr>
        <p:txBody>
          <a:bodyPr wrap="square" lIns="0" tIns="0" rIns="0" bIns="0" rtlCol="0" anchor="ctr"/>
          <a:lstStyle/>
          <a:p>
            <a:pPr indent="0" marL="0">
              <a:buNone/>
            </a:pPr>
            <a:r>
              <a:rPr lang="en-US" sz="1300" dirty="0">
                <a:solidFill>
                  <a:srgbClr val="5A6B7B"/>
                </a:solidFill>
                <a:latin typeface="Calibri" pitchFamily="34" charset="0"/>
                <a:ea typeface="Calibri" pitchFamily="34" charset="-122"/>
                <a:cs typeface="Calibri" pitchFamily="34" charset="-120"/>
              </a:rPr>
              <a:t>And within each window we still remove the stimulus and the background first, then compare against a shuffle of that same window's data.</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3B6E43"/>
                </a:solidFill>
                <a:latin typeface="Calibri" pitchFamily="34" charset="0"/>
                <a:ea typeface="Calibri" pitchFamily="34" charset="-122"/>
                <a:cs typeface="Calibri" pitchFamily="34" charset="-120"/>
              </a:rPr>
              <a:t>RESULT 3 · THE POSITIVE FINDING</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The brain does carry a signal about the reflex</a:t>
            </a:r>
            <a:endParaRPr lang="en-US" sz="3100" dirty="0"/>
          </a:p>
        </p:txBody>
      </p:sp>
      <p:pic>
        <p:nvPicPr>
          <p:cNvPr id="4" name="Image 0" descr="/Users/suchithrao/Downloads/hroc-training/outputs/coupling/coupling_group.png">    </p:cNvPr>
          <p:cNvPicPr>
            <a:picLocks noChangeAspect="1"/>
          </p:cNvPicPr>
          <p:nvPr/>
        </p:nvPicPr>
        <p:blipFill>
          <a:blip r:embed="rId1"/>
          <a:srcRect l="0" r="0" t="0" b="0"/>
          <a:stretch/>
        </p:blipFill>
        <p:spPr>
          <a:xfrm>
            <a:off x="566928" y="1965960"/>
            <a:ext cx="6327648" cy="3657600"/>
          </a:xfrm>
          <a:prstGeom prst="rect">
            <a:avLst/>
          </a:prstGeom>
        </p:spPr>
      </p:pic>
      <p:sp>
        <p:nvSpPr>
          <p:cNvPr id="5" name="Shape 2"/>
          <p:cNvSpPr/>
          <p:nvPr/>
        </p:nvSpPr>
        <p:spPr>
          <a:xfrm>
            <a:off x="7543800" y="2057400"/>
            <a:ext cx="4023360" cy="3657600"/>
          </a:xfrm>
          <a:prstGeom prst="roundRect">
            <a:avLst>
              <a:gd name="adj" fmla="val 2000"/>
            </a:avLst>
          </a:prstGeom>
          <a:solidFill>
            <a:srgbClr val="EEF5EE"/>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818120" y="2286000"/>
            <a:ext cx="3520440" cy="548640"/>
          </a:xfrm>
          <a:prstGeom prst="rect">
            <a:avLst/>
          </a:prstGeom>
          <a:noFill/>
          <a:ln/>
        </p:spPr>
        <p:txBody>
          <a:bodyPr wrap="square" lIns="0" tIns="0" rIns="0" bIns="0" rtlCol="0" anchor="ctr"/>
          <a:lstStyle/>
          <a:p>
            <a:pPr indent="0" marL="0">
              <a:buNone/>
            </a:pPr>
            <a:r>
              <a:rPr lang="en-US" sz="3100" b="1" dirty="0">
                <a:solidFill>
                  <a:srgbClr val="3B6E43"/>
                </a:solidFill>
                <a:latin typeface="Cambria" pitchFamily="34" charset="0"/>
                <a:ea typeface="Cambria" pitchFamily="34" charset="-122"/>
                <a:cs typeface="Cambria" pitchFamily="34" charset="-120"/>
              </a:rPr>
              <a:t>99 of 101</a:t>
            </a:r>
            <a:endParaRPr lang="en-US" sz="3100" dirty="0"/>
          </a:p>
        </p:txBody>
      </p:sp>
      <p:sp>
        <p:nvSpPr>
          <p:cNvPr id="7" name="Text 4"/>
          <p:cNvSpPr/>
          <p:nvPr/>
        </p:nvSpPr>
        <p:spPr>
          <a:xfrm>
            <a:off x="7818120" y="2852928"/>
            <a:ext cx="3520440" cy="685800"/>
          </a:xfrm>
          <a:prstGeom prst="rect">
            <a:avLst/>
          </a:prstGeom>
          <a:noFill/>
          <a:ln/>
        </p:spPr>
        <p:txBody>
          <a:bodyPr wrap="square" lIns="0" tIns="0" rIns="0" bIns="0" rtlCol="0" anchor="ctr"/>
          <a:lstStyle/>
          <a:p>
            <a:pPr indent="0" marL="0">
              <a:lnSpc>
                <a:spcPct val="105000"/>
              </a:lnSpc>
              <a:buNone/>
            </a:pPr>
            <a:r>
              <a:rPr lang="en-US" sz="1250" dirty="0">
                <a:solidFill>
                  <a:srgbClr val="5A6B7B"/>
                </a:solidFill>
                <a:latin typeface="Calibri" pitchFamily="34" charset="0"/>
                <a:ea typeface="Calibri" pitchFamily="34" charset="-122"/>
                <a:cs typeface="Calibri" pitchFamily="34" charset="-120"/>
              </a:rPr>
              <a:t>five-day windows where the real data beat its own shuffled version</a:t>
            </a:r>
            <a:endParaRPr lang="en-US" sz="1250" dirty="0"/>
          </a:p>
        </p:txBody>
      </p:sp>
      <p:sp>
        <p:nvSpPr>
          <p:cNvPr id="8" name="Text 5"/>
          <p:cNvSpPr/>
          <p:nvPr/>
        </p:nvSpPr>
        <p:spPr>
          <a:xfrm>
            <a:off x="7818120" y="3657600"/>
            <a:ext cx="3520440" cy="320040"/>
          </a:xfrm>
          <a:prstGeom prst="rect">
            <a:avLst/>
          </a:prstGeom>
          <a:noFill/>
          <a:ln/>
        </p:spPr>
        <p:txBody>
          <a:bodyPr wrap="square" lIns="0" tIns="0" rIns="0" bIns="0" rtlCol="0" anchor="ctr"/>
          <a:lstStyle/>
          <a:p>
            <a:pPr indent="0" marL="0">
              <a:buNone/>
            </a:pPr>
            <a:r>
              <a:rPr lang="en-US" sz="1350" b="1" dirty="0">
                <a:solidFill>
                  <a:srgbClr val="14212E"/>
                </a:solidFill>
                <a:latin typeface="Calibri" pitchFamily="34" charset="0"/>
                <a:ea typeface="Calibri" pitchFamily="34" charset="-122"/>
                <a:cs typeface="Calibri" pitchFamily="34" charset="-120"/>
              </a:rPr>
              <a:t>Present in all five animals.</a:t>
            </a:r>
            <a:endParaRPr lang="en-US" sz="1350" dirty="0"/>
          </a:p>
        </p:txBody>
      </p:sp>
      <p:sp>
        <p:nvSpPr>
          <p:cNvPr id="9" name="Text 6"/>
          <p:cNvSpPr/>
          <p:nvPr/>
        </p:nvSpPr>
        <p:spPr>
          <a:xfrm>
            <a:off x="7818120" y="4069080"/>
            <a:ext cx="3520440" cy="777240"/>
          </a:xfrm>
          <a:prstGeom prst="rect">
            <a:avLst/>
          </a:prstGeom>
          <a:noFill/>
          <a:ln/>
        </p:spPr>
        <p:txBody>
          <a:bodyPr wrap="square" lIns="0" tIns="0" rIns="0" bIns="0" rtlCol="0" anchor="ctr"/>
          <a:lstStyle/>
          <a:p>
            <a:pPr indent="0" marL="0">
              <a:lnSpc>
                <a:spcPct val="115000"/>
              </a:lnSpc>
              <a:buNone/>
            </a:pPr>
            <a:r>
              <a:rPr lang="en-US" sz="1300" dirty="0">
                <a:solidFill>
                  <a:srgbClr val="14212E"/>
                </a:solidFill>
                <a:latin typeface="Calibri" pitchFamily="34" charset="0"/>
                <a:ea typeface="Calibri" pitchFamily="34" charset="-122"/>
                <a:cs typeface="Calibri" pitchFamily="34" charset="-120"/>
              </a:rPr>
              <a:t>Counting the animal as the unit of analysis:</a:t>
            </a:r>
            <a:endParaRPr lang="en-US" sz="1300" dirty="0"/>
          </a:p>
          <a:p>
            <a:pPr indent="0" marL="0">
              <a:lnSpc>
                <a:spcPct val="115000"/>
              </a:lnSpc>
              <a:buNone/>
            </a:pPr>
            <a:r>
              <a:rPr lang="en-US" sz="1300" dirty="0">
                <a:solidFill>
                  <a:srgbClr val="14212E"/>
                </a:solidFill>
                <a:latin typeface="Calibri" pitchFamily="34" charset="0"/>
                <a:ea typeface="Calibri" pitchFamily="34" charset="-122"/>
                <a:cs typeface="Calibri" pitchFamily="34" charset="-120"/>
              </a:rPr>
              <a:t>t(4) = 3.81,  p = 0.019</a:t>
            </a:r>
            <a:endParaRPr lang="en-US" sz="1300" dirty="0"/>
          </a:p>
        </p:txBody>
      </p:sp>
      <p:sp>
        <p:nvSpPr>
          <p:cNvPr id="10" name="Text 7"/>
          <p:cNvSpPr/>
          <p:nvPr/>
        </p:nvSpPr>
        <p:spPr>
          <a:xfrm>
            <a:off x="7818120" y="5029200"/>
            <a:ext cx="3520440" cy="548640"/>
          </a:xfrm>
          <a:prstGeom prst="rect">
            <a:avLst/>
          </a:prstGeom>
          <a:noFill/>
          <a:ln/>
        </p:spPr>
        <p:txBody>
          <a:bodyPr wrap="square" lIns="0" tIns="0" rIns="0" bIns="0" rtlCol="0" anchor="ctr"/>
          <a:lstStyle/>
          <a:p>
            <a:pPr indent="0" marL="0">
              <a:lnSpc>
                <a:spcPct val="105000"/>
              </a:lnSpc>
              <a:buNone/>
            </a:pPr>
            <a:r>
              <a:rPr lang="en-US" sz="1250" i="1" dirty="0">
                <a:solidFill>
                  <a:srgbClr val="3B6E43"/>
                </a:solidFill>
                <a:latin typeface="Calibri" pitchFamily="34" charset="0"/>
                <a:ea typeface="Calibri" pitchFamily="34" charset="-122"/>
                <a:cs typeface="Calibri" pitchFamily="34" charset="-120"/>
              </a:rPr>
              <a:t>Small in size, but almost never absent.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9AA8B4"/>
                </a:solidFill>
                <a:latin typeface="Calibri" pitchFamily="34" charset="0"/>
                <a:ea typeface="Calibri" pitchFamily="34" charset="-122"/>
                <a:cs typeface="Calibri" pitchFamily="34" charset="-120"/>
              </a:rPr>
              <a:t>IN PROPORTION</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How much does the brain actually explain?</a:t>
            </a:r>
            <a:endParaRPr lang="en-US" sz="3100" dirty="0"/>
          </a:p>
        </p:txBody>
      </p:sp>
      <p:sp>
        <p:nvSpPr>
          <p:cNvPr id="4" name="Text 2"/>
          <p:cNvSpPr/>
          <p:nvPr/>
        </p:nvSpPr>
        <p:spPr>
          <a:xfrm>
            <a:off x="685800" y="1572768"/>
            <a:ext cx="10881360" cy="548640"/>
          </a:xfrm>
          <a:prstGeom prst="rect">
            <a:avLst/>
          </a:prstGeom>
          <a:noFill/>
          <a:ln/>
        </p:spPr>
        <p:txBody>
          <a:bodyPr wrap="square" lIns="0" tIns="0" rIns="0" bIns="0" rtlCol="0" anchor="ctr"/>
          <a:lstStyle/>
          <a:p>
            <a:pPr indent="0" marL="0">
              <a:lnSpc>
                <a:spcPct val="106000"/>
              </a:lnSpc>
              <a:buNone/>
            </a:pPr>
            <a:r>
              <a:rPr lang="en-US" sz="1550" dirty="0">
                <a:solidFill>
                  <a:srgbClr val="5A6B7B"/>
                </a:solidFill>
                <a:latin typeface="Calibri" pitchFamily="34" charset="0"/>
                <a:ea typeface="Calibri" pitchFamily="34" charset="-122"/>
                <a:cs typeface="Calibri" pitchFamily="34" charset="-120"/>
              </a:rPr>
              <a:t>Dr. Carp asked us to split the variance up. The stimulus dominates, and the brain overlaps with it heavily.</a:t>
            </a:r>
            <a:endParaRPr lang="en-US" sz="1550" dirty="0"/>
          </a:p>
        </p:txBody>
      </p:sp>
      <p:sp>
        <p:nvSpPr>
          <p:cNvPr id="5" name="Shape 3"/>
          <p:cNvSpPr/>
          <p:nvPr/>
        </p:nvSpPr>
        <p:spPr>
          <a:xfrm>
            <a:off x="685800" y="2651760"/>
            <a:ext cx="5063603" cy="777240"/>
          </a:xfrm>
          <a:prstGeom prst="rect">
            <a:avLst/>
          </a:prstGeom>
          <a:solidFill>
            <a:srgbClr val="B4671A"/>
          </a:solidFill>
          <a:ln/>
        </p:spPr>
      </p:sp>
      <p:sp>
        <p:nvSpPr>
          <p:cNvPr id="6" name="Text 4"/>
          <p:cNvSpPr/>
          <p:nvPr/>
        </p:nvSpPr>
        <p:spPr>
          <a:xfrm>
            <a:off x="685800" y="2651760"/>
            <a:ext cx="5063603"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47%  stimulus</a:t>
            </a:r>
            <a:endParaRPr lang="en-US" sz="1300" dirty="0"/>
          </a:p>
        </p:txBody>
      </p:sp>
      <p:sp>
        <p:nvSpPr>
          <p:cNvPr id="7" name="Shape 5"/>
          <p:cNvSpPr/>
          <p:nvPr/>
        </p:nvSpPr>
        <p:spPr>
          <a:xfrm>
            <a:off x="5749403" y="2651760"/>
            <a:ext cx="107736" cy="777240"/>
          </a:xfrm>
          <a:prstGeom prst="rect">
            <a:avLst/>
          </a:prstGeom>
          <a:solidFill>
            <a:srgbClr val="3B6E43"/>
          </a:solidFill>
          <a:ln/>
        </p:spPr>
      </p:sp>
      <p:sp>
        <p:nvSpPr>
          <p:cNvPr id="8" name="Shape 6"/>
          <p:cNvSpPr/>
          <p:nvPr/>
        </p:nvSpPr>
        <p:spPr>
          <a:xfrm>
            <a:off x="5857139" y="2651760"/>
            <a:ext cx="215472" cy="777240"/>
          </a:xfrm>
          <a:prstGeom prst="rect">
            <a:avLst/>
          </a:prstGeom>
          <a:solidFill>
            <a:srgbClr val="15718F"/>
          </a:solidFill>
          <a:ln/>
        </p:spPr>
      </p:sp>
      <p:sp>
        <p:nvSpPr>
          <p:cNvPr id="9" name="Shape 7"/>
          <p:cNvSpPr/>
          <p:nvPr/>
        </p:nvSpPr>
        <p:spPr>
          <a:xfrm>
            <a:off x="6072612" y="2651760"/>
            <a:ext cx="5494548" cy="777240"/>
          </a:xfrm>
          <a:prstGeom prst="rect">
            <a:avLst/>
          </a:prstGeom>
          <a:solidFill>
            <a:srgbClr val="9FAEBA"/>
          </a:solidFill>
          <a:ln/>
        </p:spPr>
      </p:sp>
      <p:sp>
        <p:nvSpPr>
          <p:cNvPr id="10" name="Text 8"/>
          <p:cNvSpPr/>
          <p:nvPr/>
        </p:nvSpPr>
        <p:spPr>
          <a:xfrm>
            <a:off x="6072612" y="2651760"/>
            <a:ext cx="5494548"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51%  unexplained</a:t>
            </a:r>
            <a:endParaRPr lang="en-US" sz="1300" dirty="0"/>
          </a:p>
        </p:txBody>
      </p:sp>
      <p:sp>
        <p:nvSpPr>
          <p:cNvPr id="11" name="Shape 9"/>
          <p:cNvSpPr/>
          <p:nvPr/>
        </p:nvSpPr>
        <p:spPr>
          <a:xfrm>
            <a:off x="685800" y="3794760"/>
            <a:ext cx="10881360" cy="658368"/>
          </a:xfrm>
          <a:prstGeom prst="roundRect">
            <a:avLst>
              <a:gd name="adj" fmla="val 1111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2" name="Shape 10"/>
          <p:cNvSpPr/>
          <p:nvPr/>
        </p:nvSpPr>
        <p:spPr>
          <a:xfrm>
            <a:off x="1005840" y="4032504"/>
            <a:ext cx="182880" cy="182880"/>
          </a:xfrm>
          <a:prstGeom prst="rect">
            <a:avLst/>
          </a:prstGeom>
          <a:solidFill>
            <a:srgbClr val="B4671A"/>
          </a:solidFill>
          <a:ln/>
        </p:spPr>
      </p:sp>
      <p:sp>
        <p:nvSpPr>
          <p:cNvPr id="13" name="Text 11"/>
          <p:cNvSpPr/>
          <p:nvPr/>
        </p:nvSpPr>
        <p:spPr>
          <a:xfrm>
            <a:off x="1371600" y="3867912"/>
            <a:ext cx="3291840" cy="502920"/>
          </a:xfrm>
          <a:prstGeom prst="rect">
            <a:avLst/>
          </a:prstGeom>
          <a:noFill/>
          <a:ln/>
        </p:spPr>
        <p:txBody>
          <a:bodyPr wrap="square" lIns="0" tIns="0" rIns="0" bIns="0" rtlCol="0" anchor="ctr"/>
          <a:lstStyle/>
          <a:p>
            <a:pPr indent="0" marL="0">
              <a:buNone/>
            </a:pPr>
            <a:r>
              <a:rPr lang="en-US" sz="1350" b="1" dirty="0">
                <a:solidFill>
                  <a:srgbClr val="14212E"/>
                </a:solidFill>
                <a:latin typeface="Calibri" pitchFamily="34" charset="0"/>
                <a:ea typeface="Calibri" pitchFamily="34" charset="-122"/>
                <a:cs typeface="Calibri" pitchFamily="34" charset="-120"/>
              </a:rPr>
              <a:t>Stimulus, from the M-wave</a:t>
            </a:r>
            <a:endParaRPr lang="en-US" sz="1350" dirty="0"/>
          </a:p>
        </p:txBody>
      </p:sp>
      <p:sp>
        <p:nvSpPr>
          <p:cNvPr id="14" name="Text 12"/>
          <p:cNvSpPr/>
          <p:nvPr/>
        </p:nvSpPr>
        <p:spPr>
          <a:xfrm>
            <a:off x="4754880" y="3867912"/>
            <a:ext cx="1005840" cy="502920"/>
          </a:xfrm>
          <a:prstGeom prst="rect">
            <a:avLst/>
          </a:prstGeom>
          <a:noFill/>
          <a:ln/>
        </p:spPr>
        <p:txBody>
          <a:bodyPr wrap="square" lIns="0" tIns="0" rIns="0" bIns="0" rtlCol="0" anchor="ctr"/>
          <a:lstStyle/>
          <a:p>
            <a:pPr algn="r" indent="0" marL="0">
              <a:buNone/>
            </a:pPr>
            <a:r>
              <a:rPr lang="en-US" sz="1900" b="1" dirty="0">
                <a:solidFill>
                  <a:srgbClr val="B4671A"/>
                </a:solidFill>
                <a:latin typeface="Cambria" pitchFamily="34" charset="0"/>
                <a:ea typeface="Cambria" pitchFamily="34" charset="-122"/>
                <a:cs typeface="Cambria" pitchFamily="34" charset="-120"/>
              </a:rPr>
              <a:t>47%</a:t>
            </a:r>
            <a:endParaRPr lang="en-US" sz="1900" dirty="0"/>
          </a:p>
        </p:txBody>
      </p:sp>
      <p:sp>
        <p:nvSpPr>
          <p:cNvPr id="15" name="Text 13"/>
          <p:cNvSpPr/>
          <p:nvPr/>
        </p:nvSpPr>
        <p:spPr>
          <a:xfrm>
            <a:off x="6126480" y="3867912"/>
            <a:ext cx="5120640" cy="502920"/>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How much shock actually arrived</a:t>
            </a:r>
            <a:endParaRPr lang="en-US" sz="1200" dirty="0"/>
          </a:p>
        </p:txBody>
      </p:sp>
      <p:sp>
        <p:nvSpPr>
          <p:cNvPr id="16" name="Shape 14"/>
          <p:cNvSpPr/>
          <p:nvPr/>
        </p:nvSpPr>
        <p:spPr>
          <a:xfrm>
            <a:off x="685800" y="4526280"/>
            <a:ext cx="10881360" cy="658368"/>
          </a:xfrm>
          <a:prstGeom prst="roundRect">
            <a:avLst>
              <a:gd name="adj" fmla="val 1111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Shape 15"/>
          <p:cNvSpPr/>
          <p:nvPr/>
        </p:nvSpPr>
        <p:spPr>
          <a:xfrm>
            <a:off x="1005840" y="4764024"/>
            <a:ext cx="182880" cy="182880"/>
          </a:xfrm>
          <a:prstGeom prst="rect">
            <a:avLst/>
          </a:prstGeom>
          <a:solidFill>
            <a:srgbClr val="3B6E43"/>
          </a:solidFill>
          <a:ln/>
        </p:spPr>
      </p:sp>
      <p:sp>
        <p:nvSpPr>
          <p:cNvPr id="18" name="Text 16"/>
          <p:cNvSpPr/>
          <p:nvPr/>
        </p:nvSpPr>
        <p:spPr>
          <a:xfrm>
            <a:off x="1371600" y="4599432"/>
            <a:ext cx="3291840" cy="502920"/>
          </a:xfrm>
          <a:prstGeom prst="rect">
            <a:avLst/>
          </a:prstGeom>
          <a:noFill/>
          <a:ln/>
        </p:spPr>
        <p:txBody>
          <a:bodyPr wrap="square" lIns="0" tIns="0" rIns="0" bIns="0" rtlCol="0" anchor="ctr"/>
          <a:lstStyle/>
          <a:p>
            <a:pPr indent="0" marL="0">
              <a:buNone/>
            </a:pPr>
            <a:r>
              <a:rPr lang="en-US" sz="1350" b="1" dirty="0">
                <a:solidFill>
                  <a:srgbClr val="14212E"/>
                </a:solidFill>
                <a:latin typeface="Calibri" pitchFamily="34" charset="0"/>
                <a:ea typeface="Calibri" pitchFamily="34" charset="-122"/>
                <a:cs typeface="Calibri" pitchFamily="34" charset="-120"/>
              </a:rPr>
              <a:t>Pre-stimulus background</a:t>
            </a:r>
            <a:endParaRPr lang="en-US" sz="1350" dirty="0"/>
          </a:p>
        </p:txBody>
      </p:sp>
      <p:sp>
        <p:nvSpPr>
          <p:cNvPr id="19" name="Text 17"/>
          <p:cNvSpPr/>
          <p:nvPr/>
        </p:nvSpPr>
        <p:spPr>
          <a:xfrm>
            <a:off x="4754880" y="4599432"/>
            <a:ext cx="1005840" cy="502920"/>
          </a:xfrm>
          <a:prstGeom prst="rect">
            <a:avLst/>
          </a:prstGeom>
          <a:noFill/>
          <a:ln/>
        </p:spPr>
        <p:txBody>
          <a:bodyPr wrap="square" lIns="0" tIns="0" rIns="0" bIns="0" rtlCol="0" anchor="ctr"/>
          <a:lstStyle/>
          <a:p>
            <a:pPr algn="r" indent="0" marL="0">
              <a:buNone/>
            </a:pPr>
            <a:r>
              <a:rPr lang="en-US" sz="1900" b="1" dirty="0">
                <a:solidFill>
                  <a:srgbClr val="3B6E43"/>
                </a:solidFill>
                <a:latin typeface="Cambria" pitchFamily="34" charset="0"/>
                <a:ea typeface="Cambria" pitchFamily="34" charset="-122"/>
                <a:cs typeface="Cambria" pitchFamily="34" charset="-120"/>
              </a:rPr>
              <a:t>1%</a:t>
            </a:r>
            <a:endParaRPr lang="en-US" sz="1900" dirty="0"/>
          </a:p>
        </p:txBody>
      </p:sp>
      <p:sp>
        <p:nvSpPr>
          <p:cNvPr id="20" name="Text 18"/>
          <p:cNvSpPr/>
          <p:nvPr/>
        </p:nvSpPr>
        <p:spPr>
          <a:xfrm>
            <a:off x="6126480" y="4599432"/>
            <a:ext cx="5120640" cy="502920"/>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How active the muscle already was</a:t>
            </a:r>
            <a:endParaRPr lang="en-US" sz="1200" dirty="0"/>
          </a:p>
        </p:txBody>
      </p:sp>
      <p:sp>
        <p:nvSpPr>
          <p:cNvPr id="21" name="Shape 19"/>
          <p:cNvSpPr/>
          <p:nvPr/>
        </p:nvSpPr>
        <p:spPr>
          <a:xfrm>
            <a:off x="685800" y="5257800"/>
            <a:ext cx="10881360" cy="658368"/>
          </a:xfrm>
          <a:prstGeom prst="roundRect">
            <a:avLst>
              <a:gd name="adj" fmla="val 11111"/>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2" name="Shape 20"/>
          <p:cNvSpPr/>
          <p:nvPr/>
        </p:nvSpPr>
        <p:spPr>
          <a:xfrm>
            <a:off x="1005840" y="5495544"/>
            <a:ext cx="182880" cy="182880"/>
          </a:xfrm>
          <a:prstGeom prst="rect">
            <a:avLst/>
          </a:prstGeom>
          <a:solidFill>
            <a:srgbClr val="15718F"/>
          </a:solidFill>
          <a:ln/>
        </p:spPr>
      </p:sp>
      <p:sp>
        <p:nvSpPr>
          <p:cNvPr id="23" name="Text 21"/>
          <p:cNvSpPr/>
          <p:nvPr/>
        </p:nvSpPr>
        <p:spPr>
          <a:xfrm>
            <a:off x="1371600" y="5330952"/>
            <a:ext cx="3291840" cy="502920"/>
          </a:xfrm>
          <a:prstGeom prst="rect">
            <a:avLst/>
          </a:prstGeom>
          <a:noFill/>
          <a:ln/>
        </p:spPr>
        <p:txBody>
          <a:bodyPr wrap="square" lIns="0" tIns="0" rIns="0" bIns="0" rtlCol="0" anchor="ctr"/>
          <a:lstStyle/>
          <a:p>
            <a:pPr indent="0" marL="0">
              <a:buNone/>
            </a:pPr>
            <a:r>
              <a:rPr lang="en-US" sz="1350" b="1" dirty="0">
                <a:solidFill>
                  <a:srgbClr val="14212E"/>
                </a:solidFill>
                <a:latin typeface="Calibri" pitchFamily="34" charset="0"/>
                <a:ea typeface="Calibri" pitchFamily="34" charset="-122"/>
                <a:cs typeface="Calibri" pitchFamily="34" charset="-120"/>
              </a:rPr>
              <a:t>Brain, uniquely</a:t>
            </a:r>
            <a:endParaRPr lang="en-US" sz="1350" dirty="0"/>
          </a:p>
        </p:txBody>
      </p:sp>
      <p:sp>
        <p:nvSpPr>
          <p:cNvPr id="24" name="Text 22"/>
          <p:cNvSpPr/>
          <p:nvPr/>
        </p:nvSpPr>
        <p:spPr>
          <a:xfrm>
            <a:off x="4754880" y="5330952"/>
            <a:ext cx="1005840" cy="502920"/>
          </a:xfrm>
          <a:prstGeom prst="rect">
            <a:avLst/>
          </a:prstGeom>
          <a:noFill/>
          <a:ln/>
        </p:spPr>
        <p:txBody>
          <a:bodyPr wrap="square" lIns="0" tIns="0" rIns="0" bIns="0" rtlCol="0" anchor="ctr"/>
          <a:lstStyle/>
          <a:p>
            <a:pPr algn="r" indent="0" marL="0">
              <a:buNone/>
            </a:pPr>
            <a:r>
              <a:rPr lang="en-US" sz="1900" b="1" dirty="0">
                <a:solidFill>
                  <a:srgbClr val="15718F"/>
                </a:solidFill>
                <a:latin typeface="Cambria" pitchFamily="34" charset="0"/>
                <a:ea typeface="Cambria" pitchFamily="34" charset="-122"/>
                <a:cs typeface="Cambria" pitchFamily="34" charset="-120"/>
              </a:rPr>
              <a:t>2%</a:t>
            </a:r>
            <a:endParaRPr lang="en-US" sz="1900" dirty="0"/>
          </a:p>
        </p:txBody>
      </p:sp>
      <p:sp>
        <p:nvSpPr>
          <p:cNvPr id="25" name="Text 23"/>
          <p:cNvSpPr/>
          <p:nvPr/>
        </p:nvSpPr>
        <p:spPr>
          <a:xfrm>
            <a:off x="6126480" y="5330952"/>
            <a:ext cx="5120640" cy="502920"/>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What it adds once the other two are known</a:t>
            </a:r>
            <a:endParaRPr lang="en-US" sz="1200" dirty="0"/>
          </a:p>
        </p:txBody>
      </p:sp>
      <p:sp>
        <p:nvSpPr>
          <p:cNvPr id="26" name="Shape 24"/>
          <p:cNvSpPr/>
          <p:nvPr/>
        </p:nvSpPr>
        <p:spPr>
          <a:xfrm>
            <a:off x="685800" y="5989320"/>
            <a:ext cx="10881360" cy="658368"/>
          </a:xfrm>
          <a:prstGeom prst="roundRect">
            <a:avLst>
              <a:gd name="adj" fmla="val 11111"/>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7" name="Shape 25"/>
          <p:cNvSpPr/>
          <p:nvPr/>
        </p:nvSpPr>
        <p:spPr>
          <a:xfrm>
            <a:off x="1005840" y="6227064"/>
            <a:ext cx="182880" cy="182880"/>
          </a:xfrm>
          <a:prstGeom prst="rect">
            <a:avLst/>
          </a:prstGeom>
          <a:solidFill>
            <a:srgbClr val="9FAEBA"/>
          </a:solidFill>
          <a:ln/>
        </p:spPr>
      </p:sp>
      <p:sp>
        <p:nvSpPr>
          <p:cNvPr id="28" name="Text 26"/>
          <p:cNvSpPr/>
          <p:nvPr/>
        </p:nvSpPr>
        <p:spPr>
          <a:xfrm>
            <a:off x="1371600" y="6062472"/>
            <a:ext cx="3291840" cy="502920"/>
          </a:xfrm>
          <a:prstGeom prst="rect">
            <a:avLst/>
          </a:prstGeom>
          <a:noFill/>
          <a:ln/>
        </p:spPr>
        <p:txBody>
          <a:bodyPr wrap="square" lIns="0" tIns="0" rIns="0" bIns="0" rtlCol="0" anchor="ctr"/>
          <a:lstStyle/>
          <a:p>
            <a:pPr indent="0" marL="0">
              <a:buNone/>
            </a:pPr>
            <a:r>
              <a:rPr lang="en-US" sz="1350" b="1" dirty="0">
                <a:solidFill>
                  <a:srgbClr val="14212E"/>
                </a:solidFill>
                <a:latin typeface="Calibri" pitchFamily="34" charset="0"/>
                <a:ea typeface="Calibri" pitchFamily="34" charset="-122"/>
                <a:cs typeface="Calibri" pitchFamily="34" charset="-120"/>
              </a:rPr>
              <a:t>Unexplained</a:t>
            </a:r>
            <a:endParaRPr lang="en-US" sz="1350" dirty="0"/>
          </a:p>
        </p:txBody>
      </p:sp>
      <p:sp>
        <p:nvSpPr>
          <p:cNvPr id="29" name="Text 27"/>
          <p:cNvSpPr/>
          <p:nvPr/>
        </p:nvSpPr>
        <p:spPr>
          <a:xfrm>
            <a:off x="4754880" y="6062472"/>
            <a:ext cx="1005840" cy="502920"/>
          </a:xfrm>
          <a:prstGeom prst="rect">
            <a:avLst/>
          </a:prstGeom>
          <a:noFill/>
          <a:ln/>
        </p:spPr>
        <p:txBody>
          <a:bodyPr wrap="square" lIns="0" tIns="0" rIns="0" bIns="0" rtlCol="0" anchor="ctr"/>
          <a:lstStyle/>
          <a:p>
            <a:pPr algn="r" indent="0" marL="0">
              <a:buNone/>
            </a:pPr>
            <a:r>
              <a:rPr lang="en-US" sz="1900" b="1" dirty="0">
                <a:solidFill>
                  <a:srgbClr val="9FAEBA"/>
                </a:solidFill>
                <a:latin typeface="Cambria" pitchFamily="34" charset="0"/>
                <a:ea typeface="Cambria" pitchFamily="34" charset="-122"/>
                <a:cs typeface="Cambria" pitchFamily="34" charset="-120"/>
              </a:rPr>
              <a:t>51%</a:t>
            </a:r>
            <a:endParaRPr lang="en-US" sz="1900" dirty="0"/>
          </a:p>
        </p:txBody>
      </p:sp>
      <p:sp>
        <p:nvSpPr>
          <p:cNvPr id="30" name="Text 28"/>
          <p:cNvSpPr/>
          <p:nvPr/>
        </p:nvSpPr>
        <p:spPr>
          <a:xfrm>
            <a:off x="6126480" y="6062472"/>
            <a:ext cx="5120640" cy="502920"/>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Trial-to-trial variability we can't yet account for</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RIGOUR</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Everything we tried to kill it with</a:t>
            </a:r>
            <a:endParaRPr lang="en-US" sz="3100" dirty="0"/>
          </a:p>
        </p:txBody>
      </p:sp>
      <p:sp>
        <p:nvSpPr>
          <p:cNvPr id="4" name="Shape 2"/>
          <p:cNvSpPr/>
          <p:nvPr/>
        </p:nvSpPr>
        <p:spPr>
          <a:xfrm>
            <a:off x="685800" y="2011680"/>
            <a:ext cx="10881360" cy="585216"/>
          </a:xfrm>
          <a:prstGeom prst="roundRect">
            <a:avLst>
              <a:gd name="adj" fmla="val 1250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5" name="Text 3"/>
          <p:cNvSpPr/>
          <p:nvPr/>
        </p:nvSpPr>
        <p:spPr>
          <a:xfrm>
            <a:off x="1005840" y="2066544"/>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Baseline sham</a:t>
            </a:r>
            <a:endParaRPr lang="en-US" sz="1300" dirty="0"/>
          </a:p>
        </p:txBody>
      </p:sp>
      <p:sp>
        <p:nvSpPr>
          <p:cNvPr id="6" name="Text 4"/>
          <p:cNvSpPr/>
          <p:nvPr/>
        </p:nvSpPr>
        <p:spPr>
          <a:xfrm>
            <a:off x="4206240" y="2066544"/>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Pretend part of the baseline was training</a:t>
            </a:r>
            <a:endParaRPr lang="en-US" sz="1200" dirty="0"/>
          </a:p>
        </p:txBody>
      </p:sp>
      <p:sp>
        <p:nvSpPr>
          <p:cNvPr id="7" name="Text 5"/>
          <p:cNvSpPr/>
          <p:nvPr/>
        </p:nvSpPr>
        <p:spPr>
          <a:xfrm>
            <a:off x="8961120" y="2066544"/>
            <a:ext cx="2377440" cy="475488"/>
          </a:xfrm>
          <a:prstGeom prst="rect">
            <a:avLst/>
          </a:prstGeom>
          <a:noFill/>
          <a:ln/>
        </p:spPr>
        <p:txBody>
          <a:bodyPr wrap="square" lIns="0" tIns="0" rIns="0" bIns="0" rtlCol="0" anchor="ctr"/>
          <a:lstStyle/>
          <a:p>
            <a:pPr indent="0" marL="0">
              <a:buNone/>
            </a:pPr>
            <a:r>
              <a:rPr lang="en-US" sz="1250" b="1" dirty="0">
                <a:solidFill>
                  <a:srgbClr val="A44430"/>
                </a:solidFill>
                <a:latin typeface="Calibri" pitchFamily="34" charset="0"/>
                <a:ea typeface="Calibri" pitchFamily="34" charset="-122"/>
                <a:cs typeface="Calibri" pitchFamily="34" charset="-120"/>
              </a:rPr>
              <a:t>drift fails</a:t>
            </a:r>
            <a:endParaRPr lang="en-US" sz="1250" dirty="0"/>
          </a:p>
        </p:txBody>
      </p:sp>
      <p:sp>
        <p:nvSpPr>
          <p:cNvPr id="8" name="Shape 6"/>
          <p:cNvSpPr/>
          <p:nvPr/>
        </p:nvSpPr>
        <p:spPr>
          <a:xfrm>
            <a:off x="685800" y="2670048"/>
            <a:ext cx="10881360" cy="585216"/>
          </a:xfrm>
          <a:prstGeom prst="roundRect">
            <a:avLst>
              <a:gd name="adj" fmla="val 1250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9" name="Text 7"/>
          <p:cNvSpPr/>
          <p:nvPr/>
        </p:nvSpPr>
        <p:spPr>
          <a:xfrm>
            <a:off x="1005840" y="2724912"/>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Shuffled trial order</a:t>
            </a:r>
            <a:endParaRPr lang="en-US" sz="1300" dirty="0"/>
          </a:p>
        </p:txBody>
      </p:sp>
      <p:sp>
        <p:nvSpPr>
          <p:cNvPr id="10" name="Text 8"/>
          <p:cNvSpPr/>
          <p:nvPr/>
        </p:nvSpPr>
        <p:spPr>
          <a:xfrm>
            <a:off x="4206240" y="2724912"/>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Keep the numbers, destroy the timeline</a:t>
            </a:r>
            <a:endParaRPr lang="en-US" sz="1200" dirty="0"/>
          </a:p>
        </p:txBody>
      </p:sp>
      <p:sp>
        <p:nvSpPr>
          <p:cNvPr id="11" name="Text 9"/>
          <p:cNvSpPr/>
          <p:nvPr/>
        </p:nvSpPr>
        <p:spPr>
          <a:xfrm>
            <a:off x="8961120" y="2724912"/>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null ≈ 0</a:t>
            </a:r>
            <a:endParaRPr lang="en-US" sz="1250" dirty="0"/>
          </a:p>
        </p:txBody>
      </p:sp>
      <p:sp>
        <p:nvSpPr>
          <p:cNvPr id="12" name="Shape 10"/>
          <p:cNvSpPr/>
          <p:nvPr/>
        </p:nvSpPr>
        <p:spPr>
          <a:xfrm>
            <a:off x="685800" y="3328416"/>
            <a:ext cx="10881360" cy="585216"/>
          </a:xfrm>
          <a:prstGeom prst="roundRect">
            <a:avLst>
              <a:gd name="adj" fmla="val 1250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3" name="Text 11"/>
          <p:cNvSpPr/>
          <p:nvPr/>
        </p:nvSpPr>
        <p:spPr>
          <a:xfrm>
            <a:off x="1005840" y="3383280"/>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Stimulus strength</a:t>
            </a:r>
            <a:endParaRPr lang="en-US" sz="1300" dirty="0"/>
          </a:p>
        </p:txBody>
      </p:sp>
      <p:sp>
        <p:nvSpPr>
          <p:cNvPr id="14" name="Text 12"/>
          <p:cNvSpPr/>
          <p:nvPr/>
        </p:nvSpPr>
        <p:spPr>
          <a:xfrm>
            <a:off x="4206240" y="3383280"/>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Is it just how hard we shocked?</a:t>
            </a:r>
            <a:endParaRPr lang="en-US" sz="1200" dirty="0"/>
          </a:p>
        </p:txBody>
      </p:sp>
      <p:sp>
        <p:nvSpPr>
          <p:cNvPr id="15" name="Text 13"/>
          <p:cNvSpPr/>
          <p:nvPr/>
        </p:nvSpPr>
        <p:spPr>
          <a:xfrm>
            <a:off x="8961120" y="3383280"/>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survives</a:t>
            </a:r>
            <a:endParaRPr lang="en-US" sz="1250" dirty="0"/>
          </a:p>
        </p:txBody>
      </p:sp>
      <p:sp>
        <p:nvSpPr>
          <p:cNvPr id="16" name="Shape 14"/>
          <p:cNvSpPr/>
          <p:nvPr/>
        </p:nvSpPr>
        <p:spPr>
          <a:xfrm>
            <a:off x="685800" y="3986784"/>
            <a:ext cx="10881360" cy="585216"/>
          </a:xfrm>
          <a:prstGeom prst="roundRect">
            <a:avLst>
              <a:gd name="adj" fmla="val 1250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17" name="Text 15"/>
          <p:cNvSpPr/>
          <p:nvPr/>
        </p:nvSpPr>
        <p:spPr>
          <a:xfrm>
            <a:off x="1005840" y="4041648"/>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Pre-stimulus background</a:t>
            </a:r>
            <a:endParaRPr lang="en-US" sz="1300" dirty="0"/>
          </a:p>
        </p:txBody>
      </p:sp>
      <p:sp>
        <p:nvSpPr>
          <p:cNvPr id="18" name="Text 16"/>
          <p:cNvSpPr/>
          <p:nvPr/>
        </p:nvSpPr>
        <p:spPr>
          <a:xfrm>
            <a:off x="4206240" y="4041648"/>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Is it muscle tone rather than brain?</a:t>
            </a:r>
            <a:endParaRPr lang="en-US" sz="1200" dirty="0"/>
          </a:p>
        </p:txBody>
      </p:sp>
      <p:sp>
        <p:nvSpPr>
          <p:cNvPr id="19" name="Text 17"/>
          <p:cNvSpPr/>
          <p:nvPr/>
        </p:nvSpPr>
        <p:spPr>
          <a:xfrm>
            <a:off x="8961120" y="4041648"/>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survives</a:t>
            </a:r>
            <a:endParaRPr lang="en-US" sz="1250" dirty="0"/>
          </a:p>
        </p:txBody>
      </p:sp>
      <p:sp>
        <p:nvSpPr>
          <p:cNvPr id="20" name="Shape 18"/>
          <p:cNvSpPr/>
          <p:nvPr/>
        </p:nvSpPr>
        <p:spPr>
          <a:xfrm>
            <a:off x="685800" y="4645152"/>
            <a:ext cx="10881360" cy="585216"/>
          </a:xfrm>
          <a:prstGeom prst="roundRect">
            <a:avLst>
              <a:gd name="adj" fmla="val 1250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1" name="Text 19"/>
          <p:cNvSpPr/>
          <p:nvPr/>
        </p:nvSpPr>
        <p:spPr>
          <a:xfrm>
            <a:off x="1005840" y="4700016"/>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Within-window testing</a:t>
            </a:r>
            <a:endParaRPr lang="en-US" sz="1300" dirty="0"/>
          </a:p>
        </p:txBody>
      </p:sp>
      <p:sp>
        <p:nvSpPr>
          <p:cNvPr id="22" name="Text 20"/>
          <p:cNvSpPr/>
          <p:nvPr/>
        </p:nvSpPr>
        <p:spPr>
          <a:xfrm>
            <a:off x="4206240" y="4700016"/>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Could electrode drift manufacture it?</a:t>
            </a:r>
            <a:endParaRPr lang="en-US" sz="1200" dirty="0"/>
          </a:p>
        </p:txBody>
      </p:sp>
      <p:sp>
        <p:nvSpPr>
          <p:cNvPr id="23" name="Text 21"/>
          <p:cNvSpPr/>
          <p:nvPr/>
        </p:nvSpPr>
        <p:spPr>
          <a:xfrm>
            <a:off x="8961120" y="4700016"/>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drift cancels</a:t>
            </a:r>
            <a:endParaRPr lang="en-US" sz="1250" dirty="0"/>
          </a:p>
        </p:txBody>
      </p:sp>
      <p:sp>
        <p:nvSpPr>
          <p:cNvPr id="24" name="Shape 22"/>
          <p:cNvSpPr/>
          <p:nvPr/>
        </p:nvSpPr>
        <p:spPr>
          <a:xfrm>
            <a:off x="685800" y="5303520"/>
            <a:ext cx="10881360" cy="585216"/>
          </a:xfrm>
          <a:prstGeom prst="roundRect">
            <a:avLst>
              <a:gd name="adj" fmla="val 1250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5" name="Text 23"/>
          <p:cNvSpPr/>
          <p:nvPr/>
        </p:nvSpPr>
        <p:spPr>
          <a:xfrm>
            <a:off x="1005840" y="5358384"/>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Muscle crosstalk</a:t>
            </a:r>
            <a:endParaRPr lang="en-US" sz="1300" dirty="0"/>
          </a:p>
        </p:txBody>
      </p:sp>
      <p:sp>
        <p:nvSpPr>
          <p:cNvPr id="26" name="Text 24"/>
          <p:cNvSpPr/>
          <p:nvPr/>
        </p:nvSpPr>
        <p:spPr>
          <a:xfrm>
            <a:off x="4206240" y="5358384"/>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Is the brain electrode picking up muscle?</a:t>
            </a:r>
            <a:endParaRPr lang="en-US" sz="1200" dirty="0"/>
          </a:p>
        </p:txBody>
      </p:sp>
      <p:sp>
        <p:nvSpPr>
          <p:cNvPr id="27" name="Text 25"/>
          <p:cNvSpPr/>
          <p:nvPr/>
        </p:nvSpPr>
        <p:spPr>
          <a:xfrm>
            <a:off x="8961120" y="5358384"/>
            <a:ext cx="2377440" cy="475488"/>
          </a:xfrm>
          <a:prstGeom prst="rect">
            <a:avLst/>
          </a:prstGeom>
          <a:noFill/>
          <a:ln/>
        </p:spPr>
        <p:txBody>
          <a:bodyPr wrap="square" lIns="0" tIns="0" rIns="0" bIns="0" rtlCol="0" anchor="ctr"/>
          <a:lstStyle/>
          <a:p>
            <a:pPr indent="0" marL="0">
              <a:buNone/>
            </a:pPr>
            <a:r>
              <a:rPr lang="en-US" sz="1250" b="1" dirty="0">
                <a:solidFill>
                  <a:srgbClr val="3B6E43"/>
                </a:solidFill>
                <a:latin typeface="Calibri" pitchFamily="34" charset="0"/>
                <a:ea typeface="Calibri" pitchFamily="34" charset="-122"/>
                <a:cs typeface="Calibri" pitchFamily="34" charset="-120"/>
              </a:rPr>
              <a:t>r = +0.06</a:t>
            </a:r>
            <a:endParaRPr lang="en-US" sz="1250" dirty="0"/>
          </a:p>
        </p:txBody>
      </p:sp>
      <p:sp>
        <p:nvSpPr>
          <p:cNvPr id="28" name="Shape 26"/>
          <p:cNvSpPr/>
          <p:nvPr/>
        </p:nvSpPr>
        <p:spPr>
          <a:xfrm>
            <a:off x="685800" y="5961888"/>
            <a:ext cx="10881360" cy="585216"/>
          </a:xfrm>
          <a:prstGeom prst="roundRect">
            <a:avLst>
              <a:gd name="adj" fmla="val 12500"/>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29" name="Text 27"/>
          <p:cNvSpPr/>
          <p:nvPr/>
        </p:nvSpPr>
        <p:spPr>
          <a:xfrm>
            <a:off x="1005840" y="6016752"/>
            <a:ext cx="3108960" cy="475488"/>
          </a:xfrm>
          <a:prstGeom prst="rect">
            <a:avLst/>
          </a:prstGeom>
          <a:noFill/>
          <a:ln/>
        </p:spPr>
        <p:txBody>
          <a:bodyPr wrap="square" lIns="0" tIns="0" rIns="0" bIns="0" rtlCol="0" anchor="ctr"/>
          <a:lstStyle/>
          <a:p>
            <a:pPr indent="0" marL="0">
              <a:buNone/>
            </a:pPr>
            <a:r>
              <a:rPr lang="en-US" sz="1300" b="1" dirty="0">
                <a:solidFill>
                  <a:srgbClr val="14212E"/>
                </a:solidFill>
                <a:latin typeface="Calibri" pitchFamily="34" charset="0"/>
                <a:ea typeface="Calibri" pitchFamily="34" charset="-122"/>
                <a:cs typeface="Calibri" pitchFamily="34" charset="-120"/>
              </a:rPr>
              <a:t>Up versus down</a:t>
            </a:r>
            <a:endParaRPr lang="en-US" sz="1300" dirty="0"/>
          </a:p>
        </p:txBody>
      </p:sp>
      <p:sp>
        <p:nvSpPr>
          <p:cNvPr id="30" name="Text 28"/>
          <p:cNvSpPr/>
          <p:nvPr/>
        </p:nvSpPr>
        <p:spPr>
          <a:xfrm>
            <a:off x="4206240" y="6016752"/>
            <a:ext cx="4572000" cy="475488"/>
          </a:xfrm>
          <a:prstGeom prst="rect">
            <a:avLst/>
          </a:prstGeom>
          <a:noFill/>
          <a:ln/>
        </p:spPr>
        <p:txBody>
          <a:bodyPr wrap="square" lIns="0" tIns="0" rIns="0" bIns="0" rtlCol="0" anchor="ctr"/>
          <a:lstStyle/>
          <a:p>
            <a:pPr indent="0" marL="0">
              <a:buNone/>
            </a:pPr>
            <a:r>
              <a:rPr lang="en-US" sz="1200" dirty="0">
                <a:solidFill>
                  <a:srgbClr val="5A6B7B"/>
                </a:solidFill>
                <a:latin typeface="Calibri" pitchFamily="34" charset="0"/>
                <a:ea typeface="Calibri" pitchFamily="34" charset="-122"/>
                <a:cs typeface="Calibri" pitchFamily="34" charset="-120"/>
              </a:rPr>
              <a:t>Does it depend on training direction?</a:t>
            </a:r>
            <a:endParaRPr lang="en-US" sz="1200" dirty="0"/>
          </a:p>
        </p:txBody>
      </p:sp>
      <p:sp>
        <p:nvSpPr>
          <p:cNvPr id="31" name="Text 29"/>
          <p:cNvSpPr/>
          <p:nvPr/>
        </p:nvSpPr>
        <p:spPr>
          <a:xfrm>
            <a:off x="8961120" y="6016752"/>
            <a:ext cx="2377440" cy="475488"/>
          </a:xfrm>
          <a:prstGeom prst="rect">
            <a:avLst/>
          </a:prstGeom>
          <a:noFill/>
          <a:ln/>
        </p:spPr>
        <p:txBody>
          <a:bodyPr wrap="square" lIns="0" tIns="0" rIns="0" bIns="0" rtlCol="0" anchor="ctr"/>
          <a:lstStyle/>
          <a:p>
            <a:pPr indent="0" marL="0">
              <a:buNone/>
            </a:pPr>
            <a:r>
              <a:rPr lang="en-US" sz="1250" b="1" dirty="0">
                <a:solidFill>
                  <a:srgbClr val="A44430"/>
                </a:solidFill>
                <a:latin typeface="Calibri" pitchFamily="34" charset="0"/>
                <a:ea typeface="Calibri" pitchFamily="34" charset="-122"/>
                <a:cs typeface="Calibri" pitchFamily="34" charset="-120"/>
              </a:rPr>
              <a:t>no difference</a:t>
            </a:r>
            <a:endParaRPr lang="en-US" sz="1250" dirty="0"/>
          </a:p>
        </p:txBody>
      </p:sp>
      <p:sp>
        <p:nvSpPr>
          <p:cNvPr id="32" name="Shape 30"/>
          <p:cNvSpPr/>
          <p:nvPr/>
        </p:nvSpPr>
        <p:spPr>
          <a:xfrm>
            <a:off x="685800" y="6583680"/>
            <a:ext cx="10881360" cy="0"/>
          </a:xfrm>
          <a:prstGeom prst="roundRect">
            <a:avLst>
              <a:gd name="adj" fmla="val Infinity"/>
            </a:avLst>
          </a:prstGeom>
          <a:solidFill>
            <a:srgbClr val="FFFFFF"/>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33" name="Text 31"/>
          <p:cNvSpPr/>
          <p:nvPr/>
        </p:nvSpPr>
        <p:spPr>
          <a:xfrm>
            <a:off x="704088" y="6537960"/>
            <a:ext cx="10881360" cy="320040"/>
          </a:xfrm>
          <a:prstGeom prst="rect">
            <a:avLst/>
          </a:prstGeom>
          <a:noFill/>
          <a:ln/>
        </p:spPr>
        <p:txBody>
          <a:bodyPr wrap="square" lIns="0" tIns="0" rIns="0" bIns="0" rtlCol="0" anchor="ctr"/>
          <a:lstStyle/>
          <a:p>
            <a:pPr indent="0" marL="0">
              <a:buNone/>
            </a:pPr>
            <a:r>
              <a:rPr lang="en-US" sz="1250" i="1" dirty="0">
                <a:solidFill>
                  <a:srgbClr val="5A6B7B"/>
                </a:solidFill>
                <a:latin typeface="Calibri" pitchFamily="34" charset="0"/>
                <a:ea typeface="Calibri" pitchFamily="34" charset="-122"/>
                <a:cs typeface="Calibri" pitchFamily="34" charset="-120"/>
              </a:rPr>
              <a:t>The two that failed are the ones that told us the average-state approach was the wrong question.</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85800" y="402336"/>
            <a:ext cx="10972800" cy="274320"/>
          </a:xfrm>
          <a:prstGeom prst="rect">
            <a:avLst/>
          </a:prstGeom>
          <a:noFill/>
          <a:ln/>
        </p:spPr>
        <p:txBody>
          <a:bodyPr wrap="square" lIns="0" tIns="0" rIns="0" bIns="0" rtlCol="0" anchor="ctr"/>
          <a:lstStyle/>
          <a:p>
            <a:pPr indent="0" marL="0">
              <a:buNone/>
            </a:pPr>
            <a:r>
              <a:rPr lang="en-US" sz="1150" b="1" spc="320" kern="0" dirty="0">
                <a:solidFill>
                  <a:srgbClr val="15718F"/>
                </a:solidFill>
                <a:latin typeface="Calibri" pitchFamily="34" charset="0"/>
                <a:ea typeface="Calibri" pitchFamily="34" charset="-122"/>
                <a:cs typeface="Calibri" pitchFamily="34" charset="-120"/>
              </a:rPr>
              <a:t>WHAT'S NEXT</a:t>
            </a:r>
            <a:endParaRPr lang="en-US" sz="1150" dirty="0"/>
          </a:p>
        </p:txBody>
      </p:sp>
      <p:sp>
        <p:nvSpPr>
          <p:cNvPr id="3" name="Text 1"/>
          <p:cNvSpPr/>
          <p:nvPr/>
        </p:nvSpPr>
        <p:spPr>
          <a:xfrm>
            <a:off x="685800" y="713232"/>
            <a:ext cx="10881360" cy="777240"/>
          </a:xfrm>
          <a:prstGeom prst="rect">
            <a:avLst/>
          </a:prstGeom>
          <a:noFill/>
          <a:ln/>
        </p:spPr>
        <p:txBody>
          <a:bodyPr wrap="square" lIns="0" tIns="0" rIns="0" bIns="0" rtlCol="0" anchor="ctr"/>
          <a:lstStyle/>
          <a:p>
            <a:pPr indent="0" marL="0">
              <a:buNone/>
            </a:pPr>
            <a:r>
              <a:rPr lang="en-US" sz="3100" b="1" dirty="0">
                <a:solidFill>
                  <a:srgbClr val="14212E"/>
                </a:solidFill>
                <a:latin typeface="Cambria" pitchFamily="34" charset="0"/>
                <a:ea typeface="Cambria" pitchFamily="34" charset="-122"/>
                <a:cs typeface="Cambria" pitchFamily="34" charset="-120"/>
              </a:rPr>
              <a:t>The test that more animals would settle</a:t>
            </a:r>
            <a:endParaRPr lang="en-US" sz="3100" dirty="0"/>
          </a:p>
        </p:txBody>
      </p:sp>
      <p:pic>
        <p:nvPicPr>
          <p:cNvPr id="4" name="Image 0" descr="/Users/suchithrao/Downloads/hroc-training/outputs/scaling/scaling.png">    </p:cNvPr>
          <p:cNvPicPr>
            <a:picLocks noChangeAspect="1"/>
          </p:cNvPicPr>
          <p:nvPr/>
        </p:nvPicPr>
        <p:blipFill>
          <a:blip r:embed="rId1"/>
          <a:srcRect l="0" r="0" t="0" b="0"/>
          <a:stretch/>
        </p:blipFill>
        <p:spPr>
          <a:xfrm>
            <a:off x="566928" y="2011680"/>
            <a:ext cx="6675120" cy="2567354"/>
          </a:xfrm>
          <a:prstGeom prst="rect">
            <a:avLst/>
          </a:prstGeom>
        </p:spPr>
      </p:pic>
      <p:sp>
        <p:nvSpPr>
          <p:cNvPr id="5" name="Shape 2"/>
          <p:cNvSpPr/>
          <p:nvPr/>
        </p:nvSpPr>
        <p:spPr>
          <a:xfrm>
            <a:off x="7452360" y="2103120"/>
            <a:ext cx="4114800" cy="3291840"/>
          </a:xfrm>
          <a:prstGeom prst="roundRect">
            <a:avLst>
              <a:gd name="adj" fmla="val 2222"/>
            </a:avLst>
          </a:prstGeom>
          <a:solidFill>
            <a:srgbClr val="EAF4F7"/>
          </a:solidFill>
          <a:ln w="12700">
            <a:solidFill>
              <a:srgbClr val="DDE4EA"/>
            </a:solidFill>
            <a:prstDash val="solid"/>
          </a:ln>
          <a:effectLst>
            <a:outerShdw sx="100000" sy="100000" kx="0" ky="0" algn="bl" rotWithShape="0" blurRad="127000" dist="38100" dir="5400000">
              <a:srgbClr val="0C1620">
                <a:alpha val="11000"/>
              </a:srgbClr>
            </a:outerShdw>
          </a:effectLst>
        </p:spPr>
      </p:sp>
      <p:sp>
        <p:nvSpPr>
          <p:cNvPr id="6" name="Text 3"/>
          <p:cNvSpPr/>
          <p:nvPr/>
        </p:nvSpPr>
        <p:spPr>
          <a:xfrm>
            <a:off x="7726680" y="2331720"/>
            <a:ext cx="3566160" cy="502920"/>
          </a:xfrm>
          <a:prstGeom prst="rect">
            <a:avLst/>
          </a:prstGeom>
          <a:noFill/>
          <a:ln/>
        </p:spPr>
        <p:txBody>
          <a:bodyPr wrap="square" lIns="0" tIns="0" rIns="0" bIns="0" rtlCol="0" anchor="ctr"/>
          <a:lstStyle/>
          <a:p>
            <a:pPr indent="0" marL="0">
              <a:buNone/>
            </a:pPr>
            <a:r>
              <a:rPr lang="en-US" sz="2800" b="1" dirty="0">
                <a:solidFill>
                  <a:srgbClr val="15718F"/>
                </a:solidFill>
                <a:latin typeface="Cambria" pitchFamily="34" charset="0"/>
                <a:ea typeface="Cambria" pitchFamily="34" charset="-122"/>
                <a:cs typeface="Cambria" pitchFamily="34" charset="-120"/>
              </a:rPr>
              <a:t>r = +0.71</a:t>
            </a:r>
            <a:endParaRPr lang="en-US" sz="2800" dirty="0"/>
          </a:p>
        </p:txBody>
      </p:sp>
      <p:sp>
        <p:nvSpPr>
          <p:cNvPr id="7" name="Text 4"/>
          <p:cNvSpPr/>
          <p:nvPr/>
        </p:nvSpPr>
        <p:spPr>
          <a:xfrm>
            <a:off x="7726680" y="2880360"/>
            <a:ext cx="3566160" cy="731520"/>
          </a:xfrm>
          <a:prstGeom prst="rect">
            <a:avLst/>
          </a:prstGeom>
          <a:noFill/>
          <a:ln/>
        </p:spPr>
        <p:txBody>
          <a:bodyPr wrap="square" lIns="0" tIns="0" rIns="0" bIns="0" rtlCol="0" anchor="ctr"/>
          <a:lstStyle/>
          <a:p>
            <a:pPr indent="0" marL="0">
              <a:lnSpc>
                <a:spcPct val="106000"/>
              </a:lnSpc>
              <a:buNone/>
            </a:pPr>
            <a:r>
              <a:rPr lang="en-US" sz="1300" dirty="0">
                <a:solidFill>
                  <a:srgbClr val="14212E"/>
                </a:solidFill>
                <a:latin typeface="Calibri" pitchFamily="34" charset="0"/>
                <a:ea typeface="Calibri" pitchFamily="34" charset="-122"/>
                <a:cs typeface="Calibri" pitchFamily="34" charset="-120"/>
              </a:rPr>
              <a:t>between how much an animal learned and how much its brain coupling changed</a:t>
            </a:r>
            <a:endParaRPr lang="en-US" sz="1300" dirty="0"/>
          </a:p>
        </p:txBody>
      </p:sp>
      <p:sp>
        <p:nvSpPr>
          <p:cNvPr id="8" name="Text 5"/>
          <p:cNvSpPr/>
          <p:nvPr/>
        </p:nvSpPr>
        <p:spPr>
          <a:xfrm>
            <a:off x="7726680" y="3703320"/>
            <a:ext cx="3566160" cy="822960"/>
          </a:xfrm>
          <a:prstGeom prst="rect">
            <a:avLst/>
          </a:prstGeom>
          <a:noFill/>
          <a:ln/>
        </p:spPr>
        <p:txBody>
          <a:bodyPr wrap="square" lIns="0" tIns="0" rIns="0" bIns="0" rtlCol="0" anchor="ctr"/>
          <a:lstStyle/>
          <a:p>
            <a:pPr indent="0" marL="0">
              <a:lnSpc>
                <a:spcPct val="106000"/>
              </a:lnSpc>
              <a:buNone/>
            </a:pPr>
            <a:r>
              <a:rPr lang="en-US" sz="1250" dirty="0">
                <a:solidFill>
                  <a:srgbClr val="5A6B7B"/>
                </a:solidFill>
                <a:latin typeface="Calibri" pitchFamily="34" charset="0"/>
                <a:ea typeface="Calibri" pitchFamily="34" charset="-122"/>
                <a:cs typeface="Calibri" pitchFamily="34" charset="-120"/>
              </a:rPr>
              <a:t>The two animals that failed to learn show no increase — a built-in negative control.</a:t>
            </a:r>
            <a:endParaRPr lang="en-US" sz="1250" dirty="0"/>
          </a:p>
        </p:txBody>
      </p:sp>
      <p:sp>
        <p:nvSpPr>
          <p:cNvPr id="9" name="Text 6"/>
          <p:cNvSpPr/>
          <p:nvPr/>
        </p:nvSpPr>
        <p:spPr>
          <a:xfrm>
            <a:off x="7726680" y="4617720"/>
            <a:ext cx="3566160" cy="731520"/>
          </a:xfrm>
          <a:prstGeom prst="rect">
            <a:avLst/>
          </a:prstGeom>
          <a:noFill/>
          <a:ln/>
        </p:spPr>
        <p:txBody>
          <a:bodyPr wrap="square" lIns="0" tIns="0" rIns="0" bIns="0" rtlCol="0" anchor="ctr"/>
          <a:lstStyle/>
          <a:p>
            <a:pPr indent="0" marL="0">
              <a:lnSpc>
                <a:spcPct val="106000"/>
              </a:lnSpc>
              <a:buNone/>
            </a:pPr>
            <a:r>
              <a:rPr lang="en-US" sz="1250" b="1" i="1" dirty="0">
                <a:solidFill>
                  <a:srgbClr val="B4671A"/>
                </a:solidFill>
                <a:latin typeface="Calibri" pitchFamily="34" charset="0"/>
                <a:ea typeface="Calibri" pitchFamily="34" charset="-122"/>
                <a:cs typeface="Calibri" pitchFamily="34" charset="-120"/>
              </a:rPr>
              <a:t>With five animals this is a direction, not a result. Five more are ready to process.</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C1620"/>
        </a:solidFill>
      </p:bgPr>
    </p:bg>
    <p:spTree>
      <p:nvGrpSpPr>
        <p:cNvPr id="1" name=""/>
        <p:cNvGrpSpPr/>
        <p:nvPr/>
      </p:nvGrpSpPr>
      <p:grpSpPr>
        <a:xfrm>
          <a:off x="0" y="0"/>
          <a:ext cx="0" cy="0"/>
          <a:chOff x="0" y="0"/>
          <a:chExt cx="0" cy="0"/>
        </a:xfrm>
      </p:grpSpPr>
      <p:sp>
        <p:nvSpPr>
          <p:cNvPr id="2" name="Text 0"/>
          <p:cNvSpPr/>
          <p:nvPr/>
        </p:nvSpPr>
        <p:spPr>
          <a:xfrm>
            <a:off x="777240" y="594360"/>
            <a:ext cx="10058400" cy="365760"/>
          </a:xfrm>
          <a:prstGeom prst="rect">
            <a:avLst/>
          </a:prstGeom>
          <a:noFill/>
          <a:ln/>
        </p:spPr>
        <p:txBody>
          <a:bodyPr wrap="square" lIns="0" tIns="0" rIns="0" bIns="0" rtlCol="0" anchor="ctr"/>
          <a:lstStyle/>
          <a:p>
            <a:pPr indent="0" marL="0">
              <a:buNone/>
            </a:pPr>
            <a:r>
              <a:rPr lang="en-US" sz="1300" b="1" spc="300" kern="0" dirty="0">
                <a:solidFill>
                  <a:srgbClr val="7FB8C9"/>
                </a:solidFill>
                <a:latin typeface="Calibri" pitchFamily="34" charset="0"/>
                <a:ea typeface="Calibri" pitchFamily="34" charset="-122"/>
                <a:cs typeface="Calibri" pitchFamily="34" charset="-120"/>
              </a:rPr>
              <a:t>WHERE WE'D VALUE YOUR INPUT</a:t>
            </a:r>
            <a:endParaRPr lang="en-US" sz="1300" dirty="0"/>
          </a:p>
        </p:txBody>
      </p:sp>
      <p:sp>
        <p:nvSpPr>
          <p:cNvPr id="3" name="Text 1"/>
          <p:cNvSpPr/>
          <p:nvPr/>
        </p:nvSpPr>
        <p:spPr>
          <a:xfrm>
            <a:off x="777240" y="1005840"/>
            <a:ext cx="10515600" cy="68580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Four questions</a:t>
            </a:r>
            <a:endParaRPr lang="en-US" sz="3200" dirty="0"/>
          </a:p>
        </p:txBody>
      </p:sp>
      <p:sp>
        <p:nvSpPr>
          <p:cNvPr id="4" name="Shape 2"/>
          <p:cNvSpPr/>
          <p:nvPr/>
        </p:nvSpPr>
        <p:spPr>
          <a:xfrm>
            <a:off x="777240" y="1965960"/>
            <a:ext cx="5257800" cy="1920240"/>
          </a:xfrm>
          <a:prstGeom prst="roundRect">
            <a:avLst>
              <a:gd name="adj" fmla="val 3810"/>
            </a:avLst>
          </a:prstGeom>
          <a:solidFill>
            <a:srgbClr val="15222E"/>
          </a:solidFill>
          <a:ln w="12700">
            <a:solidFill>
              <a:srgbClr val="2C3D4C"/>
            </a:solidFill>
            <a:prstDash val="solid"/>
          </a:ln>
        </p:spPr>
      </p:sp>
      <p:sp>
        <p:nvSpPr>
          <p:cNvPr id="5" name="Shape 3"/>
          <p:cNvSpPr/>
          <p:nvPr/>
        </p:nvSpPr>
        <p:spPr>
          <a:xfrm>
            <a:off x="1069848" y="2258568"/>
            <a:ext cx="420624" cy="420624"/>
          </a:xfrm>
          <a:prstGeom prst="ellipse">
            <a:avLst/>
          </a:prstGeom>
          <a:solidFill>
            <a:srgbClr val="15718F"/>
          </a:solidFill>
          <a:ln/>
        </p:spPr>
      </p:sp>
      <p:sp>
        <p:nvSpPr>
          <p:cNvPr id="6" name="Text 4"/>
          <p:cNvSpPr/>
          <p:nvPr/>
        </p:nvSpPr>
        <p:spPr>
          <a:xfrm>
            <a:off x="1069848" y="225856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p:nvPr/>
        </p:nvSpPr>
        <p:spPr>
          <a:xfrm>
            <a:off x="1645920" y="2240280"/>
            <a:ext cx="4206240" cy="548640"/>
          </a:xfrm>
          <a:prstGeom prst="rect">
            <a:avLst/>
          </a:prstGeom>
          <a:noFill/>
          <a:ln/>
        </p:spPr>
        <p:txBody>
          <a:bodyPr wrap="square" lIns="0" tIns="0" rIns="0" bIns="0" rtlCol="0" anchor="ctr"/>
          <a:lstStyle/>
          <a:p>
            <a:pPr indent="0" marL="0">
              <a:lnSpc>
                <a:spcPct val="98000"/>
              </a:lnSpc>
              <a:buNone/>
            </a:pPr>
            <a:r>
              <a:rPr lang="en-US" sz="1450" b="1" dirty="0">
                <a:solidFill>
                  <a:srgbClr val="FFFFFF"/>
                </a:solidFill>
                <a:latin typeface="Calibri" pitchFamily="34" charset="0"/>
                <a:ea typeface="Calibri" pitchFamily="34" charset="-122"/>
                <a:cs typeface="Calibri" pitchFamily="34" charset="-120"/>
              </a:rPr>
              <a:t>Is a 2% unique contribution worth reporting?</a:t>
            </a:r>
            <a:endParaRPr lang="en-US" sz="1450" dirty="0"/>
          </a:p>
        </p:txBody>
      </p:sp>
      <p:sp>
        <p:nvSpPr>
          <p:cNvPr id="8" name="Text 6"/>
          <p:cNvSpPr/>
          <p:nvPr/>
        </p:nvSpPr>
        <p:spPr>
          <a:xfrm>
            <a:off x="1088136" y="2926080"/>
            <a:ext cx="4663440" cy="822960"/>
          </a:xfrm>
          <a:prstGeom prst="rect">
            <a:avLst/>
          </a:prstGeom>
          <a:noFill/>
          <a:ln/>
        </p:spPr>
        <p:txBody>
          <a:bodyPr wrap="square" lIns="0" tIns="0" rIns="0" bIns="0" rtlCol="0" anchor="ctr"/>
          <a:lstStyle/>
          <a:p>
            <a:pPr indent="0" marL="0">
              <a:lnSpc>
                <a:spcPct val="106000"/>
              </a:lnSpc>
              <a:buNone/>
            </a:pPr>
            <a:r>
              <a:rPr lang="en-US" sz="1200" dirty="0">
                <a:solidFill>
                  <a:srgbClr val="AFC0CC"/>
                </a:solidFill>
                <a:latin typeface="Calibri" pitchFamily="34" charset="0"/>
                <a:ea typeface="Calibri" pitchFamily="34" charset="-122"/>
                <a:cs typeface="Calibri" pitchFamily="34" charset="-120"/>
              </a:rPr>
              <a:t>It is small, but consistent, and it survives every control we could think of.</a:t>
            </a:r>
            <a:endParaRPr lang="en-US" sz="1200" dirty="0"/>
          </a:p>
        </p:txBody>
      </p:sp>
      <p:sp>
        <p:nvSpPr>
          <p:cNvPr id="9" name="Shape 7"/>
          <p:cNvSpPr/>
          <p:nvPr/>
        </p:nvSpPr>
        <p:spPr>
          <a:xfrm>
            <a:off x="6309360" y="1965960"/>
            <a:ext cx="5257800" cy="1920240"/>
          </a:xfrm>
          <a:prstGeom prst="roundRect">
            <a:avLst>
              <a:gd name="adj" fmla="val 3810"/>
            </a:avLst>
          </a:prstGeom>
          <a:solidFill>
            <a:srgbClr val="15222E"/>
          </a:solidFill>
          <a:ln w="12700">
            <a:solidFill>
              <a:srgbClr val="2C3D4C"/>
            </a:solidFill>
            <a:prstDash val="solid"/>
          </a:ln>
        </p:spPr>
      </p:sp>
      <p:sp>
        <p:nvSpPr>
          <p:cNvPr id="10" name="Shape 8"/>
          <p:cNvSpPr/>
          <p:nvPr/>
        </p:nvSpPr>
        <p:spPr>
          <a:xfrm>
            <a:off x="6601968" y="2258568"/>
            <a:ext cx="420624" cy="420624"/>
          </a:xfrm>
          <a:prstGeom prst="ellipse">
            <a:avLst/>
          </a:prstGeom>
          <a:solidFill>
            <a:srgbClr val="15718F"/>
          </a:solidFill>
          <a:ln/>
        </p:spPr>
      </p:sp>
      <p:sp>
        <p:nvSpPr>
          <p:cNvPr id="11" name="Text 9"/>
          <p:cNvSpPr/>
          <p:nvPr/>
        </p:nvSpPr>
        <p:spPr>
          <a:xfrm>
            <a:off x="6601968" y="225856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p:nvPr/>
        </p:nvSpPr>
        <p:spPr>
          <a:xfrm>
            <a:off x="7178040" y="2240280"/>
            <a:ext cx="4206240" cy="548640"/>
          </a:xfrm>
          <a:prstGeom prst="rect">
            <a:avLst/>
          </a:prstGeom>
          <a:noFill/>
          <a:ln/>
        </p:spPr>
        <p:txBody>
          <a:bodyPr wrap="square" lIns="0" tIns="0" rIns="0" bIns="0" rtlCol="0" anchor="ctr"/>
          <a:lstStyle/>
          <a:p>
            <a:pPr indent="0" marL="0">
              <a:lnSpc>
                <a:spcPct val="98000"/>
              </a:lnSpc>
              <a:buNone/>
            </a:pPr>
            <a:r>
              <a:rPr lang="en-US" sz="1450" b="1" dirty="0">
                <a:solidFill>
                  <a:srgbClr val="FFFFFF"/>
                </a:solidFill>
                <a:latin typeface="Calibri" pitchFamily="34" charset="0"/>
                <a:ea typeface="Calibri" pitchFamily="34" charset="-122"/>
                <a:cs typeface="Calibri" pitchFamily="34" charset="-120"/>
              </a:rPr>
              <a:t>Does the within-window design convince you?</a:t>
            </a:r>
            <a:endParaRPr lang="en-US" sz="1450" dirty="0"/>
          </a:p>
        </p:txBody>
      </p:sp>
      <p:sp>
        <p:nvSpPr>
          <p:cNvPr id="13" name="Text 11"/>
          <p:cNvSpPr/>
          <p:nvPr/>
        </p:nvSpPr>
        <p:spPr>
          <a:xfrm>
            <a:off x="6620256" y="2926080"/>
            <a:ext cx="4663440" cy="822960"/>
          </a:xfrm>
          <a:prstGeom prst="rect">
            <a:avLst/>
          </a:prstGeom>
          <a:noFill/>
          <a:ln/>
        </p:spPr>
        <p:txBody>
          <a:bodyPr wrap="square" lIns="0" tIns="0" rIns="0" bIns="0" rtlCol="0" anchor="ctr"/>
          <a:lstStyle/>
          <a:p>
            <a:pPr indent="0" marL="0">
              <a:lnSpc>
                <a:spcPct val="106000"/>
              </a:lnSpc>
              <a:buNone/>
            </a:pPr>
            <a:r>
              <a:rPr lang="en-US" sz="1200" dirty="0">
                <a:solidFill>
                  <a:srgbClr val="AFC0CC"/>
                </a:solidFill>
                <a:latin typeface="Calibri" pitchFamily="34" charset="0"/>
                <a:ea typeface="Calibri" pitchFamily="34" charset="-122"/>
                <a:cs typeface="Calibri" pitchFamily="34" charset="-120"/>
              </a:rPr>
              <a:t>Train and test inside five days so drift cancels. Is that enough to rule out the electrode?</a:t>
            </a:r>
            <a:endParaRPr lang="en-US" sz="1200" dirty="0"/>
          </a:p>
        </p:txBody>
      </p:sp>
      <p:sp>
        <p:nvSpPr>
          <p:cNvPr id="14" name="Shape 12"/>
          <p:cNvSpPr/>
          <p:nvPr/>
        </p:nvSpPr>
        <p:spPr>
          <a:xfrm>
            <a:off x="777240" y="4160520"/>
            <a:ext cx="5257800" cy="1920240"/>
          </a:xfrm>
          <a:prstGeom prst="roundRect">
            <a:avLst>
              <a:gd name="adj" fmla="val 3810"/>
            </a:avLst>
          </a:prstGeom>
          <a:solidFill>
            <a:srgbClr val="15222E"/>
          </a:solidFill>
          <a:ln w="12700">
            <a:solidFill>
              <a:srgbClr val="2C3D4C"/>
            </a:solidFill>
            <a:prstDash val="solid"/>
          </a:ln>
        </p:spPr>
      </p:sp>
      <p:sp>
        <p:nvSpPr>
          <p:cNvPr id="15" name="Shape 13"/>
          <p:cNvSpPr/>
          <p:nvPr/>
        </p:nvSpPr>
        <p:spPr>
          <a:xfrm>
            <a:off x="1069848" y="4453128"/>
            <a:ext cx="420624" cy="420624"/>
          </a:xfrm>
          <a:prstGeom prst="ellipse">
            <a:avLst/>
          </a:prstGeom>
          <a:solidFill>
            <a:srgbClr val="B4671A"/>
          </a:solidFill>
          <a:ln/>
        </p:spPr>
      </p:sp>
      <p:sp>
        <p:nvSpPr>
          <p:cNvPr id="16" name="Text 14"/>
          <p:cNvSpPr/>
          <p:nvPr/>
        </p:nvSpPr>
        <p:spPr>
          <a:xfrm>
            <a:off x="1069848" y="445312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p:nvPr/>
        </p:nvSpPr>
        <p:spPr>
          <a:xfrm>
            <a:off x="1645920" y="4434840"/>
            <a:ext cx="4206240" cy="548640"/>
          </a:xfrm>
          <a:prstGeom prst="rect">
            <a:avLst/>
          </a:prstGeom>
          <a:noFill/>
          <a:ln/>
        </p:spPr>
        <p:txBody>
          <a:bodyPr wrap="square" lIns="0" tIns="0" rIns="0" bIns="0" rtlCol="0" anchor="ctr"/>
          <a:lstStyle/>
          <a:p>
            <a:pPr indent="0" marL="0">
              <a:lnSpc>
                <a:spcPct val="98000"/>
              </a:lnSpc>
              <a:buNone/>
            </a:pPr>
            <a:r>
              <a:rPr lang="en-US" sz="1450" b="1" dirty="0">
                <a:solidFill>
                  <a:srgbClr val="FFFFFF"/>
                </a:solidFill>
                <a:latin typeface="Calibri" pitchFamily="34" charset="0"/>
                <a:ea typeface="Calibri" pitchFamily="34" charset="-122"/>
                <a:cs typeface="Calibri" pitchFamily="34" charset="-120"/>
              </a:rPr>
              <a:t>What else could produce this?</a:t>
            </a:r>
            <a:endParaRPr lang="en-US" sz="1450" dirty="0"/>
          </a:p>
        </p:txBody>
      </p:sp>
      <p:sp>
        <p:nvSpPr>
          <p:cNvPr id="18" name="Text 16"/>
          <p:cNvSpPr/>
          <p:nvPr/>
        </p:nvSpPr>
        <p:spPr>
          <a:xfrm>
            <a:off x="1088136" y="5120640"/>
            <a:ext cx="4663440" cy="822960"/>
          </a:xfrm>
          <a:prstGeom prst="rect">
            <a:avLst/>
          </a:prstGeom>
          <a:noFill/>
          <a:ln/>
        </p:spPr>
        <p:txBody>
          <a:bodyPr wrap="square" lIns="0" tIns="0" rIns="0" bIns="0" rtlCol="0" anchor="ctr"/>
          <a:lstStyle/>
          <a:p>
            <a:pPr indent="0" marL="0">
              <a:lnSpc>
                <a:spcPct val="106000"/>
              </a:lnSpc>
              <a:buNone/>
            </a:pPr>
            <a:r>
              <a:rPr lang="en-US" sz="1200" dirty="0">
                <a:solidFill>
                  <a:srgbClr val="AFC0CC"/>
                </a:solidFill>
                <a:latin typeface="Calibri" pitchFamily="34" charset="0"/>
                <a:ea typeface="Calibri" pitchFamily="34" charset="-122"/>
                <a:cs typeface="Calibri" pitchFamily="34" charset="-120"/>
              </a:rPr>
              <a:t>We've excluded stimulus, muscle tone, drift and crosstalk. What are we missing?</a:t>
            </a:r>
            <a:endParaRPr lang="en-US" sz="1200" dirty="0"/>
          </a:p>
        </p:txBody>
      </p:sp>
      <p:sp>
        <p:nvSpPr>
          <p:cNvPr id="19" name="Shape 17"/>
          <p:cNvSpPr/>
          <p:nvPr/>
        </p:nvSpPr>
        <p:spPr>
          <a:xfrm>
            <a:off x="6309360" y="4160520"/>
            <a:ext cx="5257800" cy="1920240"/>
          </a:xfrm>
          <a:prstGeom prst="roundRect">
            <a:avLst>
              <a:gd name="adj" fmla="val 3810"/>
            </a:avLst>
          </a:prstGeom>
          <a:solidFill>
            <a:srgbClr val="15222E"/>
          </a:solidFill>
          <a:ln w="12700">
            <a:solidFill>
              <a:srgbClr val="2C3D4C"/>
            </a:solidFill>
            <a:prstDash val="solid"/>
          </a:ln>
        </p:spPr>
      </p:sp>
      <p:sp>
        <p:nvSpPr>
          <p:cNvPr id="20" name="Shape 18"/>
          <p:cNvSpPr/>
          <p:nvPr/>
        </p:nvSpPr>
        <p:spPr>
          <a:xfrm>
            <a:off x="6601968" y="4453128"/>
            <a:ext cx="420624" cy="420624"/>
          </a:xfrm>
          <a:prstGeom prst="ellipse">
            <a:avLst/>
          </a:prstGeom>
          <a:solidFill>
            <a:srgbClr val="B4671A"/>
          </a:solidFill>
          <a:ln/>
        </p:spPr>
      </p:sp>
      <p:sp>
        <p:nvSpPr>
          <p:cNvPr id="21" name="Text 19"/>
          <p:cNvSpPr/>
          <p:nvPr/>
        </p:nvSpPr>
        <p:spPr>
          <a:xfrm>
            <a:off x="6601968" y="445312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p:nvPr/>
        </p:nvSpPr>
        <p:spPr>
          <a:xfrm>
            <a:off x="7178040" y="4434840"/>
            <a:ext cx="4206240" cy="548640"/>
          </a:xfrm>
          <a:prstGeom prst="rect">
            <a:avLst/>
          </a:prstGeom>
          <a:noFill/>
          <a:ln/>
        </p:spPr>
        <p:txBody>
          <a:bodyPr wrap="square" lIns="0" tIns="0" rIns="0" bIns="0" rtlCol="0" anchor="ctr"/>
          <a:lstStyle/>
          <a:p>
            <a:pPr indent="0" marL="0">
              <a:lnSpc>
                <a:spcPct val="98000"/>
              </a:lnSpc>
              <a:buNone/>
            </a:pPr>
            <a:r>
              <a:rPr lang="en-US" sz="1450" b="1" dirty="0">
                <a:solidFill>
                  <a:srgbClr val="FFFFFF"/>
                </a:solidFill>
                <a:latin typeface="Calibri" pitchFamily="34" charset="0"/>
                <a:ea typeface="Calibri" pitchFamily="34" charset="-122"/>
                <a:cs typeface="Calibri" pitchFamily="34" charset="-120"/>
              </a:rPr>
              <a:t>Is the negative result worth publishing?</a:t>
            </a:r>
            <a:endParaRPr lang="en-US" sz="1450" dirty="0"/>
          </a:p>
        </p:txBody>
      </p:sp>
      <p:sp>
        <p:nvSpPr>
          <p:cNvPr id="23" name="Text 21"/>
          <p:cNvSpPr/>
          <p:nvPr/>
        </p:nvSpPr>
        <p:spPr>
          <a:xfrm>
            <a:off x="6620256" y="5120640"/>
            <a:ext cx="4663440" cy="822960"/>
          </a:xfrm>
          <a:prstGeom prst="rect">
            <a:avLst/>
          </a:prstGeom>
          <a:noFill/>
          <a:ln/>
        </p:spPr>
        <p:txBody>
          <a:bodyPr wrap="square" lIns="0" tIns="0" rIns="0" bIns="0" rtlCol="0" anchor="ctr"/>
          <a:lstStyle/>
          <a:p>
            <a:pPr indent="0" marL="0">
              <a:lnSpc>
                <a:spcPct val="106000"/>
              </a:lnSpc>
              <a:buNone/>
            </a:pPr>
            <a:r>
              <a:rPr lang="en-US" sz="1200" dirty="0">
                <a:solidFill>
                  <a:srgbClr val="AFC0CC"/>
                </a:solidFill>
                <a:latin typeface="Calibri" pitchFamily="34" charset="0"/>
                <a:ea typeface="Calibri" pitchFamily="34" charset="-122"/>
                <a:cs typeface="Calibri" pitchFamily="34" charset="-120"/>
              </a:rPr>
              <a:t>The obvious analysis looks convincing and fails three controls. Useful warning, or a distraction?</a:t>
            </a:r>
            <a:endParaRPr lang="en-US" sz="1200" dirty="0"/>
          </a:p>
        </p:txBody>
      </p:sp>
      <p:sp>
        <p:nvSpPr>
          <p:cNvPr id="24" name="Text 22"/>
          <p:cNvSpPr/>
          <p:nvPr/>
        </p:nvSpPr>
        <p:spPr>
          <a:xfrm>
            <a:off x="777240" y="6400800"/>
            <a:ext cx="10698480" cy="365760"/>
          </a:xfrm>
          <a:prstGeom prst="rect">
            <a:avLst/>
          </a:prstGeom>
          <a:noFill/>
          <a:ln/>
        </p:spPr>
        <p:txBody>
          <a:bodyPr wrap="square" lIns="0" tIns="0" rIns="0" bIns="0" rtlCol="0" anchor="ctr"/>
          <a:lstStyle/>
          <a:p>
            <a:pPr indent="0" marL="0">
              <a:buNone/>
            </a:pPr>
            <a:r>
              <a:rPr lang="en-US" sz="1250" i="1" dirty="0">
                <a:solidFill>
                  <a:srgbClr val="7E8E9B"/>
                </a:solidFill>
                <a:latin typeface="Calibri" pitchFamily="34" charset="0"/>
                <a:ea typeface="Calibri" pitchFamily="34" charset="-122"/>
                <a:cs typeface="Calibri" pitchFamily="34" charset="-120"/>
              </a:rPr>
              <a:t>Code, figures and the full write-up:  github.com/switchrao777/hroc-ncan</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Cortical prediction of the H-reflex</dc:title>
  <dc:subject>PptxGenJS Presentation</dc:subject>
  <dc:creator>Suchith Rao &amp; Tarun Senthil</dc:creator>
  <cp:lastModifiedBy>Suchith Rao &amp; Tarun Senthil</cp:lastModifiedBy>
  <cp:revision>1</cp:revision>
  <dcterms:created xsi:type="dcterms:W3CDTF">2026-08-17T01:55:02Z</dcterms:created>
  <dcterms:modified xsi:type="dcterms:W3CDTF">2026-08-17T01:55:02Z</dcterms:modified>
</cp:coreProperties>
</file>