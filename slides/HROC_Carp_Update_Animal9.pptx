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week I got the whole deep-learning pipeline running on REAL Animal 9 data, end to end. I'll walk through what it does, show the first real results, and get your read on a few neuro calls. Everything before this was a synthetic proof-of-concept; this is the real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Reground everyone in the science. The bet hasn't changed: does the cortex change as the cord learns. Chad squeezed the simple correlation dry. The novel angle is watching the cortical representation MOVE across phases. Animal 9 is the first paired dataset that lets us even ask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framing: everything I showed before was synthetic, proving the machine works. This week it's real. Same code, real Animal 9 — 283k trials, both channels, three phases. From here on, every number is real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Ground Carp in the raw data. Each trial is a 30ms window at 5kHz with two simultaneous channels: the leg EMG (where the H-reflex is) and the cortical ECoG (the brain signal we model). Everything downstream is about relating these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trusting anything, we had to prove the decode. The averaged muscle trace shows the classic stimulus -&gt; M-wave -&gt; H-reflex sequence. We also corrected the lab's own format notes (they said big-endian; it's actually little-endian). This is the gate: if this looked like noise, nothing else would mean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phase labels were listed as an open blocker. I recovered them from the type-15 entries in the experimenter's log — markers like 'Start HRdown' and 'Stopped conditioning' — and mapped every trial by timestamp. Important: Animal 9 only ran Baseline, down-conditioning, and post. And I later verified against the real schema file, so the boundaries are solid.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H-reflex amplitude is the number Phase 2 predicts. Two things I want your read on later: the window (I'm using 6-9ms, which the log itself specifies and the data confirms) and the measure (mean rectified amplitude, which is your spec — robust to background activity, unlike a single peak).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concept everything hangs on. The autoencoder replaces hand-picked features: it learns its own 48-number fingerprint of the cortical trace by having to compress and then rebuild the signal. Phase 1 is unsupervised — it never sees an H-reflex label. Phase 2 freezes that fingerprint and tests whether the H-reflex can be read off it. Think nonlinear PCA that discovers its own axes.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cheat sheet before the results. Fingerprint = the model's self-invented 48-number summary of the brain signal. R-squared = how much of the reflex it can explain, 0 to 1, we get 0.17. Drift = how far the average brain state moved from baseline. And the catch: some of that drift might be recording-setup, not learning. Keep these four in mind for the next three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test that makes the fingerprint trustworthy. Freeze the model, ask a tiny predictor to read the H-reflex off the fingerprint. R-squared 0.17 on real cortex. The green line climbing is it getting better at reading the reflex. It's far below the synthetic 0.90 — but that's expected and honest: the synthetic ECoG was built to encode the reflex; real cortex is far noisier. 0.17 with zero labels during learning is a genuine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research question in one picture. Each phase's average cortical fingerprint, distance from baseline. It climbs sharply during down-conditioning and returns toward baseline afterward. The brain representation shifts as the cord learns and partly recovers when training stops. On a clean dataset, this figure is the paper. But — next slide — there's a confound to resolve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upfront. The H-reflex is HIGHER during down-conditioning, which is backwards — down-conditioning should shrink it. The likely reason: the 'Baseline' block is really the setup/characterization period, where the stimulus intensity is still being tuned (the log is full of TARG adjustments). So the cortical drift might partly reflect overall session state rather than the learning. This is the single most important thing to nail down before we call it a cortical correlate of conditioning — and it's exactly where I need your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honest read: the infrastructure is the big win — real data end to end, reproducible, and it was genuinely the hard part. The first signal is promising, above chance, with a visible drift. But it's not yet a claim: the confound, statistics, and more animals stand between us and a result. Strong foundation, honest about where it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 and why it scales. Near term: resolve the baseline confound and add real statistics to the drift. Then the leverage — there are ~14 conditioned animals in the Drive. The pipeline pools them, so each one sharpens the result. And up-conditioning and freely-running animals are natural controls: they should drift in the opposite direction, or barely at all. That's how we turn today's foundation into a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the conversation over. The two that actually block me are the first two: how to define a clean baseline given the setup confound, and confirming the H-reflex label. Then the bigger-picture ones: what controls would convince you it's real, and which animals to prioritize. Everything's on GitHub for you and Tarun.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Shape 0"/>
          <p:cNvSpPr/>
          <p:nvPr/>
        </p:nvSpPr>
        <p:spPr>
          <a:xfrm>
            <a:off x="10058400" y="822960"/>
            <a:ext cx="1371600" cy="1371600"/>
          </a:xfrm>
          <a:prstGeom prst="ellipse">
            <a:avLst/>
          </a:prstGeom>
          <a:solidFill>
            <a:srgbClr val="6D28D9">
              <a:alpha val="45000"/>
            </a:srgbClr>
          </a:solidFill>
          <a:ln/>
        </p:spPr>
      </p:sp>
      <p:sp>
        <p:nvSpPr>
          <p:cNvPr id="3" name="Shape 1"/>
          <p:cNvSpPr/>
          <p:nvPr/>
        </p:nvSpPr>
        <p:spPr>
          <a:xfrm>
            <a:off x="10698480" y="1554480"/>
            <a:ext cx="914400" cy="914400"/>
          </a:xfrm>
          <a:prstGeom prst="ellipse">
            <a:avLst/>
          </a:prstGeom>
          <a:solidFill>
            <a:srgbClr val="0D9488">
              <a:alpha val="55000"/>
            </a:srgbClr>
          </a:solidFill>
          <a:ln/>
        </p:spPr>
      </p:sp>
      <p:sp>
        <p:nvSpPr>
          <p:cNvPr id="4" name="Text 2"/>
          <p:cNvSpPr/>
          <p:nvPr/>
        </p:nvSpPr>
        <p:spPr>
          <a:xfrm>
            <a:off x="731520" y="1371600"/>
            <a:ext cx="9144000" cy="365760"/>
          </a:xfrm>
          <a:prstGeom prst="rect">
            <a:avLst/>
          </a:prstGeom>
          <a:noFill/>
          <a:ln/>
        </p:spPr>
        <p:txBody>
          <a:bodyPr wrap="square" lIns="0" tIns="0" rIns="0" bIns="0" rtlCol="0" anchor="ctr"/>
          <a:lstStyle/>
          <a:p>
            <a:pPr indent="0" marL="0">
              <a:buNone/>
            </a:pPr>
            <a:r>
              <a:rPr lang="en-US" sz="1400" b="1" spc="300" kern="0" dirty="0">
                <a:solidFill>
                  <a:srgbClr val="0D9488"/>
                </a:solidFill>
                <a:latin typeface="Calibri" pitchFamily="34" charset="0"/>
                <a:ea typeface="Calibri" pitchFamily="34" charset="-122"/>
                <a:cs typeface="Calibri" pitchFamily="34" charset="-120"/>
              </a:rPr>
              <a:t>HROC · NCAN · Deep-Learning Track</a:t>
            </a:r>
            <a:endParaRPr lang="en-US" sz="1400" dirty="0"/>
          </a:p>
        </p:txBody>
      </p:sp>
      <p:sp>
        <p:nvSpPr>
          <p:cNvPr id="5" name="Text 3"/>
          <p:cNvSpPr/>
          <p:nvPr/>
        </p:nvSpPr>
        <p:spPr>
          <a:xfrm>
            <a:off x="731520" y="1874520"/>
            <a:ext cx="10424160" cy="1828800"/>
          </a:xfrm>
          <a:prstGeom prst="rect">
            <a:avLst/>
          </a:prstGeom>
          <a:noFill/>
          <a:ln/>
        </p:spPr>
        <p:txBody>
          <a:bodyPr wrap="square" lIns="0" tIns="0" rIns="0" bIns="0" rtlCol="0" anchor="ctr"/>
          <a:lstStyle/>
          <a:p>
            <a:pPr indent="0" marL="0">
              <a:lnSpc>
                <a:spcPct val="98000"/>
              </a:lnSpc>
              <a:buNone/>
            </a:pPr>
            <a:r>
              <a:rPr lang="en-US" sz="4600" b="1" dirty="0">
                <a:solidFill>
                  <a:srgbClr val="FFFFFF"/>
                </a:solidFill>
                <a:latin typeface="Cambria" pitchFamily="34" charset="0"/>
                <a:ea typeface="Cambria" pitchFamily="34" charset="-122"/>
                <a:cs typeface="Cambria" pitchFamily="34" charset="-120"/>
              </a:rPr>
              <a:t>Does the cortex change as the</a:t>
            </a:r>
            <a:endParaRPr lang="en-US" sz="4600" dirty="0"/>
          </a:p>
          <a:p>
            <a:pPr indent="0" marL="0">
              <a:lnSpc>
                <a:spcPct val="98000"/>
              </a:lnSpc>
              <a:buNone/>
            </a:pPr>
            <a:r>
              <a:rPr lang="en-US" sz="4600" b="1" dirty="0">
                <a:solidFill>
                  <a:srgbClr val="FFFFFF"/>
                </a:solidFill>
                <a:latin typeface="Cambria" pitchFamily="34" charset="0"/>
                <a:ea typeface="Cambria" pitchFamily="34" charset="-122"/>
                <a:cs typeface="Cambria" pitchFamily="34" charset="-120"/>
              </a:rPr>
              <a:t>spinal cord learns?</a:t>
            </a:r>
            <a:endParaRPr lang="en-US" sz="4600" dirty="0"/>
          </a:p>
        </p:txBody>
      </p:sp>
      <p:sp>
        <p:nvSpPr>
          <p:cNvPr id="6" name="Text 4"/>
          <p:cNvSpPr/>
          <p:nvPr/>
        </p:nvSpPr>
        <p:spPr>
          <a:xfrm>
            <a:off x="749808" y="3794760"/>
            <a:ext cx="10058400" cy="457200"/>
          </a:xfrm>
          <a:prstGeom prst="rect">
            <a:avLst/>
          </a:prstGeom>
          <a:noFill/>
          <a:ln/>
        </p:spPr>
        <p:txBody>
          <a:bodyPr wrap="square" lIns="0" tIns="0" rIns="0" bIns="0" rtlCol="0" anchor="ctr"/>
          <a:lstStyle/>
          <a:p>
            <a:pPr indent="0" marL="0">
              <a:buNone/>
            </a:pPr>
            <a:r>
              <a:rPr lang="en-US" sz="1800" dirty="0">
                <a:solidFill>
                  <a:srgbClr val="CBD5E1"/>
                </a:solidFill>
                <a:latin typeface="Calibri" pitchFamily="34" charset="0"/>
                <a:ea typeface="Calibri" pitchFamily="34" charset="-122"/>
                <a:cs typeface="Calibri" pitchFamily="34" charset="-120"/>
              </a:rPr>
              <a:t>First real-data results — Animal 9 through the full pipeline, end to end.</a:t>
            </a:r>
            <a:endParaRPr lang="en-US" sz="1800" dirty="0"/>
          </a:p>
        </p:txBody>
      </p:sp>
      <p:sp>
        <p:nvSpPr>
          <p:cNvPr id="7" name="Text 5"/>
          <p:cNvSpPr/>
          <p:nvPr/>
        </p:nvSpPr>
        <p:spPr>
          <a:xfrm>
            <a:off x="749808" y="5852160"/>
            <a:ext cx="10058400" cy="36576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Suchith Rao</a:t>
            </a:r>
            <a:pPr indent="0" marL="0">
              <a:buNone/>
            </a:pPr>
            <a:r>
              <a:rPr lang="en-US" sz="1500" dirty="0">
                <a:solidFill>
                  <a:srgbClr val="94A3B8"/>
                </a:solidFill>
                <a:latin typeface="Calibri" pitchFamily="34" charset="0"/>
                <a:ea typeface="Calibri" pitchFamily="34" charset="-122"/>
                <a:cs typeface="Calibri" pitchFamily="34" charset="-120"/>
              </a:rPr>
              <a:t>    •    prepared for Dr. Carp    •    July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50" b="1" spc="300" kern="0" dirty="0">
                <a:solidFill>
                  <a:srgbClr val="0D9488"/>
                </a:solidFill>
                <a:latin typeface="Calibri" pitchFamily="34" charset="0"/>
                <a:ea typeface="Calibri" pitchFamily="34" charset="-122"/>
                <a:cs typeface="Calibri" pitchFamily="34" charset="-120"/>
              </a:rPr>
              <a:t>THE SCIENTIFIC BET</a:t>
            </a:r>
            <a:endParaRPr lang="en-US" sz="1250" dirty="0"/>
          </a:p>
        </p:txBody>
      </p:sp>
      <p:sp>
        <p:nvSpPr>
          <p:cNvPr id="3" name="Text 1"/>
          <p:cNvSpPr/>
          <p:nvPr/>
        </p:nvSpPr>
        <p:spPr>
          <a:xfrm>
            <a:off x="640080" y="457200"/>
            <a:ext cx="10972800" cy="640080"/>
          </a:xfrm>
          <a:prstGeom prst="rect">
            <a:avLst/>
          </a:prstGeom>
          <a:noFill/>
          <a:ln/>
        </p:spPr>
        <p:txBody>
          <a:bodyPr wrap="square" lIns="0" tIns="0" rIns="0" bIns="0" rtlCol="0" anchor="ctr"/>
          <a:lstStyle/>
          <a:p>
            <a:pPr indent="0" marL="0">
              <a:buNone/>
            </a:pPr>
            <a:r>
              <a:rPr lang="en-US" sz="3000" b="1" dirty="0">
                <a:solidFill>
                  <a:srgbClr val="1E293B"/>
                </a:solidFill>
                <a:latin typeface="Cambria" pitchFamily="34" charset="0"/>
                <a:ea typeface="Cambria" pitchFamily="34" charset="-122"/>
                <a:cs typeface="Cambria" pitchFamily="34" charset="-120"/>
              </a:rPr>
              <a:t>The question, in one line</a:t>
            </a:r>
            <a:endParaRPr lang="en-US" sz="3000" dirty="0"/>
          </a:p>
        </p:txBody>
      </p:sp>
      <p:sp>
        <p:nvSpPr>
          <p:cNvPr id="4" name="Shape 2"/>
          <p:cNvSpPr/>
          <p:nvPr/>
        </p:nvSpPr>
        <p:spPr>
          <a:xfrm>
            <a:off x="640080" y="1737360"/>
            <a:ext cx="5486400" cy="4480560"/>
          </a:xfrm>
          <a:prstGeom prst="roundRect">
            <a:avLst>
              <a:gd name="adj" fmla="val 1837"/>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5" name="Text 3"/>
          <p:cNvSpPr/>
          <p:nvPr/>
        </p:nvSpPr>
        <p:spPr>
          <a:xfrm>
            <a:off x="914400" y="1965960"/>
            <a:ext cx="4937760" cy="365760"/>
          </a:xfrm>
          <a:prstGeom prst="rect">
            <a:avLst/>
          </a:prstGeom>
          <a:noFill/>
          <a:ln/>
        </p:spPr>
        <p:txBody>
          <a:bodyPr wrap="square" lIns="0" tIns="0" rIns="0" bIns="0" rtlCol="0" anchor="ctr"/>
          <a:lstStyle/>
          <a:p>
            <a:pPr indent="0" marL="0">
              <a:buNone/>
            </a:pPr>
            <a:r>
              <a:rPr lang="en-US" sz="1600" b="1" dirty="0">
                <a:solidFill>
                  <a:srgbClr val="1E293B"/>
                </a:solidFill>
                <a:latin typeface="Calibri" pitchFamily="34" charset="0"/>
                <a:ea typeface="Calibri" pitchFamily="34" charset="-122"/>
                <a:cs typeface="Calibri" pitchFamily="34" charset="-120"/>
              </a:rPr>
              <a:t>The paradigm</a:t>
            </a:r>
            <a:endParaRPr lang="en-US" sz="1600" dirty="0"/>
          </a:p>
        </p:txBody>
      </p:sp>
      <p:sp>
        <p:nvSpPr>
          <p:cNvPr id="6" name="Shape 4"/>
          <p:cNvSpPr/>
          <p:nvPr/>
        </p:nvSpPr>
        <p:spPr>
          <a:xfrm>
            <a:off x="914400" y="2514600"/>
            <a:ext cx="457200" cy="457200"/>
          </a:xfrm>
          <a:prstGeom prst="ellipse">
            <a:avLst/>
          </a:prstGeom>
          <a:solidFill>
            <a:srgbClr val="0D9488"/>
          </a:solidFill>
          <a:ln/>
        </p:spPr>
      </p:sp>
      <p:sp>
        <p:nvSpPr>
          <p:cNvPr id="7" name="Text 5"/>
          <p:cNvSpPr/>
          <p:nvPr/>
        </p:nvSpPr>
        <p:spPr>
          <a:xfrm>
            <a:off x="914400" y="25146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8" name="Text 6"/>
          <p:cNvSpPr/>
          <p:nvPr/>
        </p:nvSpPr>
        <p:spPr>
          <a:xfrm>
            <a:off x="1508760" y="2487168"/>
            <a:ext cx="4389120" cy="32004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Baseline</a:t>
            </a:r>
            <a:endParaRPr lang="en-US" sz="1500" dirty="0"/>
          </a:p>
        </p:txBody>
      </p:sp>
      <p:sp>
        <p:nvSpPr>
          <p:cNvPr id="9" name="Text 7"/>
          <p:cNvSpPr/>
          <p:nvPr/>
        </p:nvSpPr>
        <p:spPr>
          <a:xfrm>
            <a:off x="1508760" y="2816352"/>
            <a:ext cx="4434840" cy="640080"/>
          </a:xfrm>
          <a:prstGeom prst="rect">
            <a:avLst/>
          </a:prstGeom>
          <a:noFill/>
          <a:ln/>
        </p:spPr>
        <p:txBody>
          <a:bodyPr wrap="square" lIns="0" tIns="0" rIns="0" bIns="0" rtlCol="0" anchor="ctr"/>
          <a:lstStyle/>
          <a:p>
            <a:pPr indent="0" marL="0">
              <a:buNone/>
            </a:pPr>
            <a:r>
              <a:rPr lang="en-US" sz="1250" dirty="0">
                <a:solidFill>
                  <a:srgbClr val="64748B"/>
                </a:solidFill>
                <a:latin typeface="Calibri" pitchFamily="34" charset="0"/>
                <a:ea typeface="Calibri" pitchFamily="34" charset="-122"/>
                <a:cs typeface="Calibri" pitchFamily="34" charset="-120"/>
              </a:rPr>
              <a:t>Record the spinal H-reflex (a leg-muscle reflex) without training.</a:t>
            </a:r>
            <a:endParaRPr lang="en-US" sz="1250" dirty="0"/>
          </a:p>
        </p:txBody>
      </p:sp>
      <p:sp>
        <p:nvSpPr>
          <p:cNvPr id="10" name="Shape 8"/>
          <p:cNvSpPr/>
          <p:nvPr/>
        </p:nvSpPr>
        <p:spPr>
          <a:xfrm>
            <a:off x="914400" y="3703320"/>
            <a:ext cx="457200" cy="457200"/>
          </a:xfrm>
          <a:prstGeom prst="ellipse">
            <a:avLst/>
          </a:prstGeom>
          <a:solidFill>
            <a:srgbClr val="0D9488"/>
          </a:solidFill>
          <a:ln/>
        </p:spPr>
      </p:sp>
      <p:sp>
        <p:nvSpPr>
          <p:cNvPr id="11" name="Text 9"/>
          <p:cNvSpPr/>
          <p:nvPr/>
        </p:nvSpPr>
        <p:spPr>
          <a:xfrm>
            <a:off x="914400" y="37033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1508760" y="3675888"/>
            <a:ext cx="4389120" cy="32004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Down-conditioning</a:t>
            </a:r>
            <a:endParaRPr lang="en-US" sz="1500" dirty="0"/>
          </a:p>
        </p:txBody>
      </p:sp>
      <p:sp>
        <p:nvSpPr>
          <p:cNvPr id="13" name="Text 11"/>
          <p:cNvSpPr/>
          <p:nvPr/>
        </p:nvSpPr>
        <p:spPr>
          <a:xfrm>
            <a:off x="1508760" y="4005072"/>
            <a:ext cx="4434840" cy="640080"/>
          </a:xfrm>
          <a:prstGeom prst="rect">
            <a:avLst/>
          </a:prstGeom>
          <a:noFill/>
          <a:ln/>
        </p:spPr>
        <p:txBody>
          <a:bodyPr wrap="square" lIns="0" tIns="0" rIns="0" bIns="0" rtlCol="0" anchor="ctr"/>
          <a:lstStyle/>
          <a:p>
            <a:pPr indent="0" marL="0">
              <a:buNone/>
            </a:pPr>
            <a:r>
              <a:rPr lang="en-US" sz="1250" dirty="0">
                <a:solidFill>
                  <a:srgbClr val="64748B"/>
                </a:solidFill>
                <a:latin typeface="Calibri" pitchFamily="34" charset="0"/>
                <a:ea typeface="Calibri" pitchFamily="34" charset="-122"/>
                <a:cs typeface="Calibri" pitchFamily="34" charset="-120"/>
              </a:rPr>
              <a:t>Reward the animal for making the reflex smaller. The spinal cord slowly learns.</a:t>
            </a:r>
            <a:endParaRPr lang="en-US" sz="1250" dirty="0"/>
          </a:p>
        </p:txBody>
      </p:sp>
      <p:sp>
        <p:nvSpPr>
          <p:cNvPr id="14" name="Shape 12"/>
          <p:cNvSpPr/>
          <p:nvPr/>
        </p:nvSpPr>
        <p:spPr>
          <a:xfrm>
            <a:off x="914400" y="4892040"/>
            <a:ext cx="457200" cy="457200"/>
          </a:xfrm>
          <a:prstGeom prst="ellipse">
            <a:avLst/>
          </a:prstGeom>
          <a:solidFill>
            <a:srgbClr val="6D28D9"/>
          </a:solidFill>
          <a:ln/>
        </p:spPr>
      </p:sp>
      <p:sp>
        <p:nvSpPr>
          <p:cNvPr id="15" name="Text 13"/>
          <p:cNvSpPr/>
          <p:nvPr/>
        </p:nvSpPr>
        <p:spPr>
          <a:xfrm>
            <a:off x="914400" y="4892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6" name="Text 14"/>
          <p:cNvSpPr/>
          <p:nvPr/>
        </p:nvSpPr>
        <p:spPr>
          <a:xfrm>
            <a:off x="1508760" y="4864608"/>
            <a:ext cx="4389120" cy="32004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The brain?</a:t>
            </a:r>
            <a:endParaRPr lang="en-US" sz="1500" dirty="0"/>
          </a:p>
        </p:txBody>
      </p:sp>
      <p:sp>
        <p:nvSpPr>
          <p:cNvPr id="17" name="Text 15"/>
          <p:cNvSpPr/>
          <p:nvPr/>
        </p:nvSpPr>
        <p:spPr>
          <a:xfrm>
            <a:off x="1508760" y="5193792"/>
            <a:ext cx="4434840" cy="640080"/>
          </a:xfrm>
          <a:prstGeom prst="rect">
            <a:avLst/>
          </a:prstGeom>
          <a:noFill/>
          <a:ln/>
        </p:spPr>
        <p:txBody>
          <a:bodyPr wrap="square" lIns="0" tIns="0" rIns="0" bIns="0" rtlCol="0" anchor="ctr"/>
          <a:lstStyle/>
          <a:p>
            <a:pPr indent="0" marL="0">
              <a:buNone/>
            </a:pPr>
            <a:r>
              <a:rPr lang="en-US" sz="1250" dirty="0">
                <a:solidFill>
                  <a:srgbClr val="64748B"/>
                </a:solidFill>
                <a:latin typeface="Calibri" pitchFamily="34" charset="0"/>
                <a:ea typeface="Calibri" pitchFamily="34" charset="-122"/>
                <a:cs typeface="Calibri" pitchFamily="34" charset="-120"/>
              </a:rPr>
              <a:t>We record cortex (ECoG) at the same time — and ask if IT changes too.</a:t>
            </a:r>
            <a:endParaRPr lang="en-US" sz="1250" dirty="0"/>
          </a:p>
        </p:txBody>
      </p:sp>
      <p:sp>
        <p:nvSpPr>
          <p:cNvPr id="18" name="Shape 16"/>
          <p:cNvSpPr/>
          <p:nvPr/>
        </p:nvSpPr>
        <p:spPr>
          <a:xfrm>
            <a:off x="6400800" y="1737360"/>
            <a:ext cx="5120640" cy="4480560"/>
          </a:xfrm>
          <a:prstGeom prst="roundRect">
            <a:avLst>
              <a:gd name="adj" fmla="val 1837"/>
            </a:avLst>
          </a:prstGeom>
          <a:solidFill>
            <a:srgbClr val="F5F3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9" name="Text 17"/>
          <p:cNvSpPr/>
          <p:nvPr/>
        </p:nvSpPr>
        <p:spPr>
          <a:xfrm>
            <a:off x="6720840" y="2011680"/>
            <a:ext cx="4572000" cy="365760"/>
          </a:xfrm>
          <a:prstGeom prst="rect">
            <a:avLst/>
          </a:prstGeom>
          <a:noFill/>
          <a:ln/>
        </p:spPr>
        <p:txBody>
          <a:bodyPr wrap="square" lIns="0" tIns="0" rIns="0" bIns="0" rtlCol="0" anchor="ctr"/>
          <a:lstStyle/>
          <a:p>
            <a:pPr indent="0" marL="0">
              <a:buNone/>
            </a:pPr>
            <a:r>
              <a:rPr lang="en-US" sz="1600" b="1" dirty="0">
                <a:solidFill>
                  <a:srgbClr val="6D28D9"/>
                </a:solidFill>
                <a:latin typeface="Calibri" pitchFamily="34" charset="0"/>
                <a:ea typeface="Calibri" pitchFamily="34" charset="-122"/>
                <a:cs typeface="Calibri" pitchFamily="34" charset="-120"/>
              </a:rPr>
              <a:t>What's new here</a:t>
            </a:r>
            <a:endParaRPr lang="en-US" sz="1600" dirty="0"/>
          </a:p>
        </p:txBody>
      </p:sp>
      <p:sp>
        <p:nvSpPr>
          <p:cNvPr id="20" name="Text 18"/>
          <p:cNvSpPr/>
          <p:nvPr/>
        </p:nvSpPr>
        <p:spPr>
          <a:xfrm>
            <a:off x="6720840" y="2514600"/>
            <a:ext cx="4526280" cy="1005840"/>
          </a:xfrm>
          <a:prstGeom prst="rect">
            <a:avLst/>
          </a:prstGeom>
          <a:noFill/>
          <a:ln/>
        </p:spPr>
        <p:txBody>
          <a:bodyPr wrap="square" lIns="0" tIns="0" rIns="0" bIns="0" rtlCol="0" anchor="ctr"/>
          <a:lstStyle/>
          <a:p>
            <a:pPr indent="0" marL="0">
              <a:lnSpc>
                <a:spcPct val="105000"/>
              </a:lnSpc>
              <a:buNone/>
            </a:pPr>
            <a:r>
              <a:rPr lang="en-US" sz="1500" dirty="0">
                <a:solidFill>
                  <a:srgbClr val="1E293B"/>
                </a:solidFill>
                <a:latin typeface="Calibri" pitchFamily="34" charset="0"/>
                <a:ea typeface="Calibri" pitchFamily="34" charset="-122"/>
                <a:cs typeface="Calibri" pitchFamily="34" charset="-120"/>
              </a:rPr>
              <a:t>Chad already published the simple link — </a:t>
            </a:r>
            <a:pPr indent="0" marL="0">
              <a:lnSpc>
                <a:spcPct val="105000"/>
              </a:lnSpc>
              <a:buNone/>
            </a:pPr>
            <a:r>
              <a:rPr lang="en-US" sz="1500" dirty="0">
                <a:solidFill>
                  <a:srgbClr val="1E293B"/>
                </a:solidFill>
                <a:latin typeface="Calibri" pitchFamily="34" charset="0"/>
                <a:ea typeface="Calibri" pitchFamily="34" charset="-122"/>
                <a:cs typeface="Calibri" pitchFamily="34" charset="-120"/>
              </a:rPr>
              <a:t>when the reflex goes down, ECoG activity shifts. That correlation is done.</a:t>
            </a:r>
            <a:endParaRPr lang="en-US" sz="1500" dirty="0"/>
          </a:p>
        </p:txBody>
      </p:sp>
      <p:sp>
        <p:nvSpPr>
          <p:cNvPr id="21" name="Text 19"/>
          <p:cNvSpPr/>
          <p:nvPr/>
        </p:nvSpPr>
        <p:spPr>
          <a:xfrm>
            <a:off x="6720840" y="3657600"/>
            <a:ext cx="4572000" cy="365760"/>
          </a:xfrm>
          <a:prstGeom prst="rect">
            <a:avLst/>
          </a:prstGeom>
          <a:noFill/>
          <a:ln/>
        </p:spPr>
        <p:txBody>
          <a:bodyPr wrap="square" lIns="0" tIns="0" rIns="0" bIns="0" rtlCol="0" anchor="ctr"/>
          <a:lstStyle/>
          <a:p>
            <a:pPr indent="0" marL="0">
              <a:buNone/>
            </a:pPr>
            <a:r>
              <a:rPr lang="en-US" sz="1400" b="1" dirty="0">
                <a:solidFill>
                  <a:srgbClr val="64748B"/>
                </a:solidFill>
                <a:latin typeface="Calibri" pitchFamily="34" charset="0"/>
                <a:ea typeface="Calibri" pitchFamily="34" charset="-122"/>
                <a:cs typeface="Calibri" pitchFamily="34" charset="-120"/>
              </a:rPr>
              <a:t>Our new question:</a:t>
            </a:r>
            <a:endParaRPr lang="en-US" sz="1400" dirty="0"/>
          </a:p>
        </p:txBody>
      </p:sp>
      <p:sp>
        <p:nvSpPr>
          <p:cNvPr id="22" name="Text 20"/>
          <p:cNvSpPr/>
          <p:nvPr/>
        </p:nvSpPr>
        <p:spPr>
          <a:xfrm>
            <a:off x="6720840" y="4023360"/>
            <a:ext cx="4526280" cy="1371600"/>
          </a:xfrm>
          <a:prstGeom prst="rect">
            <a:avLst/>
          </a:prstGeom>
          <a:noFill/>
          <a:ln/>
        </p:spPr>
        <p:txBody>
          <a:bodyPr wrap="square" lIns="0" tIns="0" rIns="0" bIns="0" rtlCol="0" anchor="ctr"/>
          <a:lstStyle/>
          <a:p>
            <a:pPr indent="0" marL="0">
              <a:lnSpc>
                <a:spcPct val="103000"/>
              </a:lnSpc>
              <a:buNone/>
            </a:pPr>
            <a:r>
              <a:rPr lang="en-US" sz="1900" b="1" i="1" dirty="0">
                <a:solidFill>
                  <a:srgbClr val="6D28D9"/>
                </a:solidFill>
                <a:latin typeface="Cambria" pitchFamily="34" charset="0"/>
                <a:ea typeface="Cambria" pitchFamily="34" charset="-122"/>
                <a:cs typeface="Cambria" pitchFamily="34" charset="-120"/>
              </a:rPr>
              <a:t>Does the brain's internal representation drift across conditioning — a cortical fingerprint of learning that's never been shown?</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50" b="1" spc="300" kern="0" dirty="0">
                <a:solidFill>
                  <a:srgbClr val="0D9488"/>
                </a:solidFill>
                <a:latin typeface="Calibri" pitchFamily="34" charset="0"/>
                <a:ea typeface="Calibri" pitchFamily="34" charset="-122"/>
                <a:cs typeface="Calibri" pitchFamily="34" charset="-120"/>
              </a:rPr>
              <a:t>THIS WEEK</a:t>
            </a:r>
            <a:endParaRPr lang="en-US" sz="1250" dirty="0"/>
          </a:p>
        </p:txBody>
      </p:sp>
      <p:sp>
        <p:nvSpPr>
          <p:cNvPr id="3" name="Text 1"/>
          <p:cNvSpPr/>
          <p:nvPr/>
        </p:nvSpPr>
        <p:spPr>
          <a:xfrm>
            <a:off x="640080" y="457200"/>
            <a:ext cx="10972800" cy="640080"/>
          </a:xfrm>
          <a:prstGeom prst="rect">
            <a:avLst/>
          </a:prstGeom>
          <a:noFill/>
          <a:ln/>
        </p:spPr>
        <p:txBody>
          <a:bodyPr wrap="square" lIns="0" tIns="0" rIns="0" bIns="0" rtlCol="0" anchor="ctr"/>
          <a:lstStyle/>
          <a:p>
            <a:pPr indent="0" marL="0">
              <a:buNone/>
            </a:pPr>
            <a:r>
              <a:rPr lang="en-US" sz="3000" b="1" dirty="0">
                <a:solidFill>
                  <a:srgbClr val="1E293B"/>
                </a:solidFill>
                <a:latin typeface="Cambria" pitchFamily="34" charset="0"/>
                <a:ea typeface="Cambria" pitchFamily="34" charset="-122"/>
                <a:cs typeface="Cambria" pitchFamily="34" charset="-120"/>
              </a:rPr>
              <a:t>From a synthetic demo to real data</a:t>
            </a:r>
            <a:endParaRPr lang="en-US" sz="3000" dirty="0"/>
          </a:p>
        </p:txBody>
      </p:sp>
      <p:sp>
        <p:nvSpPr>
          <p:cNvPr id="4" name="Shape 2"/>
          <p:cNvSpPr/>
          <p:nvPr/>
        </p:nvSpPr>
        <p:spPr>
          <a:xfrm>
            <a:off x="640080" y="1783080"/>
            <a:ext cx="5257800" cy="2011680"/>
          </a:xfrm>
          <a:prstGeom prst="roundRect">
            <a:avLst>
              <a:gd name="adj" fmla="val 4091"/>
            </a:avLst>
          </a:prstGeom>
          <a:solidFill>
            <a:srgbClr val="F1F5F9"/>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5" name="Text 3"/>
          <p:cNvSpPr/>
          <p:nvPr/>
        </p:nvSpPr>
        <p:spPr>
          <a:xfrm>
            <a:off x="914400" y="2011680"/>
            <a:ext cx="4572000" cy="274320"/>
          </a:xfrm>
          <a:prstGeom prst="rect">
            <a:avLst/>
          </a:prstGeom>
          <a:noFill/>
          <a:ln/>
        </p:spPr>
        <p:txBody>
          <a:bodyPr wrap="square" lIns="0" tIns="0" rIns="0" bIns="0" rtlCol="0" anchor="ctr"/>
          <a:lstStyle/>
          <a:p>
            <a:pPr indent="0" marL="0">
              <a:buNone/>
            </a:pPr>
            <a:r>
              <a:rPr lang="en-US" sz="1250" b="1" spc="200" kern="0" dirty="0">
                <a:solidFill>
                  <a:srgbClr val="64748B"/>
                </a:solidFill>
                <a:latin typeface="Calibri" pitchFamily="34" charset="0"/>
                <a:ea typeface="Calibri" pitchFamily="34" charset="-122"/>
                <a:cs typeface="Calibri" pitchFamily="34" charset="-120"/>
              </a:rPr>
              <a:t>BEFORE</a:t>
            </a:r>
            <a:endParaRPr lang="en-US" sz="1250" dirty="0"/>
          </a:p>
        </p:txBody>
      </p:sp>
      <p:sp>
        <p:nvSpPr>
          <p:cNvPr id="6" name="Text 4"/>
          <p:cNvSpPr/>
          <p:nvPr/>
        </p:nvSpPr>
        <p:spPr>
          <a:xfrm>
            <a:off x="914400" y="2377440"/>
            <a:ext cx="4754880" cy="1280160"/>
          </a:xfrm>
          <a:prstGeom prst="rect">
            <a:avLst/>
          </a:prstGeom>
          <a:noFill/>
          <a:ln/>
        </p:spPr>
        <p:txBody>
          <a:bodyPr wrap="square" lIns="0" tIns="0" rIns="0" bIns="0" rtlCol="0" anchor="ctr"/>
          <a:lstStyle/>
          <a:p>
            <a:pPr indent="0" marL="0">
              <a:lnSpc>
                <a:spcPct val="105000"/>
              </a:lnSpc>
              <a:buNone/>
            </a:pPr>
            <a:r>
              <a:rPr lang="en-US" sz="1500" dirty="0">
                <a:solidFill>
                  <a:srgbClr val="1E293B"/>
                </a:solidFill>
                <a:latin typeface="Calibri" pitchFamily="34" charset="0"/>
                <a:ea typeface="Calibri" pitchFamily="34" charset="-122"/>
                <a:cs typeface="Calibri" pitchFamily="34" charset="-120"/>
              </a:rPr>
              <a:t>The pipeline ran on synthetic (fake) data shaped like Animal 9 — enough to prove the machine works, but not a scientific result.</a:t>
            </a:r>
            <a:endParaRPr lang="en-US" sz="1500" dirty="0"/>
          </a:p>
        </p:txBody>
      </p:sp>
      <p:sp>
        <p:nvSpPr>
          <p:cNvPr id="7" name="Shape 5"/>
          <p:cNvSpPr/>
          <p:nvPr/>
        </p:nvSpPr>
        <p:spPr>
          <a:xfrm>
            <a:off x="6263640" y="1783080"/>
            <a:ext cx="5257800" cy="2011680"/>
          </a:xfrm>
          <a:prstGeom prst="roundRect">
            <a:avLst>
              <a:gd name="adj" fmla="val 4091"/>
            </a:avLst>
          </a:prstGeom>
          <a:solidFill>
            <a:srgbClr val="F5F3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8" name="Text 6"/>
          <p:cNvSpPr/>
          <p:nvPr/>
        </p:nvSpPr>
        <p:spPr>
          <a:xfrm>
            <a:off x="6537960" y="2011680"/>
            <a:ext cx="4572000" cy="274320"/>
          </a:xfrm>
          <a:prstGeom prst="rect">
            <a:avLst/>
          </a:prstGeom>
          <a:noFill/>
          <a:ln/>
        </p:spPr>
        <p:txBody>
          <a:bodyPr wrap="square" lIns="0" tIns="0" rIns="0" bIns="0" rtlCol="0" anchor="ctr"/>
          <a:lstStyle/>
          <a:p>
            <a:pPr indent="0" marL="0">
              <a:buNone/>
            </a:pPr>
            <a:r>
              <a:rPr lang="en-US" sz="1250" b="1" spc="200" kern="0" dirty="0">
                <a:solidFill>
                  <a:srgbClr val="6D28D9"/>
                </a:solidFill>
                <a:latin typeface="Calibri" pitchFamily="34" charset="0"/>
                <a:ea typeface="Calibri" pitchFamily="34" charset="-122"/>
                <a:cs typeface="Calibri" pitchFamily="34" charset="-120"/>
              </a:rPr>
              <a:t>NOW</a:t>
            </a:r>
            <a:endParaRPr lang="en-US" sz="1250" dirty="0"/>
          </a:p>
        </p:txBody>
      </p:sp>
      <p:sp>
        <p:nvSpPr>
          <p:cNvPr id="9" name="Text 7"/>
          <p:cNvSpPr/>
          <p:nvPr/>
        </p:nvSpPr>
        <p:spPr>
          <a:xfrm>
            <a:off x="6537960" y="2377440"/>
            <a:ext cx="4754880" cy="1280160"/>
          </a:xfrm>
          <a:prstGeom prst="rect">
            <a:avLst/>
          </a:prstGeom>
          <a:noFill/>
          <a:ln/>
        </p:spPr>
        <p:txBody>
          <a:bodyPr wrap="square" lIns="0" tIns="0" rIns="0" bIns="0" rtlCol="0" anchor="ctr"/>
          <a:lstStyle/>
          <a:p>
            <a:pPr indent="0" marL="0">
              <a:lnSpc>
                <a:spcPct val="105000"/>
              </a:lnSpc>
              <a:buNone/>
            </a:pPr>
            <a:r>
              <a:rPr lang="en-US" sz="1500" dirty="0">
                <a:solidFill>
                  <a:srgbClr val="1E293B"/>
                </a:solidFill>
                <a:latin typeface="Calibri" pitchFamily="34" charset="0"/>
                <a:ea typeface="Calibri" pitchFamily="34" charset="-122"/>
                <a:cs typeface="Calibri" pitchFamily="34" charset="-120"/>
              </a:rPr>
              <a:t>The exact same pipeline is trained on the real Animal 9 recordings — decoded, phase-labeled, and run end to end.</a:t>
            </a:r>
            <a:endParaRPr lang="en-US" sz="1500" dirty="0"/>
          </a:p>
        </p:txBody>
      </p:sp>
      <p:sp>
        <p:nvSpPr>
          <p:cNvPr id="10" name="Shape 8"/>
          <p:cNvSpPr/>
          <p:nvPr/>
        </p:nvSpPr>
        <p:spPr>
          <a:xfrm>
            <a:off x="640080" y="4114800"/>
            <a:ext cx="3538728" cy="1965960"/>
          </a:xfrm>
          <a:prstGeom prst="roundRect">
            <a:avLst>
              <a:gd name="adj" fmla="val 4186"/>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1" name="Text 9"/>
          <p:cNvSpPr/>
          <p:nvPr/>
        </p:nvSpPr>
        <p:spPr>
          <a:xfrm>
            <a:off x="640080" y="4389120"/>
            <a:ext cx="3538728" cy="868680"/>
          </a:xfrm>
          <a:prstGeom prst="rect">
            <a:avLst/>
          </a:prstGeom>
          <a:noFill/>
          <a:ln/>
        </p:spPr>
        <p:txBody>
          <a:bodyPr wrap="square" lIns="0" tIns="0" rIns="0" bIns="0" rtlCol="0" anchor="ctr"/>
          <a:lstStyle/>
          <a:p>
            <a:pPr algn="ctr" indent="0" marL="0">
              <a:buNone/>
            </a:pPr>
            <a:r>
              <a:rPr lang="en-US" sz="4400" b="1" dirty="0">
                <a:solidFill>
                  <a:srgbClr val="0D9488"/>
                </a:solidFill>
                <a:latin typeface="Cambria" pitchFamily="34" charset="0"/>
                <a:ea typeface="Cambria" pitchFamily="34" charset="-122"/>
                <a:cs typeface="Cambria" pitchFamily="34" charset="-120"/>
              </a:rPr>
              <a:t>283,315</a:t>
            </a:r>
            <a:endParaRPr lang="en-US" sz="4400" dirty="0"/>
          </a:p>
        </p:txBody>
      </p:sp>
      <p:sp>
        <p:nvSpPr>
          <p:cNvPr id="12" name="Text 10"/>
          <p:cNvSpPr/>
          <p:nvPr/>
        </p:nvSpPr>
        <p:spPr>
          <a:xfrm>
            <a:off x="640080" y="5257800"/>
            <a:ext cx="3538728" cy="548640"/>
          </a:xfrm>
          <a:prstGeom prst="rect">
            <a:avLst/>
          </a:prstGeom>
          <a:noFill/>
          <a:ln/>
        </p:spPr>
        <p:txBody>
          <a:bodyPr wrap="square" lIns="0" tIns="0" rIns="0" bIns="0" rtlCol="0" anchor="ctr"/>
          <a:lstStyle/>
          <a:p>
            <a:pPr algn="ctr" indent="0" marL="0">
              <a:buNone/>
            </a:pPr>
            <a:r>
              <a:rPr lang="en-US" sz="1450" dirty="0">
                <a:solidFill>
                  <a:srgbClr val="64748B"/>
                </a:solidFill>
                <a:latin typeface="Calibri" pitchFamily="34" charset="0"/>
                <a:ea typeface="Calibri" pitchFamily="34" charset="-122"/>
                <a:cs typeface="Calibri" pitchFamily="34" charset="-120"/>
              </a:rPr>
              <a:t>real trials decoded</a:t>
            </a:r>
            <a:endParaRPr lang="en-US" sz="1450" dirty="0"/>
          </a:p>
        </p:txBody>
      </p:sp>
      <p:sp>
        <p:nvSpPr>
          <p:cNvPr id="13" name="Shape 11"/>
          <p:cNvSpPr/>
          <p:nvPr/>
        </p:nvSpPr>
        <p:spPr>
          <a:xfrm>
            <a:off x="4370832" y="4114800"/>
            <a:ext cx="3538728" cy="1965960"/>
          </a:xfrm>
          <a:prstGeom prst="roundRect">
            <a:avLst>
              <a:gd name="adj" fmla="val 4186"/>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4" name="Text 12"/>
          <p:cNvSpPr/>
          <p:nvPr/>
        </p:nvSpPr>
        <p:spPr>
          <a:xfrm>
            <a:off x="4370832" y="4389120"/>
            <a:ext cx="3538728" cy="868680"/>
          </a:xfrm>
          <a:prstGeom prst="rect">
            <a:avLst/>
          </a:prstGeom>
          <a:noFill/>
          <a:ln/>
        </p:spPr>
        <p:txBody>
          <a:bodyPr wrap="square" lIns="0" tIns="0" rIns="0" bIns="0" rtlCol="0" anchor="ctr"/>
          <a:lstStyle/>
          <a:p>
            <a:pPr algn="ctr" indent="0" marL="0">
              <a:buNone/>
            </a:pPr>
            <a:r>
              <a:rPr lang="en-US" sz="4400" b="1" dirty="0">
                <a:solidFill>
                  <a:srgbClr val="0D9488"/>
                </a:solidFill>
                <a:latin typeface="Cambria" pitchFamily="34" charset="0"/>
                <a:ea typeface="Cambria" pitchFamily="34" charset="-122"/>
                <a:cs typeface="Cambria" pitchFamily="34" charset="-120"/>
              </a:rPr>
              <a:t>3</a:t>
            </a:r>
            <a:endParaRPr lang="en-US" sz="4400" dirty="0"/>
          </a:p>
        </p:txBody>
      </p:sp>
      <p:sp>
        <p:nvSpPr>
          <p:cNvPr id="15" name="Text 13"/>
          <p:cNvSpPr/>
          <p:nvPr/>
        </p:nvSpPr>
        <p:spPr>
          <a:xfrm>
            <a:off x="4370832" y="5257800"/>
            <a:ext cx="3538728" cy="548640"/>
          </a:xfrm>
          <a:prstGeom prst="rect">
            <a:avLst/>
          </a:prstGeom>
          <a:noFill/>
          <a:ln/>
        </p:spPr>
        <p:txBody>
          <a:bodyPr wrap="square" lIns="0" tIns="0" rIns="0" bIns="0" rtlCol="0" anchor="ctr"/>
          <a:lstStyle/>
          <a:p>
            <a:pPr algn="ctr" indent="0" marL="0">
              <a:buNone/>
            </a:pPr>
            <a:r>
              <a:rPr lang="en-US" sz="1450" dirty="0">
                <a:solidFill>
                  <a:srgbClr val="64748B"/>
                </a:solidFill>
                <a:latin typeface="Calibri" pitchFamily="34" charset="0"/>
                <a:ea typeface="Calibri" pitchFamily="34" charset="-122"/>
                <a:cs typeface="Calibri" pitchFamily="34" charset="-120"/>
              </a:rPr>
              <a:t>conditioning phases recovered</a:t>
            </a:r>
            <a:endParaRPr lang="en-US" sz="1450" dirty="0"/>
          </a:p>
        </p:txBody>
      </p:sp>
      <p:sp>
        <p:nvSpPr>
          <p:cNvPr id="16" name="Shape 14"/>
          <p:cNvSpPr/>
          <p:nvPr/>
        </p:nvSpPr>
        <p:spPr>
          <a:xfrm>
            <a:off x="8101584" y="4114800"/>
            <a:ext cx="3538728" cy="1965960"/>
          </a:xfrm>
          <a:prstGeom prst="roundRect">
            <a:avLst>
              <a:gd name="adj" fmla="val 4186"/>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7" name="Text 15"/>
          <p:cNvSpPr/>
          <p:nvPr/>
        </p:nvSpPr>
        <p:spPr>
          <a:xfrm>
            <a:off x="8101584" y="4389120"/>
            <a:ext cx="3538728" cy="868680"/>
          </a:xfrm>
          <a:prstGeom prst="rect">
            <a:avLst/>
          </a:prstGeom>
          <a:noFill/>
          <a:ln/>
        </p:spPr>
        <p:txBody>
          <a:bodyPr wrap="square" lIns="0" tIns="0" rIns="0" bIns="0" rtlCol="0" anchor="ctr"/>
          <a:lstStyle/>
          <a:p>
            <a:pPr algn="ctr" indent="0" marL="0">
              <a:buNone/>
            </a:pPr>
            <a:r>
              <a:rPr lang="en-US" sz="4400" b="1" dirty="0">
                <a:solidFill>
                  <a:srgbClr val="0D9488"/>
                </a:solidFill>
                <a:latin typeface="Cambria" pitchFamily="34" charset="0"/>
                <a:ea typeface="Cambria" pitchFamily="34" charset="-122"/>
                <a:cs typeface="Cambria" pitchFamily="34" charset="-120"/>
              </a:rPr>
              <a:t>2</a:t>
            </a:r>
            <a:endParaRPr lang="en-US" sz="4400" dirty="0"/>
          </a:p>
        </p:txBody>
      </p:sp>
      <p:sp>
        <p:nvSpPr>
          <p:cNvPr id="18" name="Text 16"/>
          <p:cNvSpPr/>
          <p:nvPr/>
        </p:nvSpPr>
        <p:spPr>
          <a:xfrm>
            <a:off x="8101584" y="5257800"/>
            <a:ext cx="3538728" cy="548640"/>
          </a:xfrm>
          <a:prstGeom prst="rect">
            <a:avLst/>
          </a:prstGeom>
          <a:noFill/>
          <a:ln/>
        </p:spPr>
        <p:txBody>
          <a:bodyPr wrap="square" lIns="0" tIns="0" rIns="0" bIns="0" rtlCol="0" anchor="ctr"/>
          <a:lstStyle/>
          <a:p>
            <a:pPr algn="ctr" indent="0" marL="0">
              <a:buNone/>
            </a:pPr>
            <a:r>
              <a:rPr lang="en-US" sz="1450" dirty="0">
                <a:solidFill>
                  <a:srgbClr val="64748B"/>
                </a:solidFill>
                <a:latin typeface="Calibri" pitchFamily="34" charset="0"/>
                <a:ea typeface="Calibri" pitchFamily="34" charset="-122"/>
                <a:cs typeface="Calibri" pitchFamily="34" charset="-120"/>
              </a:rPr>
              <a:t>brain + muscle channels</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50" b="1" spc="300" kern="0" dirty="0">
                <a:solidFill>
                  <a:srgbClr val="0D9488"/>
                </a:solidFill>
                <a:latin typeface="Calibri" pitchFamily="34" charset="0"/>
                <a:ea typeface="Calibri" pitchFamily="34" charset="-122"/>
                <a:cs typeface="Calibri" pitchFamily="34" charset="-120"/>
              </a:rPr>
              <a:t>ORIENTATION</a:t>
            </a:r>
            <a:endParaRPr lang="en-US" sz="1250" dirty="0"/>
          </a:p>
        </p:txBody>
      </p:sp>
      <p:sp>
        <p:nvSpPr>
          <p:cNvPr id="3" name="Text 1"/>
          <p:cNvSpPr/>
          <p:nvPr/>
        </p:nvSpPr>
        <p:spPr>
          <a:xfrm>
            <a:off x="640080" y="457200"/>
            <a:ext cx="10972800" cy="640080"/>
          </a:xfrm>
          <a:prstGeom prst="rect">
            <a:avLst/>
          </a:prstGeom>
          <a:noFill/>
          <a:ln/>
        </p:spPr>
        <p:txBody>
          <a:bodyPr wrap="square" lIns="0" tIns="0" rIns="0" bIns="0" rtlCol="0" anchor="ctr"/>
          <a:lstStyle/>
          <a:p>
            <a:pPr indent="0" marL="0">
              <a:buNone/>
            </a:pPr>
            <a:r>
              <a:rPr lang="en-US" sz="3000" b="1" dirty="0">
                <a:solidFill>
                  <a:srgbClr val="1E293B"/>
                </a:solidFill>
                <a:latin typeface="Cambria" pitchFamily="34" charset="0"/>
                <a:ea typeface="Cambria" pitchFamily="34" charset="-122"/>
                <a:cs typeface="Cambria" pitchFamily="34" charset="-120"/>
              </a:rPr>
              <a:t>What one trial actually is</a:t>
            </a:r>
            <a:endParaRPr lang="en-US" sz="3000" dirty="0"/>
          </a:p>
        </p:txBody>
      </p:sp>
      <p:sp>
        <p:nvSpPr>
          <p:cNvPr id="4" name="Text 2"/>
          <p:cNvSpPr/>
          <p:nvPr/>
        </p:nvSpPr>
        <p:spPr>
          <a:xfrm>
            <a:off x="640080" y="1600200"/>
            <a:ext cx="10881360" cy="822960"/>
          </a:xfrm>
          <a:prstGeom prst="rect">
            <a:avLst/>
          </a:prstGeom>
          <a:noFill/>
          <a:ln/>
        </p:spPr>
        <p:txBody>
          <a:bodyPr wrap="square" lIns="0" tIns="0" rIns="0" bIns="0" rtlCol="0" anchor="ctr"/>
          <a:lstStyle/>
          <a:p>
            <a:pPr indent="0" marL="0">
              <a:lnSpc>
                <a:spcPct val="105000"/>
              </a:lnSpc>
              <a:buNone/>
            </a:pPr>
            <a:r>
              <a:rPr lang="en-US" sz="1600" dirty="0">
                <a:solidFill>
                  <a:srgbClr val="1E293B"/>
                </a:solidFill>
                <a:latin typeface="Calibri" pitchFamily="34" charset="0"/>
                <a:ea typeface="Calibri" pitchFamily="34" charset="-122"/>
                <a:cs typeface="Calibri" pitchFamily="34" charset="-120"/>
              </a:rPr>
              <a:t>Animal 9's recordings live in a 2006 lab database. Each stimulus creates one trial — a 30-millisecond snapshot, sampled 5,000 times a second, on two electrodes at once:</a:t>
            </a:r>
            <a:endParaRPr lang="en-US" sz="1600" dirty="0"/>
          </a:p>
        </p:txBody>
      </p:sp>
      <p:sp>
        <p:nvSpPr>
          <p:cNvPr id="5" name="Shape 3"/>
          <p:cNvSpPr/>
          <p:nvPr/>
        </p:nvSpPr>
        <p:spPr>
          <a:xfrm>
            <a:off x="640080" y="2651760"/>
            <a:ext cx="5349240" cy="3200400"/>
          </a:xfrm>
          <a:prstGeom prst="roundRect">
            <a:avLst>
              <a:gd name="adj" fmla="val 2571"/>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6" name="Shape 4"/>
          <p:cNvSpPr/>
          <p:nvPr/>
        </p:nvSpPr>
        <p:spPr>
          <a:xfrm>
            <a:off x="914400" y="2926080"/>
            <a:ext cx="502920" cy="502920"/>
          </a:xfrm>
          <a:prstGeom prst="ellipse">
            <a:avLst/>
          </a:prstGeom>
          <a:solidFill>
            <a:srgbClr val="0D9488"/>
          </a:solidFill>
          <a:ln/>
        </p:spPr>
      </p:sp>
      <p:sp>
        <p:nvSpPr>
          <p:cNvPr id="7" name="Text 5"/>
          <p:cNvSpPr/>
          <p:nvPr/>
        </p:nvSpPr>
        <p:spPr>
          <a:xfrm>
            <a:off x="914400" y="29260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8" name="Text 6"/>
          <p:cNvSpPr/>
          <p:nvPr/>
        </p:nvSpPr>
        <p:spPr>
          <a:xfrm>
            <a:off x="1554480" y="2944368"/>
            <a:ext cx="4206240" cy="457200"/>
          </a:xfrm>
          <a:prstGeom prst="rect">
            <a:avLst/>
          </a:prstGeom>
          <a:noFill/>
          <a:ln/>
        </p:spPr>
        <p:txBody>
          <a:bodyPr wrap="square" lIns="0" tIns="0" rIns="0" bIns="0" rtlCol="0" anchor="ctr"/>
          <a:lstStyle/>
          <a:p>
            <a:pPr indent="0" marL="0">
              <a:buNone/>
            </a:pPr>
            <a:r>
              <a:rPr lang="en-US" sz="1700" b="1" dirty="0">
                <a:solidFill>
                  <a:srgbClr val="1E293B"/>
                </a:solidFill>
                <a:latin typeface="Calibri" pitchFamily="34" charset="0"/>
                <a:ea typeface="Calibri" pitchFamily="34" charset="-122"/>
                <a:cs typeface="Calibri" pitchFamily="34" charset="-120"/>
              </a:rPr>
              <a:t>Muscle — EMG (soleus)</a:t>
            </a:r>
            <a:endParaRPr lang="en-US" sz="1700" dirty="0"/>
          </a:p>
        </p:txBody>
      </p:sp>
      <p:sp>
        <p:nvSpPr>
          <p:cNvPr id="9" name="Text 7"/>
          <p:cNvSpPr/>
          <p:nvPr/>
        </p:nvSpPr>
        <p:spPr>
          <a:xfrm>
            <a:off x="914400" y="3657600"/>
            <a:ext cx="4800600" cy="1097280"/>
          </a:xfrm>
          <a:prstGeom prst="rect">
            <a:avLst/>
          </a:prstGeom>
          <a:noFill/>
          <a:ln/>
        </p:spPr>
        <p:txBody>
          <a:bodyPr wrap="square" lIns="0" tIns="0" rIns="0" bIns="0" rtlCol="0" anchor="ctr"/>
          <a:lstStyle/>
          <a:p>
            <a:pPr indent="0" marL="0">
              <a:lnSpc>
                <a:spcPct val="105000"/>
              </a:lnSpc>
              <a:buNone/>
            </a:pPr>
            <a:r>
              <a:rPr lang="en-US" sz="1450" dirty="0">
                <a:solidFill>
                  <a:srgbClr val="1E293B"/>
                </a:solidFill>
                <a:latin typeface="Calibri" pitchFamily="34" charset="0"/>
                <a:ea typeface="Calibri" pitchFamily="34" charset="-122"/>
                <a:cs typeface="Calibri" pitchFamily="34" charset="-120"/>
              </a:rPr>
              <a:t>The leg-muscle response to the stimulus. This is where the </a:t>
            </a:r>
            <a:pPr indent="0" marL="0">
              <a:lnSpc>
                <a:spcPct val="105000"/>
              </a:lnSpc>
              <a:buNone/>
            </a:pPr>
            <a:r>
              <a:rPr lang="en-US" sz="1450" b="1" dirty="0">
                <a:solidFill>
                  <a:srgbClr val="0D9488"/>
                </a:solidFill>
                <a:latin typeface="Calibri" pitchFamily="34" charset="0"/>
                <a:ea typeface="Calibri" pitchFamily="34" charset="-122"/>
                <a:cs typeface="Calibri" pitchFamily="34" charset="-120"/>
              </a:rPr>
              <a:t>H-reflex</a:t>
            </a:r>
            <a:pPr indent="0" marL="0">
              <a:lnSpc>
                <a:spcPct val="105000"/>
              </a:lnSpc>
              <a:buNone/>
            </a:pPr>
            <a:r>
              <a:rPr lang="en-US" sz="1450" dirty="0">
                <a:solidFill>
                  <a:srgbClr val="1E293B"/>
                </a:solidFill>
                <a:latin typeface="Calibri" pitchFamily="34" charset="0"/>
                <a:ea typeface="Calibri" pitchFamily="34" charset="-122"/>
                <a:cs typeface="Calibri" pitchFamily="34" charset="-120"/>
              </a:rPr>
              <a:t> lives — the thing conditioning trains.</a:t>
            </a:r>
            <a:endParaRPr lang="en-US" sz="1450" dirty="0"/>
          </a:p>
        </p:txBody>
      </p:sp>
      <p:sp>
        <p:nvSpPr>
          <p:cNvPr id="10" name="Text 8"/>
          <p:cNvSpPr/>
          <p:nvPr/>
        </p:nvSpPr>
        <p:spPr>
          <a:xfrm>
            <a:off x="914400" y="5257800"/>
            <a:ext cx="4572000" cy="365760"/>
          </a:xfrm>
          <a:prstGeom prst="rect">
            <a:avLst/>
          </a:prstGeom>
          <a:noFill/>
          <a:ln/>
        </p:spPr>
        <p:txBody>
          <a:bodyPr wrap="square" lIns="0" tIns="0" rIns="0" bIns="0" rtlCol="0" anchor="ctr"/>
          <a:lstStyle/>
          <a:p>
            <a:pPr indent="0" marL="0">
              <a:buNone/>
            </a:pPr>
            <a:r>
              <a:rPr lang="en-US" sz="1350" b="1" i="1" dirty="0">
                <a:solidFill>
                  <a:srgbClr val="0D9488"/>
                </a:solidFill>
                <a:latin typeface="Calibri" pitchFamily="34" charset="0"/>
                <a:ea typeface="Calibri" pitchFamily="34" charset="-122"/>
                <a:cs typeface="Calibri" pitchFamily="34" charset="-120"/>
              </a:rPr>
              <a:t>→ our prediction target</a:t>
            </a:r>
            <a:endParaRPr lang="en-US" sz="1350" dirty="0"/>
          </a:p>
        </p:txBody>
      </p:sp>
      <p:sp>
        <p:nvSpPr>
          <p:cNvPr id="11" name="Shape 9"/>
          <p:cNvSpPr/>
          <p:nvPr/>
        </p:nvSpPr>
        <p:spPr>
          <a:xfrm>
            <a:off x="6172200" y="2651760"/>
            <a:ext cx="5349240" cy="3200400"/>
          </a:xfrm>
          <a:prstGeom prst="roundRect">
            <a:avLst>
              <a:gd name="adj" fmla="val 2571"/>
            </a:avLst>
          </a:prstGeom>
          <a:solidFill>
            <a:srgbClr val="F5F3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2" name="Shape 10"/>
          <p:cNvSpPr/>
          <p:nvPr/>
        </p:nvSpPr>
        <p:spPr>
          <a:xfrm>
            <a:off x="6446520" y="2926080"/>
            <a:ext cx="502920" cy="502920"/>
          </a:xfrm>
          <a:prstGeom prst="ellipse">
            <a:avLst/>
          </a:prstGeom>
          <a:solidFill>
            <a:srgbClr val="6D28D9"/>
          </a:solidFill>
          <a:ln/>
        </p:spPr>
      </p:sp>
      <p:sp>
        <p:nvSpPr>
          <p:cNvPr id="13" name="Text 11"/>
          <p:cNvSpPr/>
          <p:nvPr/>
        </p:nvSpPr>
        <p:spPr>
          <a:xfrm>
            <a:off x="6446520" y="29260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14" name="Text 12"/>
          <p:cNvSpPr/>
          <p:nvPr/>
        </p:nvSpPr>
        <p:spPr>
          <a:xfrm>
            <a:off x="7086600" y="2944368"/>
            <a:ext cx="4206240" cy="457200"/>
          </a:xfrm>
          <a:prstGeom prst="rect">
            <a:avLst/>
          </a:prstGeom>
          <a:noFill/>
          <a:ln/>
        </p:spPr>
        <p:txBody>
          <a:bodyPr wrap="square" lIns="0" tIns="0" rIns="0" bIns="0" rtlCol="0" anchor="ctr"/>
          <a:lstStyle/>
          <a:p>
            <a:pPr indent="0" marL="0">
              <a:buNone/>
            </a:pPr>
            <a:r>
              <a:rPr lang="en-US" sz="1700" b="1" dirty="0">
                <a:solidFill>
                  <a:srgbClr val="1E293B"/>
                </a:solidFill>
                <a:latin typeface="Calibri" pitchFamily="34" charset="0"/>
                <a:ea typeface="Calibri" pitchFamily="34" charset="-122"/>
                <a:cs typeface="Calibri" pitchFamily="34" charset="-120"/>
              </a:rPr>
              <a:t>Brain — ECoG (cortex surface)</a:t>
            </a:r>
            <a:endParaRPr lang="en-US" sz="1700" dirty="0"/>
          </a:p>
        </p:txBody>
      </p:sp>
      <p:sp>
        <p:nvSpPr>
          <p:cNvPr id="15" name="Text 13"/>
          <p:cNvSpPr/>
          <p:nvPr/>
        </p:nvSpPr>
        <p:spPr>
          <a:xfrm>
            <a:off x="6446520" y="3657600"/>
            <a:ext cx="4800600" cy="1280160"/>
          </a:xfrm>
          <a:prstGeom prst="rect">
            <a:avLst/>
          </a:prstGeom>
          <a:noFill/>
          <a:ln/>
        </p:spPr>
        <p:txBody>
          <a:bodyPr wrap="square" lIns="0" tIns="0" rIns="0" bIns="0" rtlCol="0" anchor="ctr"/>
          <a:lstStyle/>
          <a:p>
            <a:pPr indent="0" marL="0">
              <a:lnSpc>
                <a:spcPct val="105000"/>
              </a:lnSpc>
              <a:buNone/>
            </a:pPr>
            <a:r>
              <a:rPr lang="en-US" sz="1450" dirty="0">
                <a:solidFill>
                  <a:srgbClr val="1E293B"/>
                </a:solidFill>
                <a:latin typeface="Calibri" pitchFamily="34" charset="0"/>
                <a:ea typeface="Calibri" pitchFamily="34" charset="-122"/>
                <a:cs typeface="Calibri" pitchFamily="34" charset="-120"/>
              </a:rPr>
              <a:t>Electrical activity from the surface of the motor cortex, recorded at the very same moment as the muscle. This is the brain signal we study.</a:t>
            </a:r>
            <a:endParaRPr lang="en-US" sz="1450" dirty="0"/>
          </a:p>
        </p:txBody>
      </p:sp>
      <p:sp>
        <p:nvSpPr>
          <p:cNvPr id="16" name="Text 14"/>
          <p:cNvSpPr/>
          <p:nvPr/>
        </p:nvSpPr>
        <p:spPr>
          <a:xfrm>
            <a:off x="6446520" y="5257800"/>
            <a:ext cx="4572000" cy="365760"/>
          </a:xfrm>
          <a:prstGeom prst="rect">
            <a:avLst/>
          </a:prstGeom>
          <a:noFill/>
          <a:ln/>
        </p:spPr>
        <p:txBody>
          <a:bodyPr wrap="square" lIns="0" tIns="0" rIns="0" bIns="0" rtlCol="0" anchor="ctr"/>
          <a:lstStyle/>
          <a:p>
            <a:pPr indent="0" marL="0">
              <a:buNone/>
            </a:pPr>
            <a:r>
              <a:rPr lang="en-US" sz="1350" b="1" i="1" dirty="0">
                <a:solidFill>
                  <a:srgbClr val="6D28D9"/>
                </a:solidFill>
                <a:latin typeface="Calibri" pitchFamily="34" charset="0"/>
                <a:ea typeface="Calibri" pitchFamily="34" charset="-122"/>
                <a:cs typeface="Calibri" pitchFamily="34" charset="-120"/>
              </a:rPr>
              <a:t>→ the model's input</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50" b="1" spc="300" kern="0" dirty="0">
                <a:solidFill>
                  <a:srgbClr val="0D9488"/>
                </a:solidFill>
                <a:latin typeface="Calibri" pitchFamily="34" charset="0"/>
                <a:ea typeface="Calibri" pitchFamily="34" charset="-122"/>
                <a:cs typeface="Calibri" pitchFamily="34" charset="-120"/>
              </a:rPr>
              <a:t>STEP 1 OF 3 · GETTING TO REAL DATA</a:t>
            </a:r>
            <a:endParaRPr lang="en-US" sz="1250" dirty="0"/>
          </a:p>
        </p:txBody>
      </p:sp>
      <p:sp>
        <p:nvSpPr>
          <p:cNvPr id="3" name="Text 1"/>
          <p:cNvSpPr/>
          <p:nvPr/>
        </p:nvSpPr>
        <p:spPr>
          <a:xfrm>
            <a:off x="640080" y="457200"/>
            <a:ext cx="10972800" cy="640080"/>
          </a:xfrm>
          <a:prstGeom prst="rect">
            <a:avLst/>
          </a:prstGeom>
          <a:noFill/>
          <a:ln/>
        </p:spPr>
        <p:txBody>
          <a:bodyPr wrap="square" lIns="0" tIns="0" rIns="0" bIns="0" rtlCol="0" anchor="ctr"/>
          <a:lstStyle/>
          <a:p>
            <a:pPr indent="0" marL="0">
              <a:buNone/>
            </a:pPr>
            <a:r>
              <a:rPr lang="en-US" sz="3000" b="1" dirty="0">
                <a:solidFill>
                  <a:srgbClr val="1E293B"/>
                </a:solidFill>
                <a:latin typeface="Cambria" pitchFamily="34" charset="0"/>
                <a:ea typeface="Cambria" pitchFamily="34" charset="-122"/>
                <a:cs typeface="Cambria" pitchFamily="34" charset="-120"/>
              </a:rPr>
              <a:t>First: prove we're reading the signal right</a:t>
            </a:r>
            <a:endParaRPr lang="en-US" sz="3000" dirty="0"/>
          </a:p>
        </p:txBody>
      </p:sp>
      <p:pic>
        <p:nvPicPr>
          <p:cNvPr id="4" name="Image 0" descr="outputs/inspect/emg_reflexes.png">    </p:cNvPr>
          <p:cNvPicPr>
            <a:picLocks noChangeAspect="1"/>
          </p:cNvPicPr>
          <p:nvPr/>
        </p:nvPicPr>
        <p:blipFill>
          <a:blip r:embed="rId1"/>
          <a:srcRect l="0" r="0" t="0" b="0"/>
          <a:stretch/>
        </p:blipFill>
        <p:spPr>
          <a:xfrm>
            <a:off x="640080" y="1874520"/>
            <a:ext cx="7498080" cy="2677886"/>
          </a:xfrm>
          <a:prstGeom prst="rect">
            <a:avLst/>
          </a:prstGeom>
        </p:spPr>
      </p:pic>
      <p:sp>
        <p:nvSpPr>
          <p:cNvPr id="5" name="Text 2"/>
          <p:cNvSpPr/>
          <p:nvPr/>
        </p:nvSpPr>
        <p:spPr>
          <a:xfrm>
            <a:off x="658368" y="5029200"/>
            <a:ext cx="7315200" cy="1188720"/>
          </a:xfrm>
          <a:prstGeom prst="rect">
            <a:avLst/>
          </a:prstGeom>
          <a:noFill/>
          <a:ln/>
        </p:spPr>
        <p:txBody>
          <a:bodyPr wrap="square" lIns="0" tIns="0" rIns="0" bIns="0" rtlCol="0" anchor="ctr"/>
          <a:lstStyle/>
          <a:p>
            <a:pPr indent="0" marL="0">
              <a:lnSpc>
                <a:spcPct val="105000"/>
              </a:lnSpc>
              <a:buNone/>
            </a:pPr>
            <a:r>
              <a:rPr lang="en-US" sz="1450" dirty="0">
                <a:solidFill>
                  <a:srgbClr val="1E293B"/>
                </a:solidFill>
                <a:latin typeface="Calibri" pitchFamily="34" charset="0"/>
                <a:ea typeface="Calibri" pitchFamily="34" charset="-122"/>
                <a:cs typeface="Calibri" pitchFamily="34" charset="-120"/>
              </a:rPr>
              <a:t>The raw data is a 20-year-old binary format. We confirmed the decode by averaging the muscle channel: it shows the textbook shape — a stimulus artifact, then the M-wave (2–4 ms), then the H-reflex (~6–7 ms). Real physiology, not noise.</a:t>
            </a:r>
            <a:endParaRPr lang="en-US" sz="1450" dirty="0"/>
          </a:p>
        </p:txBody>
      </p:sp>
      <p:sp>
        <p:nvSpPr>
          <p:cNvPr id="6" name="Shape 3"/>
          <p:cNvSpPr/>
          <p:nvPr/>
        </p:nvSpPr>
        <p:spPr>
          <a:xfrm>
            <a:off x="8321040" y="1965960"/>
            <a:ext cx="3200400" cy="3566160"/>
          </a:xfrm>
          <a:prstGeom prst="roundRect">
            <a:avLst>
              <a:gd name="adj" fmla="val 2571"/>
            </a:avLst>
          </a:prstGeom>
          <a:solidFill>
            <a:srgbClr val="F1F5F9"/>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7" name="Text 4"/>
          <p:cNvSpPr/>
          <p:nvPr/>
        </p:nvSpPr>
        <p:spPr>
          <a:xfrm>
            <a:off x="8549640" y="2194560"/>
            <a:ext cx="2743200" cy="320040"/>
          </a:xfrm>
          <a:prstGeom prst="rect">
            <a:avLst/>
          </a:prstGeom>
          <a:noFill/>
          <a:ln/>
        </p:spPr>
        <p:txBody>
          <a:bodyPr wrap="square" lIns="0" tIns="0" rIns="0" bIns="0" rtlCol="0" anchor="ctr"/>
          <a:lstStyle/>
          <a:p>
            <a:pPr indent="0" marL="0">
              <a:buNone/>
            </a:pPr>
            <a:r>
              <a:rPr lang="en-US" sz="1400" b="1" dirty="0">
                <a:solidFill>
                  <a:srgbClr val="6D28D9"/>
                </a:solidFill>
                <a:latin typeface="Calibri" pitchFamily="34" charset="0"/>
                <a:ea typeface="Calibri" pitchFamily="34" charset="-122"/>
                <a:cs typeface="Calibri" pitchFamily="34" charset="-120"/>
              </a:rPr>
              <a:t>What this took</a:t>
            </a:r>
            <a:endParaRPr lang="en-US" sz="1400" dirty="0"/>
          </a:p>
        </p:txBody>
      </p:sp>
      <p:sp>
        <p:nvSpPr>
          <p:cNvPr id="8" name="Text 5"/>
          <p:cNvSpPr/>
          <p:nvPr/>
        </p:nvSpPr>
        <p:spPr>
          <a:xfrm>
            <a:off x="8549640" y="2606040"/>
            <a:ext cx="2788920" cy="2743200"/>
          </a:xfrm>
          <a:prstGeom prst="rect">
            <a:avLst/>
          </a:prstGeom>
          <a:noFill/>
          <a:ln/>
        </p:spPr>
        <p:txBody>
          <a:bodyPr wrap="square" lIns="0" tIns="0" rIns="0" bIns="0" rtlCol="0" anchor="ctr"/>
          <a:lstStyle/>
          <a:p>
            <a:pPr marL="342900" indent="-342900">
              <a:lnSpc>
                <a:spcPct val="105000"/>
              </a:lnSpc>
              <a:spcAft>
                <a:spcPts val="600"/>
              </a:spcAft>
              <a:buSzPct val="100000"/>
              <a:buChar char="•"/>
            </a:pPr>
            <a:r>
              <a:rPr lang="en-US" sz="1300" dirty="0">
                <a:solidFill>
                  <a:srgbClr val="1E293B"/>
                </a:solidFill>
                <a:latin typeface="Calibri" pitchFamily="34" charset="0"/>
                <a:ea typeface="Calibri" pitchFamily="34" charset="-122"/>
                <a:cs typeface="Calibri" pitchFamily="34" charset="-120"/>
              </a:rPr>
              <a:t>Loaded the 2.3 GB database locally</a:t>
            </a:r>
            <a:endParaRPr lang="en-US" sz="1300" dirty="0"/>
          </a:p>
          <a:p>
            <a:pPr marL="342900" indent="-342900">
              <a:lnSpc>
                <a:spcPct val="105000"/>
              </a:lnSpc>
              <a:spcAft>
                <a:spcPts val="600"/>
              </a:spcAft>
              <a:buSzPct val="100000"/>
              <a:buChar char="•"/>
            </a:pPr>
            <a:r>
              <a:rPr lang="en-US" sz="1300" dirty="0">
                <a:solidFill>
                  <a:srgbClr val="1E293B"/>
                </a:solidFill>
                <a:latin typeface="Calibri" pitchFamily="34" charset="0"/>
                <a:ea typeface="Calibri" pitchFamily="34" charset="-122"/>
                <a:cs typeface="Calibri" pitchFamily="34" charset="-120"/>
              </a:rPr>
              <a:t>Cracked the byte format (it was mislabeled in the lab docs)</a:t>
            </a:r>
            <a:endParaRPr lang="en-US" sz="1300" dirty="0"/>
          </a:p>
          <a:p>
            <a:pPr marL="342900" indent="-342900">
              <a:lnSpc>
                <a:spcPct val="105000"/>
              </a:lnSpc>
              <a:spcAft>
                <a:spcPts val="600"/>
              </a:spcAft>
              <a:buSzPct val="100000"/>
              <a:buChar char="•"/>
            </a:pPr>
            <a:r>
              <a:rPr lang="en-US" sz="1300" dirty="0">
                <a:solidFill>
                  <a:srgbClr val="1E293B"/>
                </a:solidFill>
                <a:latin typeface="Calibri" pitchFamily="34" charset="0"/>
                <a:ea typeface="Calibri" pitchFamily="34" charset="-122"/>
                <a:cs typeface="Calibri" pitchFamily="34" charset="-120"/>
              </a:rPr>
              <a:t>Confirmed channel A = muscle, B = brain</a:t>
            </a:r>
            <a:endParaRPr lang="en-US" sz="1300" dirty="0"/>
          </a:p>
          <a:p>
            <a:pPr marL="342900" indent="-342900">
              <a:lnSpc>
                <a:spcPct val="105000"/>
              </a:lnSpc>
              <a:spcAft>
                <a:spcPts val="600"/>
              </a:spcAft>
              <a:buSzPct val="100000"/>
              <a:buChar char="•"/>
            </a:pPr>
            <a:r>
              <a:rPr lang="en-US" sz="1300" dirty="0">
                <a:solidFill>
                  <a:srgbClr val="1E293B"/>
                </a:solidFill>
                <a:latin typeface="Calibri" pitchFamily="34" charset="0"/>
                <a:ea typeface="Calibri" pitchFamily="34" charset="-122"/>
                <a:cs typeface="Calibri" pitchFamily="34" charset="-120"/>
              </a:rPr>
              <a:t>Verified against textbook M / H timing</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50" b="1" spc="300" kern="0" dirty="0">
                <a:solidFill>
                  <a:srgbClr val="0D9488"/>
                </a:solidFill>
                <a:latin typeface="Calibri" pitchFamily="34" charset="0"/>
                <a:ea typeface="Calibri" pitchFamily="34" charset="-122"/>
                <a:cs typeface="Calibri" pitchFamily="34" charset="-120"/>
              </a:rPr>
              <a:t>STEP 2 OF 3 · GETTING TO REAL DATA</a:t>
            </a:r>
            <a:endParaRPr lang="en-US" sz="1250" dirty="0"/>
          </a:p>
        </p:txBody>
      </p:sp>
      <p:sp>
        <p:nvSpPr>
          <p:cNvPr id="3" name="Text 1"/>
          <p:cNvSpPr/>
          <p:nvPr/>
        </p:nvSpPr>
        <p:spPr>
          <a:xfrm>
            <a:off x="640080" y="457200"/>
            <a:ext cx="10972800" cy="640080"/>
          </a:xfrm>
          <a:prstGeom prst="rect">
            <a:avLst/>
          </a:prstGeom>
          <a:noFill/>
          <a:ln/>
        </p:spPr>
        <p:txBody>
          <a:bodyPr wrap="square" lIns="0" tIns="0" rIns="0" bIns="0" rtlCol="0" anchor="ctr"/>
          <a:lstStyle/>
          <a:p>
            <a:pPr indent="0" marL="0">
              <a:buNone/>
            </a:pPr>
            <a:r>
              <a:rPr lang="en-US" sz="3000" b="1" dirty="0">
                <a:solidFill>
                  <a:srgbClr val="1E293B"/>
                </a:solidFill>
                <a:latin typeface="Cambria" pitchFamily="34" charset="0"/>
                <a:ea typeface="Cambria" pitchFamily="34" charset="-122"/>
                <a:cs typeface="Cambria" pitchFamily="34" charset="-120"/>
              </a:rPr>
              <a:t>Recover the conditioning phases</a:t>
            </a:r>
            <a:endParaRPr lang="en-US" sz="3000" dirty="0"/>
          </a:p>
        </p:txBody>
      </p:sp>
      <p:sp>
        <p:nvSpPr>
          <p:cNvPr id="4" name="Text 2"/>
          <p:cNvSpPr/>
          <p:nvPr/>
        </p:nvSpPr>
        <p:spPr>
          <a:xfrm>
            <a:off x="640080" y="1600200"/>
            <a:ext cx="10881360" cy="640080"/>
          </a:xfrm>
          <a:prstGeom prst="rect">
            <a:avLst/>
          </a:prstGeom>
          <a:noFill/>
          <a:ln/>
        </p:spPr>
        <p:txBody>
          <a:bodyPr wrap="square" lIns="0" tIns="0" rIns="0" bIns="0" rtlCol="0" anchor="ctr"/>
          <a:lstStyle/>
          <a:p>
            <a:pPr indent="0" marL="0">
              <a:lnSpc>
                <a:spcPct val="105000"/>
              </a:lnSpc>
              <a:buNone/>
            </a:pPr>
            <a:r>
              <a:rPr lang="en-US" sz="1600" dirty="0">
                <a:solidFill>
                  <a:srgbClr val="1E293B"/>
                </a:solidFill>
                <a:latin typeface="Calibri" pitchFamily="34" charset="0"/>
                <a:ea typeface="Calibri" pitchFamily="34" charset="-122"/>
                <a:cs typeface="Calibri" pitchFamily="34" charset="-120"/>
              </a:rPr>
              <a:t>We read the experimenter's own typed log from 2006 to find when each phase began — then tagged all 283k trials by time.</a:t>
            </a:r>
            <a:endParaRPr lang="en-US" sz="1600" dirty="0"/>
          </a:p>
        </p:txBody>
      </p:sp>
      <p:sp>
        <p:nvSpPr>
          <p:cNvPr id="5" name="Shape 3"/>
          <p:cNvSpPr/>
          <p:nvPr/>
        </p:nvSpPr>
        <p:spPr>
          <a:xfrm>
            <a:off x="640080" y="2514600"/>
            <a:ext cx="3538728" cy="2194560"/>
          </a:xfrm>
          <a:prstGeom prst="roundRect">
            <a:avLst>
              <a:gd name="adj" fmla="val 3750"/>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6" name="Text 4"/>
          <p:cNvSpPr/>
          <p:nvPr/>
        </p:nvSpPr>
        <p:spPr>
          <a:xfrm>
            <a:off x="685800" y="2743200"/>
            <a:ext cx="3447288" cy="457200"/>
          </a:xfrm>
          <a:prstGeom prst="rect">
            <a:avLst/>
          </a:prstGeom>
          <a:noFill/>
          <a:ln/>
        </p:spPr>
        <p:txBody>
          <a:bodyPr wrap="square" lIns="0" tIns="0" rIns="0" bIns="0" rtlCol="0" anchor="ctr"/>
          <a:lstStyle/>
          <a:p>
            <a:pPr algn="ctr" indent="0" marL="0">
              <a:buNone/>
            </a:pPr>
            <a:r>
              <a:rPr lang="en-US" sz="1600" b="1" dirty="0">
                <a:solidFill>
                  <a:srgbClr val="64748B"/>
                </a:solidFill>
                <a:latin typeface="Calibri" pitchFamily="34" charset="0"/>
                <a:ea typeface="Calibri" pitchFamily="34" charset="-122"/>
                <a:cs typeface="Calibri" pitchFamily="34" charset="-120"/>
              </a:rPr>
              <a:t>Baseline</a:t>
            </a:r>
            <a:endParaRPr lang="en-US" sz="1600" dirty="0"/>
          </a:p>
        </p:txBody>
      </p:sp>
      <p:sp>
        <p:nvSpPr>
          <p:cNvPr id="7" name="Text 5"/>
          <p:cNvSpPr/>
          <p:nvPr/>
        </p:nvSpPr>
        <p:spPr>
          <a:xfrm>
            <a:off x="685800" y="3200400"/>
            <a:ext cx="3447288" cy="731520"/>
          </a:xfrm>
          <a:prstGeom prst="rect">
            <a:avLst/>
          </a:prstGeom>
          <a:noFill/>
          <a:ln/>
        </p:spPr>
        <p:txBody>
          <a:bodyPr wrap="square" lIns="0" tIns="0" rIns="0" bIns="0" rtlCol="0" anchor="ctr"/>
          <a:lstStyle/>
          <a:p>
            <a:pPr algn="ctr" indent="0" marL="0">
              <a:buNone/>
            </a:pPr>
            <a:r>
              <a:rPr lang="en-US" sz="3400" b="1" dirty="0">
                <a:solidFill>
                  <a:srgbClr val="1E293B"/>
                </a:solidFill>
                <a:latin typeface="Cambria" pitchFamily="34" charset="0"/>
                <a:ea typeface="Cambria" pitchFamily="34" charset="-122"/>
                <a:cs typeface="Cambria" pitchFamily="34" charset="-120"/>
              </a:rPr>
              <a:t>149,064</a:t>
            </a:r>
            <a:endParaRPr lang="en-US" sz="3400" dirty="0"/>
          </a:p>
        </p:txBody>
      </p:sp>
      <p:sp>
        <p:nvSpPr>
          <p:cNvPr id="8" name="Text 6"/>
          <p:cNvSpPr/>
          <p:nvPr/>
        </p:nvSpPr>
        <p:spPr>
          <a:xfrm>
            <a:off x="777240" y="4023360"/>
            <a:ext cx="3264408" cy="548640"/>
          </a:xfrm>
          <a:prstGeom prst="rect">
            <a:avLst/>
          </a:prstGeom>
          <a:noFill/>
          <a:ln/>
        </p:spPr>
        <p:txBody>
          <a:bodyPr wrap="square" lIns="0" tIns="0" rIns="0" bIns="0" rtlCol="0" anchor="ctr"/>
          <a:lstStyle/>
          <a:p>
            <a:pPr algn="ctr" indent="0" marL="0">
              <a:buNone/>
            </a:pPr>
            <a:r>
              <a:rPr lang="en-US" sz="1250" dirty="0">
                <a:solidFill>
                  <a:srgbClr val="64748B"/>
                </a:solidFill>
                <a:latin typeface="Calibri" pitchFamily="34" charset="0"/>
                <a:ea typeface="Calibri" pitchFamily="34" charset="-122"/>
                <a:cs typeface="Calibri" pitchFamily="34" charset="-120"/>
              </a:rPr>
              <a:t>Setup + characterize the reflex</a:t>
            </a:r>
            <a:endParaRPr lang="en-US" sz="1250" dirty="0"/>
          </a:p>
        </p:txBody>
      </p:sp>
      <p:sp>
        <p:nvSpPr>
          <p:cNvPr id="9" name="Shape 7"/>
          <p:cNvSpPr/>
          <p:nvPr/>
        </p:nvSpPr>
        <p:spPr>
          <a:xfrm>
            <a:off x="4370832" y="2514600"/>
            <a:ext cx="3538728" cy="2194560"/>
          </a:xfrm>
          <a:prstGeom prst="roundRect">
            <a:avLst>
              <a:gd name="adj" fmla="val 3750"/>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0" name="Text 8"/>
          <p:cNvSpPr/>
          <p:nvPr/>
        </p:nvSpPr>
        <p:spPr>
          <a:xfrm>
            <a:off x="4416552" y="2743200"/>
            <a:ext cx="3447288" cy="457200"/>
          </a:xfrm>
          <a:prstGeom prst="rect">
            <a:avLst/>
          </a:prstGeom>
          <a:noFill/>
          <a:ln/>
        </p:spPr>
        <p:txBody>
          <a:bodyPr wrap="square" lIns="0" tIns="0" rIns="0" bIns="0" rtlCol="0" anchor="ctr"/>
          <a:lstStyle/>
          <a:p>
            <a:pPr algn="ctr" indent="0" marL="0">
              <a:buNone/>
            </a:pPr>
            <a:r>
              <a:rPr lang="en-US" sz="1600" b="1" dirty="0">
                <a:solidFill>
                  <a:srgbClr val="6D28D9"/>
                </a:solidFill>
                <a:latin typeface="Calibri" pitchFamily="34" charset="0"/>
                <a:ea typeface="Calibri" pitchFamily="34" charset="-122"/>
                <a:cs typeface="Calibri" pitchFamily="34" charset="-120"/>
              </a:rPr>
              <a:t>Down-conditioning</a:t>
            </a:r>
            <a:endParaRPr lang="en-US" sz="1600" dirty="0"/>
          </a:p>
        </p:txBody>
      </p:sp>
      <p:sp>
        <p:nvSpPr>
          <p:cNvPr id="11" name="Text 9"/>
          <p:cNvSpPr/>
          <p:nvPr/>
        </p:nvSpPr>
        <p:spPr>
          <a:xfrm>
            <a:off x="4416552" y="3200400"/>
            <a:ext cx="3447288" cy="731520"/>
          </a:xfrm>
          <a:prstGeom prst="rect">
            <a:avLst/>
          </a:prstGeom>
          <a:noFill/>
          <a:ln/>
        </p:spPr>
        <p:txBody>
          <a:bodyPr wrap="square" lIns="0" tIns="0" rIns="0" bIns="0" rtlCol="0" anchor="ctr"/>
          <a:lstStyle/>
          <a:p>
            <a:pPr algn="ctr" indent="0" marL="0">
              <a:buNone/>
            </a:pPr>
            <a:r>
              <a:rPr lang="en-US" sz="3400" b="1" dirty="0">
                <a:solidFill>
                  <a:srgbClr val="1E293B"/>
                </a:solidFill>
                <a:latin typeface="Cambria" pitchFamily="34" charset="0"/>
                <a:ea typeface="Cambria" pitchFamily="34" charset="-122"/>
                <a:cs typeface="Cambria" pitchFamily="34" charset="-120"/>
              </a:rPr>
              <a:t>55,397</a:t>
            </a:r>
            <a:endParaRPr lang="en-US" sz="3400" dirty="0"/>
          </a:p>
        </p:txBody>
      </p:sp>
      <p:sp>
        <p:nvSpPr>
          <p:cNvPr id="12" name="Text 10"/>
          <p:cNvSpPr/>
          <p:nvPr/>
        </p:nvSpPr>
        <p:spPr>
          <a:xfrm>
            <a:off x="4507992" y="4023360"/>
            <a:ext cx="3264408" cy="548640"/>
          </a:xfrm>
          <a:prstGeom prst="rect">
            <a:avLst/>
          </a:prstGeom>
          <a:noFill/>
          <a:ln/>
        </p:spPr>
        <p:txBody>
          <a:bodyPr wrap="square" lIns="0" tIns="0" rIns="0" bIns="0" rtlCol="0" anchor="ctr"/>
          <a:lstStyle/>
          <a:p>
            <a:pPr algn="ctr" indent="0" marL="0">
              <a:buNone/>
            </a:pPr>
            <a:r>
              <a:rPr lang="en-US" sz="1250" dirty="0">
                <a:solidFill>
                  <a:srgbClr val="64748B"/>
                </a:solidFill>
                <a:latin typeface="Calibri" pitchFamily="34" charset="0"/>
                <a:ea typeface="Calibri" pitchFamily="34" charset="-122"/>
                <a:cs typeface="Calibri" pitchFamily="34" charset="-120"/>
              </a:rPr>
              <a:t>Cord trained to shrink the reflex</a:t>
            </a:r>
            <a:endParaRPr lang="en-US" sz="1250" dirty="0"/>
          </a:p>
        </p:txBody>
      </p:sp>
      <p:sp>
        <p:nvSpPr>
          <p:cNvPr id="13" name="Shape 11"/>
          <p:cNvSpPr/>
          <p:nvPr/>
        </p:nvSpPr>
        <p:spPr>
          <a:xfrm>
            <a:off x="8101584" y="2514600"/>
            <a:ext cx="3538728" cy="2194560"/>
          </a:xfrm>
          <a:prstGeom prst="roundRect">
            <a:avLst>
              <a:gd name="adj" fmla="val 3750"/>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4" name="Text 12"/>
          <p:cNvSpPr/>
          <p:nvPr/>
        </p:nvSpPr>
        <p:spPr>
          <a:xfrm>
            <a:off x="8147304" y="2743200"/>
            <a:ext cx="3447288" cy="457200"/>
          </a:xfrm>
          <a:prstGeom prst="rect">
            <a:avLst/>
          </a:prstGeom>
          <a:noFill/>
          <a:ln/>
        </p:spPr>
        <p:txBody>
          <a:bodyPr wrap="square" lIns="0" tIns="0" rIns="0" bIns="0" rtlCol="0" anchor="ctr"/>
          <a:lstStyle/>
          <a:p>
            <a:pPr algn="ctr" indent="0" marL="0">
              <a:buNone/>
            </a:pPr>
            <a:r>
              <a:rPr lang="en-US" sz="1600" b="1" dirty="0">
                <a:solidFill>
                  <a:srgbClr val="0D9488"/>
                </a:solidFill>
                <a:latin typeface="Calibri" pitchFamily="34" charset="0"/>
                <a:ea typeface="Calibri" pitchFamily="34" charset="-122"/>
                <a:cs typeface="Calibri" pitchFamily="34" charset="-120"/>
              </a:rPr>
              <a:t>Post</a:t>
            </a:r>
            <a:endParaRPr lang="en-US" sz="1600" dirty="0"/>
          </a:p>
        </p:txBody>
      </p:sp>
      <p:sp>
        <p:nvSpPr>
          <p:cNvPr id="15" name="Text 13"/>
          <p:cNvSpPr/>
          <p:nvPr/>
        </p:nvSpPr>
        <p:spPr>
          <a:xfrm>
            <a:off x="8147304" y="3200400"/>
            <a:ext cx="3447288" cy="731520"/>
          </a:xfrm>
          <a:prstGeom prst="rect">
            <a:avLst/>
          </a:prstGeom>
          <a:noFill/>
          <a:ln/>
        </p:spPr>
        <p:txBody>
          <a:bodyPr wrap="square" lIns="0" tIns="0" rIns="0" bIns="0" rtlCol="0" anchor="ctr"/>
          <a:lstStyle/>
          <a:p>
            <a:pPr algn="ctr" indent="0" marL="0">
              <a:buNone/>
            </a:pPr>
            <a:r>
              <a:rPr lang="en-US" sz="3400" b="1" dirty="0">
                <a:solidFill>
                  <a:srgbClr val="1E293B"/>
                </a:solidFill>
                <a:latin typeface="Cambria" pitchFamily="34" charset="0"/>
                <a:ea typeface="Cambria" pitchFamily="34" charset="-122"/>
                <a:cs typeface="Cambria" pitchFamily="34" charset="-120"/>
              </a:rPr>
              <a:t>78,854</a:t>
            </a:r>
            <a:endParaRPr lang="en-US" sz="3400" dirty="0"/>
          </a:p>
        </p:txBody>
      </p:sp>
      <p:sp>
        <p:nvSpPr>
          <p:cNvPr id="16" name="Text 14"/>
          <p:cNvSpPr/>
          <p:nvPr/>
        </p:nvSpPr>
        <p:spPr>
          <a:xfrm>
            <a:off x="8238744" y="4023360"/>
            <a:ext cx="3264408" cy="548640"/>
          </a:xfrm>
          <a:prstGeom prst="rect">
            <a:avLst/>
          </a:prstGeom>
          <a:noFill/>
          <a:ln/>
        </p:spPr>
        <p:txBody>
          <a:bodyPr wrap="square" lIns="0" tIns="0" rIns="0" bIns="0" rtlCol="0" anchor="ctr"/>
          <a:lstStyle/>
          <a:p>
            <a:pPr algn="ctr" indent="0" marL="0">
              <a:buNone/>
            </a:pPr>
            <a:r>
              <a:rPr lang="en-US" sz="1250" dirty="0">
                <a:solidFill>
                  <a:srgbClr val="64748B"/>
                </a:solidFill>
                <a:latin typeface="Calibri" pitchFamily="34" charset="0"/>
                <a:ea typeface="Calibri" pitchFamily="34" charset="-122"/>
                <a:cs typeface="Calibri" pitchFamily="34" charset="-120"/>
              </a:rPr>
              <a:t>After conditioning stopped</a:t>
            </a:r>
            <a:endParaRPr lang="en-US" sz="1250" dirty="0"/>
          </a:p>
        </p:txBody>
      </p:sp>
      <p:sp>
        <p:nvSpPr>
          <p:cNvPr id="17" name="Shape 15"/>
          <p:cNvSpPr/>
          <p:nvPr/>
        </p:nvSpPr>
        <p:spPr>
          <a:xfrm>
            <a:off x="640080" y="5029200"/>
            <a:ext cx="10881360" cy="1143000"/>
          </a:xfrm>
          <a:prstGeom prst="roundRect">
            <a:avLst>
              <a:gd name="adj" fmla="val 7200"/>
            </a:avLst>
          </a:prstGeom>
          <a:solidFill>
            <a:srgbClr val="F5F3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8" name="Text 16"/>
          <p:cNvSpPr/>
          <p:nvPr/>
        </p:nvSpPr>
        <p:spPr>
          <a:xfrm>
            <a:off x="914400" y="5230368"/>
            <a:ext cx="10332720" cy="822960"/>
          </a:xfrm>
          <a:prstGeom prst="rect">
            <a:avLst/>
          </a:prstGeom>
          <a:noFill/>
          <a:ln/>
        </p:spPr>
        <p:txBody>
          <a:bodyPr wrap="square" lIns="0" tIns="0" rIns="0" bIns="0" rtlCol="0" anchor="ctr"/>
          <a:lstStyle/>
          <a:p>
            <a:pPr indent="0" marL="0">
              <a:lnSpc>
                <a:spcPct val="103000"/>
              </a:lnSpc>
              <a:buNone/>
            </a:pPr>
            <a:r>
              <a:rPr lang="en-US" sz="1450" b="1" dirty="0">
                <a:solidFill>
                  <a:srgbClr val="6D28D9"/>
                </a:solidFill>
                <a:latin typeface="Calibri" pitchFamily="34" charset="0"/>
                <a:ea typeface="Calibri" pitchFamily="34" charset="-122"/>
                <a:cs typeface="Calibri" pitchFamily="34" charset="-120"/>
              </a:rPr>
              <a:t>Key detail:  </a:t>
            </a:r>
            <a:pPr indent="0" marL="0">
              <a:lnSpc>
                <a:spcPct val="103000"/>
              </a:lnSpc>
              <a:buNone/>
            </a:pPr>
            <a:r>
              <a:rPr lang="en-US" sz="1450" dirty="0">
                <a:solidFill>
                  <a:srgbClr val="1E293B"/>
                </a:solidFill>
                <a:latin typeface="Calibri" pitchFamily="34" charset="0"/>
                <a:ea typeface="Calibri" pitchFamily="34" charset="-122"/>
                <a:cs typeface="Calibri" pitchFamily="34" charset="-120"/>
              </a:rPr>
              <a:t>Animal 9 ran Baseline → Down-conditioning → Post — NOT the full 6-phase protocol. We verified the phase boundaries against the authoritative database schema, so these labels are trustworthy.</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50" b="1" spc="300" kern="0" dirty="0">
                <a:solidFill>
                  <a:srgbClr val="0D9488"/>
                </a:solidFill>
                <a:latin typeface="Calibri" pitchFamily="34" charset="0"/>
                <a:ea typeface="Calibri" pitchFamily="34" charset="-122"/>
                <a:cs typeface="Calibri" pitchFamily="34" charset="-120"/>
              </a:rPr>
              <a:t>STEP 3 OF 3 · GETTING TO REAL DATA</a:t>
            </a:r>
            <a:endParaRPr lang="en-US" sz="1250" dirty="0"/>
          </a:p>
        </p:txBody>
      </p:sp>
      <p:sp>
        <p:nvSpPr>
          <p:cNvPr id="3" name="Text 1"/>
          <p:cNvSpPr/>
          <p:nvPr/>
        </p:nvSpPr>
        <p:spPr>
          <a:xfrm>
            <a:off x="640080" y="457200"/>
            <a:ext cx="10972800" cy="640080"/>
          </a:xfrm>
          <a:prstGeom prst="rect">
            <a:avLst/>
          </a:prstGeom>
          <a:noFill/>
          <a:ln/>
        </p:spPr>
        <p:txBody>
          <a:bodyPr wrap="square" lIns="0" tIns="0" rIns="0" bIns="0" rtlCol="0" anchor="ctr"/>
          <a:lstStyle/>
          <a:p>
            <a:pPr indent="0" marL="0">
              <a:buNone/>
            </a:pPr>
            <a:r>
              <a:rPr lang="en-US" sz="3000" b="1" dirty="0">
                <a:solidFill>
                  <a:srgbClr val="1E293B"/>
                </a:solidFill>
                <a:latin typeface="Cambria" pitchFamily="34" charset="0"/>
                <a:ea typeface="Cambria" pitchFamily="34" charset="-122"/>
                <a:cs typeface="Cambria" pitchFamily="34" charset="-120"/>
              </a:rPr>
              <a:t>Define what we predict: the H-reflex size</a:t>
            </a:r>
            <a:endParaRPr lang="en-US" sz="3000" dirty="0"/>
          </a:p>
        </p:txBody>
      </p:sp>
      <p:pic>
        <p:nvPicPr>
          <p:cNvPr id="4" name="Image 0" descr="outputs/validate/avg_emg.png">    </p:cNvPr>
          <p:cNvPicPr>
            <a:picLocks noChangeAspect="1"/>
          </p:cNvPicPr>
          <p:nvPr/>
        </p:nvPicPr>
        <p:blipFill>
          <a:blip r:embed="rId1"/>
          <a:srcRect l="0" r="0" t="0" b="0"/>
          <a:stretch/>
        </p:blipFill>
        <p:spPr>
          <a:xfrm>
            <a:off x="640080" y="1828800"/>
            <a:ext cx="6583680" cy="3291840"/>
          </a:xfrm>
          <a:prstGeom prst="rect">
            <a:avLst/>
          </a:prstGeom>
        </p:spPr>
      </p:pic>
      <p:sp>
        <p:nvSpPr>
          <p:cNvPr id="5" name="Shape 2"/>
          <p:cNvSpPr/>
          <p:nvPr/>
        </p:nvSpPr>
        <p:spPr>
          <a:xfrm>
            <a:off x="7772400" y="1920240"/>
            <a:ext cx="3749040" cy="3840480"/>
          </a:xfrm>
          <a:prstGeom prst="roundRect">
            <a:avLst>
              <a:gd name="adj" fmla="val 2195"/>
            </a:avLst>
          </a:prstGeom>
          <a:solidFill>
            <a:srgbClr val="F1F5F9"/>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6" name="Text 3"/>
          <p:cNvSpPr/>
          <p:nvPr/>
        </p:nvSpPr>
        <p:spPr>
          <a:xfrm>
            <a:off x="8001000" y="2148840"/>
            <a:ext cx="3291840" cy="320040"/>
          </a:xfrm>
          <a:prstGeom prst="rect">
            <a:avLst/>
          </a:prstGeom>
          <a:noFill/>
          <a:ln/>
        </p:spPr>
        <p:txBody>
          <a:bodyPr wrap="square" lIns="0" tIns="0" rIns="0" bIns="0" rtlCol="0" anchor="ctr"/>
          <a:lstStyle/>
          <a:p>
            <a:pPr indent="0" marL="0">
              <a:buNone/>
            </a:pPr>
            <a:r>
              <a:rPr lang="en-US" sz="1400" b="1" dirty="0">
                <a:solidFill>
                  <a:srgbClr val="6D28D9"/>
                </a:solidFill>
                <a:latin typeface="Calibri" pitchFamily="34" charset="0"/>
                <a:ea typeface="Calibri" pitchFamily="34" charset="-122"/>
                <a:cs typeface="Calibri" pitchFamily="34" charset="-120"/>
              </a:rPr>
              <a:t>The measure</a:t>
            </a:r>
            <a:endParaRPr lang="en-US" sz="1400" dirty="0"/>
          </a:p>
        </p:txBody>
      </p:sp>
      <p:sp>
        <p:nvSpPr>
          <p:cNvPr id="7" name="Text 4"/>
          <p:cNvSpPr/>
          <p:nvPr/>
        </p:nvSpPr>
        <p:spPr>
          <a:xfrm>
            <a:off x="8001000" y="2560320"/>
            <a:ext cx="3337560" cy="1051560"/>
          </a:xfrm>
          <a:prstGeom prst="rect">
            <a:avLst/>
          </a:prstGeom>
          <a:noFill/>
          <a:ln/>
        </p:spPr>
        <p:txBody>
          <a:bodyPr wrap="square" lIns="0" tIns="0" rIns="0" bIns="0" rtlCol="0" anchor="ctr"/>
          <a:lstStyle/>
          <a:p>
            <a:pPr indent="0" marL="0">
              <a:lnSpc>
                <a:spcPct val="105000"/>
              </a:lnSpc>
              <a:buNone/>
            </a:pPr>
            <a:r>
              <a:rPr lang="en-US" sz="1400" b="1" dirty="0">
                <a:solidFill>
                  <a:srgbClr val="1E293B"/>
                </a:solidFill>
                <a:latin typeface="Calibri" pitchFamily="34" charset="0"/>
                <a:ea typeface="Calibri" pitchFamily="34" charset="-122"/>
                <a:cs typeface="Calibri" pitchFamily="34" charset="-120"/>
              </a:rPr>
              <a:t>Where: </a:t>
            </a:r>
            <a:pPr indent="0" marL="0">
              <a:lnSpc>
                <a:spcPct val="105000"/>
              </a:lnSpc>
              <a:buNone/>
            </a:pPr>
            <a:r>
              <a:rPr lang="en-US" sz="1400" dirty="0">
                <a:solidFill>
                  <a:srgbClr val="1E293B"/>
                </a:solidFill>
                <a:latin typeface="Calibri" pitchFamily="34" charset="0"/>
                <a:ea typeface="Calibri" pitchFamily="34" charset="-122"/>
                <a:cs typeface="Calibri" pitchFamily="34" charset="-120"/>
              </a:rPr>
              <a:t>6–9 ms — the experimenter's log says exactly that, and it matches what we measured.</a:t>
            </a:r>
            <a:endParaRPr lang="en-US" sz="1400" dirty="0"/>
          </a:p>
        </p:txBody>
      </p:sp>
      <p:sp>
        <p:nvSpPr>
          <p:cNvPr id="8" name="Text 5"/>
          <p:cNvSpPr/>
          <p:nvPr/>
        </p:nvSpPr>
        <p:spPr>
          <a:xfrm>
            <a:off x="8001000" y="3703320"/>
            <a:ext cx="3337560" cy="1097280"/>
          </a:xfrm>
          <a:prstGeom prst="rect">
            <a:avLst/>
          </a:prstGeom>
          <a:noFill/>
          <a:ln/>
        </p:spPr>
        <p:txBody>
          <a:bodyPr wrap="square" lIns="0" tIns="0" rIns="0" bIns="0" rtlCol="0" anchor="ctr"/>
          <a:lstStyle/>
          <a:p>
            <a:pPr indent="0" marL="0">
              <a:lnSpc>
                <a:spcPct val="105000"/>
              </a:lnSpc>
              <a:buNone/>
            </a:pPr>
            <a:r>
              <a:rPr lang="en-US" sz="1400" b="1" dirty="0">
                <a:solidFill>
                  <a:srgbClr val="1E293B"/>
                </a:solidFill>
                <a:latin typeface="Calibri" pitchFamily="34" charset="0"/>
                <a:ea typeface="Calibri" pitchFamily="34" charset="-122"/>
                <a:cs typeface="Calibri" pitchFamily="34" charset="-120"/>
              </a:rPr>
              <a:t>How: </a:t>
            </a:r>
            <a:pPr indent="0" marL="0">
              <a:lnSpc>
                <a:spcPct val="105000"/>
              </a:lnSpc>
              <a:buNone/>
            </a:pPr>
            <a:r>
              <a:rPr lang="en-US" sz="1400" dirty="0">
                <a:solidFill>
                  <a:srgbClr val="1E293B"/>
                </a:solidFill>
                <a:latin typeface="Calibri" pitchFamily="34" charset="0"/>
                <a:ea typeface="Calibri" pitchFamily="34" charset="-122"/>
                <a:cs typeface="Calibri" pitchFamily="34" charset="-120"/>
              </a:rPr>
              <a:t>mean rectified amplitude in that window — your spec, not a single fragile peak.</a:t>
            </a:r>
            <a:endParaRPr lang="en-US" sz="1400" dirty="0"/>
          </a:p>
        </p:txBody>
      </p:sp>
      <p:sp>
        <p:nvSpPr>
          <p:cNvPr id="9" name="Text 6"/>
          <p:cNvSpPr/>
          <p:nvPr/>
        </p:nvSpPr>
        <p:spPr>
          <a:xfrm>
            <a:off x="8001000" y="5029200"/>
            <a:ext cx="3337560" cy="640080"/>
          </a:xfrm>
          <a:prstGeom prst="rect">
            <a:avLst/>
          </a:prstGeom>
          <a:noFill/>
          <a:ln/>
        </p:spPr>
        <p:txBody>
          <a:bodyPr wrap="square" lIns="0" tIns="0" rIns="0" bIns="0" rtlCol="0" anchor="ctr"/>
          <a:lstStyle/>
          <a:p>
            <a:pPr indent="0" marL="0">
              <a:buNone/>
            </a:pPr>
            <a:r>
              <a:rPr lang="en-US" sz="1250" i="1" dirty="0">
                <a:solidFill>
                  <a:srgbClr val="64748B"/>
                </a:solidFill>
                <a:latin typeface="Calibri" pitchFamily="34" charset="0"/>
                <a:ea typeface="Calibri" pitchFamily="34" charset="-122"/>
                <a:cs typeface="Calibri" pitchFamily="34" charset="-120"/>
              </a:rPr>
              <a:t>Green band = the H-reflex window on the real grand-average.</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50" b="1" spc="300" kern="0" dirty="0">
                <a:solidFill>
                  <a:srgbClr val="6D28D9"/>
                </a:solidFill>
                <a:latin typeface="Calibri" pitchFamily="34" charset="0"/>
                <a:ea typeface="Calibri" pitchFamily="34" charset="-122"/>
                <a:cs typeface="Calibri" pitchFamily="34" charset="-120"/>
              </a:rPr>
              <a:t>THE MODEL, IN PLAIN WORDS</a:t>
            </a:r>
            <a:endParaRPr lang="en-US" sz="1250" dirty="0"/>
          </a:p>
        </p:txBody>
      </p:sp>
      <p:sp>
        <p:nvSpPr>
          <p:cNvPr id="3" name="Text 1"/>
          <p:cNvSpPr/>
          <p:nvPr/>
        </p:nvSpPr>
        <p:spPr>
          <a:xfrm>
            <a:off x="640080" y="457200"/>
            <a:ext cx="10972800" cy="640080"/>
          </a:xfrm>
          <a:prstGeom prst="rect">
            <a:avLst/>
          </a:prstGeom>
          <a:noFill/>
          <a:ln/>
        </p:spPr>
        <p:txBody>
          <a:bodyPr wrap="square" lIns="0" tIns="0" rIns="0" bIns="0" rtlCol="0" anchor="ctr"/>
          <a:lstStyle/>
          <a:p>
            <a:pPr indent="0" marL="0">
              <a:buNone/>
            </a:pPr>
            <a:r>
              <a:rPr lang="en-US" sz="3000" b="1" dirty="0">
                <a:solidFill>
                  <a:srgbClr val="1E293B"/>
                </a:solidFill>
                <a:latin typeface="Cambria" pitchFamily="34" charset="0"/>
                <a:ea typeface="Cambria" pitchFamily="34" charset="-122"/>
                <a:cs typeface="Cambria" pitchFamily="34" charset="-120"/>
              </a:rPr>
              <a:t>A 'cortical fingerprint' of each trial</a:t>
            </a:r>
            <a:endParaRPr lang="en-US" sz="3000" dirty="0"/>
          </a:p>
        </p:txBody>
      </p:sp>
      <p:sp>
        <p:nvSpPr>
          <p:cNvPr id="4" name="Text 2"/>
          <p:cNvSpPr/>
          <p:nvPr/>
        </p:nvSpPr>
        <p:spPr>
          <a:xfrm>
            <a:off x="640080" y="1600200"/>
            <a:ext cx="10881360" cy="777240"/>
          </a:xfrm>
          <a:prstGeom prst="rect">
            <a:avLst/>
          </a:prstGeom>
          <a:noFill/>
          <a:ln/>
        </p:spPr>
        <p:txBody>
          <a:bodyPr wrap="square" lIns="0" tIns="0" rIns="0" bIns="0" rtlCol="0" anchor="ctr"/>
          <a:lstStyle/>
          <a:p>
            <a:pPr indent="0" marL="0">
              <a:lnSpc>
                <a:spcPct val="105000"/>
              </a:lnSpc>
              <a:buNone/>
            </a:pPr>
            <a:r>
              <a:rPr lang="en-US" sz="1600" dirty="0">
                <a:solidFill>
                  <a:srgbClr val="1E293B"/>
                </a:solidFill>
                <a:latin typeface="Calibri" pitchFamily="34" charset="0"/>
                <a:ea typeface="Calibri" pitchFamily="34" charset="-122"/>
                <a:cs typeface="Calibri" pitchFamily="34" charset="-120"/>
              </a:rPr>
              <a:t>Instead of hand-picking features, the model learns its own compact summary of the brain signal — call it a fingerprint (48 numbers per trial). It's trained in two stages:</a:t>
            </a:r>
            <a:endParaRPr lang="en-US" sz="1600" dirty="0"/>
          </a:p>
        </p:txBody>
      </p:sp>
      <p:sp>
        <p:nvSpPr>
          <p:cNvPr id="5" name="Shape 3"/>
          <p:cNvSpPr/>
          <p:nvPr/>
        </p:nvSpPr>
        <p:spPr>
          <a:xfrm>
            <a:off x="640080" y="2606040"/>
            <a:ext cx="5349240" cy="3429000"/>
          </a:xfrm>
          <a:prstGeom prst="roundRect">
            <a:avLst>
              <a:gd name="adj" fmla="val 2400"/>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6" name="Shape 4"/>
          <p:cNvSpPr/>
          <p:nvPr/>
        </p:nvSpPr>
        <p:spPr>
          <a:xfrm>
            <a:off x="914400" y="2880360"/>
            <a:ext cx="457200" cy="457200"/>
          </a:xfrm>
          <a:prstGeom prst="ellipse">
            <a:avLst/>
          </a:prstGeom>
          <a:solidFill>
            <a:srgbClr val="6D28D9"/>
          </a:solidFill>
          <a:ln/>
        </p:spPr>
      </p:sp>
      <p:sp>
        <p:nvSpPr>
          <p:cNvPr id="7" name="Text 5"/>
          <p:cNvSpPr/>
          <p:nvPr/>
        </p:nvSpPr>
        <p:spPr>
          <a:xfrm>
            <a:off x="914400" y="28803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8" name="Text 6"/>
          <p:cNvSpPr/>
          <p:nvPr/>
        </p:nvSpPr>
        <p:spPr>
          <a:xfrm>
            <a:off x="1508760" y="2907792"/>
            <a:ext cx="4297680" cy="365760"/>
          </a:xfrm>
          <a:prstGeom prst="rect">
            <a:avLst/>
          </a:prstGeom>
          <a:noFill/>
          <a:ln/>
        </p:spPr>
        <p:txBody>
          <a:bodyPr wrap="square" lIns="0" tIns="0" rIns="0" bIns="0" rtlCol="0" anchor="ctr"/>
          <a:lstStyle/>
          <a:p>
            <a:pPr indent="0" marL="0">
              <a:buNone/>
            </a:pPr>
            <a:r>
              <a:rPr lang="en-US" sz="1700" b="1" dirty="0">
                <a:solidFill>
                  <a:srgbClr val="1E293B"/>
                </a:solidFill>
                <a:latin typeface="Calibri" pitchFamily="34" charset="0"/>
                <a:ea typeface="Calibri" pitchFamily="34" charset="-122"/>
                <a:cs typeface="Calibri" pitchFamily="34" charset="-120"/>
              </a:rPr>
              <a:t>Learn the fingerprint</a:t>
            </a:r>
            <a:endParaRPr lang="en-US" sz="1700" dirty="0"/>
          </a:p>
        </p:txBody>
      </p:sp>
      <p:sp>
        <p:nvSpPr>
          <p:cNvPr id="9" name="Text 7"/>
          <p:cNvSpPr/>
          <p:nvPr/>
        </p:nvSpPr>
        <p:spPr>
          <a:xfrm>
            <a:off x="914400" y="3520440"/>
            <a:ext cx="4892040" cy="1371600"/>
          </a:xfrm>
          <a:prstGeom prst="rect">
            <a:avLst/>
          </a:prstGeom>
          <a:noFill/>
          <a:ln/>
        </p:spPr>
        <p:txBody>
          <a:bodyPr wrap="square" lIns="0" tIns="0" rIns="0" bIns="0" rtlCol="0" anchor="ctr"/>
          <a:lstStyle/>
          <a:p>
            <a:pPr indent="0" marL="0">
              <a:lnSpc>
                <a:spcPct val="105000"/>
              </a:lnSpc>
              <a:buNone/>
            </a:pPr>
            <a:r>
              <a:rPr lang="en-US" sz="1450" dirty="0">
                <a:solidFill>
                  <a:srgbClr val="1E293B"/>
                </a:solidFill>
                <a:latin typeface="Calibri" pitchFamily="34" charset="0"/>
                <a:ea typeface="Calibri" pitchFamily="34" charset="-122"/>
                <a:cs typeface="Calibri" pitchFamily="34" charset="-120"/>
              </a:rPr>
              <a:t>The model compresses each brain trace down to 48 numbers, then rebuilds the original from them. To succeed, those numbers must capture the real structure of the signal.</a:t>
            </a:r>
            <a:endParaRPr lang="en-US" sz="1450" dirty="0"/>
          </a:p>
        </p:txBody>
      </p:sp>
      <p:sp>
        <p:nvSpPr>
          <p:cNvPr id="10" name="Text 8"/>
          <p:cNvSpPr/>
          <p:nvPr/>
        </p:nvSpPr>
        <p:spPr>
          <a:xfrm>
            <a:off x="914400" y="5394960"/>
            <a:ext cx="4846320" cy="457200"/>
          </a:xfrm>
          <a:prstGeom prst="rect">
            <a:avLst/>
          </a:prstGeom>
          <a:noFill/>
          <a:ln/>
        </p:spPr>
        <p:txBody>
          <a:bodyPr wrap="square" lIns="0" tIns="0" rIns="0" bIns="0" rtlCol="0" anchor="ctr"/>
          <a:lstStyle/>
          <a:p>
            <a:pPr indent="0" marL="0">
              <a:buNone/>
            </a:pPr>
            <a:r>
              <a:rPr lang="en-US" sz="1350" b="1" i="1" dirty="0">
                <a:solidFill>
                  <a:srgbClr val="6D28D9"/>
                </a:solidFill>
                <a:latin typeface="Calibri" pitchFamily="34" charset="0"/>
                <a:ea typeface="Calibri" pitchFamily="34" charset="-122"/>
                <a:cs typeface="Calibri" pitchFamily="34" charset="-120"/>
              </a:rPr>
              <a:t>No labels used here — it never sees the H-reflex.</a:t>
            </a:r>
            <a:endParaRPr lang="en-US" sz="1350" dirty="0"/>
          </a:p>
        </p:txBody>
      </p:sp>
      <p:sp>
        <p:nvSpPr>
          <p:cNvPr id="11" name="Shape 9"/>
          <p:cNvSpPr/>
          <p:nvPr/>
        </p:nvSpPr>
        <p:spPr>
          <a:xfrm>
            <a:off x="6172200" y="2606040"/>
            <a:ext cx="5349240" cy="3429000"/>
          </a:xfrm>
          <a:prstGeom prst="roundRect">
            <a:avLst>
              <a:gd name="adj" fmla="val 2400"/>
            </a:avLst>
          </a:prstGeom>
          <a:solidFill>
            <a:srgbClr val="F5F3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2" name="Shape 10"/>
          <p:cNvSpPr/>
          <p:nvPr/>
        </p:nvSpPr>
        <p:spPr>
          <a:xfrm>
            <a:off x="6446520" y="2880360"/>
            <a:ext cx="457200" cy="457200"/>
          </a:xfrm>
          <a:prstGeom prst="ellipse">
            <a:avLst/>
          </a:prstGeom>
          <a:solidFill>
            <a:srgbClr val="0D9488"/>
          </a:solidFill>
          <a:ln/>
        </p:spPr>
      </p:sp>
      <p:sp>
        <p:nvSpPr>
          <p:cNvPr id="13" name="Text 11"/>
          <p:cNvSpPr/>
          <p:nvPr/>
        </p:nvSpPr>
        <p:spPr>
          <a:xfrm>
            <a:off x="6446520" y="28803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4" name="Text 12"/>
          <p:cNvSpPr/>
          <p:nvPr/>
        </p:nvSpPr>
        <p:spPr>
          <a:xfrm>
            <a:off x="7040880" y="2907792"/>
            <a:ext cx="4297680" cy="365760"/>
          </a:xfrm>
          <a:prstGeom prst="rect">
            <a:avLst/>
          </a:prstGeom>
          <a:noFill/>
          <a:ln/>
        </p:spPr>
        <p:txBody>
          <a:bodyPr wrap="square" lIns="0" tIns="0" rIns="0" bIns="0" rtlCol="0" anchor="ctr"/>
          <a:lstStyle/>
          <a:p>
            <a:pPr indent="0" marL="0">
              <a:buNone/>
            </a:pPr>
            <a:r>
              <a:rPr lang="en-US" sz="1700" b="1" dirty="0">
                <a:solidFill>
                  <a:srgbClr val="1E293B"/>
                </a:solidFill>
                <a:latin typeface="Calibri" pitchFamily="34" charset="0"/>
                <a:ea typeface="Calibri" pitchFamily="34" charset="-122"/>
                <a:cs typeface="Calibri" pitchFamily="34" charset="-120"/>
              </a:rPr>
              <a:t>Test what it captured</a:t>
            </a:r>
            <a:endParaRPr lang="en-US" sz="1700" dirty="0"/>
          </a:p>
        </p:txBody>
      </p:sp>
      <p:sp>
        <p:nvSpPr>
          <p:cNvPr id="15" name="Text 13"/>
          <p:cNvSpPr/>
          <p:nvPr/>
        </p:nvSpPr>
        <p:spPr>
          <a:xfrm>
            <a:off x="6446520" y="3520440"/>
            <a:ext cx="4892040" cy="1371600"/>
          </a:xfrm>
          <a:prstGeom prst="rect">
            <a:avLst/>
          </a:prstGeom>
          <a:noFill/>
          <a:ln/>
        </p:spPr>
        <p:txBody>
          <a:bodyPr wrap="square" lIns="0" tIns="0" rIns="0" bIns="0" rtlCol="0" anchor="ctr"/>
          <a:lstStyle/>
          <a:p>
            <a:pPr indent="0" marL="0">
              <a:lnSpc>
                <a:spcPct val="105000"/>
              </a:lnSpc>
              <a:buNone/>
            </a:pPr>
            <a:r>
              <a:rPr lang="en-US" sz="1450" dirty="0">
                <a:solidFill>
                  <a:srgbClr val="1E293B"/>
                </a:solidFill>
                <a:latin typeface="Calibri" pitchFamily="34" charset="0"/>
                <a:ea typeface="Calibri" pitchFamily="34" charset="-122"/>
                <a:cs typeface="Calibri" pitchFamily="34" charset="-120"/>
              </a:rPr>
              <a:t>We freeze the fingerprint so it can't change, then attach a small predictor and ask: can you read the leg's H-reflex size from the brain fingerprint alone?</a:t>
            </a:r>
            <a:endParaRPr lang="en-US" sz="1450" dirty="0"/>
          </a:p>
        </p:txBody>
      </p:sp>
      <p:sp>
        <p:nvSpPr>
          <p:cNvPr id="16" name="Text 14"/>
          <p:cNvSpPr/>
          <p:nvPr/>
        </p:nvSpPr>
        <p:spPr>
          <a:xfrm>
            <a:off x="6446520" y="5349240"/>
            <a:ext cx="4846320" cy="548640"/>
          </a:xfrm>
          <a:prstGeom prst="rect">
            <a:avLst/>
          </a:prstGeom>
          <a:noFill/>
          <a:ln/>
        </p:spPr>
        <p:txBody>
          <a:bodyPr wrap="square" lIns="0" tIns="0" rIns="0" bIns="0" rtlCol="0" anchor="ctr"/>
          <a:lstStyle/>
          <a:p>
            <a:pPr indent="0" marL="0">
              <a:buNone/>
            </a:pPr>
            <a:r>
              <a:rPr lang="en-US" sz="1350" b="1" i="1" dirty="0">
                <a:solidFill>
                  <a:srgbClr val="0D9488"/>
                </a:solidFill>
                <a:latin typeface="Calibri" pitchFamily="34" charset="0"/>
                <a:ea typeface="Calibri" pitchFamily="34" charset="-122"/>
                <a:cs typeface="Calibri" pitchFamily="34" charset="-120"/>
              </a:rPr>
              <a:t>If yes → the brain signal genuinely carries H-reflex information.</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50" b="1" spc="300" kern="0" dirty="0">
                <a:solidFill>
                  <a:srgbClr val="0D9488"/>
                </a:solidFill>
                <a:latin typeface="Calibri" pitchFamily="34" charset="0"/>
                <a:ea typeface="Calibri" pitchFamily="34" charset="-122"/>
                <a:cs typeface="Calibri" pitchFamily="34" charset="-120"/>
              </a:rPr>
              <a:t>PLAIN ENGLISH — A QUICK CHEAT SHEET</a:t>
            </a:r>
            <a:endParaRPr lang="en-US" sz="1250" dirty="0"/>
          </a:p>
        </p:txBody>
      </p:sp>
      <p:sp>
        <p:nvSpPr>
          <p:cNvPr id="3" name="Text 1"/>
          <p:cNvSpPr/>
          <p:nvPr/>
        </p:nvSpPr>
        <p:spPr>
          <a:xfrm>
            <a:off x="640080" y="457200"/>
            <a:ext cx="10972800" cy="640080"/>
          </a:xfrm>
          <a:prstGeom prst="rect">
            <a:avLst/>
          </a:prstGeom>
          <a:noFill/>
          <a:ln/>
        </p:spPr>
        <p:txBody>
          <a:bodyPr wrap="square" lIns="0" tIns="0" rIns="0" bIns="0" rtlCol="0" anchor="ctr"/>
          <a:lstStyle/>
          <a:p>
            <a:pPr indent="0" marL="0">
              <a:buNone/>
            </a:pPr>
            <a:r>
              <a:rPr lang="en-US" sz="3000" b="1" dirty="0">
                <a:solidFill>
                  <a:srgbClr val="1E293B"/>
                </a:solidFill>
                <a:latin typeface="Cambria" pitchFamily="34" charset="0"/>
                <a:ea typeface="Cambria" pitchFamily="34" charset="-122"/>
                <a:cs typeface="Cambria" pitchFamily="34" charset="-120"/>
              </a:rPr>
              <a:t>How to read the next three slides</a:t>
            </a:r>
            <a:endParaRPr lang="en-US" sz="3000" dirty="0"/>
          </a:p>
        </p:txBody>
      </p:sp>
      <p:sp>
        <p:nvSpPr>
          <p:cNvPr id="4" name="Shape 2"/>
          <p:cNvSpPr/>
          <p:nvPr/>
        </p:nvSpPr>
        <p:spPr>
          <a:xfrm>
            <a:off x="640080" y="1783080"/>
            <a:ext cx="5349240" cy="1965960"/>
          </a:xfrm>
          <a:prstGeom prst="roundRect">
            <a:avLst>
              <a:gd name="adj" fmla="val 4186"/>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5" name="Shape 3"/>
          <p:cNvSpPr/>
          <p:nvPr/>
        </p:nvSpPr>
        <p:spPr>
          <a:xfrm>
            <a:off x="932688" y="2093976"/>
            <a:ext cx="201168" cy="201168"/>
          </a:xfrm>
          <a:prstGeom prst="ellipse">
            <a:avLst/>
          </a:prstGeom>
          <a:solidFill>
            <a:srgbClr val="6D28D9"/>
          </a:solidFill>
          <a:ln/>
        </p:spPr>
      </p:sp>
      <p:sp>
        <p:nvSpPr>
          <p:cNvPr id="6" name="Text 4"/>
          <p:cNvSpPr/>
          <p:nvPr/>
        </p:nvSpPr>
        <p:spPr>
          <a:xfrm>
            <a:off x="1261872" y="2020824"/>
            <a:ext cx="4434840" cy="411480"/>
          </a:xfrm>
          <a:prstGeom prst="rect">
            <a:avLst/>
          </a:prstGeom>
          <a:noFill/>
          <a:ln/>
        </p:spPr>
        <p:txBody>
          <a:bodyPr wrap="square" lIns="0" tIns="0" rIns="0" bIns="0" rtlCol="0" anchor="ctr"/>
          <a:lstStyle/>
          <a:p>
            <a:pPr indent="0" marL="0">
              <a:buNone/>
            </a:pPr>
            <a:r>
              <a:rPr lang="en-US" sz="1800" b="1" dirty="0">
                <a:solidFill>
                  <a:srgbClr val="1E293B"/>
                </a:solidFill>
                <a:latin typeface="Calibri" pitchFamily="34" charset="0"/>
                <a:ea typeface="Calibri" pitchFamily="34" charset="-122"/>
                <a:cs typeface="Calibri" pitchFamily="34" charset="-120"/>
              </a:rPr>
              <a:t>The fingerprint</a:t>
            </a:r>
            <a:endParaRPr lang="en-US" sz="1800" dirty="0"/>
          </a:p>
        </p:txBody>
      </p:sp>
      <p:sp>
        <p:nvSpPr>
          <p:cNvPr id="7" name="Text 5"/>
          <p:cNvSpPr/>
          <p:nvPr/>
        </p:nvSpPr>
        <p:spPr>
          <a:xfrm>
            <a:off x="960120" y="2606040"/>
            <a:ext cx="4709160" cy="1005840"/>
          </a:xfrm>
          <a:prstGeom prst="rect">
            <a:avLst/>
          </a:prstGeom>
          <a:noFill/>
          <a:ln/>
        </p:spPr>
        <p:txBody>
          <a:bodyPr wrap="square" lIns="0" tIns="0" rIns="0" bIns="0" rtlCol="0" anchor="ctr"/>
          <a:lstStyle/>
          <a:p>
            <a:pPr indent="0" marL="0">
              <a:lnSpc>
                <a:spcPct val="106000"/>
              </a:lnSpc>
              <a:buNone/>
            </a:pPr>
            <a:r>
              <a:rPr lang="en-US" sz="1450" dirty="0">
                <a:solidFill>
                  <a:srgbClr val="64748B"/>
                </a:solidFill>
                <a:latin typeface="Calibri" pitchFamily="34" charset="0"/>
                <a:ea typeface="Calibri" pitchFamily="34" charset="-122"/>
                <a:cs typeface="Calibri" pitchFamily="34" charset="-120"/>
              </a:rPr>
              <a:t>48 numbers the model invents to summarize each brain trace. Nobody tells it what to look for — it finds its own summary.</a:t>
            </a:r>
            <a:endParaRPr lang="en-US" sz="1450" dirty="0"/>
          </a:p>
        </p:txBody>
      </p:sp>
      <p:sp>
        <p:nvSpPr>
          <p:cNvPr id="8" name="Shape 6"/>
          <p:cNvSpPr/>
          <p:nvPr/>
        </p:nvSpPr>
        <p:spPr>
          <a:xfrm>
            <a:off x="6309360" y="1783080"/>
            <a:ext cx="5349240" cy="1965960"/>
          </a:xfrm>
          <a:prstGeom prst="roundRect">
            <a:avLst>
              <a:gd name="adj" fmla="val 4186"/>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9" name="Shape 7"/>
          <p:cNvSpPr/>
          <p:nvPr/>
        </p:nvSpPr>
        <p:spPr>
          <a:xfrm>
            <a:off x="6601968" y="2093976"/>
            <a:ext cx="201168" cy="201168"/>
          </a:xfrm>
          <a:prstGeom prst="ellipse">
            <a:avLst/>
          </a:prstGeom>
          <a:solidFill>
            <a:srgbClr val="0D9488"/>
          </a:solidFill>
          <a:ln/>
        </p:spPr>
      </p:sp>
      <p:sp>
        <p:nvSpPr>
          <p:cNvPr id="10" name="Text 8"/>
          <p:cNvSpPr/>
          <p:nvPr/>
        </p:nvSpPr>
        <p:spPr>
          <a:xfrm>
            <a:off x="6931152" y="2020824"/>
            <a:ext cx="4434840" cy="411480"/>
          </a:xfrm>
          <a:prstGeom prst="rect">
            <a:avLst/>
          </a:prstGeom>
          <a:noFill/>
          <a:ln/>
        </p:spPr>
        <p:txBody>
          <a:bodyPr wrap="square" lIns="0" tIns="0" rIns="0" bIns="0" rtlCol="0" anchor="ctr"/>
          <a:lstStyle/>
          <a:p>
            <a:pPr indent="0" marL="0">
              <a:buNone/>
            </a:pPr>
            <a:r>
              <a:rPr lang="en-US" sz="1800" b="1" dirty="0">
                <a:solidFill>
                  <a:srgbClr val="1E293B"/>
                </a:solidFill>
                <a:latin typeface="Calibri" pitchFamily="34" charset="0"/>
                <a:ea typeface="Calibri" pitchFamily="34" charset="-122"/>
                <a:cs typeface="Calibri" pitchFamily="34" charset="-120"/>
              </a:rPr>
              <a:t>R²  (a 0-to-1 score)</a:t>
            </a:r>
            <a:endParaRPr lang="en-US" sz="1800" dirty="0"/>
          </a:p>
        </p:txBody>
      </p:sp>
      <p:sp>
        <p:nvSpPr>
          <p:cNvPr id="11" name="Text 9"/>
          <p:cNvSpPr/>
          <p:nvPr/>
        </p:nvSpPr>
        <p:spPr>
          <a:xfrm>
            <a:off x="6629400" y="2606040"/>
            <a:ext cx="4709160" cy="1005840"/>
          </a:xfrm>
          <a:prstGeom prst="rect">
            <a:avLst/>
          </a:prstGeom>
          <a:noFill/>
          <a:ln/>
        </p:spPr>
        <p:txBody>
          <a:bodyPr wrap="square" lIns="0" tIns="0" rIns="0" bIns="0" rtlCol="0" anchor="ctr"/>
          <a:lstStyle/>
          <a:p>
            <a:pPr indent="0" marL="0">
              <a:lnSpc>
                <a:spcPct val="106000"/>
              </a:lnSpc>
              <a:buNone/>
            </a:pPr>
            <a:r>
              <a:rPr lang="en-US" sz="1450" dirty="0">
                <a:solidFill>
                  <a:srgbClr val="64748B"/>
                </a:solidFill>
                <a:latin typeface="Calibri" pitchFamily="34" charset="0"/>
                <a:ea typeface="Calibri" pitchFamily="34" charset="-122"/>
                <a:cs typeface="Calibri" pitchFamily="34" charset="-120"/>
              </a:rPr>
              <a:t>How much of the reflex's trial-to-trial change the fingerprint can explain. 0 = nothing, 1 = perfect. We get 0.17 — weak but real, above chance.</a:t>
            </a:r>
            <a:endParaRPr lang="en-US" sz="1450" dirty="0"/>
          </a:p>
        </p:txBody>
      </p:sp>
      <p:sp>
        <p:nvSpPr>
          <p:cNvPr id="12" name="Shape 10"/>
          <p:cNvSpPr/>
          <p:nvPr/>
        </p:nvSpPr>
        <p:spPr>
          <a:xfrm>
            <a:off x="640080" y="4069080"/>
            <a:ext cx="5349240" cy="1965960"/>
          </a:xfrm>
          <a:prstGeom prst="roundRect">
            <a:avLst>
              <a:gd name="adj" fmla="val 4186"/>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3" name="Shape 11"/>
          <p:cNvSpPr/>
          <p:nvPr/>
        </p:nvSpPr>
        <p:spPr>
          <a:xfrm>
            <a:off x="932688" y="4379976"/>
            <a:ext cx="201168" cy="201168"/>
          </a:xfrm>
          <a:prstGeom prst="ellipse">
            <a:avLst/>
          </a:prstGeom>
          <a:solidFill>
            <a:srgbClr val="6D28D9"/>
          </a:solidFill>
          <a:ln/>
        </p:spPr>
      </p:sp>
      <p:sp>
        <p:nvSpPr>
          <p:cNvPr id="14" name="Text 12"/>
          <p:cNvSpPr/>
          <p:nvPr/>
        </p:nvSpPr>
        <p:spPr>
          <a:xfrm>
            <a:off x="1261872" y="4306824"/>
            <a:ext cx="4434840" cy="411480"/>
          </a:xfrm>
          <a:prstGeom prst="rect">
            <a:avLst/>
          </a:prstGeom>
          <a:noFill/>
          <a:ln/>
        </p:spPr>
        <p:txBody>
          <a:bodyPr wrap="square" lIns="0" tIns="0" rIns="0" bIns="0" rtlCol="0" anchor="ctr"/>
          <a:lstStyle/>
          <a:p>
            <a:pPr indent="0" marL="0">
              <a:buNone/>
            </a:pPr>
            <a:r>
              <a:rPr lang="en-US" sz="1800" b="1" dirty="0">
                <a:solidFill>
                  <a:srgbClr val="1E293B"/>
                </a:solidFill>
                <a:latin typeface="Calibri" pitchFamily="34" charset="0"/>
                <a:ea typeface="Calibri" pitchFamily="34" charset="-122"/>
                <a:cs typeface="Calibri" pitchFamily="34" charset="-120"/>
              </a:rPr>
              <a:t>Drift</a:t>
            </a:r>
            <a:endParaRPr lang="en-US" sz="1800" dirty="0"/>
          </a:p>
        </p:txBody>
      </p:sp>
      <p:sp>
        <p:nvSpPr>
          <p:cNvPr id="15" name="Text 13"/>
          <p:cNvSpPr/>
          <p:nvPr/>
        </p:nvSpPr>
        <p:spPr>
          <a:xfrm>
            <a:off x="960120" y="4892040"/>
            <a:ext cx="4709160" cy="1005840"/>
          </a:xfrm>
          <a:prstGeom prst="rect">
            <a:avLst/>
          </a:prstGeom>
          <a:noFill/>
          <a:ln/>
        </p:spPr>
        <p:txBody>
          <a:bodyPr wrap="square" lIns="0" tIns="0" rIns="0" bIns="0" rtlCol="0" anchor="ctr"/>
          <a:lstStyle/>
          <a:p>
            <a:pPr indent="0" marL="0">
              <a:lnSpc>
                <a:spcPct val="106000"/>
              </a:lnSpc>
              <a:buNone/>
            </a:pPr>
            <a:r>
              <a:rPr lang="en-US" sz="1450" dirty="0">
                <a:solidFill>
                  <a:srgbClr val="64748B"/>
                </a:solidFill>
                <a:latin typeface="Calibri" pitchFamily="34" charset="0"/>
                <a:ea typeface="Calibri" pitchFamily="34" charset="-122"/>
                <a:cs typeface="Calibri" pitchFamily="34" charset="-120"/>
              </a:rPr>
              <a:t>How far the average brain state has moved from where it started at Baseline. A bigger number means the representation changed more.</a:t>
            </a:r>
            <a:endParaRPr lang="en-US" sz="1450" dirty="0"/>
          </a:p>
        </p:txBody>
      </p:sp>
      <p:sp>
        <p:nvSpPr>
          <p:cNvPr id="16" name="Shape 14"/>
          <p:cNvSpPr/>
          <p:nvPr/>
        </p:nvSpPr>
        <p:spPr>
          <a:xfrm>
            <a:off x="6309360" y="4069080"/>
            <a:ext cx="5349240" cy="1965960"/>
          </a:xfrm>
          <a:prstGeom prst="roundRect">
            <a:avLst>
              <a:gd name="adj" fmla="val 4186"/>
            </a:avLst>
          </a:prstGeom>
          <a:solidFill>
            <a:srgbClr val="FEF3E2"/>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7" name="Shape 15"/>
          <p:cNvSpPr/>
          <p:nvPr/>
        </p:nvSpPr>
        <p:spPr>
          <a:xfrm>
            <a:off x="6601968" y="4379976"/>
            <a:ext cx="201168" cy="201168"/>
          </a:xfrm>
          <a:prstGeom prst="ellipse">
            <a:avLst/>
          </a:prstGeom>
          <a:solidFill>
            <a:srgbClr val="D97706"/>
          </a:solidFill>
          <a:ln/>
        </p:spPr>
      </p:sp>
      <p:sp>
        <p:nvSpPr>
          <p:cNvPr id="18" name="Text 16"/>
          <p:cNvSpPr/>
          <p:nvPr/>
        </p:nvSpPr>
        <p:spPr>
          <a:xfrm>
            <a:off x="6931152" y="4306824"/>
            <a:ext cx="4434840" cy="411480"/>
          </a:xfrm>
          <a:prstGeom prst="rect">
            <a:avLst/>
          </a:prstGeom>
          <a:noFill/>
          <a:ln/>
        </p:spPr>
        <p:txBody>
          <a:bodyPr wrap="square" lIns="0" tIns="0" rIns="0" bIns="0" rtlCol="0" anchor="ctr"/>
          <a:lstStyle/>
          <a:p>
            <a:pPr indent="0" marL="0">
              <a:buNone/>
            </a:pPr>
            <a:r>
              <a:rPr lang="en-US" sz="1800" b="1" dirty="0">
                <a:solidFill>
                  <a:srgbClr val="1E293B"/>
                </a:solidFill>
                <a:latin typeface="Calibri" pitchFamily="34" charset="0"/>
                <a:ea typeface="Calibri" pitchFamily="34" charset="-122"/>
                <a:cs typeface="Calibri" pitchFamily="34" charset="-120"/>
              </a:rPr>
              <a:t>The catch</a:t>
            </a:r>
            <a:endParaRPr lang="en-US" sz="1800" dirty="0"/>
          </a:p>
        </p:txBody>
      </p:sp>
      <p:sp>
        <p:nvSpPr>
          <p:cNvPr id="19" name="Text 17"/>
          <p:cNvSpPr/>
          <p:nvPr/>
        </p:nvSpPr>
        <p:spPr>
          <a:xfrm>
            <a:off x="6629400" y="4892040"/>
            <a:ext cx="4709160" cy="1005840"/>
          </a:xfrm>
          <a:prstGeom prst="rect">
            <a:avLst/>
          </a:prstGeom>
          <a:noFill/>
          <a:ln/>
        </p:spPr>
        <p:txBody>
          <a:bodyPr wrap="square" lIns="0" tIns="0" rIns="0" bIns="0" rtlCol="0" anchor="ctr"/>
          <a:lstStyle/>
          <a:p>
            <a:pPr indent="0" marL="0">
              <a:lnSpc>
                <a:spcPct val="106000"/>
              </a:lnSpc>
              <a:buNone/>
            </a:pPr>
            <a:r>
              <a:rPr lang="en-US" sz="1450" dirty="0">
                <a:solidFill>
                  <a:srgbClr val="64748B"/>
                </a:solidFill>
                <a:latin typeface="Calibri" pitchFamily="34" charset="0"/>
                <a:ea typeface="Calibri" pitchFamily="34" charset="-122"/>
                <a:cs typeface="Calibri" pitchFamily="34" charset="-120"/>
              </a:rPr>
              <a:t>Some of that movement might come from the recording setup changing, not from learning. That's the one thing we still have to rule out.</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50" b="1" spc="300" kern="0" dirty="0">
                <a:solidFill>
                  <a:srgbClr val="0D9488"/>
                </a:solidFill>
                <a:latin typeface="Calibri" pitchFamily="34" charset="0"/>
                <a:ea typeface="Calibri" pitchFamily="34" charset="-122"/>
                <a:cs typeface="Calibri" pitchFamily="34" charset="-120"/>
              </a:rPr>
              <a:t>RESULT 1</a:t>
            </a:r>
            <a:endParaRPr lang="en-US" sz="1250" dirty="0"/>
          </a:p>
        </p:txBody>
      </p:sp>
      <p:sp>
        <p:nvSpPr>
          <p:cNvPr id="3" name="Text 1"/>
          <p:cNvSpPr/>
          <p:nvPr/>
        </p:nvSpPr>
        <p:spPr>
          <a:xfrm>
            <a:off x="640080" y="457200"/>
            <a:ext cx="10972800" cy="640080"/>
          </a:xfrm>
          <a:prstGeom prst="rect">
            <a:avLst/>
          </a:prstGeom>
          <a:noFill/>
          <a:ln/>
        </p:spPr>
        <p:txBody>
          <a:bodyPr wrap="square" lIns="0" tIns="0" rIns="0" bIns="0" rtlCol="0" anchor="ctr"/>
          <a:lstStyle/>
          <a:p>
            <a:pPr indent="0" marL="0">
              <a:buNone/>
            </a:pPr>
            <a:r>
              <a:rPr lang="en-US" sz="3000" b="1" dirty="0">
                <a:solidFill>
                  <a:srgbClr val="1E293B"/>
                </a:solidFill>
                <a:latin typeface="Cambria" pitchFamily="34" charset="0"/>
                <a:ea typeface="Cambria" pitchFamily="34" charset="-122"/>
                <a:cs typeface="Cambria" pitchFamily="34" charset="-120"/>
              </a:rPr>
              <a:t>The fingerprint really does carry the reflex</a:t>
            </a:r>
            <a:endParaRPr lang="en-US" sz="3000" dirty="0"/>
          </a:p>
        </p:txBody>
      </p:sp>
      <p:pic>
        <p:nvPicPr>
          <p:cNvPr id="4" name="Image 0" descr="outputs/phase2_loss.png">    </p:cNvPr>
          <p:cNvPicPr>
            <a:picLocks noChangeAspect="1"/>
          </p:cNvPicPr>
          <p:nvPr/>
        </p:nvPicPr>
        <p:blipFill>
          <a:blip r:embed="rId1"/>
          <a:srcRect l="0" r="0" t="0" b="0"/>
          <a:stretch/>
        </p:blipFill>
        <p:spPr>
          <a:xfrm>
            <a:off x="640080" y="1828800"/>
            <a:ext cx="5563210" cy="3566160"/>
          </a:xfrm>
          <a:prstGeom prst="rect">
            <a:avLst/>
          </a:prstGeom>
        </p:spPr>
      </p:pic>
      <p:sp>
        <p:nvSpPr>
          <p:cNvPr id="5" name="Shape 2"/>
          <p:cNvSpPr/>
          <p:nvPr/>
        </p:nvSpPr>
        <p:spPr>
          <a:xfrm>
            <a:off x="7040880" y="1920240"/>
            <a:ext cx="4480560" cy="1874520"/>
          </a:xfrm>
          <a:prstGeom prst="roundRect">
            <a:avLst>
              <a:gd name="adj" fmla="val 4390"/>
            </a:avLst>
          </a:prstGeom>
          <a:solidFill>
            <a:srgbClr val="F1F5F9"/>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6" name="Text 3"/>
          <p:cNvSpPr/>
          <p:nvPr/>
        </p:nvSpPr>
        <p:spPr>
          <a:xfrm>
            <a:off x="7040880" y="2084832"/>
            <a:ext cx="4480560" cy="868680"/>
          </a:xfrm>
          <a:prstGeom prst="rect">
            <a:avLst/>
          </a:prstGeom>
          <a:noFill/>
          <a:ln/>
        </p:spPr>
        <p:txBody>
          <a:bodyPr wrap="square" lIns="0" tIns="0" rIns="0" bIns="0" rtlCol="0" anchor="ctr"/>
          <a:lstStyle/>
          <a:p>
            <a:pPr algn="ctr" indent="0" marL="0">
              <a:buNone/>
            </a:pPr>
            <a:r>
              <a:rPr lang="en-US" sz="4600" b="1" dirty="0">
                <a:solidFill>
                  <a:srgbClr val="0D9488"/>
                </a:solidFill>
                <a:latin typeface="Cambria" pitchFamily="34" charset="0"/>
                <a:ea typeface="Cambria" pitchFamily="34" charset="-122"/>
                <a:cs typeface="Cambria" pitchFamily="34" charset="-120"/>
              </a:rPr>
              <a:t>R² = 0.17</a:t>
            </a:r>
            <a:endParaRPr lang="en-US" sz="4600" dirty="0"/>
          </a:p>
        </p:txBody>
      </p:sp>
      <p:sp>
        <p:nvSpPr>
          <p:cNvPr id="7" name="Text 4"/>
          <p:cNvSpPr/>
          <p:nvPr/>
        </p:nvSpPr>
        <p:spPr>
          <a:xfrm>
            <a:off x="7040880" y="2971800"/>
            <a:ext cx="4480560" cy="640080"/>
          </a:xfrm>
          <a:prstGeom prst="rect">
            <a:avLst/>
          </a:prstGeom>
          <a:noFill/>
          <a:ln/>
        </p:spPr>
        <p:txBody>
          <a:bodyPr wrap="square" lIns="0" tIns="0" rIns="0" bIns="0" rtlCol="0" anchor="ctr"/>
          <a:lstStyle/>
          <a:p>
            <a:pPr algn="ctr" indent="0" marL="0">
              <a:buNone/>
            </a:pPr>
            <a:r>
              <a:rPr lang="en-US" sz="1350" dirty="0">
                <a:solidFill>
                  <a:srgbClr val="64748B"/>
                </a:solidFill>
                <a:latin typeface="Calibri" pitchFamily="34" charset="0"/>
                <a:ea typeface="Calibri" pitchFamily="34" charset="-122"/>
                <a:cs typeface="Calibri" pitchFamily="34" charset="-120"/>
              </a:rPr>
              <a:t>brain fingerprint → H-reflex, frozen encoder</a:t>
            </a:r>
            <a:endParaRPr lang="en-US" sz="1350" dirty="0"/>
          </a:p>
        </p:txBody>
      </p:sp>
      <p:sp>
        <p:nvSpPr>
          <p:cNvPr id="8" name="Text 5"/>
          <p:cNvSpPr/>
          <p:nvPr/>
        </p:nvSpPr>
        <p:spPr>
          <a:xfrm>
            <a:off x="7040880" y="3977640"/>
            <a:ext cx="4480560" cy="1371600"/>
          </a:xfrm>
          <a:prstGeom prst="rect">
            <a:avLst/>
          </a:prstGeom>
          <a:noFill/>
          <a:ln/>
        </p:spPr>
        <p:txBody>
          <a:bodyPr wrap="square" lIns="0" tIns="0" rIns="0" bIns="0" rtlCol="0" anchor="ctr"/>
          <a:lstStyle/>
          <a:p>
            <a:pPr indent="0" marL="0">
              <a:lnSpc>
                <a:spcPct val="105000"/>
              </a:lnSpc>
              <a:buNone/>
            </a:pPr>
            <a:r>
              <a:rPr lang="en-US" sz="1450" b="1" dirty="0">
                <a:solidFill>
                  <a:srgbClr val="1E293B"/>
                </a:solidFill>
                <a:latin typeface="Calibri" pitchFamily="34" charset="0"/>
                <a:ea typeface="Calibri" pitchFamily="34" charset="-122"/>
                <a:cs typeface="Calibri" pitchFamily="34" charset="-120"/>
              </a:rPr>
              <a:t>Read it honestly. </a:t>
            </a:r>
            <a:pPr indent="0" marL="0">
              <a:lnSpc>
                <a:spcPct val="105000"/>
              </a:lnSpc>
              <a:buNone/>
            </a:pPr>
            <a:r>
              <a:rPr lang="en-US" sz="1450" dirty="0">
                <a:solidFill>
                  <a:srgbClr val="1E293B"/>
                </a:solidFill>
                <a:latin typeface="Calibri" pitchFamily="34" charset="0"/>
                <a:ea typeface="Calibri" pitchFamily="34" charset="-122"/>
                <a:cs typeface="Calibri" pitchFamily="34" charset="-120"/>
              </a:rPr>
              <a:t>The cortical fingerprint predicts ~17% of the reflex's variation — with no labels during learning. Modest, but real and well above chance.</a:t>
            </a:r>
            <a:endParaRPr lang="en-US" sz="1450" dirty="0"/>
          </a:p>
        </p:txBody>
      </p:sp>
      <p:sp>
        <p:nvSpPr>
          <p:cNvPr id="9" name="Text 6"/>
          <p:cNvSpPr/>
          <p:nvPr/>
        </p:nvSpPr>
        <p:spPr>
          <a:xfrm>
            <a:off x="7040880" y="5440680"/>
            <a:ext cx="4480560" cy="822960"/>
          </a:xfrm>
          <a:prstGeom prst="rect">
            <a:avLst/>
          </a:prstGeom>
          <a:noFill/>
          <a:ln/>
        </p:spPr>
        <p:txBody>
          <a:bodyPr wrap="square" lIns="0" tIns="0" rIns="0" bIns="0" rtlCol="0" anchor="ctr"/>
          <a:lstStyle/>
          <a:p>
            <a:pPr indent="0" marL="0">
              <a:lnSpc>
                <a:spcPct val="103000"/>
              </a:lnSpc>
              <a:buNone/>
            </a:pPr>
            <a:r>
              <a:rPr lang="en-US" sz="1250" i="1" dirty="0">
                <a:solidFill>
                  <a:srgbClr val="D97706"/>
                </a:solidFill>
                <a:latin typeface="Calibri" pitchFamily="34" charset="0"/>
                <a:ea typeface="Calibri" pitchFamily="34" charset="-122"/>
                <a:cs typeface="Calibri" pitchFamily="34" charset="-120"/>
              </a:rPr>
              <a:t>On synthetic data this was 0.90 — only because that data was built to encode the reflex. 0.17 is the real cortex.</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50" b="1" spc="300" kern="0" dirty="0">
                <a:solidFill>
                  <a:srgbClr val="6D28D9"/>
                </a:solidFill>
                <a:latin typeface="Calibri" pitchFamily="34" charset="0"/>
                <a:ea typeface="Calibri" pitchFamily="34" charset="-122"/>
                <a:cs typeface="Calibri" pitchFamily="34" charset="-120"/>
              </a:rPr>
              <a:t>RESULT 2 · THE HEADLINE</a:t>
            </a:r>
            <a:endParaRPr lang="en-US" sz="1250" dirty="0"/>
          </a:p>
        </p:txBody>
      </p:sp>
      <p:sp>
        <p:nvSpPr>
          <p:cNvPr id="3" name="Text 1"/>
          <p:cNvSpPr/>
          <p:nvPr/>
        </p:nvSpPr>
        <p:spPr>
          <a:xfrm>
            <a:off x="640080" y="457200"/>
            <a:ext cx="10972800" cy="640080"/>
          </a:xfrm>
          <a:prstGeom prst="rect">
            <a:avLst/>
          </a:prstGeom>
          <a:noFill/>
          <a:ln/>
        </p:spPr>
        <p:txBody>
          <a:bodyPr wrap="square" lIns="0" tIns="0" rIns="0" bIns="0" rtlCol="0" anchor="ctr"/>
          <a:lstStyle/>
          <a:p>
            <a:pPr indent="0" marL="0">
              <a:buNone/>
            </a:pPr>
            <a:r>
              <a:rPr lang="en-US" sz="3000" b="1" dirty="0">
                <a:solidFill>
                  <a:srgbClr val="1E293B"/>
                </a:solidFill>
                <a:latin typeface="Cambria" pitchFamily="34" charset="0"/>
                <a:ea typeface="Cambria" pitchFamily="34" charset="-122"/>
                <a:cs typeface="Cambria" pitchFamily="34" charset="-120"/>
              </a:rPr>
              <a:t>The cortical fingerprint drifts as the cord learns</a:t>
            </a:r>
            <a:endParaRPr lang="en-US" sz="3000" dirty="0"/>
          </a:p>
        </p:txBody>
      </p:sp>
      <p:pic>
        <p:nvPicPr>
          <p:cNvPr id="4" name="Image 0" descr="outputs/centroid_drift.png">    </p:cNvPr>
          <p:cNvPicPr>
            <a:picLocks noChangeAspect="1"/>
          </p:cNvPicPr>
          <p:nvPr/>
        </p:nvPicPr>
        <p:blipFill>
          <a:blip r:embed="rId1"/>
          <a:srcRect l="0" r="0" t="0" b="0"/>
          <a:stretch/>
        </p:blipFill>
        <p:spPr>
          <a:xfrm>
            <a:off x="640080" y="1783080"/>
            <a:ext cx="5998464" cy="3749040"/>
          </a:xfrm>
          <a:prstGeom prst="rect">
            <a:avLst/>
          </a:prstGeom>
        </p:spPr>
      </p:pic>
      <p:sp>
        <p:nvSpPr>
          <p:cNvPr id="5" name="Shape 2"/>
          <p:cNvSpPr/>
          <p:nvPr/>
        </p:nvSpPr>
        <p:spPr>
          <a:xfrm>
            <a:off x="7680960" y="1920240"/>
            <a:ext cx="3840480" cy="3931920"/>
          </a:xfrm>
          <a:prstGeom prst="roundRect">
            <a:avLst>
              <a:gd name="adj" fmla="val 2143"/>
            </a:avLst>
          </a:prstGeom>
          <a:solidFill>
            <a:srgbClr val="F5F3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6" name="Text 3"/>
          <p:cNvSpPr/>
          <p:nvPr/>
        </p:nvSpPr>
        <p:spPr>
          <a:xfrm>
            <a:off x="7909560" y="2148840"/>
            <a:ext cx="3383280" cy="320040"/>
          </a:xfrm>
          <a:prstGeom prst="rect">
            <a:avLst/>
          </a:prstGeom>
          <a:noFill/>
          <a:ln/>
        </p:spPr>
        <p:txBody>
          <a:bodyPr wrap="square" lIns="0" tIns="0" rIns="0" bIns="0" rtlCol="0" anchor="ctr"/>
          <a:lstStyle/>
          <a:p>
            <a:pPr indent="0" marL="0">
              <a:buNone/>
            </a:pPr>
            <a:r>
              <a:rPr lang="en-US" sz="1400" b="1" dirty="0">
                <a:solidFill>
                  <a:srgbClr val="6D28D9"/>
                </a:solidFill>
                <a:latin typeface="Calibri" pitchFamily="34" charset="0"/>
                <a:ea typeface="Calibri" pitchFamily="34" charset="-122"/>
                <a:cs typeface="Calibri" pitchFamily="34" charset="-120"/>
              </a:rPr>
              <a:t>What you're seeing</a:t>
            </a:r>
            <a:endParaRPr lang="en-US" sz="1400" dirty="0"/>
          </a:p>
        </p:txBody>
      </p:sp>
      <p:sp>
        <p:nvSpPr>
          <p:cNvPr id="7" name="Text 4"/>
          <p:cNvSpPr/>
          <p:nvPr/>
        </p:nvSpPr>
        <p:spPr>
          <a:xfrm>
            <a:off x="7909560" y="2560320"/>
            <a:ext cx="3429000" cy="914400"/>
          </a:xfrm>
          <a:prstGeom prst="rect">
            <a:avLst/>
          </a:prstGeom>
          <a:noFill/>
          <a:ln/>
        </p:spPr>
        <p:txBody>
          <a:bodyPr wrap="square" lIns="0" tIns="0" rIns="0" bIns="0" rtlCol="0" anchor="ctr"/>
          <a:lstStyle/>
          <a:p>
            <a:pPr indent="0" marL="0">
              <a:lnSpc>
                <a:spcPct val="105000"/>
              </a:lnSpc>
              <a:buNone/>
            </a:pPr>
            <a:r>
              <a:rPr lang="en-US" sz="1450" dirty="0">
                <a:solidFill>
                  <a:srgbClr val="1E293B"/>
                </a:solidFill>
                <a:latin typeface="Calibri" pitchFamily="34" charset="0"/>
                <a:ea typeface="Calibri" pitchFamily="34" charset="-122"/>
                <a:cs typeface="Calibri" pitchFamily="34" charset="-120"/>
              </a:rPr>
              <a:t>Each point = how far that phase's average brain fingerprint sits from Baseline.</a:t>
            </a:r>
            <a:endParaRPr lang="en-US" sz="1450" dirty="0"/>
          </a:p>
        </p:txBody>
      </p:sp>
      <p:sp>
        <p:nvSpPr>
          <p:cNvPr id="8" name="Text 5"/>
          <p:cNvSpPr/>
          <p:nvPr/>
        </p:nvSpPr>
        <p:spPr>
          <a:xfrm>
            <a:off x="7909560" y="3611880"/>
            <a:ext cx="3429000" cy="1280160"/>
          </a:xfrm>
          <a:prstGeom prst="rect">
            <a:avLst/>
          </a:prstGeom>
          <a:noFill/>
          <a:ln/>
        </p:spPr>
        <p:txBody>
          <a:bodyPr wrap="square" lIns="0" tIns="0" rIns="0" bIns="0" rtlCol="0" anchor="ctr"/>
          <a:lstStyle/>
          <a:p>
            <a:pPr indent="0" marL="0">
              <a:lnSpc>
                <a:spcPct val="108000"/>
              </a:lnSpc>
              <a:buNone/>
            </a:pPr>
            <a:r>
              <a:rPr lang="en-US" sz="1500" b="1" dirty="0">
                <a:solidFill>
                  <a:srgbClr val="1E293B"/>
                </a:solidFill>
                <a:latin typeface="Calibri" pitchFamily="34" charset="0"/>
                <a:ea typeface="Calibri" pitchFamily="34" charset="-122"/>
                <a:cs typeface="Calibri" pitchFamily="34" charset="-120"/>
              </a:rPr>
              <a:t>It jumps to 28.5 during down-conditioning, then falls back to 5.0 once conditioning stops.</a:t>
            </a:r>
            <a:endParaRPr lang="en-US" sz="1500" dirty="0"/>
          </a:p>
        </p:txBody>
      </p:sp>
      <p:sp>
        <p:nvSpPr>
          <p:cNvPr id="9" name="Text 6"/>
          <p:cNvSpPr/>
          <p:nvPr/>
        </p:nvSpPr>
        <p:spPr>
          <a:xfrm>
            <a:off x="7909560" y="4892040"/>
            <a:ext cx="3429000" cy="914400"/>
          </a:xfrm>
          <a:prstGeom prst="rect">
            <a:avLst/>
          </a:prstGeom>
          <a:noFill/>
          <a:ln/>
        </p:spPr>
        <p:txBody>
          <a:bodyPr wrap="square" lIns="0" tIns="0" rIns="0" bIns="0" rtlCol="0" anchor="ctr"/>
          <a:lstStyle/>
          <a:p>
            <a:pPr indent="0" marL="0">
              <a:lnSpc>
                <a:spcPct val="105000"/>
              </a:lnSpc>
              <a:buNone/>
            </a:pPr>
            <a:r>
              <a:rPr lang="en-US" sz="1300" i="1" dirty="0">
                <a:solidFill>
                  <a:srgbClr val="6D28D9"/>
                </a:solidFill>
                <a:latin typeface="Calibri" pitchFamily="34" charset="0"/>
                <a:ea typeface="Calibri" pitchFamily="34" charset="-122"/>
                <a:cs typeface="Calibri" pitchFamily="34" charset="-120"/>
              </a:rPr>
              <a:t>The representation moves while the cord is learning — and partly recovers after. That's the effect we came to find.</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50" b="1" spc="300" kern="0" dirty="0">
                <a:solidFill>
                  <a:srgbClr val="D97706"/>
                </a:solidFill>
                <a:latin typeface="Calibri" pitchFamily="34" charset="0"/>
                <a:ea typeface="Calibri" pitchFamily="34" charset="-122"/>
                <a:cs typeface="Calibri" pitchFamily="34" charset="-120"/>
              </a:rPr>
              <a:t>THE HONEST CAVEAT — READ THIS</a:t>
            </a:r>
            <a:endParaRPr lang="en-US" sz="1250" dirty="0"/>
          </a:p>
        </p:txBody>
      </p:sp>
      <p:sp>
        <p:nvSpPr>
          <p:cNvPr id="3" name="Text 1"/>
          <p:cNvSpPr/>
          <p:nvPr/>
        </p:nvSpPr>
        <p:spPr>
          <a:xfrm>
            <a:off x="640080" y="457200"/>
            <a:ext cx="10972800" cy="640080"/>
          </a:xfrm>
          <a:prstGeom prst="rect">
            <a:avLst/>
          </a:prstGeom>
          <a:noFill/>
          <a:ln/>
        </p:spPr>
        <p:txBody>
          <a:bodyPr wrap="square" lIns="0" tIns="0" rIns="0" bIns="0" rtlCol="0" anchor="ctr"/>
          <a:lstStyle/>
          <a:p>
            <a:pPr indent="0" marL="0">
              <a:buNone/>
            </a:pPr>
            <a:r>
              <a:rPr lang="en-US" sz="3000" b="1" dirty="0">
                <a:solidFill>
                  <a:srgbClr val="1E293B"/>
                </a:solidFill>
                <a:latin typeface="Cambria" pitchFamily="34" charset="0"/>
                <a:ea typeface="Cambria" pitchFamily="34" charset="-122"/>
                <a:cs typeface="Cambria" pitchFamily="34" charset="-120"/>
              </a:rPr>
              <a:t>Is the drift learning, or just session state?</a:t>
            </a:r>
            <a:endParaRPr lang="en-US" sz="3000" dirty="0"/>
          </a:p>
        </p:txBody>
      </p:sp>
      <p:pic>
        <p:nvPicPr>
          <p:cNvPr id="4" name="Image 0" descr="outputs/hreflex_by_phase.png">    </p:cNvPr>
          <p:cNvPicPr>
            <a:picLocks noChangeAspect="1"/>
          </p:cNvPicPr>
          <p:nvPr/>
        </p:nvPicPr>
        <p:blipFill>
          <a:blip r:embed="rId1"/>
          <a:srcRect l="0" r="0" t="0" b="0"/>
          <a:stretch/>
        </p:blipFill>
        <p:spPr>
          <a:xfrm>
            <a:off x="640080" y="1828800"/>
            <a:ext cx="5705856" cy="3566160"/>
          </a:xfrm>
          <a:prstGeom prst="rect">
            <a:avLst/>
          </a:prstGeom>
        </p:spPr>
      </p:pic>
      <p:sp>
        <p:nvSpPr>
          <p:cNvPr id="5" name="Shape 2"/>
          <p:cNvSpPr/>
          <p:nvPr/>
        </p:nvSpPr>
        <p:spPr>
          <a:xfrm>
            <a:off x="6858000" y="1920240"/>
            <a:ext cx="4663440" cy="3977640"/>
          </a:xfrm>
          <a:prstGeom prst="roundRect">
            <a:avLst>
              <a:gd name="adj" fmla="val 2069"/>
            </a:avLst>
          </a:prstGeom>
          <a:solidFill>
            <a:srgbClr val="FEF3E2"/>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6" name="Text 3"/>
          <p:cNvSpPr/>
          <p:nvPr/>
        </p:nvSpPr>
        <p:spPr>
          <a:xfrm>
            <a:off x="7086600" y="2148840"/>
            <a:ext cx="4206240" cy="320040"/>
          </a:xfrm>
          <a:prstGeom prst="rect">
            <a:avLst/>
          </a:prstGeom>
          <a:noFill/>
          <a:ln/>
        </p:spPr>
        <p:txBody>
          <a:bodyPr wrap="square" lIns="0" tIns="0" rIns="0" bIns="0" rtlCol="0" anchor="ctr"/>
          <a:lstStyle/>
          <a:p>
            <a:pPr indent="0" marL="0">
              <a:buNone/>
            </a:pPr>
            <a:r>
              <a:rPr lang="en-US" sz="1400" b="1" dirty="0">
                <a:solidFill>
                  <a:srgbClr val="D97706"/>
                </a:solidFill>
                <a:latin typeface="Calibri" pitchFamily="34" charset="0"/>
                <a:ea typeface="Calibri" pitchFamily="34" charset="-122"/>
                <a:cs typeface="Calibri" pitchFamily="34" charset="-120"/>
              </a:rPr>
              <a:t>The problem</a:t>
            </a:r>
            <a:endParaRPr lang="en-US" sz="1400" dirty="0"/>
          </a:p>
        </p:txBody>
      </p:sp>
      <p:sp>
        <p:nvSpPr>
          <p:cNvPr id="7" name="Text 4"/>
          <p:cNvSpPr/>
          <p:nvPr/>
        </p:nvSpPr>
        <p:spPr>
          <a:xfrm>
            <a:off x="7086600" y="2542032"/>
            <a:ext cx="4251960" cy="1051560"/>
          </a:xfrm>
          <a:prstGeom prst="rect">
            <a:avLst/>
          </a:prstGeom>
          <a:noFill/>
          <a:ln/>
        </p:spPr>
        <p:txBody>
          <a:bodyPr wrap="square" lIns="0" tIns="0" rIns="0" bIns="0" rtlCol="0" anchor="ctr"/>
          <a:lstStyle/>
          <a:p>
            <a:pPr indent="0" marL="0">
              <a:lnSpc>
                <a:spcPct val="105000"/>
              </a:lnSpc>
              <a:buNone/>
            </a:pPr>
            <a:r>
              <a:rPr lang="en-US" sz="1450" dirty="0">
                <a:solidFill>
                  <a:srgbClr val="1E293B"/>
                </a:solidFill>
                <a:latin typeface="Calibri" pitchFamily="34" charset="0"/>
                <a:ea typeface="Calibri" pitchFamily="34" charset="-122"/>
                <a:cs typeface="Calibri" pitchFamily="34" charset="-120"/>
              </a:rPr>
              <a:t>Down-conditioning should make the H-reflex SMALLER. But in the data it's larger during down-conditioning than at Baseline.</a:t>
            </a:r>
            <a:endParaRPr lang="en-US" sz="1450" dirty="0"/>
          </a:p>
        </p:txBody>
      </p:sp>
      <p:sp>
        <p:nvSpPr>
          <p:cNvPr id="8" name="Text 5"/>
          <p:cNvSpPr/>
          <p:nvPr/>
        </p:nvSpPr>
        <p:spPr>
          <a:xfrm>
            <a:off x="7086600" y="3611880"/>
            <a:ext cx="4206240" cy="320040"/>
          </a:xfrm>
          <a:prstGeom prst="rect">
            <a:avLst/>
          </a:prstGeom>
          <a:noFill/>
          <a:ln/>
        </p:spPr>
        <p:txBody>
          <a:bodyPr wrap="square" lIns="0" tIns="0" rIns="0" bIns="0" rtlCol="0" anchor="ctr"/>
          <a:lstStyle/>
          <a:p>
            <a:pPr indent="0" marL="0">
              <a:buNone/>
            </a:pPr>
            <a:r>
              <a:rPr lang="en-US" sz="1400" b="1" dirty="0">
                <a:solidFill>
                  <a:srgbClr val="1E293B"/>
                </a:solidFill>
                <a:latin typeface="Calibri" pitchFamily="34" charset="0"/>
                <a:ea typeface="Calibri" pitchFamily="34" charset="-122"/>
                <a:cs typeface="Calibri" pitchFamily="34" charset="-120"/>
              </a:rPr>
              <a:t>Most likely why:</a:t>
            </a:r>
            <a:endParaRPr lang="en-US" sz="1400" dirty="0"/>
          </a:p>
        </p:txBody>
      </p:sp>
      <p:sp>
        <p:nvSpPr>
          <p:cNvPr id="9" name="Text 6"/>
          <p:cNvSpPr/>
          <p:nvPr/>
        </p:nvSpPr>
        <p:spPr>
          <a:xfrm>
            <a:off x="7086600" y="3977640"/>
            <a:ext cx="4251960" cy="1051560"/>
          </a:xfrm>
          <a:prstGeom prst="rect">
            <a:avLst/>
          </a:prstGeom>
          <a:noFill/>
          <a:ln/>
        </p:spPr>
        <p:txBody>
          <a:bodyPr wrap="square" lIns="0" tIns="0" rIns="0" bIns="0" rtlCol="0" anchor="ctr"/>
          <a:lstStyle/>
          <a:p>
            <a:pPr indent="0" marL="0">
              <a:lnSpc>
                <a:spcPct val="105000"/>
              </a:lnSpc>
              <a:buNone/>
            </a:pPr>
            <a:r>
              <a:rPr lang="en-US" sz="1400" dirty="0">
                <a:solidFill>
                  <a:srgbClr val="1E293B"/>
                </a:solidFill>
                <a:latin typeface="Calibri" pitchFamily="34" charset="0"/>
                <a:ea typeface="Calibri" pitchFamily="34" charset="-122"/>
                <a:cs typeface="Calibri" pitchFamily="34" charset="-120"/>
              </a:rPr>
              <a:t>our 'Baseline' is really the setup period — the log shows the stimulus being constantly re-tuned, so responses there are smaller and inconsistent.</a:t>
            </a:r>
            <a:endParaRPr lang="en-US" sz="1400" dirty="0"/>
          </a:p>
        </p:txBody>
      </p:sp>
      <p:sp>
        <p:nvSpPr>
          <p:cNvPr id="10" name="Text 7"/>
          <p:cNvSpPr/>
          <p:nvPr/>
        </p:nvSpPr>
        <p:spPr>
          <a:xfrm>
            <a:off x="7086600" y="5029200"/>
            <a:ext cx="4251960" cy="822960"/>
          </a:xfrm>
          <a:prstGeom prst="rect">
            <a:avLst/>
          </a:prstGeom>
          <a:noFill/>
          <a:ln/>
        </p:spPr>
        <p:txBody>
          <a:bodyPr wrap="square" lIns="0" tIns="0" rIns="0" bIns="0" rtlCol="0" anchor="ctr"/>
          <a:lstStyle/>
          <a:p>
            <a:pPr indent="0" marL="0">
              <a:lnSpc>
                <a:spcPct val="103000"/>
              </a:lnSpc>
              <a:buNone/>
            </a:pPr>
            <a:r>
              <a:rPr lang="en-US" sz="1250" b="1" i="1" dirty="0">
                <a:solidFill>
                  <a:srgbClr val="D97706"/>
                </a:solidFill>
                <a:latin typeface="Calibri" pitchFamily="34" charset="0"/>
                <a:ea typeface="Calibri" pitchFamily="34" charset="-122"/>
                <a:cs typeface="Calibri" pitchFamily="34" charset="-120"/>
              </a:rPr>
              <a:t>So part of the cortical drift may track session state (fixed-stimulus, active recording) rather than learning itself. #1 thing to resolve.</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50" b="1" spc="300" kern="0" dirty="0">
                <a:solidFill>
                  <a:srgbClr val="0D9488"/>
                </a:solidFill>
                <a:latin typeface="Calibri" pitchFamily="34" charset="0"/>
                <a:ea typeface="Calibri" pitchFamily="34" charset="-122"/>
                <a:cs typeface="Calibri" pitchFamily="34" charset="-120"/>
              </a:rPr>
              <a:t>WHERE WE STAND</a:t>
            </a:r>
            <a:endParaRPr lang="en-US" sz="1250" dirty="0"/>
          </a:p>
        </p:txBody>
      </p:sp>
      <p:sp>
        <p:nvSpPr>
          <p:cNvPr id="3" name="Text 1"/>
          <p:cNvSpPr/>
          <p:nvPr/>
        </p:nvSpPr>
        <p:spPr>
          <a:xfrm>
            <a:off x="640080" y="457200"/>
            <a:ext cx="10972800" cy="640080"/>
          </a:xfrm>
          <a:prstGeom prst="rect">
            <a:avLst/>
          </a:prstGeom>
          <a:noFill/>
          <a:ln/>
        </p:spPr>
        <p:txBody>
          <a:bodyPr wrap="square" lIns="0" tIns="0" rIns="0" bIns="0" rtlCol="0" anchor="ctr"/>
          <a:lstStyle/>
          <a:p>
            <a:pPr indent="0" marL="0">
              <a:buNone/>
            </a:pPr>
            <a:r>
              <a:rPr lang="en-US" sz="3000" b="1" dirty="0">
                <a:solidFill>
                  <a:srgbClr val="1E293B"/>
                </a:solidFill>
                <a:latin typeface="Cambria" pitchFamily="34" charset="0"/>
                <a:ea typeface="Cambria" pitchFamily="34" charset="-122"/>
                <a:cs typeface="Cambria" pitchFamily="34" charset="-120"/>
              </a:rPr>
              <a:t>Is this good progress? My honest scorecard</a:t>
            </a:r>
            <a:endParaRPr lang="en-US" sz="3000" dirty="0"/>
          </a:p>
        </p:txBody>
      </p:sp>
      <p:sp>
        <p:nvSpPr>
          <p:cNvPr id="4" name="Shape 2"/>
          <p:cNvSpPr/>
          <p:nvPr/>
        </p:nvSpPr>
        <p:spPr>
          <a:xfrm>
            <a:off x="640080" y="1828800"/>
            <a:ext cx="3538728" cy="4114800"/>
          </a:xfrm>
          <a:prstGeom prst="roundRect">
            <a:avLst>
              <a:gd name="adj" fmla="val 2326"/>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5" name="Shape 3"/>
          <p:cNvSpPr/>
          <p:nvPr/>
        </p:nvSpPr>
        <p:spPr>
          <a:xfrm>
            <a:off x="914400" y="2103120"/>
            <a:ext cx="1737360" cy="457200"/>
          </a:xfrm>
          <a:prstGeom prst="roundRect">
            <a:avLst>
              <a:gd name="adj" fmla="val 20000"/>
            </a:avLst>
          </a:prstGeom>
          <a:solidFill>
            <a:srgbClr val="16A34A"/>
          </a:solidFill>
          <a:ln/>
        </p:spPr>
      </p:sp>
      <p:sp>
        <p:nvSpPr>
          <p:cNvPr id="6" name="Text 4"/>
          <p:cNvSpPr/>
          <p:nvPr/>
        </p:nvSpPr>
        <p:spPr>
          <a:xfrm>
            <a:off x="914400" y="2103120"/>
            <a:ext cx="1737360" cy="457200"/>
          </a:xfrm>
          <a:prstGeom prst="rect">
            <a:avLst/>
          </a:prstGeom>
          <a:noFill/>
          <a:ln/>
        </p:spPr>
        <p:txBody>
          <a:bodyPr wrap="square" lIns="0" tIns="0" rIns="0" bIns="0"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STRONG</a:t>
            </a:r>
            <a:endParaRPr lang="en-US" sz="1300" dirty="0"/>
          </a:p>
        </p:txBody>
      </p:sp>
      <p:sp>
        <p:nvSpPr>
          <p:cNvPr id="7" name="Text 5"/>
          <p:cNvSpPr/>
          <p:nvPr/>
        </p:nvSpPr>
        <p:spPr>
          <a:xfrm>
            <a:off x="914400" y="2743200"/>
            <a:ext cx="3017520" cy="548640"/>
          </a:xfrm>
          <a:prstGeom prst="rect">
            <a:avLst/>
          </a:prstGeom>
          <a:noFill/>
          <a:ln/>
        </p:spPr>
        <p:txBody>
          <a:bodyPr wrap="square" lIns="0" tIns="0" rIns="0" bIns="0" rtlCol="0" anchor="ctr"/>
          <a:lstStyle/>
          <a:p>
            <a:pPr indent="0" marL="0">
              <a:buNone/>
            </a:pPr>
            <a:r>
              <a:rPr lang="en-US" sz="1800" b="1" dirty="0">
                <a:solidFill>
                  <a:srgbClr val="1E293B"/>
                </a:solidFill>
                <a:latin typeface="Calibri" pitchFamily="34" charset="0"/>
                <a:ea typeface="Calibri" pitchFamily="34" charset="-122"/>
                <a:cs typeface="Calibri" pitchFamily="34" charset="-120"/>
              </a:rPr>
              <a:t>Infrastructure</a:t>
            </a:r>
            <a:endParaRPr lang="en-US" sz="1800" dirty="0"/>
          </a:p>
        </p:txBody>
      </p:sp>
      <p:sp>
        <p:nvSpPr>
          <p:cNvPr id="8" name="Text 6"/>
          <p:cNvSpPr/>
          <p:nvPr/>
        </p:nvSpPr>
        <p:spPr>
          <a:xfrm>
            <a:off x="914400" y="3383280"/>
            <a:ext cx="3063240" cy="2286000"/>
          </a:xfrm>
          <a:prstGeom prst="rect">
            <a:avLst/>
          </a:prstGeom>
          <a:noFill/>
          <a:ln/>
        </p:spPr>
        <p:txBody>
          <a:bodyPr wrap="square" lIns="0" tIns="0" rIns="0" bIns="0" rtlCol="0" anchor="ctr"/>
          <a:lstStyle/>
          <a:p>
            <a:pPr indent="0" marL="0">
              <a:lnSpc>
                <a:spcPct val="108000"/>
              </a:lnSpc>
              <a:buNone/>
            </a:pPr>
            <a:r>
              <a:rPr lang="en-US" sz="1400" dirty="0">
                <a:solidFill>
                  <a:srgbClr val="64748B"/>
                </a:solidFill>
                <a:latin typeface="Calibri" pitchFamily="34" charset="0"/>
                <a:ea typeface="Calibri" pitchFamily="34" charset="-122"/>
                <a:cs typeface="Calibri" pitchFamily="34" charset="-120"/>
              </a:rPr>
              <a:t>Real data flows end to end — decode, phase labels, training, analysis. Reproducible, on a laptop. This was the hard part and it's done.</a:t>
            </a:r>
            <a:endParaRPr lang="en-US" sz="1400" dirty="0"/>
          </a:p>
        </p:txBody>
      </p:sp>
      <p:sp>
        <p:nvSpPr>
          <p:cNvPr id="9" name="Shape 7"/>
          <p:cNvSpPr/>
          <p:nvPr/>
        </p:nvSpPr>
        <p:spPr>
          <a:xfrm>
            <a:off x="4370832" y="1828800"/>
            <a:ext cx="3538728" cy="4114800"/>
          </a:xfrm>
          <a:prstGeom prst="roundRect">
            <a:avLst>
              <a:gd name="adj" fmla="val 2326"/>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0" name="Shape 8"/>
          <p:cNvSpPr/>
          <p:nvPr/>
        </p:nvSpPr>
        <p:spPr>
          <a:xfrm>
            <a:off x="4645152" y="2103120"/>
            <a:ext cx="1737360" cy="457200"/>
          </a:xfrm>
          <a:prstGeom prst="roundRect">
            <a:avLst>
              <a:gd name="adj" fmla="val 20000"/>
            </a:avLst>
          </a:prstGeom>
          <a:solidFill>
            <a:srgbClr val="0D9488"/>
          </a:solidFill>
          <a:ln/>
        </p:spPr>
      </p:sp>
      <p:sp>
        <p:nvSpPr>
          <p:cNvPr id="11" name="Text 9"/>
          <p:cNvSpPr/>
          <p:nvPr/>
        </p:nvSpPr>
        <p:spPr>
          <a:xfrm>
            <a:off x="4645152" y="2103120"/>
            <a:ext cx="1737360" cy="457200"/>
          </a:xfrm>
          <a:prstGeom prst="rect">
            <a:avLst/>
          </a:prstGeom>
          <a:noFill/>
          <a:ln/>
        </p:spPr>
        <p:txBody>
          <a:bodyPr wrap="square" lIns="0" tIns="0" rIns="0" bIns="0"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PROMISING</a:t>
            </a:r>
            <a:endParaRPr lang="en-US" sz="1300" dirty="0"/>
          </a:p>
        </p:txBody>
      </p:sp>
      <p:sp>
        <p:nvSpPr>
          <p:cNvPr id="12" name="Text 10"/>
          <p:cNvSpPr/>
          <p:nvPr/>
        </p:nvSpPr>
        <p:spPr>
          <a:xfrm>
            <a:off x="4645152" y="2743200"/>
            <a:ext cx="3017520" cy="548640"/>
          </a:xfrm>
          <a:prstGeom prst="rect">
            <a:avLst/>
          </a:prstGeom>
          <a:noFill/>
          <a:ln/>
        </p:spPr>
        <p:txBody>
          <a:bodyPr wrap="square" lIns="0" tIns="0" rIns="0" bIns="0" rtlCol="0" anchor="ctr"/>
          <a:lstStyle/>
          <a:p>
            <a:pPr indent="0" marL="0">
              <a:buNone/>
            </a:pPr>
            <a:r>
              <a:rPr lang="en-US" sz="1800" b="1" dirty="0">
                <a:solidFill>
                  <a:srgbClr val="1E293B"/>
                </a:solidFill>
                <a:latin typeface="Calibri" pitchFamily="34" charset="0"/>
                <a:ea typeface="Calibri" pitchFamily="34" charset="-122"/>
                <a:cs typeface="Calibri" pitchFamily="34" charset="-120"/>
              </a:rPr>
              <a:t>First real signal</a:t>
            </a:r>
            <a:endParaRPr lang="en-US" sz="1800" dirty="0"/>
          </a:p>
        </p:txBody>
      </p:sp>
      <p:sp>
        <p:nvSpPr>
          <p:cNvPr id="13" name="Text 11"/>
          <p:cNvSpPr/>
          <p:nvPr/>
        </p:nvSpPr>
        <p:spPr>
          <a:xfrm>
            <a:off x="4645152" y="3383280"/>
            <a:ext cx="3063240" cy="2286000"/>
          </a:xfrm>
          <a:prstGeom prst="rect">
            <a:avLst/>
          </a:prstGeom>
          <a:noFill/>
          <a:ln/>
        </p:spPr>
        <p:txBody>
          <a:bodyPr wrap="square" lIns="0" tIns="0" rIns="0" bIns="0" rtlCol="0" anchor="ctr"/>
          <a:lstStyle/>
          <a:p>
            <a:pPr indent="0" marL="0">
              <a:lnSpc>
                <a:spcPct val="108000"/>
              </a:lnSpc>
              <a:buNone/>
            </a:pPr>
            <a:r>
              <a:rPr lang="en-US" sz="1400" dirty="0">
                <a:solidFill>
                  <a:srgbClr val="64748B"/>
                </a:solidFill>
                <a:latin typeface="Calibri" pitchFamily="34" charset="0"/>
                <a:ea typeface="Calibri" pitchFamily="34" charset="-122"/>
                <a:cs typeface="Calibri" pitchFamily="34" charset="-120"/>
              </a:rPr>
              <a:t>The fingerprint predicts the reflex above chance (R²=0.17) and the representation clearly moves during conditioning.</a:t>
            </a:r>
            <a:endParaRPr lang="en-US" sz="1400" dirty="0"/>
          </a:p>
        </p:txBody>
      </p:sp>
      <p:sp>
        <p:nvSpPr>
          <p:cNvPr id="14" name="Shape 12"/>
          <p:cNvSpPr/>
          <p:nvPr/>
        </p:nvSpPr>
        <p:spPr>
          <a:xfrm>
            <a:off x="8101584" y="1828800"/>
            <a:ext cx="3538728" cy="4114800"/>
          </a:xfrm>
          <a:prstGeom prst="roundRect">
            <a:avLst>
              <a:gd name="adj" fmla="val 2326"/>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5" name="Shape 13"/>
          <p:cNvSpPr/>
          <p:nvPr/>
        </p:nvSpPr>
        <p:spPr>
          <a:xfrm>
            <a:off x="8375904" y="2103120"/>
            <a:ext cx="1737360" cy="457200"/>
          </a:xfrm>
          <a:prstGeom prst="roundRect">
            <a:avLst>
              <a:gd name="adj" fmla="val 20000"/>
            </a:avLst>
          </a:prstGeom>
          <a:solidFill>
            <a:srgbClr val="D97706"/>
          </a:solidFill>
          <a:ln/>
        </p:spPr>
      </p:sp>
      <p:sp>
        <p:nvSpPr>
          <p:cNvPr id="16" name="Text 14"/>
          <p:cNvSpPr/>
          <p:nvPr/>
        </p:nvSpPr>
        <p:spPr>
          <a:xfrm>
            <a:off x="8375904" y="2103120"/>
            <a:ext cx="1737360" cy="457200"/>
          </a:xfrm>
          <a:prstGeom prst="rect">
            <a:avLst/>
          </a:prstGeom>
          <a:noFill/>
          <a:ln/>
        </p:spPr>
        <p:txBody>
          <a:bodyPr wrap="square" lIns="0" tIns="0" rIns="0" bIns="0"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NOT YET</a:t>
            </a:r>
            <a:endParaRPr lang="en-US" sz="1300" dirty="0"/>
          </a:p>
        </p:txBody>
      </p:sp>
      <p:sp>
        <p:nvSpPr>
          <p:cNvPr id="17" name="Text 15"/>
          <p:cNvSpPr/>
          <p:nvPr/>
        </p:nvSpPr>
        <p:spPr>
          <a:xfrm>
            <a:off x="8375904" y="2743200"/>
            <a:ext cx="3017520" cy="548640"/>
          </a:xfrm>
          <a:prstGeom prst="rect">
            <a:avLst/>
          </a:prstGeom>
          <a:noFill/>
          <a:ln/>
        </p:spPr>
        <p:txBody>
          <a:bodyPr wrap="square" lIns="0" tIns="0" rIns="0" bIns="0" rtlCol="0" anchor="ctr"/>
          <a:lstStyle/>
          <a:p>
            <a:pPr indent="0" marL="0">
              <a:buNone/>
            </a:pPr>
            <a:r>
              <a:rPr lang="en-US" sz="1800" b="1" dirty="0">
                <a:solidFill>
                  <a:srgbClr val="1E293B"/>
                </a:solidFill>
                <a:latin typeface="Calibri" pitchFamily="34" charset="0"/>
                <a:ea typeface="Calibri" pitchFamily="34" charset="-122"/>
                <a:cs typeface="Calibri" pitchFamily="34" charset="-120"/>
              </a:rPr>
              <a:t>A publishable claim</a:t>
            </a:r>
            <a:endParaRPr lang="en-US" sz="1800" dirty="0"/>
          </a:p>
        </p:txBody>
      </p:sp>
      <p:sp>
        <p:nvSpPr>
          <p:cNvPr id="18" name="Text 16"/>
          <p:cNvSpPr/>
          <p:nvPr/>
        </p:nvSpPr>
        <p:spPr>
          <a:xfrm>
            <a:off x="8375904" y="3383280"/>
            <a:ext cx="3063240" cy="2286000"/>
          </a:xfrm>
          <a:prstGeom prst="rect">
            <a:avLst/>
          </a:prstGeom>
          <a:noFill/>
          <a:ln/>
        </p:spPr>
        <p:txBody>
          <a:bodyPr wrap="square" lIns="0" tIns="0" rIns="0" bIns="0" rtlCol="0" anchor="ctr"/>
          <a:lstStyle/>
          <a:p>
            <a:pPr indent="0" marL="0">
              <a:lnSpc>
                <a:spcPct val="108000"/>
              </a:lnSpc>
              <a:buNone/>
            </a:pPr>
            <a:r>
              <a:rPr lang="en-US" sz="1400" dirty="0">
                <a:solidFill>
                  <a:srgbClr val="64748B"/>
                </a:solidFill>
                <a:latin typeface="Calibri" pitchFamily="34" charset="0"/>
                <a:ea typeface="Calibri" pitchFamily="34" charset="-122"/>
                <a:cs typeface="Calibri" pitchFamily="34" charset="-120"/>
              </a:rPr>
              <a:t>Needs the baseline confound resolved, proper statistics, and more animals. Today is a strong foundation, not a result.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58368" y="384048"/>
            <a:ext cx="10972800" cy="274320"/>
          </a:xfrm>
          <a:prstGeom prst="rect">
            <a:avLst/>
          </a:prstGeom>
          <a:noFill/>
          <a:ln/>
        </p:spPr>
        <p:txBody>
          <a:bodyPr wrap="square" lIns="0" tIns="0" rIns="0" bIns="0" rtlCol="0" anchor="ctr"/>
          <a:lstStyle/>
          <a:p>
            <a:pPr indent="0" marL="0">
              <a:buNone/>
            </a:pPr>
            <a:r>
              <a:rPr lang="en-US" sz="1250" b="1" spc="300" kern="0" dirty="0">
                <a:solidFill>
                  <a:srgbClr val="0D9488"/>
                </a:solidFill>
                <a:latin typeface="Calibri" pitchFamily="34" charset="0"/>
                <a:ea typeface="Calibri" pitchFamily="34" charset="-122"/>
                <a:cs typeface="Calibri" pitchFamily="34" charset="-120"/>
              </a:rPr>
              <a:t>NEXT</a:t>
            </a:r>
            <a:endParaRPr lang="en-US" sz="1250" dirty="0"/>
          </a:p>
        </p:txBody>
      </p:sp>
      <p:sp>
        <p:nvSpPr>
          <p:cNvPr id="3" name="Text 1"/>
          <p:cNvSpPr/>
          <p:nvPr/>
        </p:nvSpPr>
        <p:spPr>
          <a:xfrm>
            <a:off x="640080" y="457200"/>
            <a:ext cx="10972800" cy="640080"/>
          </a:xfrm>
          <a:prstGeom prst="rect">
            <a:avLst/>
          </a:prstGeom>
          <a:noFill/>
          <a:ln/>
        </p:spPr>
        <p:txBody>
          <a:bodyPr wrap="square" lIns="0" tIns="0" rIns="0" bIns="0" rtlCol="0" anchor="ctr"/>
          <a:lstStyle/>
          <a:p>
            <a:pPr indent="0" marL="0">
              <a:buNone/>
            </a:pPr>
            <a:r>
              <a:rPr lang="en-US" sz="3000" b="1" dirty="0">
                <a:solidFill>
                  <a:srgbClr val="1E293B"/>
                </a:solidFill>
                <a:latin typeface="Cambria" pitchFamily="34" charset="0"/>
                <a:ea typeface="Cambria" pitchFamily="34" charset="-122"/>
                <a:cs typeface="Cambria" pitchFamily="34" charset="-120"/>
              </a:rPr>
              <a:t>The plan — and it scales</a:t>
            </a:r>
            <a:endParaRPr lang="en-US" sz="3000" dirty="0"/>
          </a:p>
        </p:txBody>
      </p:sp>
      <p:sp>
        <p:nvSpPr>
          <p:cNvPr id="4" name="Text 2"/>
          <p:cNvSpPr/>
          <p:nvPr/>
        </p:nvSpPr>
        <p:spPr>
          <a:xfrm>
            <a:off x="640080" y="1600200"/>
            <a:ext cx="10881360" cy="731520"/>
          </a:xfrm>
          <a:prstGeom prst="rect">
            <a:avLst/>
          </a:prstGeom>
          <a:noFill/>
          <a:ln/>
        </p:spPr>
        <p:txBody>
          <a:bodyPr wrap="square" lIns="0" tIns="0" rIns="0" bIns="0" rtlCol="0" anchor="ctr"/>
          <a:lstStyle/>
          <a:p>
            <a:pPr indent="0" marL="0">
              <a:lnSpc>
                <a:spcPct val="105000"/>
              </a:lnSpc>
              <a:buNone/>
            </a:pPr>
            <a:r>
              <a:rPr lang="en-US" sz="1600" dirty="0">
                <a:solidFill>
                  <a:srgbClr val="1E293B"/>
                </a:solidFill>
                <a:latin typeface="Calibri" pitchFamily="34" charset="0"/>
                <a:ea typeface="Calibri" pitchFamily="34" charset="-122"/>
                <a:cs typeface="Calibri" pitchFamily="34" charset="-120"/>
              </a:rPr>
              <a:t>Animal 9 is 1 of ~14 conditioned animals sitting in the Drive. The pipeline is built to pool them — every new animal makes the drift result stronger.</a:t>
            </a:r>
            <a:endParaRPr lang="en-US" sz="1600" dirty="0"/>
          </a:p>
        </p:txBody>
      </p:sp>
      <p:sp>
        <p:nvSpPr>
          <p:cNvPr id="5" name="Shape 3"/>
          <p:cNvSpPr/>
          <p:nvPr/>
        </p:nvSpPr>
        <p:spPr>
          <a:xfrm>
            <a:off x="640080" y="2514600"/>
            <a:ext cx="10881360" cy="841248"/>
          </a:xfrm>
          <a:prstGeom prst="roundRect">
            <a:avLst>
              <a:gd name="adj" fmla="val 9783"/>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6" name="Shape 4"/>
          <p:cNvSpPr/>
          <p:nvPr/>
        </p:nvSpPr>
        <p:spPr>
          <a:xfrm>
            <a:off x="868680" y="2706624"/>
            <a:ext cx="457200" cy="457200"/>
          </a:xfrm>
          <a:prstGeom prst="ellipse">
            <a:avLst/>
          </a:prstGeom>
          <a:solidFill>
            <a:srgbClr val="6D28D9"/>
          </a:solidFill>
          <a:ln/>
        </p:spPr>
      </p:sp>
      <p:sp>
        <p:nvSpPr>
          <p:cNvPr id="7" name="Text 5"/>
          <p:cNvSpPr/>
          <p:nvPr/>
        </p:nvSpPr>
        <p:spPr>
          <a:xfrm>
            <a:off x="868680" y="2706624"/>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8" name="Text 6"/>
          <p:cNvSpPr/>
          <p:nvPr/>
        </p:nvSpPr>
        <p:spPr>
          <a:xfrm>
            <a:off x="1554480" y="2633472"/>
            <a:ext cx="3840480" cy="594360"/>
          </a:xfrm>
          <a:prstGeom prst="rect">
            <a:avLst/>
          </a:prstGeom>
          <a:noFill/>
          <a:ln/>
        </p:spPr>
        <p:txBody>
          <a:bodyPr wrap="square" lIns="0" tIns="0" rIns="0" bIns="0" rtlCol="0" anchor="ctr"/>
          <a:lstStyle/>
          <a:p>
            <a:pPr indent="0" marL="0">
              <a:buNone/>
            </a:pPr>
            <a:r>
              <a:rPr lang="en-US" sz="1550" b="1" dirty="0">
                <a:solidFill>
                  <a:srgbClr val="1E293B"/>
                </a:solidFill>
                <a:latin typeface="Calibri" pitchFamily="34" charset="0"/>
                <a:ea typeface="Calibri" pitchFamily="34" charset="-122"/>
                <a:cs typeface="Calibri" pitchFamily="34" charset="-120"/>
              </a:rPr>
              <a:t>Resolve the baseline confound</a:t>
            </a:r>
            <a:endParaRPr lang="en-US" sz="1550" dirty="0"/>
          </a:p>
        </p:txBody>
      </p:sp>
      <p:sp>
        <p:nvSpPr>
          <p:cNvPr id="9" name="Text 7"/>
          <p:cNvSpPr/>
          <p:nvPr/>
        </p:nvSpPr>
        <p:spPr>
          <a:xfrm>
            <a:off x="5486400" y="2633472"/>
            <a:ext cx="5852160" cy="594360"/>
          </a:xfrm>
          <a:prstGeom prst="rect">
            <a:avLst/>
          </a:prstGeom>
          <a:noFill/>
          <a:ln/>
        </p:spPr>
        <p:txBody>
          <a:bodyPr wrap="square" lIns="0" tIns="0" rIns="0" bIns="0" rtlCol="0" anchor="ctr"/>
          <a:lstStyle/>
          <a:p>
            <a:pPr indent="0" marL="0">
              <a:lnSpc>
                <a:spcPct val="100000"/>
              </a:lnSpc>
              <a:buNone/>
            </a:pPr>
            <a:r>
              <a:rPr lang="en-US" sz="1350" dirty="0">
                <a:solidFill>
                  <a:srgbClr val="64748B"/>
                </a:solidFill>
                <a:latin typeface="Calibri" pitchFamily="34" charset="0"/>
                <a:ea typeface="Calibri" pitchFamily="34" charset="-122"/>
                <a:cs typeface="Calibri" pitchFamily="34" charset="-120"/>
              </a:rPr>
              <a:t>Restrict 'Baseline' to post-setup trials; regress out raw reflex size. Does the drift survive?</a:t>
            </a:r>
            <a:endParaRPr lang="en-US" sz="1350" dirty="0"/>
          </a:p>
        </p:txBody>
      </p:sp>
      <p:sp>
        <p:nvSpPr>
          <p:cNvPr id="10" name="Shape 8"/>
          <p:cNvSpPr/>
          <p:nvPr/>
        </p:nvSpPr>
        <p:spPr>
          <a:xfrm>
            <a:off x="640080" y="3456432"/>
            <a:ext cx="10881360" cy="841248"/>
          </a:xfrm>
          <a:prstGeom prst="roundRect">
            <a:avLst>
              <a:gd name="adj" fmla="val 9783"/>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1" name="Shape 9"/>
          <p:cNvSpPr/>
          <p:nvPr/>
        </p:nvSpPr>
        <p:spPr>
          <a:xfrm>
            <a:off x="868680" y="3648456"/>
            <a:ext cx="457200" cy="457200"/>
          </a:xfrm>
          <a:prstGeom prst="ellipse">
            <a:avLst/>
          </a:prstGeom>
          <a:solidFill>
            <a:srgbClr val="6D28D9"/>
          </a:solidFill>
          <a:ln/>
        </p:spPr>
      </p:sp>
      <p:sp>
        <p:nvSpPr>
          <p:cNvPr id="12" name="Text 10"/>
          <p:cNvSpPr/>
          <p:nvPr/>
        </p:nvSpPr>
        <p:spPr>
          <a:xfrm>
            <a:off x="868680" y="3648456"/>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3" name="Text 11"/>
          <p:cNvSpPr/>
          <p:nvPr/>
        </p:nvSpPr>
        <p:spPr>
          <a:xfrm>
            <a:off x="1554480" y="3575304"/>
            <a:ext cx="3840480" cy="594360"/>
          </a:xfrm>
          <a:prstGeom prst="rect">
            <a:avLst/>
          </a:prstGeom>
          <a:noFill/>
          <a:ln/>
        </p:spPr>
        <p:txBody>
          <a:bodyPr wrap="square" lIns="0" tIns="0" rIns="0" bIns="0" rtlCol="0" anchor="ctr"/>
          <a:lstStyle/>
          <a:p>
            <a:pPr indent="0" marL="0">
              <a:buNone/>
            </a:pPr>
            <a:r>
              <a:rPr lang="en-US" sz="1550" b="1" dirty="0">
                <a:solidFill>
                  <a:srgbClr val="1E293B"/>
                </a:solidFill>
                <a:latin typeface="Calibri" pitchFamily="34" charset="0"/>
                <a:ea typeface="Calibri" pitchFamily="34" charset="-122"/>
                <a:cs typeface="Calibri" pitchFamily="34" charset="-120"/>
              </a:rPr>
              <a:t>Add statistics</a:t>
            </a:r>
            <a:endParaRPr lang="en-US" sz="1550" dirty="0"/>
          </a:p>
        </p:txBody>
      </p:sp>
      <p:sp>
        <p:nvSpPr>
          <p:cNvPr id="14" name="Text 12"/>
          <p:cNvSpPr/>
          <p:nvPr/>
        </p:nvSpPr>
        <p:spPr>
          <a:xfrm>
            <a:off x="5486400" y="3575304"/>
            <a:ext cx="5852160" cy="594360"/>
          </a:xfrm>
          <a:prstGeom prst="rect">
            <a:avLst/>
          </a:prstGeom>
          <a:noFill/>
          <a:ln/>
        </p:spPr>
        <p:txBody>
          <a:bodyPr wrap="square" lIns="0" tIns="0" rIns="0" bIns="0" rtlCol="0" anchor="ctr"/>
          <a:lstStyle/>
          <a:p>
            <a:pPr indent="0" marL="0">
              <a:lnSpc>
                <a:spcPct val="100000"/>
              </a:lnSpc>
              <a:buNone/>
            </a:pPr>
            <a:r>
              <a:rPr lang="en-US" sz="1350" dirty="0">
                <a:solidFill>
                  <a:srgbClr val="64748B"/>
                </a:solidFill>
                <a:latin typeface="Calibri" pitchFamily="34" charset="0"/>
                <a:ea typeface="Calibri" pitchFamily="34" charset="-122"/>
                <a:cs typeface="Calibri" pitchFamily="34" charset="-120"/>
              </a:rPr>
              <a:t>Bootstrap the drift — a within-baseline split should drift ~0. Is 28.5 vs 5.0 real?</a:t>
            </a:r>
            <a:endParaRPr lang="en-US" sz="1350" dirty="0"/>
          </a:p>
        </p:txBody>
      </p:sp>
      <p:sp>
        <p:nvSpPr>
          <p:cNvPr id="15" name="Shape 13"/>
          <p:cNvSpPr/>
          <p:nvPr/>
        </p:nvSpPr>
        <p:spPr>
          <a:xfrm>
            <a:off x="640080" y="4398264"/>
            <a:ext cx="10881360" cy="841248"/>
          </a:xfrm>
          <a:prstGeom prst="roundRect">
            <a:avLst>
              <a:gd name="adj" fmla="val 9783"/>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16" name="Shape 14"/>
          <p:cNvSpPr/>
          <p:nvPr/>
        </p:nvSpPr>
        <p:spPr>
          <a:xfrm>
            <a:off x="868680" y="4590288"/>
            <a:ext cx="457200" cy="457200"/>
          </a:xfrm>
          <a:prstGeom prst="ellipse">
            <a:avLst/>
          </a:prstGeom>
          <a:solidFill>
            <a:srgbClr val="0D9488"/>
          </a:solidFill>
          <a:ln/>
        </p:spPr>
      </p:sp>
      <p:sp>
        <p:nvSpPr>
          <p:cNvPr id="17" name="Text 15"/>
          <p:cNvSpPr/>
          <p:nvPr/>
        </p:nvSpPr>
        <p:spPr>
          <a:xfrm>
            <a:off x="868680" y="4590288"/>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8" name="Text 16"/>
          <p:cNvSpPr/>
          <p:nvPr/>
        </p:nvSpPr>
        <p:spPr>
          <a:xfrm>
            <a:off x="1554480" y="4517136"/>
            <a:ext cx="3840480" cy="594360"/>
          </a:xfrm>
          <a:prstGeom prst="rect">
            <a:avLst/>
          </a:prstGeom>
          <a:noFill/>
          <a:ln/>
        </p:spPr>
        <p:txBody>
          <a:bodyPr wrap="square" lIns="0" tIns="0" rIns="0" bIns="0" rtlCol="0" anchor="ctr"/>
          <a:lstStyle/>
          <a:p>
            <a:pPr indent="0" marL="0">
              <a:buNone/>
            </a:pPr>
            <a:r>
              <a:rPr lang="en-US" sz="1550" b="1" dirty="0">
                <a:solidFill>
                  <a:srgbClr val="1E293B"/>
                </a:solidFill>
                <a:latin typeface="Calibri" pitchFamily="34" charset="0"/>
                <a:ea typeface="Calibri" pitchFamily="34" charset="-122"/>
                <a:cs typeface="Calibri" pitchFamily="34" charset="-120"/>
              </a:rPr>
              <a:t>Pool more animals</a:t>
            </a:r>
            <a:endParaRPr lang="en-US" sz="1550" dirty="0"/>
          </a:p>
        </p:txBody>
      </p:sp>
      <p:sp>
        <p:nvSpPr>
          <p:cNvPr id="19" name="Text 17"/>
          <p:cNvSpPr/>
          <p:nvPr/>
        </p:nvSpPr>
        <p:spPr>
          <a:xfrm>
            <a:off x="5486400" y="4517136"/>
            <a:ext cx="5852160" cy="594360"/>
          </a:xfrm>
          <a:prstGeom prst="rect">
            <a:avLst/>
          </a:prstGeom>
          <a:noFill/>
          <a:ln/>
        </p:spPr>
        <p:txBody>
          <a:bodyPr wrap="square" lIns="0" tIns="0" rIns="0" bIns="0" rtlCol="0" anchor="ctr"/>
          <a:lstStyle/>
          <a:p>
            <a:pPr indent="0" marL="0">
              <a:lnSpc>
                <a:spcPct val="100000"/>
              </a:lnSpc>
              <a:buNone/>
            </a:pPr>
            <a:r>
              <a:rPr lang="en-US" sz="1350" dirty="0">
                <a:solidFill>
                  <a:srgbClr val="64748B"/>
                </a:solidFill>
                <a:latin typeface="Calibri" pitchFamily="34" charset="0"/>
                <a:ea typeface="Calibri" pitchFamily="34" charset="-122"/>
                <a:cs typeface="Calibri" pitchFamily="34" charset="-120"/>
              </a:rPr>
              <a:t>Convert 6, 10, 11, 12, 13… one at a time, watching for animal-identity confounds.</a:t>
            </a:r>
            <a:endParaRPr lang="en-US" sz="1350" dirty="0"/>
          </a:p>
        </p:txBody>
      </p:sp>
      <p:sp>
        <p:nvSpPr>
          <p:cNvPr id="20" name="Shape 18"/>
          <p:cNvSpPr/>
          <p:nvPr/>
        </p:nvSpPr>
        <p:spPr>
          <a:xfrm>
            <a:off x="640080" y="5340096"/>
            <a:ext cx="10881360" cy="841248"/>
          </a:xfrm>
          <a:prstGeom prst="roundRect">
            <a:avLst>
              <a:gd name="adj" fmla="val 9783"/>
            </a:avLst>
          </a:prstGeom>
          <a:solidFill>
            <a:srgbClr val="FFFFFF"/>
          </a:solidFill>
          <a:ln w="12700">
            <a:solidFill>
              <a:srgbClr val="E2E8F0"/>
            </a:solidFill>
            <a:prstDash val="solid"/>
          </a:ln>
          <a:effectLst>
            <a:outerShdw sx="100000" sy="100000" kx="0" ky="0" algn="bl" rotWithShape="0" blurRad="114300" dist="38100" dir="5400000">
              <a:srgbClr val="0F172A">
                <a:alpha val="14000"/>
              </a:srgbClr>
            </a:outerShdw>
          </a:effectLst>
        </p:spPr>
      </p:sp>
      <p:sp>
        <p:nvSpPr>
          <p:cNvPr id="21" name="Shape 19"/>
          <p:cNvSpPr/>
          <p:nvPr/>
        </p:nvSpPr>
        <p:spPr>
          <a:xfrm>
            <a:off x="868680" y="5532120"/>
            <a:ext cx="457200" cy="457200"/>
          </a:xfrm>
          <a:prstGeom prst="ellipse">
            <a:avLst/>
          </a:prstGeom>
          <a:solidFill>
            <a:srgbClr val="0D9488"/>
          </a:solidFill>
          <a:ln/>
        </p:spPr>
      </p:sp>
      <p:sp>
        <p:nvSpPr>
          <p:cNvPr id="22" name="Text 20"/>
          <p:cNvSpPr/>
          <p:nvPr/>
        </p:nvSpPr>
        <p:spPr>
          <a:xfrm>
            <a:off x="868680" y="553212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3" name="Text 21"/>
          <p:cNvSpPr/>
          <p:nvPr/>
        </p:nvSpPr>
        <p:spPr>
          <a:xfrm>
            <a:off x="1554480" y="5458968"/>
            <a:ext cx="3840480" cy="594360"/>
          </a:xfrm>
          <a:prstGeom prst="rect">
            <a:avLst/>
          </a:prstGeom>
          <a:noFill/>
          <a:ln/>
        </p:spPr>
        <p:txBody>
          <a:bodyPr wrap="square" lIns="0" tIns="0" rIns="0" bIns="0" rtlCol="0" anchor="ctr"/>
          <a:lstStyle/>
          <a:p>
            <a:pPr indent="0" marL="0">
              <a:buNone/>
            </a:pPr>
            <a:r>
              <a:rPr lang="en-US" sz="1550" b="1" dirty="0">
                <a:solidFill>
                  <a:srgbClr val="1E293B"/>
                </a:solidFill>
                <a:latin typeface="Calibri" pitchFamily="34" charset="0"/>
                <a:ea typeface="Calibri" pitchFamily="34" charset="-122"/>
                <a:cs typeface="Calibri" pitchFamily="34" charset="-120"/>
              </a:rPr>
              <a:t>Bring in controls</a:t>
            </a:r>
            <a:endParaRPr lang="en-US" sz="1550" dirty="0"/>
          </a:p>
        </p:txBody>
      </p:sp>
      <p:sp>
        <p:nvSpPr>
          <p:cNvPr id="24" name="Text 22"/>
          <p:cNvSpPr/>
          <p:nvPr/>
        </p:nvSpPr>
        <p:spPr>
          <a:xfrm>
            <a:off x="5486400" y="5458968"/>
            <a:ext cx="5852160" cy="594360"/>
          </a:xfrm>
          <a:prstGeom prst="rect">
            <a:avLst/>
          </a:prstGeom>
          <a:noFill/>
          <a:ln/>
        </p:spPr>
        <p:txBody>
          <a:bodyPr wrap="square" lIns="0" tIns="0" rIns="0" bIns="0" rtlCol="0" anchor="ctr"/>
          <a:lstStyle/>
          <a:p>
            <a:pPr indent="0" marL="0">
              <a:lnSpc>
                <a:spcPct val="100000"/>
              </a:lnSpc>
              <a:buNone/>
            </a:pPr>
            <a:r>
              <a:rPr lang="en-US" sz="1350" dirty="0">
                <a:solidFill>
                  <a:srgbClr val="64748B"/>
                </a:solidFill>
                <a:latin typeface="Calibri" pitchFamily="34" charset="0"/>
                <a:ea typeface="Calibri" pitchFamily="34" charset="-122"/>
                <a:cs typeface="Calibri" pitchFamily="34" charset="-120"/>
              </a:rPr>
              <a:t>Up-conditioning animals should drift the other way; freely-running should barely drift.</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731520" y="548640"/>
            <a:ext cx="10058400" cy="365760"/>
          </a:xfrm>
          <a:prstGeom prst="rect">
            <a:avLst/>
          </a:prstGeom>
          <a:noFill/>
          <a:ln/>
        </p:spPr>
        <p:txBody>
          <a:bodyPr wrap="square" lIns="0" tIns="0" rIns="0" bIns="0" rtlCol="0" anchor="ctr"/>
          <a:lstStyle/>
          <a:p>
            <a:pPr indent="0" marL="0">
              <a:buNone/>
            </a:pPr>
            <a:r>
              <a:rPr lang="en-US" sz="1400" b="1" spc="300" kern="0" dirty="0">
                <a:solidFill>
                  <a:srgbClr val="0D9488"/>
                </a:solidFill>
                <a:latin typeface="Calibri" pitchFamily="34" charset="0"/>
                <a:ea typeface="Calibri" pitchFamily="34" charset="-122"/>
                <a:cs typeface="Calibri" pitchFamily="34" charset="-120"/>
              </a:rPr>
              <a:t>WHERE I NEED YOUR READ</a:t>
            </a:r>
            <a:endParaRPr lang="en-US" sz="1400" dirty="0"/>
          </a:p>
        </p:txBody>
      </p:sp>
      <p:sp>
        <p:nvSpPr>
          <p:cNvPr id="3" name="Text 1"/>
          <p:cNvSpPr/>
          <p:nvPr/>
        </p:nvSpPr>
        <p:spPr>
          <a:xfrm>
            <a:off x="731520" y="960120"/>
            <a:ext cx="105156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Four neuro calls — not code</a:t>
            </a:r>
            <a:endParaRPr lang="en-US" sz="3000" dirty="0"/>
          </a:p>
        </p:txBody>
      </p:sp>
      <p:sp>
        <p:nvSpPr>
          <p:cNvPr id="4" name="Shape 2"/>
          <p:cNvSpPr/>
          <p:nvPr/>
        </p:nvSpPr>
        <p:spPr>
          <a:xfrm>
            <a:off x="731520" y="1920240"/>
            <a:ext cx="5257800" cy="1874520"/>
          </a:xfrm>
          <a:prstGeom prst="roundRect">
            <a:avLst>
              <a:gd name="adj" fmla="val 4390"/>
            </a:avLst>
          </a:prstGeom>
          <a:solidFill>
            <a:srgbClr val="1E293B"/>
          </a:solidFill>
          <a:ln w="12700">
            <a:solidFill>
              <a:srgbClr val="334155"/>
            </a:solidFill>
            <a:prstDash val="solid"/>
          </a:ln>
        </p:spPr>
      </p:sp>
      <p:sp>
        <p:nvSpPr>
          <p:cNvPr id="5" name="Shape 3"/>
          <p:cNvSpPr/>
          <p:nvPr/>
        </p:nvSpPr>
        <p:spPr>
          <a:xfrm>
            <a:off x="1005840" y="2194560"/>
            <a:ext cx="457200" cy="457200"/>
          </a:xfrm>
          <a:prstGeom prst="ellipse">
            <a:avLst/>
          </a:prstGeom>
          <a:solidFill>
            <a:srgbClr val="6D28D9"/>
          </a:solidFill>
          <a:ln/>
        </p:spPr>
      </p:sp>
      <p:sp>
        <p:nvSpPr>
          <p:cNvPr id="6" name="Text 4"/>
          <p:cNvSpPr/>
          <p:nvPr/>
        </p:nvSpPr>
        <p:spPr>
          <a:xfrm>
            <a:off x="1005840" y="21945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5"/>
          <p:cNvSpPr/>
          <p:nvPr/>
        </p:nvSpPr>
        <p:spPr>
          <a:xfrm>
            <a:off x="1600200" y="2212848"/>
            <a:ext cx="4206240"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Baseline definition</a:t>
            </a:r>
            <a:endParaRPr lang="en-US" sz="1600" dirty="0"/>
          </a:p>
        </p:txBody>
      </p:sp>
      <p:sp>
        <p:nvSpPr>
          <p:cNvPr id="8" name="Text 6"/>
          <p:cNvSpPr/>
          <p:nvPr/>
        </p:nvSpPr>
        <p:spPr>
          <a:xfrm>
            <a:off x="1024128" y="2761488"/>
            <a:ext cx="4709160" cy="914400"/>
          </a:xfrm>
          <a:prstGeom prst="rect">
            <a:avLst/>
          </a:prstGeom>
          <a:noFill/>
          <a:ln/>
        </p:spPr>
        <p:txBody>
          <a:bodyPr wrap="square" lIns="0" tIns="0" rIns="0" bIns="0" rtlCol="0" anchor="ctr"/>
          <a:lstStyle/>
          <a:p>
            <a:pPr indent="0" marL="0">
              <a:lnSpc>
                <a:spcPct val="105000"/>
              </a:lnSpc>
              <a:buNone/>
            </a:pPr>
            <a:r>
              <a:rPr lang="en-US" sz="1300" dirty="0">
                <a:solidFill>
                  <a:srgbClr val="CBD5E1"/>
                </a:solidFill>
                <a:latin typeface="Calibri" pitchFamily="34" charset="0"/>
                <a:ea typeface="Calibri" pitchFamily="34" charset="-122"/>
                <a:cs typeface="Calibri" pitchFamily="34" charset="-120"/>
              </a:rPr>
              <a:t>Given the setup-period confound, how should we define a clean behavioral baseline for Animal 9?</a:t>
            </a:r>
            <a:endParaRPr lang="en-US" sz="1300" dirty="0"/>
          </a:p>
        </p:txBody>
      </p:sp>
      <p:sp>
        <p:nvSpPr>
          <p:cNvPr id="9" name="Shape 7"/>
          <p:cNvSpPr/>
          <p:nvPr/>
        </p:nvSpPr>
        <p:spPr>
          <a:xfrm>
            <a:off x="6263640" y="1920240"/>
            <a:ext cx="5257800" cy="1874520"/>
          </a:xfrm>
          <a:prstGeom prst="roundRect">
            <a:avLst>
              <a:gd name="adj" fmla="val 4390"/>
            </a:avLst>
          </a:prstGeom>
          <a:solidFill>
            <a:srgbClr val="1E293B"/>
          </a:solidFill>
          <a:ln w="12700">
            <a:solidFill>
              <a:srgbClr val="334155"/>
            </a:solidFill>
            <a:prstDash val="solid"/>
          </a:ln>
        </p:spPr>
      </p:sp>
      <p:sp>
        <p:nvSpPr>
          <p:cNvPr id="10" name="Shape 8"/>
          <p:cNvSpPr/>
          <p:nvPr/>
        </p:nvSpPr>
        <p:spPr>
          <a:xfrm>
            <a:off x="6537960" y="2194560"/>
            <a:ext cx="457200" cy="457200"/>
          </a:xfrm>
          <a:prstGeom prst="ellipse">
            <a:avLst/>
          </a:prstGeom>
          <a:solidFill>
            <a:srgbClr val="6D28D9"/>
          </a:solidFill>
          <a:ln/>
        </p:spPr>
      </p:sp>
      <p:sp>
        <p:nvSpPr>
          <p:cNvPr id="11" name="Text 9"/>
          <p:cNvSpPr/>
          <p:nvPr/>
        </p:nvSpPr>
        <p:spPr>
          <a:xfrm>
            <a:off x="6537960" y="21945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2" name="Text 10"/>
          <p:cNvSpPr/>
          <p:nvPr/>
        </p:nvSpPr>
        <p:spPr>
          <a:xfrm>
            <a:off x="7132320" y="2212848"/>
            <a:ext cx="4206240"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The H-reflex label</a:t>
            </a:r>
            <a:endParaRPr lang="en-US" sz="1600" dirty="0"/>
          </a:p>
        </p:txBody>
      </p:sp>
      <p:sp>
        <p:nvSpPr>
          <p:cNvPr id="13" name="Text 11"/>
          <p:cNvSpPr/>
          <p:nvPr/>
        </p:nvSpPr>
        <p:spPr>
          <a:xfrm>
            <a:off x="6556248" y="2761488"/>
            <a:ext cx="4709160" cy="914400"/>
          </a:xfrm>
          <a:prstGeom prst="rect">
            <a:avLst/>
          </a:prstGeom>
          <a:noFill/>
          <a:ln/>
        </p:spPr>
        <p:txBody>
          <a:bodyPr wrap="square" lIns="0" tIns="0" rIns="0" bIns="0" rtlCol="0" anchor="ctr"/>
          <a:lstStyle/>
          <a:p>
            <a:pPr indent="0" marL="0">
              <a:lnSpc>
                <a:spcPct val="105000"/>
              </a:lnSpc>
              <a:buNone/>
            </a:pPr>
            <a:r>
              <a:rPr lang="en-US" sz="1300" dirty="0">
                <a:solidFill>
                  <a:srgbClr val="CBD5E1"/>
                </a:solidFill>
                <a:latin typeface="Calibri" pitchFamily="34" charset="0"/>
                <a:ea typeface="Calibri" pitchFamily="34" charset="-122"/>
                <a:cs typeface="Calibri" pitchFamily="34" charset="-120"/>
              </a:rPr>
              <a:t>Confirm: mean rectified amplitude, 6–9 ms window — is that the measure you want us predicting?</a:t>
            </a:r>
            <a:endParaRPr lang="en-US" sz="1300" dirty="0"/>
          </a:p>
        </p:txBody>
      </p:sp>
      <p:sp>
        <p:nvSpPr>
          <p:cNvPr id="14" name="Shape 12"/>
          <p:cNvSpPr/>
          <p:nvPr/>
        </p:nvSpPr>
        <p:spPr>
          <a:xfrm>
            <a:off x="731520" y="4069080"/>
            <a:ext cx="5257800" cy="1874520"/>
          </a:xfrm>
          <a:prstGeom prst="roundRect">
            <a:avLst>
              <a:gd name="adj" fmla="val 4390"/>
            </a:avLst>
          </a:prstGeom>
          <a:solidFill>
            <a:srgbClr val="1E293B"/>
          </a:solidFill>
          <a:ln w="12700">
            <a:solidFill>
              <a:srgbClr val="334155"/>
            </a:solidFill>
            <a:prstDash val="solid"/>
          </a:ln>
        </p:spPr>
      </p:sp>
      <p:sp>
        <p:nvSpPr>
          <p:cNvPr id="15" name="Shape 13"/>
          <p:cNvSpPr/>
          <p:nvPr/>
        </p:nvSpPr>
        <p:spPr>
          <a:xfrm>
            <a:off x="1005840" y="4343400"/>
            <a:ext cx="457200" cy="457200"/>
          </a:xfrm>
          <a:prstGeom prst="ellipse">
            <a:avLst/>
          </a:prstGeom>
          <a:solidFill>
            <a:srgbClr val="0D9488"/>
          </a:solidFill>
          <a:ln/>
        </p:spPr>
      </p:sp>
      <p:sp>
        <p:nvSpPr>
          <p:cNvPr id="16" name="Text 14"/>
          <p:cNvSpPr/>
          <p:nvPr/>
        </p:nvSpPr>
        <p:spPr>
          <a:xfrm>
            <a:off x="1005840" y="43434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7" name="Text 15"/>
          <p:cNvSpPr/>
          <p:nvPr/>
        </p:nvSpPr>
        <p:spPr>
          <a:xfrm>
            <a:off x="1600200" y="4361688"/>
            <a:ext cx="4206240"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What would convince you</a:t>
            </a:r>
            <a:endParaRPr lang="en-US" sz="1600" dirty="0"/>
          </a:p>
        </p:txBody>
      </p:sp>
      <p:sp>
        <p:nvSpPr>
          <p:cNvPr id="18" name="Text 16"/>
          <p:cNvSpPr/>
          <p:nvPr/>
        </p:nvSpPr>
        <p:spPr>
          <a:xfrm>
            <a:off x="1024128" y="4910328"/>
            <a:ext cx="4709160" cy="914400"/>
          </a:xfrm>
          <a:prstGeom prst="rect">
            <a:avLst/>
          </a:prstGeom>
          <a:noFill/>
          <a:ln/>
        </p:spPr>
        <p:txBody>
          <a:bodyPr wrap="square" lIns="0" tIns="0" rIns="0" bIns="0" rtlCol="0" anchor="ctr"/>
          <a:lstStyle/>
          <a:p>
            <a:pPr indent="0" marL="0">
              <a:lnSpc>
                <a:spcPct val="105000"/>
              </a:lnSpc>
              <a:buNone/>
            </a:pPr>
            <a:r>
              <a:rPr lang="en-US" sz="1300" dirty="0">
                <a:solidFill>
                  <a:srgbClr val="CBD5E1"/>
                </a:solidFill>
                <a:latin typeface="Calibri" pitchFamily="34" charset="0"/>
                <a:ea typeface="Calibri" pitchFamily="34" charset="-122"/>
                <a:cs typeface="Calibri" pitchFamily="34" charset="-120"/>
              </a:rPr>
              <a:t>What controls make the cortical drift believable — up-conditioning reversing it? freely-running as a null?</a:t>
            </a:r>
            <a:endParaRPr lang="en-US" sz="1300" dirty="0"/>
          </a:p>
        </p:txBody>
      </p:sp>
      <p:sp>
        <p:nvSpPr>
          <p:cNvPr id="19" name="Shape 17"/>
          <p:cNvSpPr/>
          <p:nvPr/>
        </p:nvSpPr>
        <p:spPr>
          <a:xfrm>
            <a:off x="6263640" y="4069080"/>
            <a:ext cx="5257800" cy="1874520"/>
          </a:xfrm>
          <a:prstGeom prst="roundRect">
            <a:avLst>
              <a:gd name="adj" fmla="val 4390"/>
            </a:avLst>
          </a:prstGeom>
          <a:solidFill>
            <a:srgbClr val="1E293B"/>
          </a:solidFill>
          <a:ln w="12700">
            <a:solidFill>
              <a:srgbClr val="334155"/>
            </a:solidFill>
            <a:prstDash val="solid"/>
          </a:ln>
        </p:spPr>
      </p:sp>
      <p:sp>
        <p:nvSpPr>
          <p:cNvPr id="20" name="Shape 18"/>
          <p:cNvSpPr/>
          <p:nvPr/>
        </p:nvSpPr>
        <p:spPr>
          <a:xfrm>
            <a:off x="6537960" y="4343400"/>
            <a:ext cx="457200" cy="457200"/>
          </a:xfrm>
          <a:prstGeom prst="ellipse">
            <a:avLst/>
          </a:prstGeom>
          <a:solidFill>
            <a:srgbClr val="0D9488"/>
          </a:solidFill>
          <a:ln/>
        </p:spPr>
      </p:sp>
      <p:sp>
        <p:nvSpPr>
          <p:cNvPr id="21" name="Text 19"/>
          <p:cNvSpPr/>
          <p:nvPr/>
        </p:nvSpPr>
        <p:spPr>
          <a:xfrm>
            <a:off x="6537960" y="434340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2" name="Text 20"/>
          <p:cNvSpPr/>
          <p:nvPr/>
        </p:nvSpPr>
        <p:spPr>
          <a:xfrm>
            <a:off x="7132320" y="4361688"/>
            <a:ext cx="4206240"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Which animals next</a:t>
            </a:r>
            <a:endParaRPr lang="en-US" sz="1600" dirty="0"/>
          </a:p>
        </p:txBody>
      </p:sp>
      <p:sp>
        <p:nvSpPr>
          <p:cNvPr id="23" name="Text 21"/>
          <p:cNvSpPr/>
          <p:nvPr/>
        </p:nvSpPr>
        <p:spPr>
          <a:xfrm>
            <a:off x="6556248" y="4910328"/>
            <a:ext cx="4709160" cy="914400"/>
          </a:xfrm>
          <a:prstGeom prst="rect">
            <a:avLst/>
          </a:prstGeom>
          <a:noFill/>
          <a:ln/>
        </p:spPr>
        <p:txBody>
          <a:bodyPr wrap="square" lIns="0" tIns="0" rIns="0" bIns="0" rtlCol="0" anchor="ctr"/>
          <a:lstStyle/>
          <a:p>
            <a:pPr indent="0" marL="0">
              <a:lnSpc>
                <a:spcPct val="105000"/>
              </a:lnSpc>
              <a:buNone/>
            </a:pPr>
            <a:r>
              <a:rPr lang="en-US" sz="1300" dirty="0">
                <a:solidFill>
                  <a:srgbClr val="CBD5E1"/>
                </a:solidFill>
                <a:latin typeface="Calibri" pitchFamily="34" charset="0"/>
                <a:ea typeface="Calibri" pitchFamily="34" charset="-122"/>
                <a:cs typeface="Calibri" pitchFamily="34" charset="-120"/>
              </a:rPr>
              <a:t>Of the ~14 in the Drive, which should we prioritize converting and pooling?</a:t>
            </a:r>
            <a:endParaRPr lang="en-US" sz="1300" dirty="0"/>
          </a:p>
        </p:txBody>
      </p:sp>
      <p:sp>
        <p:nvSpPr>
          <p:cNvPr id="24" name="Text 22"/>
          <p:cNvSpPr/>
          <p:nvPr/>
        </p:nvSpPr>
        <p:spPr>
          <a:xfrm>
            <a:off x="731520" y="6355080"/>
            <a:ext cx="10698480" cy="365760"/>
          </a:xfrm>
          <a:prstGeom prst="rect">
            <a:avLst/>
          </a:prstGeom>
          <a:noFill/>
          <a:ln/>
        </p:spPr>
        <p:txBody>
          <a:bodyPr wrap="square" lIns="0" tIns="0" rIns="0" bIns="0" rtlCol="0" anchor="ctr"/>
          <a:lstStyle/>
          <a:p>
            <a:pPr indent="0" marL="0">
              <a:buNone/>
            </a:pPr>
            <a:r>
              <a:rPr lang="en-US" sz="1300" i="1" dirty="0">
                <a:solidFill>
                  <a:srgbClr val="94A3B8"/>
                </a:solidFill>
                <a:latin typeface="Calibri" pitchFamily="34" charset="0"/>
                <a:ea typeface="Calibri" pitchFamily="34" charset="-122"/>
                <a:cs typeface="Calibri" pitchFamily="34" charset="-120"/>
              </a:rPr>
              <a:t>Code + all figures on GitHub — happy to add you and Tarun as collaborators.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HROC — Cortical Correlates of H-reflex Conditioning (Animal 9)</dc:title>
  <dc:subject>PptxGenJS Presentation</dc:subject>
  <dc:creator>Suchith Rao</dc:creator>
  <cp:lastModifiedBy>Suchith Rao</cp:lastModifiedBy>
  <cp:revision>1</cp:revision>
  <dcterms:created xsi:type="dcterms:W3CDTF">2026-07-08T16:34:41Z</dcterms:created>
  <dcterms:modified xsi:type="dcterms:W3CDTF">2026-07-08T16:34:41Z</dcterms:modified>
</cp:coreProperties>
</file>